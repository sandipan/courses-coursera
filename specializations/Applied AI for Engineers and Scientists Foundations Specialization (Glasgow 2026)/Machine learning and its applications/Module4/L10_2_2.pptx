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96" r:id="rId6"/>
    <p:sldId id="501" r:id="rId7"/>
    <p:sldId id="497" r:id="rId8"/>
    <p:sldId id="498" r:id="rId9"/>
    <p:sldId id="499" r:id="rId10"/>
    <p:sldId id="494" r:id="rId11"/>
    <p:sldId id="500" r:id="rId12"/>
    <p:sldId id="50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56" autoAdjust="0"/>
    <p:restoredTop sz="96327"/>
  </p:normalViewPr>
  <p:slideViewPr>
    <p:cSldViewPr snapToGrid="0">
      <p:cViewPr varScale="1">
        <p:scale>
          <a:sx n="140" d="100"/>
          <a:sy n="140" d="100"/>
        </p:scale>
        <p:origin x="156" y="444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01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47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40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62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02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64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0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www.adeveloperdiary.com/data-science/machine-learning/support-vector-machines-for-beginners-linear-svm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hyperlink" Target="http://www.adeveloperdiary.com/data-science/machine-learning/support-vector-machines-for-beginners-linear-sv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Linear SVM – Soft Margin Classifier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Linear SVM – soft margin classifier</a:t>
            </a:r>
          </a:p>
        </p:txBody>
      </p:sp>
      <p:sp>
        <p:nvSpPr>
          <p:cNvPr id="2" name="矩形 4">
            <a:extLst>
              <a:ext uri="{FF2B5EF4-FFF2-40B4-BE49-F238E27FC236}">
                <a16:creationId xmlns:a16="http://schemas.microsoft.com/office/drawing/2014/main" id="{7A8D8491-0B60-FA95-C159-5B7C56450E4F}"/>
              </a:ext>
            </a:extLst>
          </p:cNvPr>
          <p:cNvSpPr/>
          <p:nvPr/>
        </p:nvSpPr>
        <p:spPr>
          <a:xfrm>
            <a:off x="301746" y="1422400"/>
            <a:ext cx="97193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real scenarios, the datasets are not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perfectly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linearly separable due to outliers.</a:t>
            </a:r>
          </a:p>
        </p:txBody>
      </p:sp>
      <p:grpSp>
        <p:nvGrpSpPr>
          <p:cNvPr id="3" name="组合 9">
            <a:extLst>
              <a:ext uri="{FF2B5EF4-FFF2-40B4-BE49-F238E27FC236}">
                <a16:creationId xmlns:a16="http://schemas.microsoft.com/office/drawing/2014/main" id="{0A23420A-7103-BDB1-7E60-155858132B07}"/>
              </a:ext>
            </a:extLst>
          </p:cNvPr>
          <p:cNvGrpSpPr/>
          <p:nvPr/>
        </p:nvGrpSpPr>
        <p:grpSpPr>
          <a:xfrm>
            <a:off x="3666140" y="2674444"/>
            <a:ext cx="1699535" cy="1286450"/>
            <a:chOff x="1196091" y="4163810"/>
            <a:chExt cx="1480914" cy="1068760"/>
          </a:xfrm>
        </p:grpSpPr>
        <p:sp>
          <p:nvSpPr>
            <p:cNvPr id="4" name="矩形 11">
              <a:extLst>
                <a:ext uri="{FF2B5EF4-FFF2-40B4-BE49-F238E27FC236}">
                  <a16:creationId xmlns:a16="http://schemas.microsoft.com/office/drawing/2014/main" id="{5A1FBB3F-DB83-2DBD-B7DB-C5E3892465FA}"/>
                </a:ext>
              </a:extLst>
            </p:cNvPr>
            <p:cNvSpPr/>
            <p:nvPr/>
          </p:nvSpPr>
          <p:spPr>
            <a:xfrm>
              <a:off x="2120957" y="480077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矩形 12">
              <a:extLst>
                <a:ext uri="{FF2B5EF4-FFF2-40B4-BE49-F238E27FC236}">
                  <a16:creationId xmlns:a16="http://schemas.microsoft.com/office/drawing/2014/main" id="{0117FA5D-17D0-CA88-971B-4EEEEA41046F}"/>
                </a:ext>
              </a:extLst>
            </p:cNvPr>
            <p:cNvSpPr/>
            <p:nvPr/>
          </p:nvSpPr>
          <p:spPr>
            <a:xfrm>
              <a:off x="2273357" y="495317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13">
              <a:extLst>
                <a:ext uri="{FF2B5EF4-FFF2-40B4-BE49-F238E27FC236}">
                  <a16:creationId xmlns:a16="http://schemas.microsoft.com/office/drawing/2014/main" id="{C782ECB7-393C-6291-EA7E-7E5B66E9815D}"/>
                </a:ext>
              </a:extLst>
            </p:cNvPr>
            <p:cNvSpPr/>
            <p:nvPr/>
          </p:nvSpPr>
          <p:spPr>
            <a:xfrm>
              <a:off x="2467973" y="4967337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矩形 14">
              <a:extLst>
                <a:ext uri="{FF2B5EF4-FFF2-40B4-BE49-F238E27FC236}">
                  <a16:creationId xmlns:a16="http://schemas.microsoft.com/office/drawing/2014/main" id="{D811463D-2F2E-248E-9586-8E3454ACA2D6}"/>
                </a:ext>
              </a:extLst>
            </p:cNvPr>
            <p:cNvSpPr/>
            <p:nvPr/>
          </p:nvSpPr>
          <p:spPr>
            <a:xfrm>
              <a:off x="1858946" y="502422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15">
              <a:extLst>
                <a:ext uri="{FF2B5EF4-FFF2-40B4-BE49-F238E27FC236}">
                  <a16:creationId xmlns:a16="http://schemas.microsoft.com/office/drawing/2014/main" id="{D5F07F36-A777-9280-4300-10CC74853B58}"/>
                </a:ext>
              </a:extLst>
            </p:cNvPr>
            <p:cNvSpPr/>
            <p:nvPr/>
          </p:nvSpPr>
          <p:spPr>
            <a:xfrm>
              <a:off x="2584335" y="480077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矩形 16">
              <a:extLst>
                <a:ext uri="{FF2B5EF4-FFF2-40B4-BE49-F238E27FC236}">
                  <a16:creationId xmlns:a16="http://schemas.microsoft.com/office/drawing/2014/main" id="{85EE5A7D-F196-7C58-B586-9FAD4E68A604}"/>
                </a:ext>
              </a:extLst>
            </p:cNvPr>
            <p:cNvSpPr/>
            <p:nvPr/>
          </p:nvSpPr>
          <p:spPr>
            <a:xfrm>
              <a:off x="2339259" y="460924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7">
              <a:extLst>
                <a:ext uri="{FF2B5EF4-FFF2-40B4-BE49-F238E27FC236}">
                  <a16:creationId xmlns:a16="http://schemas.microsoft.com/office/drawing/2014/main" id="{1991F051-9D63-E001-BD52-27D78C7B12CE}"/>
                </a:ext>
              </a:extLst>
            </p:cNvPr>
            <p:cNvSpPr/>
            <p:nvPr/>
          </p:nvSpPr>
          <p:spPr>
            <a:xfrm>
              <a:off x="2049682" y="5139900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矩形 18">
              <a:extLst>
                <a:ext uri="{FF2B5EF4-FFF2-40B4-BE49-F238E27FC236}">
                  <a16:creationId xmlns:a16="http://schemas.microsoft.com/office/drawing/2014/main" id="{B8F8B4D3-9F63-D229-B80A-9F8AA5FB4763}"/>
                </a:ext>
              </a:extLst>
            </p:cNvPr>
            <p:cNvSpPr/>
            <p:nvPr/>
          </p:nvSpPr>
          <p:spPr>
            <a:xfrm>
              <a:off x="2285761" y="4163810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矩形 19">
              <a:extLst>
                <a:ext uri="{FF2B5EF4-FFF2-40B4-BE49-F238E27FC236}">
                  <a16:creationId xmlns:a16="http://schemas.microsoft.com/office/drawing/2014/main" id="{20F9DFE7-FF80-9D1D-081A-7B69A50CBDB7}"/>
                </a:ext>
              </a:extLst>
            </p:cNvPr>
            <p:cNvSpPr/>
            <p:nvPr/>
          </p:nvSpPr>
          <p:spPr>
            <a:xfrm>
              <a:off x="1196091" y="501367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组合 20">
            <a:extLst>
              <a:ext uri="{FF2B5EF4-FFF2-40B4-BE49-F238E27FC236}">
                <a16:creationId xmlns:a16="http://schemas.microsoft.com/office/drawing/2014/main" id="{0CC45F21-5B0B-E36A-FACC-69519A258EB1}"/>
              </a:ext>
            </a:extLst>
          </p:cNvPr>
          <p:cNvGrpSpPr/>
          <p:nvPr/>
        </p:nvGrpSpPr>
        <p:grpSpPr>
          <a:xfrm>
            <a:off x="3906840" y="2777172"/>
            <a:ext cx="914720" cy="1168064"/>
            <a:chOff x="1426458" y="4238537"/>
            <a:chExt cx="797054" cy="970407"/>
          </a:xfrm>
        </p:grpSpPr>
        <p:sp>
          <p:nvSpPr>
            <p:cNvPr id="15" name="椭圆 21">
              <a:extLst>
                <a:ext uri="{FF2B5EF4-FFF2-40B4-BE49-F238E27FC236}">
                  <a16:creationId xmlns:a16="http://schemas.microsoft.com/office/drawing/2014/main" id="{91E5F969-8ACA-3350-488A-8DA1F6F4A2CC}"/>
                </a:ext>
              </a:extLst>
            </p:cNvPr>
            <p:cNvSpPr/>
            <p:nvPr/>
          </p:nvSpPr>
          <p:spPr>
            <a:xfrm>
              <a:off x="1672564" y="423853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椭圆 22">
              <a:extLst>
                <a:ext uri="{FF2B5EF4-FFF2-40B4-BE49-F238E27FC236}">
                  <a16:creationId xmlns:a16="http://schemas.microsoft.com/office/drawing/2014/main" id="{DCCF1F23-348C-2C59-F1E5-B4B7325387C8}"/>
                </a:ext>
              </a:extLst>
            </p:cNvPr>
            <p:cNvSpPr/>
            <p:nvPr/>
          </p:nvSpPr>
          <p:spPr>
            <a:xfrm>
              <a:off x="1824964" y="439093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椭圆 23">
              <a:extLst>
                <a:ext uri="{FF2B5EF4-FFF2-40B4-BE49-F238E27FC236}">
                  <a16:creationId xmlns:a16="http://schemas.microsoft.com/office/drawing/2014/main" id="{3BA1ED5A-EC49-23ED-903F-068A4505186A}"/>
                </a:ext>
              </a:extLst>
            </p:cNvPr>
            <p:cNvSpPr/>
            <p:nvPr/>
          </p:nvSpPr>
          <p:spPr>
            <a:xfrm>
              <a:off x="1482064" y="454333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椭圆 24">
              <a:extLst>
                <a:ext uri="{FF2B5EF4-FFF2-40B4-BE49-F238E27FC236}">
                  <a16:creationId xmlns:a16="http://schemas.microsoft.com/office/drawing/2014/main" id="{0D2B5536-79B2-CE12-9C94-5F716FBF8A67}"/>
                </a:ext>
              </a:extLst>
            </p:cNvPr>
            <p:cNvSpPr/>
            <p:nvPr/>
          </p:nvSpPr>
          <p:spPr>
            <a:xfrm>
              <a:off x="1711694" y="464736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椭圆 25">
              <a:extLst>
                <a:ext uri="{FF2B5EF4-FFF2-40B4-BE49-F238E27FC236}">
                  <a16:creationId xmlns:a16="http://schemas.microsoft.com/office/drawing/2014/main" id="{CF368862-BBC2-C115-C141-A3EB2CF0D82C}"/>
                </a:ext>
              </a:extLst>
            </p:cNvPr>
            <p:cNvSpPr/>
            <p:nvPr/>
          </p:nvSpPr>
          <p:spPr>
            <a:xfrm>
              <a:off x="2112301" y="4404886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椭圆 26">
              <a:extLst>
                <a:ext uri="{FF2B5EF4-FFF2-40B4-BE49-F238E27FC236}">
                  <a16:creationId xmlns:a16="http://schemas.microsoft.com/office/drawing/2014/main" id="{B10064EE-4015-6FBF-9AFE-05086B059447}"/>
                </a:ext>
              </a:extLst>
            </p:cNvPr>
            <p:cNvSpPr/>
            <p:nvPr/>
          </p:nvSpPr>
          <p:spPr>
            <a:xfrm>
              <a:off x="1426458" y="475551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椭圆 27">
              <a:extLst>
                <a:ext uri="{FF2B5EF4-FFF2-40B4-BE49-F238E27FC236}">
                  <a16:creationId xmlns:a16="http://schemas.microsoft.com/office/drawing/2014/main" id="{0D7E217E-EB3F-1845-7EB8-148FD10B60E6}"/>
                </a:ext>
              </a:extLst>
            </p:cNvPr>
            <p:cNvSpPr/>
            <p:nvPr/>
          </p:nvSpPr>
          <p:spPr>
            <a:xfrm>
              <a:off x="1527485" y="5097733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8">
            <a:extLst>
              <a:ext uri="{FF2B5EF4-FFF2-40B4-BE49-F238E27FC236}">
                <a16:creationId xmlns:a16="http://schemas.microsoft.com/office/drawing/2014/main" id="{E897FDA1-0918-E133-6912-6B3F2074FAC5}"/>
              </a:ext>
            </a:extLst>
          </p:cNvPr>
          <p:cNvGrpSpPr/>
          <p:nvPr/>
        </p:nvGrpSpPr>
        <p:grpSpPr>
          <a:xfrm>
            <a:off x="3370599" y="2329550"/>
            <a:ext cx="2403668" cy="1998758"/>
            <a:chOff x="959197" y="3866660"/>
            <a:chExt cx="2094470" cy="1660533"/>
          </a:xfrm>
        </p:grpSpPr>
        <p:cxnSp>
          <p:nvCxnSpPr>
            <p:cNvPr id="23" name="直接箭头连接符 29">
              <a:extLst>
                <a:ext uri="{FF2B5EF4-FFF2-40B4-BE49-F238E27FC236}">
                  <a16:creationId xmlns:a16="http://schemas.microsoft.com/office/drawing/2014/main" id="{C97595F9-51C1-E7FC-5832-FA92FB7CCC58}"/>
                </a:ext>
              </a:extLst>
            </p:cNvPr>
            <p:cNvCxnSpPr>
              <a:cxnSpLocks/>
            </p:cNvCxnSpPr>
            <p:nvPr/>
          </p:nvCxnSpPr>
          <p:spPr>
            <a:xfrm>
              <a:off x="959197" y="5351588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30">
              <a:extLst>
                <a:ext uri="{FF2B5EF4-FFF2-40B4-BE49-F238E27FC236}">
                  <a16:creationId xmlns:a16="http://schemas.microsoft.com/office/drawing/2014/main" id="{2B40140E-4EF8-B856-A3F3-D1C283E557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78" y="3866660"/>
              <a:ext cx="0" cy="166053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椭圆 31">
            <a:extLst>
              <a:ext uri="{FF2B5EF4-FFF2-40B4-BE49-F238E27FC236}">
                <a16:creationId xmlns:a16="http://schemas.microsoft.com/office/drawing/2014/main" id="{71B63AF1-7A10-B917-DF3A-896BEF38A85D}"/>
              </a:ext>
            </a:extLst>
          </p:cNvPr>
          <p:cNvSpPr/>
          <p:nvPr/>
        </p:nvSpPr>
        <p:spPr>
          <a:xfrm>
            <a:off x="4795402" y="2599045"/>
            <a:ext cx="301542" cy="3238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接箭头连接符 32">
            <a:extLst>
              <a:ext uri="{FF2B5EF4-FFF2-40B4-BE49-F238E27FC236}">
                <a16:creationId xmlns:a16="http://schemas.microsoft.com/office/drawing/2014/main" id="{E33397CF-F67B-8D1A-AD82-F24C37863055}"/>
              </a:ext>
            </a:extLst>
          </p:cNvPr>
          <p:cNvCxnSpPr>
            <a:cxnSpLocks/>
          </p:cNvCxnSpPr>
          <p:nvPr/>
        </p:nvCxnSpPr>
        <p:spPr>
          <a:xfrm flipV="1">
            <a:off x="5084419" y="2509917"/>
            <a:ext cx="352133" cy="185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33">
            <a:extLst>
              <a:ext uri="{FF2B5EF4-FFF2-40B4-BE49-F238E27FC236}">
                <a16:creationId xmlns:a16="http://schemas.microsoft.com/office/drawing/2014/main" id="{B17DF29C-FEEF-0E9A-DD95-789967F74E97}"/>
              </a:ext>
            </a:extLst>
          </p:cNvPr>
          <p:cNvSpPr txBox="1"/>
          <p:nvPr/>
        </p:nvSpPr>
        <p:spPr>
          <a:xfrm>
            <a:off x="5391865" y="2148982"/>
            <a:ext cx="1082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直接连接符 34">
            <a:extLst>
              <a:ext uri="{FF2B5EF4-FFF2-40B4-BE49-F238E27FC236}">
                <a16:creationId xmlns:a16="http://schemas.microsoft.com/office/drawing/2014/main" id="{825E0F8F-D1BE-7A8C-2278-9D057D97BBB9}"/>
              </a:ext>
            </a:extLst>
          </p:cNvPr>
          <p:cNvCxnSpPr>
            <a:cxnSpLocks/>
          </p:cNvCxnSpPr>
          <p:nvPr/>
        </p:nvCxnSpPr>
        <p:spPr>
          <a:xfrm flipV="1">
            <a:off x="3654469" y="2811923"/>
            <a:ext cx="1687531" cy="114527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35">
            <a:extLst>
              <a:ext uri="{FF2B5EF4-FFF2-40B4-BE49-F238E27FC236}">
                <a16:creationId xmlns:a16="http://schemas.microsoft.com/office/drawing/2014/main" id="{AEEADEBC-904C-6A9E-734D-270BD953D30C}"/>
              </a:ext>
            </a:extLst>
          </p:cNvPr>
          <p:cNvSpPr txBox="1"/>
          <p:nvPr/>
        </p:nvSpPr>
        <p:spPr>
          <a:xfrm>
            <a:off x="301746" y="4503108"/>
            <a:ext cx="1105330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idea of soft margin SVM:</a:t>
            </a:r>
          </a:p>
          <a:p>
            <a:pPr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Misclassification is allowed, but a penalty is given.</a:t>
            </a:r>
          </a:p>
          <a:p>
            <a:pPr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trade-off between maximizing the margin and minimizing the number of misclassifications.</a:t>
            </a:r>
          </a:p>
        </p:txBody>
      </p:sp>
      <p:sp>
        <p:nvSpPr>
          <p:cNvPr id="30" name="椭圆 31">
            <a:extLst>
              <a:ext uri="{FF2B5EF4-FFF2-40B4-BE49-F238E27FC236}">
                <a16:creationId xmlns:a16="http://schemas.microsoft.com/office/drawing/2014/main" id="{3DF48B6F-B1CE-DC49-92DA-FC39EBABFE4C}"/>
              </a:ext>
            </a:extLst>
          </p:cNvPr>
          <p:cNvSpPr/>
          <p:nvPr/>
        </p:nvSpPr>
        <p:spPr>
          <a:xfrm>
            <a:off x="3555586" y="3577086"/>
            <a:ext cx="301542" cy="3238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椭圆 31">
            <a:extLst>
              <a:ext uri="{FF2B5EF4-FFF2-40B4-BE49-F238E27FC236}">
                <a16:creationId xmlns:a16="http://schemas.microsoft.com/office/drawing/2014/main" id="{057CDD4B-78E3-E4CC-A02D-64F497410C5E}"/>
              </a:ext>
            </a:extLst>
          </p:cNvPr>
          <p:cNvSpPr/>
          <p:nvPr/>
        </p:nvSpPr>
        <p:spPr>
          <a:xfrm>
            <a:off x="3916038" y="3742711"/>
            <a:ext cx="301542" cy="3238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78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Linear SVM – soft margin classifier</a:t>
            </a:r>
          </a:p>
        </p:txBody>
      </p:sp>
      <p:sp>
        <p:nvSpPr>
          <p:cNvPr id="2" name="矩形 4">
            <a:extLst>
              <a:ext uri="{FF2B5EF4-FFF2-40B4-BE49-F238E27FC236}">
                <a16:creationId xmlns:a16="http://schemas.microsoft.com/office/drawing/2014/main" id="{2B51E9FB-A2FD-2883-D376-14D1AC2CFDA2}"/>
              </a:ext>
            </a:extLst>
          </p:cNvPr>
          <p:cNvSpPr/>
          <p:nvPr/>
        </p:nvSpPr>
        <p:spPr>
          <a:xfrm>
            <a:off x="237988" y="1495528"/>
            <a:ext cx="58609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Support vectors in non-separable case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7">
            <a:extLst>
              <a:ext uri="{FF2B5EF4-FFF2-40B4-BE49-F238E27FC236}">
                <a16:creationId xmlns:a16="http://schemas.microsoft.com/office/drawing/2014/main" id="{FA1BBC60-1DB8-BE29-3BA0-5DBFABC11435}"/>
              </a:ext>
            </a:extLst>
          </p:cNvPr>
          <p:cNvSpPr txBox="1"/>
          <p:nvPr/>
        </p:nvSpPr>
        <p:spPr>
          <a:xfrm>
            <a:off x="313053" y="2010707"/>
            <a:ext cx="9210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Recall: the separable case has only one type of support vectors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Ones that lie on the margin boundaries.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接连接符 11">
            <a:extLst>
              <a:ext uri="{FF2B5EF4-FFF2-40B4-BE49-F238E27FC236}">
                <a16:creationId xmlns:a16="http://schemas.microsoft.com/office/drawing/2014/main" id="{870657CF-5E56-FFBC-B0BD-C3A5808D35F3}"/>
              </a:ext>
            </a:extLst>
          </p:cNvPr>
          <p:cNvCxnSpPr>
            <a:cxnSpLocks/>
          </p:cNvCxnSpPr>
          <p:nvPr/>
        </p:nvCxnSpPr>
        <p:spPr>
          <a:xfrm flipV="1">
            <a:off x="2955590" y="4666063"/>
            <a:ext cx="1345093" cy="1569567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12">
            <a:extLst>
              <a:ext uri="{FF2B5EF4-FFF2-40B4-BE49-F238E27FC236}">
                <a16:creationId xmlns:a16="http://schemas.microsoft.com/office/drawing/2014/main" id="{16BDD5D2-3F5D-6967-27DF-716EB9FC0A9D}"/>
              </a:ext>
            </a:extLst>
          </p:cNvPr>
          <p:cNvCxnSpPr>
            <a:cxnSpLocks/>
          </p:cNvCxnSpPr>
          <p:nvPr/>
        </p:nvCxnSpPr>
        <p:spPr>
          <a:xfrm flipV="1">
            <a:off x="3210577" y="4847040"/>
            <a:ext cx="1333097" cy="15275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13">
            <a:extLst>
              <a:ext uri="{FF2B5EF4-FFF2-40B4-BE49-F238E27FC236}">
                <a16:creationId xmlns:a16="http://schemas.microsoft.com/office/drawing/2014/main" id="{DCE3EDD0-EA1C-9931-DB09-359069B14F71}"/>
              </a:ext>
            </a:extLst>
          </p:cNvPr>
          <p:cNvCxnSpPr>
            <a:cxnSpLocks/>
          </p:cNvCxnSpPr>
          <p:nvPr/>
        </p:nvCxnSpPr>
        <p:spPr>
          <a:xfrm flipV="1">
            <a:off x="2702382" y="4466788"/>
            <a:ext cx="1348556" cy="161519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14">
            <a:extLst>
              <a:ext uri="{FF2B5EF4-FFF2-40B4-BE49-F238E27FC236}">
                <a16:creationId xmlns:a16="http://schemas.microsoft.com/office/drawing/2014/main" id="{38A05E82-EE5E-D0D2-663C-6353293696F9}"/>
              </a:ext>
            </a:extLst>
          </p:cNvPr>
          <p:cNvGrpSpPr/>
          <p:nvPr/>
        </p:nvGrpSpPr>
        <p:grpSpPr>
          <a:xfrm>
            <a:off x="2493740" y="4468385"/>
            <a:ext cx="1311828" cy="1224592"/>
            <a:chOff x="2299238" y="3326239"/>
            <a:chExt cx="1304559" cy="1340589"/>
          </a:xfrm>
        </p:grpSpPr>
        <p:sp>
          <p:nvSpPr>
            <p:cNvPr id="9" name="椭圆 15">
              <a:extLst>
                <a:ext uri="{FF2B5EF4-FFF2-40B4-BE49-F238E27FC236}">
                  <a16:creationId xmlns:a16="http://schemas.microsoft.com/office/drawing/2014/main" id="{F20F72F8-FB69-4070-1035-501745765854}"/>
                </a:ext>
              </a:extLst>
            </p:cNvPr>
            <p:cNvSpPr/>
            <p:nvPr/>
          </p:nvSpPr>
          <p:spPr>
            <a:xfrm rot="20082175">
              <a:off x="2739694" y="3983048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16">
              <a:extLst>
                <a:ext uri="{FF2B5EF4-FFF2-40B4-BE49-F238E27FC236}">
                  <a16:creationId xmlns:a16="http://schemas.microsoft.com/office/drawing/2014/main" id="{C64EE62C-A22F-EAA2-B5CF-E003D54D3AC4}"/>
                </a:ext>
              </a:extLst>
            </p:cNvPr>
            <p:cNvSpPr/>
            <p:nvPr/>
          </p:nvSpPr>
          <p:spPr>
            <a:xfrm rot="20082175">
              <a:off x="2942602" y="4055711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17">
              <a:extLst>
                <a:ext uri="{FF2B5EF4-FFF2-40B4-BE49-F238E27FC236}">
                  <a16:creationId xmlns:a16="http://schemas.microsoft.com/office/drawing/2014/main" id="{4902C781-AA78-B40E-C00C-F533939A6CD7}"/>
                </a:ext>
              </a:extLst>
            </p:cNvPr>
            <p:cNvSpPr/>
            <p:nvPr/>
          </p:nvSpPr>
          <p:spPr>
            <a:xfrm rot="20082175">
              <a:off x="2697707" y="4340021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18">
              <a:extLst>
                <a:ext uri="{FF2B5EF4-FFF2-40B4-BE49-F238E27FC236}">
                  <a16:creationId xmlns:a16="http://schemas.microsoft.com/office/drawing/2014/main" id="{7B86784A-1F38-EB52-47B4-F19ECEEAA5AC}"/>
                </a:ext>
              </a:extLst>
            </p:cNvPr>
            <p:cNvSpPr/>
            <p:nvPr/>
          </p:nvSpPr>
          <p:spPr>
            <a:xfrm rot="20082175">
              <a:off x="2929815" y="4285873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19">
              <a:extLst>
                <a:ext uri="{FF2B5EF4-FFF2-40B4-BE49-F238E27FC236}">
                  <a16:creationId xmlns:a16="http://schemas.microsoft.com/office/drawing/2014/main" id="{097F23B8-AE4F-5AB9-935C-898986C751F1}"/>
                </a:ext>
              </a:extLst>
            </p:cNvPr>
            <p:cNvSpPr/>
            <p:nvPr/>
          </p:nvSpPr>
          <p:spPr>
            <a:xfrm rot="20082175">
              <a:off x="3233438" y="390256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20">
              <a:extLst>
                <a:ext uri="{FF2B5EF4-FFF2-40B4-BE49-F238E27FC236}">
                  <a16:creationId xmlns:a16="http://schemas.microsoft.com/office/drawing/2014/main" id="{005FA97F-95B3-20DF-8857-D5D4A69F88A2}"/>
                </a:ext>
              </a:extLst>
            </p:cNvPr>
            <p:cNvSpPr/>
            <p:nvPr/>
          </p:nvSpPr>
          <p:spPr>
            <a:xfrm rot="20082175">
              <a:off x="2738101" y="455561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21">
              <a:extLst>
                <a:ext uri="{FF2B5EF4-FFF2-40B4-BE49-F238E27FC236}">
                  <a16:creationId xmlns:a16="http://schemas.microsoft.com/office/drawing/2014/main" id="{16CB6CAD-77A6-F640-E4A2-62B0F3590F89}"/>
                </a:ext>
              </a:extLst>
            </p:cNvPr>
            <p:cNvSpPr txBox="1"/>
            <p:nvPr/>
          </p:nvSpPr>
          <p:spPr>
            <a:xfrm>
              <a:off x="2299238" y="3326239"/>
              <a:ext cx="1304559" cy="505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class +1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组合 22">
            <a:extLst>
              <a:ext uri="{FF2B5EF4-FFF2-40B4-BE49-F238E27FC236}">
                <a16:creationId xmlns:a16="http://schemas.microsoft.com/office/drawing/2014/main" id="{EDA06EEB-ED39-34A4-748B-0CD77B5458ED}"/>
              </a:ext>
            </a:extLst>
          </p:cNvPr>
          <p:cNvGrpSpPr/>
          <p:nvPr/>
        </p:nvGrpSpPr>
        <p:grpSpPr>
          <a:xfrm>
            <a:off x="3717454" y="5325507"/>
            <a:ext cx="1973117" cy="623712"/>
            <a:chOff x="3683605" y="5022634"/>
            <a:chExt cx="1962183" cy="682792"/>
          </a:xfrm>
        </p:grpSpPr>
        <p:sp>
          <p:nvSpPr>
            <p:cNvPr id="17" name="矩形 23">
              <a:extLst>
                <a:ext uri="{FF2B5EF4-FFF2-40B4-BE49-F238E27FC236}">
                  <a16:creationId xmlns:a16="http://schemas.microsoft.com/office/drawing/2014/main" id="{861D5FBC-7118-B8ED-299C-C4932C56180E}"/>
                </a:ext>
              </a:extLst>
            </p:cNvPr>
            <p:cNvSpPr/>
            <p:nvPr/>
          </p:nvSpPr>
          <p:spPr>
            <a:xfrm rot="20682264">
              <a:off x="3943302" y="526721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24">
              <a:extLst>
                <a:ext uri="{FF2B5EF4-FFF2-40B4-BE49-F238E27FC236}">
                  <a16:creationId xmlns:a16="http://schemas.microsoft.com/office/drawing/2014/main" id="{18942C7C-AE2B-07D4-FC55-4215A860A2B7}"/>
                </a:ext>
              </a:extLst>
            </p:cNvPr>
            <p:cNvSpPr/>
            <p:nvPr/>
          </p:nvSpPr>
          <p:spPr>
            <a:xfrm rot="20682264">
              <a:off x="4064592" y="536441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25">
              <a:extLst>
                <a:ext uri="{FF2B5EF4-FFF2-40B4-BE49-F238E27FC236}">
                  <a16:creationId xmlns:a16="http://schemas.microsoft.com/office/drawing/2014/main" id="{59B0169F-E64D-C938-392E-D3FD625187EC}"/>
                </a:ext>
              </a:extLst>
            </p:cNvPr>
            <p:cNvSpPr/>
            <p:nvPr/>
          </p:nvSpPr>
          <p:spPr>
            <a:xfrm rot="20682264">
              <a:off x="4256051" y="5326740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26">
              <a:extLst>
                <a:ext uri="{FF2B5EF4-FFF2-40B4-BE49-F238E27FC236}">
                  <a16:creationId xmlns:a16="http://schemas.microsoft.com/office/drawing/2014/main" id="{B6CC7D14-00EB-767A-87DF-FD4BD7BBC22C}"/>
                </a:ext>
              </a:extLst>
            </p:cNvPr>
            <p:cNvSpPr/>
            <p:nvPr/>
          </p:nvSpPr>
          <p:spPr>
            <a:xfrm rot="20682264">
              <a:off x="3683605" y="554227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27">
              <a:extLst>
                <a:ext uri="{FF2B5EF4-FFF2-40B4-BE49-F238E27FC236}">
                  <a16:creationId xmlns:a16="http://schemas.microsoft.com/office/drawing/2014/main" id="{5166476D-31A7-8397-05E2-FF6EF5FB5C5B}"/>
                </a:ext>
              </a:extLst>
            </p:cNvPr>
            <p:cNvSpPr/>
            <p:nvPr/>
          </p:nvSpPr>
          <p:spPr>
            <a:xfrm rot="20682264">
              <a:off x="4324352" y="5135381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8">
              <a:extLst>
                <a:ext uri="{FF2B5EF4-FFF2-40B4-BE49-F238E27FC236}">
                  <a16:creationId xmlns:a16="http://schemas.microsoft.com/office/drawing/2014/main" id="{2EC3C842-21B0-5C5E-5E0B-5F003E77572C}"/>
                </a:ext>
              </a:extLst>
            </p:cNvPr>
            <p:cNvSpPr/>
            <p:nvPr/>
          </p:nvSpPr>
          <p:spPr>
            <a:xfrm rot="20682264">
              <a:off x="4096759" y="5022634"/>
              <a:ext cx="92670" cy="92669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9">
              <a:extLst>
                <a:ext uri="{FF2B5EF4-FFF2-40B4-BE49-F238E27FC236}">
                  <a16:creationId xmlns:a16="http://schemas.microsoft.com/office/drawing/2014/main" id="{65F624F8-B89F-237D-3AFB-2201C92F1086}"/>
                </a:ext>
              </a:extLst>
            </p:cNvPr>
            <p:cNvSpPr/>
            <p:nvPr/>
          </p:nvSpPr>
          <p:spPr>
            <a:xfrm rot="20682264">
              <a:off x="3898098" y="560353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30">
              <a:extLst>
                <a:ext uri="{FF2B5EF4-FFF2-40B4-BE49-F238E27FC236}">
                  <a16:creationId xmlns:a16="http://schemas.microsoft.com/office/drawing/2014/main" id="{CF2E6931-7399-DA94-8CB8-F77B50E0CF7C}"/>
                </a:ext>
              </a:extLst>
            </p:cNvPr>
            <p:cNvSpPr txBox="1"/>
            <p:nvPr/>
          </p:nvSpPr>
          <p:spPr>
            <a:xfrm>
              <a:off x="4385957" y="5200030"/>
              <a:ext cx="1259831" cy="5053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class -1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33">
                <a:extLst>
                  <a:ext uri="{FF2B5EF4-FFF2-40B4-BE49-F238E27FC236}">
                    <a16:creationId xmlns:a16="http://schemas.microsoft.com/office/drawing/2014/main" id="{E720BA12-8781-C481-F991-23D5EF8F113C}"/>
                  </a:ext>
                </a:extLst>
              </p:cNvPr>
              <p:cNvSpPr txBox="1"/>
              <p:nvPr/>
            </p:nvSpPr>
            <p:spPr>
              <a:xfrm>
                <a:off x="4224329" y="4321981"/>
                <a:ext cx="4709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文本框 33">
                <a:extLst>
                  <a:ext uri="{FF2B5EF4-FFF2-40B4-BE49-F238E27FC236}">
                    <a16:creationId xmlns:a16="http://schemas.microsoft.com/office/drawing/2014/main" id="{E720BA12-8781-C481-F991-23D5EF8F1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329" y="4321981"/>
                <a:ext cx="47098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34">
            <a:extLst>
              <a:ext uri="{FF2B5EF4-FFF2-40B4-BE49-F238E27FC236}">
                <a16:creationId xmlns:a16="http://schemas.microsoft.com/office/drawing/2014/main" id="{B6EBC31F-D4F5-E777-1AC9-5ABA53ADF8CB}"/>
              </a:ext>
            </a:extLst>
          </p:cNvPr>
          <p:cNvGrpSpPr/>
          <p:nvPr/>
        </p:nvGrpSpPr>
        <p:grpSpPr>
          <a:xfrm>
            <a:off x="2335571" y="4307402"/>
            <a:ext cx="2960468" cy="2312008"/>
            <a:chOff x="1232523" y="2827386"/>
            <a:chExt cx="2944062" cy="2531010"/>
          </a:xfrm>
        </p:grpSpPr>
        <p:cxnSp>
          <p:nvCxnSpPr>
            <p:cNvPr id="27" name="直接箭头连接符 35">
              <a:extLst>
                <a:ext uri="{FF2B5EF4-FFF2-40B4-BE49-F238E27FC236}">
                  <a16:creationId xmlns:a16="http://schemas.microsoft.com/office/drawing/2014/main" id="{5D1141A7-8A17-2526-6C0D-B07BF4168AD3}"/>
                </a:ext>
              </a:extLst>
            </p:cNvPr>
            <p:cNvCxnSpPr>
              <a:cxnSpLocks/>
            </p:cNvCxnSpPr>
            <p:nvPr/>
          </p:nvCxnSpPr>
          <p:spPr>
            <a:xfrm>
              <a:off x="1232523" y="5118924"/>
              <a:ext cx="2944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36">
              <a:extLst>
                <a:ext uri="{FF2B5EF4-FFF2-40B4-BE49-F238E27FC236}">
                  <a16:creationId xmlns:a16="http://schemas.microsoft.com/office/drawing/2014/main" id="{4096E64F-7177-63C5-E060-A59A49C44E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5518" y="2827386"/>
              <a:ext cx="0" cy="25310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椭圆 38">
            <a:extLst>
              <a:ext uri="{FF2B5EF4-FFF2-40B4-BE49-F238E27FC236}">
                <a16:creationId xmlns:a16="http://schemas.microsoft.com/office/drawing/2014/main" id="{3C31A442-ABA1-183E-E940-ED9DDCDFE301}"/>
              </a:ext>
            </a:extLst>
          </p:cNvPr>
          <p:cNvSpPr/>
          <p:nvPr/>
        </p:nvSpPr>
        <p:spPr>
          <a:xfrm>
            <a:off x="3366731" y="4927713"/>
            <a:ext cx="264217" cy="2457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椭圆 39">
            <a:extLst>
              <a:ext uri="{FF2B5EF4-FFF2-40B4-BE49-F238E27FC236}">
                <a16:creationId xmlns:a16="http://schemas.microsoft.com/office/drawing/2014/main" id="{EC5E8A6C-D8E3-529D-ADF2-F37877BCB244}"/>
              </a:ext>
            </a:extLst>
          </p:cNvPr>
          <p:cNvSpPr/>
          <p:nvPr/>
        </p:nvSpPr>
        <p:spPr>
          <a:xfrm>
            <a:off x="4053156" y="5244043"/>
            <a:ext cx="264217" cy="2457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椭圆 40">
            <a:extLst>
              <a:ext uri="{FF2B5EF4-FFF2-40B4-BE49-F238E27FC236}">
                <a16:creationId xmlns:a16="http://schemas.microsoft.com/office/drawing/2014/main" id="{E538024B-8F52-D3A3-7196-EEBD638B90A4}"/>
              </a:ext>
            </a:extLst>
          </p:cNvPr>
          <p:cNvSpPr/>
          <p:nvPr/>
        </p:nvSpPr>
        <p:spPr>
          <a:xfrm>
            <a:off x="3626797" y="5724169"/>
            <a:ext cx="264217" cy="2457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45">
            <a:extLst>
              <a:ext uri="{FF2B5EF4-FFF2-40B4-BE49-F238E27FC236}">
                <a16:creationId xmlns:a16="http://schemas.microsoft.com/office/drawing/2014/main" id="{60D10AB0-5AE6-0263-0EA8-E04EFE710FEA}"/>
              </a:ext>
            </a:extLst>
          </p:cNvPr>
          <p:cNvSpPr txBox="1"/>
          <p:nvPr/>
        </p:nvSpPr>
        <p:spPr>
          <a:xfrm>
            <a:off x="2340094" y="6426190"/>
            <a:ext cx="3249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linear separable case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直接连接符 46">
            <a:extLst>
              <a:ext uri="{FF2B5EF4-FFF2-40B4-BE49-F238E27FC236}">
                <a16:creationId xmlns:a16="http://schemas.microsoft.com/office/drawing/2014/main" id="{92C4366D-EFC2-EC5A-75B5-804C5F134331}"/>
              </a:ext>
            </a:extLst>
          </p:cNvPr>
          <p:cNvCxnSpPr>
            <a:cxnSpLocks/>
          </p:cNvCxnSpPr>
          <p:nvPr/>
        </p:nvCxnSpPr>
        <p:spPr>
          <a:xfrm flipV="1">
            <a:off x="6971902" y="4690210"/>
            <a:ext cx="1345093" cy="1569567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47">
            <a:extLst>
              <a:ext uri="{FF2B5EF4-FFF2-40B4-BE49-F238E27FC236}">
                <a16:creationId xmlns:a16="http://schemas.microsoft.com/office/drawing/2014/main" id="{420B9FFA-93A8-ED4E-2630-E31C742B4154}"/>
              </a:ext>
            </a:extLst>
          </p:cNvPr>
          <p:cNvCxnSpPr>
            <a:cxnSpLocks/>
          </p:cNvCxnSpPr>
          <p:nvPr/>
        </p:nvCxnSpPr>
        <p:spPr>
          <a:xfrm flipV="1">
            <a:off x="7226889" y="4871187"/>
            <a:ext cx="1333097" cy="15275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48">
            <a:extLst>
              <a:ext uri="{FF2B5EF4-FFF2-40B4-BE49-F238E27FC236}">
                <a16:creationId xmlns:a16="http://schemas.microsoft.com/office/drawing/2014/main" id="{C6D970EF-78EA-9D00-ED63-5D98A6707438}"/>
              </a:ext>
            </a:extLst>
          </p:cNvPr>
          <p:cNvCxnSpPr>
            <a:cxnSpLocks/>
          </p:cNvCxnSpPr>
          <p:nvPr/>
        </p:nvCxnSpPr>
        <p:spPr>
          <a:xfrm flipV="1">
            <a:off x="6718694" y="4490935"/>
            <a:ext cx="1348556" cy="161519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68">
                <a:extLst>
                  <a:ext uri="{FF2B5EF4-FFF2-40B4-BE49-F238E27FC236}">
                    <a16:creationId xmlns:a16="http://schemas.microsoft.com/office/drawing/2014/main" id="{1403CE8E-E635-D14B-9537-EE23A8664810}"/>
                  </a:ext>
                </a:extLst>
              </p:cNvPr>
              <p:cNvSpPr txBox="1"/>
              <p:nvPr/>
            </p:nvSpPr>
            <p:spPr>
              <a:xfrm>
                <a:off x="8240641" y="4346128"/>
                <a:ext cx="4709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文本框 68">
                <a:extLst>
                  <a:ext uri="{FF2B5EF4-FFF2-40B4-BE49-F238E27FC236}">
                    <a16:creationId xmlns:a16="http://schemas.microsoft.com/office/drawing/2014/main" id="{1403CE8E-E635-D14B-9537-EE23A8664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641" y="4346128"/>
                <a:ext cx="47098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组合 69">
            <a:extLst>
              <a:ext uri="{FF2B5EF4-FFF2-40B4-BE49-F238E27FC236}">
                <a16:creationId xmlns:a16="http://schemas.microsoft.com/office/drawing/2014/main" id="{F082FF98-3D63-F254-8B3B-26D9724AE4B6}"/>
              </a:ext>
            </a:extLst>
          </p:cNvPr>
          <p:cNvGrpSpPr/>
          <p:nvPr/>
        </p:nvGrpSpPr>
        <p:grpSpPr>
          <a:xfrm>
            <a:off x="6351883" y="4331549"/>
            <a:ext cx="2960468" cy="2312008"/>
            <a:chOff x="1232523" y="2827386"/>
            <a:chExt cx="2944062" cy="2531010"/>
          </a:xfrm>
        </p:grpSpPr>
        <p:cxnSp>
          <p:nvCxnSpPr>
            <p:cNvPr id="38" name="直接箭头连接符 70">
              <a:extLst>
                <a:ext uri="{FF2B5EF4-FFF2-40B4-BE49-F238E27FC236}">
                  <a16:creationId xmlns:a16="http://schemas.microsoft.com/office/drawing/2014/main" id="{7C507EF7-813E-9B6E-6DF6-1EE8ADC167B5}"/>
                </a:ext>
              </a:extLst>
            </p:cNvPr>
            <p:cNvCxnSpPr>
              <a:cxnSpLocks/>
            </p:cNvCxnSpPr>
            <p:nvPr/>
          </p:nvCxnSpPr>
          <p:spPr>
            <a:xfrm>
              <a:off x="1232523" y="5118924"/>
              <a:ext cx="2944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71">
              <a:extLst>
                <a:ext uri="{FF2B5EF4-FFF2-40B4-BE49-F238E27FC236}">
                  <a16:creationId xmlns:a16="http://schemas.microsoft.com/office/drawing/2014/main" id="{F5771268-A80E-A547-9CD6-3E1428841F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5518" y="2827386"/>
              <a:ext cx="0" cy="25310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文本框 76">
            <a:extLst>
              <a:ext uri="{FF2B5EF4-FFF2-40B4-BE49-F238E27FC236}">
                <a16:creationId xmlns:a16="http://schemas.microsoft.com/office/drawing/2014/main" id="{29CE8708-B118-F343-ADCB-27EF8DDF48D2}"/>
              </a:ext>
            </a:extLst>
          </p:cNvPr>
          <p:cNvSpPr txBox="1"/>
          <p:nvPr/>
        </p:nvSpPr>
        <p:spPr>
          <a:xfrm>
            <a:off x="6496235" y="6417950"/>
            <a:ext cx="3705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linear non-separable case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77">
            <a:extLst>
              <a:ext uri="{FF2B5EF4-FFF2-40B4-BE49-F238E27FC236}">
                <a16:creationId xmlns:a16="http://schemas.microsoft.com/office/drawing/2014/main" id="{7295EA42-9895-90CF-B64E-26E06356FCC1}"/>
              </a:ext>
            </a:extLst>
          </p:cNvPr>
          <p:cNvSpPr txBox="1"/>
          <p:nvPr/>
        </p:nvSpPr>
        <p:spPr>
          <a:xfrm>
            <a:off x="313053" y="2800864"/>
            <a:ext cx="105843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non-separable case has three types of support vectors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Lying on the margin boundaries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Lying between the margin boundaries but still on the correct side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Lying on the wrong side of the hyperplane.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组合 120">
            <a:extLst>
              <a:ext uri="{FF2B5EF4-FFF2-40B4-BE49-F238E27FC236}">
                <a16:creationId xmlns:a16="http://schemas.microsoft.com/office/drawing/2014/main" id="{402B20CC-027B-A450-DAC9-965E482B83C7}"/>
              </a:ext>
            </a:extLst>
          </p:cNvPr>
          <p:cNvGrpSpPr/>
          <p:nvPr/>
        </p:nvGrpSpPr>
        <p:grpSpPr>
          <a:xfrm>
            <a:off x="6906178" y="5408695"/>
            <a:ext cx="2699876" cy="1086002"/>
            <a:chOff x="5307657" y="4767692"/>
            <a:chExt cx="2699876" cy="1086002"/>
          </a:xfrm>
        </p:grpSpPr>
        <p:sp>
          <p:nvSpPr>
            <p:cNvPr id="43" name="矩形 58">
              <a:extLst>
                <a:ext uri="{FF2B5EF4-FFF2-40B4-BE49-F238E27FC236}">
                  <a16:creationId xmlns:a16="http://schemas.microsoft.com/office/drawing/2014/main" id="{4A4D125A-5BAC-ABC2-97EB-8A22882359FF}"/>
                </a:ext>
              </a:extLst>
            </p:cNvPr>
            <p:cNvSpPr/>
            <p:nvPr/>
          </p:nvSpPr>
          <p:spPr>
            <a:xfrm rot="20682264">
              <a:off x="6559259" y="5325212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矩形 59">
              <a:extLst>
                <a:ext uri="{FF2B5EF4-FFF2-40B4-BE49-F238E27FC236}">
                  <a16:creationId xmlns:a16="http://schemas.microsoft.com/office/drawing/2014/main" id="{F60E2AE5-8BCC-28F1-8FBC-3C9F7393974C}"/>
                </a:ext>
              </a:extLst>
            </p:cNvPr>
            <p:cNvSpPr/>
            <p:nvPr/>
          </p:nvSpPr>
          <p:spPr>
            <a:xfrm rot="20682264">
              <a:off x="6518355" y="5020859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矩形 60">
              <a:extLst>
                <a:ext uri="{FF2B5EF4-FFF2-40B4-BE49-F238E27FC236}">
                  <a16:creationId xmlns:a16="http://schemas.microsoft.com/office/drawing/2014/main" id="{A55812B5-619C-A72B-6EB2-F5AF96E807C2}"/>
                </a:ext>
              </a:extLst>
            </p:cNvPr>
            <p:cNvSpPr/>
            <p:nvPr/>
          </p:nvSpPr>
          <p:spPr>
            <a:xfrm rot="20682264">
              <a:off x="6710881" y="4986441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矩形 61">
              <a:extLst>
                <a:ext uri="{FF2B5EF4-FFF2-40B4-BE49-F238E27FC236}">
                  <a16:creationId xmlns:a16="http://schemas.microsoft.com/office/drawing/2014/main" id="{60A4775B-1592-0480-81B3-11AFADAD5065}"/>
                </a:ext>
              </a:extLst>
            </p:cNvPr>
            <p:cNvSpPr/>
            <p:nvPr/>
          </p:nvSpPr>
          <p:spPr>
            <a:xfrm rot="20682264">
              <a:off x="6135245" y="5183327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62">
              <a:extLst>
                <a:ext uri="{FF2B5EF4-FFF2-40B4-BE49-F238E27FC236}">
                  <a16:creationId xmlns:a16="http://schemas.microsoft.com/office/drawing/2014/main" id="{BED20765-22BF-0D83-49FD-A784BF96B51C}"/>
                </a:ext>
              </a:extLst>
            </p:cNvPr>
            <p:cNvSpPr/>
            <p:nvPr/>
          </p:nvSpPr>
          <p:spPr>
            <a:xfrm rot="20682264">
              <a:off x="6779562" y="4811640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63">
              <a:extLst>
                <a:ext uri="{FF2B5EF4-FFF2-40B4-BE49-F238E27FC236}">
                  <a16:creationId xmlns:a16="http://schemas.microsoft.com/office/drawing/2014/main" id="{206E8AF3-62D6-5253-7705-C14F8407C2C0}"/>
                </a:ext>
              </a:extLst>
            </p:cNvPr>
            <p:cNvSpPr/>
            <p:nvPr/>
          </p:nvSpPr>
          <p:spPr>
            <a:xfrm rot="20682264">
              <a:off x="6613464" y="4767692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64">
              <a:extLst>
                <a:ext uri="{FF2B5EF4-FFF2-40B4-BE49-F238E27FC236}">
                  <a16:creationId xmlns:a16="http://schemas.microsoft.com/office/drawing/2014/main" id="{C9892C07-F4F0-2A6E-148E-8562F5841E39}"/>
                </a:ext>
              </a:extLst>
            </p:cNvPr>
            <p:cNvSpPr/>
            <p:nvPr/>
          </p:nvSpPr>
          <p:spPr>
            <a:xfrm rot="20682264">
              <a:off x="6350933" y="5239286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文本框 65">
              <a:extLst>
                <a:ext uri="{FF2B5EF4-FFF2-40B4-BE49-F238E27FC236}">
                  <a16:creationId xmlns:a16="http://schemas.microsoft.com/office/drawing/2014/main" id="{AB911128-65BB-66A1-8D54-581144CE574C}"/>
                </a:ext>
              </a:extLst>
            </p:cNvPr>
            <p:cNvSpPr txBox="1"/>
            <p:nvPr/>
          </p:nvSpPr>
          <p:spPr>
            <a:xfrm>
              <a:off x="6742579" y="5392029"/>
              <a:ext cx="1264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class -1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矩形 81">
              <a:extLst>
                <a:ext uri="{FF2B5EF4-FFF2-40B4-BE49-F238E27FC236}">
                  <a16:creationId xmlns:a16="http://schemas.microsoft.com/office/drawing/2014/main" id="{63F8E05E-A28D-E1AD-D067-147605789133}"/>
                </a:ext>
              </a:extLst>
            </p:cNvPr>
            <p:cNvSpPr/>
            <p:nvPr/>
          </p:nvSpPr>
          <p:spPr>
            <a:xfrm rot="20682264">
              <a:off x="6386084" y="5458667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矩形 82">
              <a:extLst>
                <a:ext uri="{FF2B5EF4-FFF2-40B4-BE49-F238E27FC236}">
                  <a16:creationId xmlns:a16="http://schemas.microsoft.com/office/drawing/2014/main" id="{7A33742B-E6E8-8C8C-40AA-0EEA31166821}"/>
                </a:ext>
              </a:extLst>
            </p:cNvPr>
            <p:cNvSpPr/>
            <p:nvPr/>
          </p:nvSpPr>
          <p:spPr>
            <a:xfrm rot="20682264">
              <a:off x="5712090" y="5284597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83">
              <a:extLst>
                <a:ext uri="{FF2B5EF4-FFF2-40B4-BE49-F238E27FC236}">
                  <a16:creationId xmlns:a16="http://schemas.microsoft.com/office/drawing/2014/main" id="{ADE64593-6CAB-AF6D-C3CE-C5F3D9DF0EFE}"/>
                </a:ext>
              </a:extLst>
            </p:cNvPr>
            <p:cNvSpPr/>
            <p:nvPr/>
          </p:nvSpPr>
          <p:spPr>
            <a:xfrm rot="20682264">
              <a:off x="5307657" y="5360804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组合 119">
            <a:extLst>
              <a:ext uri="{FF2B5EF4-FFF2-40B4-BE49-F238E27FC236}">
                <a16:creationId xmlns:a16="http://schemas.microsoft.com/office/drawing/2014/main" id="{049A0D72-1F13-4B93-4BCE-C31922AB6937}"/>
              </a:ext>
            </a:extLst>
          </p:cNvPr>
          <p:cNvGrpSpPr/>
          <p:nvPr/>
        </p:nvGrpSpPr>
        <p:grpSpPr>
          <a:xfrm>
            <a:off x="6522373" y="4417867"/>
            <a:ext cx="2043148" cy="1254842"/>
            <a:chOff x="4923852" y="3776864"/>
            <a:chExt cx="2043148" cy="1254842"/>
          </a:xfrm>
        </p:grpSpPr>
        <p:grpSp>
          <p:nvGrpSpPr>
            <p:cNvPr id="55" name="组合 118">
              <a:extLst>
                <a:ext uri="{FF2B5EF4-FFF2-40B4-BE49-F238E27FC236}">
                  <a16:creationId xmlns:a16="http://schemas.microsoft.com/office/drawing/2014/main" id="{10FD3CD3-D957-494A-6153-1FF208FC469B}"/>
                </a:ext>
              </a:extLst>
            </p:cNvPr>
            <p:cNvGrpSpPr/>
            <p:nvPr/>
          </p:nvGrpSpPr>
          <p:grpSpPr>
            <a:xfrm>
              <a:off x="4923852" y="3776864"/>
              <a:ext cx="1348556" cy="1254842"/>
              <a:chOff x="4923852" y="3776864"/>
              <a:chExt cx="1348556" cy="1254842"/>
            </a:xfrm>
          </p:grpSpPr>
          <p:sp>
            <p:nvSpPr>
              <p:cNvPr id="57" name="椭圆 50">
                <a:extLst>
                  <a:ext uri="{FF2B5EF4-FFF2-40B4-BE49-F238E27FC236}">
                    <a16:creationId xmlns:a16="http://schemas.microsoft.com/office/drawing/2014/main" id="{48AE6A9E-DC59-F267-D785-7DD3C7D4C7F1}"/>
                  </a:ext>
                </a:extLst>
              </p:cNvPr>
              <p:cNvSpPr/>
              <p:nvPr/>
            </p:nvSpPr>
            <p:spPr>
              <a:xfrm rot="20082175">
                <a:off x="5354443" y="4451501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椭圆 51">
                <a:extLst>
                  <a:ext uri="{FF2B5EF4-FFF2-40B4-BE49-F238E27FC236}">
                    <a16:creationId xmlns:a16="http://schemas.microsoft.com/office/drawing/2014/main" id="{4BD8197B-AE68-CDF5-1478-5D1E199CA5BF}"/>
                  </a:ext>
                </a:extLst>
              </p:cNvPr>
              <p:cNvSpPr/>
              <p:nvPr/>
            </p:nvSpPr>
            <p:spPr>
              <a:xfrm rot="20082175">
                <a:off x="5558482" y="4517877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椭圆 52">
                <a:extLst>
                  <a:ext uri="{FF2B5EF4-FFF2-40B4-BE49-F238E27FC236}">
                    <a16:creationId xmlns:a16="http://schemas.microsoft.com/office/drawing/2014/main" id="{8EDAB8CB-C3A8-0111-5820-1410B5C69075}"/>
                  </a:ext>
                </a:extLst>
              </p:cNvPr>
              <p:cNvSpPr/>
              <p:nvPr/>
            </p:nvSpPr>
            <p:spPr>
              <a:xfrm rot="20082175">
                <a:off x="5275085" y="4690809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椭圆 53">
                <a:extLst>
                  <a:ext uri="{FF2B5EF4-FFF2-40B4-BE49-F238E27FC236}">
                    <a16:creationId xmlns:a16="http://schemas.microsoft.com/office/drawing/2014/main" id="{154D1401-8050-AAC5-AB78-3504623C9C57}"/>
                  </a:ext>
                </a:extLst>
              </p:cNvPr>
              <p:cNvSpPr/>
              <p:nvPr/>
            </p:nvSpPr>
            <p:spPr>
              <a:xfrm rot="20082175">
                <a:off x="5510798" y="4675305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椭圆 54">
                <a:extLst>
                  <a:ext uri="{FF2B5EF4-FFF2-40B4-BE49-F238E27FC236}">
                    <a16:creationId xmlns:a16="http://schemas.microsoft.com/office/drawing/2014/main" id="{6DC1B1CD-7DDB-404A-4A69-2BCD572BA6EB}"/>
                  </a:ext>
                </a:extLst>
              </p:cNvPr>
              <p:cNvSpPr/>
              <p:nvPr/>
            </p:nvSpPr>
            <p:spPr>
              <a:xfrm rot="20082175">
                <a:off x="5850938" y="4377981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椭圆 55">
                <a:extLst>
                  <a:ext uri="{FF2B5EF4-FFF2-40B4-BE49-F238E27FC236}">
                    <a16:creationId xmlns:a16="http://schemas.microsoft.com/office/drawing/2014/main" id="{B2D2D1DA-AF4A-FF83-1A4D-CC5AEB143549}"/>
                  </a:ext>
                </a:extLst>
              </p:cNvPr>
              <p:cNvSpPr/>
              <p:nvPr/>
            </p:nvSpPr>
            <p:spPr>
              <a:xfrm rot="20082175">
                <a:off x="5238419" y="4930118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文本框 56">
                <a:extLst>
                  <a:ext uri="{FF2B5EF4-FFF2-40B4-BE49-F238E27FC236}">
                    <a16:creationId xmlns:a16="http://schemas.microsoft.com/office/drawing/2014/main" id="{A722E4E3-E4F7-5A9F-E53A-F13D0C5A16F4}"/>
                  </a:ext>
                </a:extLst>
              </p:cNvPr>
              <p:cNvSpPr txBox="1"/>
              <p:nvPr/>
            </p:nvSpPr>
            <p:spPr>
              <a:xfrm>
                <a:off x="4923852" y="3776864"/>
                <a:ext cx="13485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class +1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椭圆 84">
                <a:extLst>
                  <a:ext uri="{FF2B5EF4-FFF2-40B4-BE49-F238E27FC236}">
                    <a16:creationId xmlns:a16="http://schemas.microsoft.com/office/drawing/2014/main" id="{9EB65C60-0467-72B7-90C9-CCD5B8A48E2A}"/>
                  </a:ext>
                </a:extLst>
              </p:cNvPr>
              <p:cNvSpPr/>
              <p:nvPr/>
            </p:nvSpPr>
            <p:spPr>
              <a:xfrm rot="20082175">
                <a:off x="5558483" y="4312417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椭圆 85">
                <a:extLst>
                  <a:ext uri="{FF2B5EF4-FFF2-40B4-BE49-F238E27FC236}">
                    <a16:creationId xmlns:a16="http://schemas.microsoft.com/office/drawing/2014/main" id="{B19C4FBC-BF3D-0438-E55E-D55C1701D539}"/>
                  </a:ext>
                </a:extLst>
              </p:cNvPr>
              <p:cNvSpPr/>
              <p:nvPr/>
            </p:nvSpPr>
            <p:spPr>
              <a:xfrm rot="20082175">
                <a:off x="5907681" y="4748122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6" name="椭圆 86">
              <a:extLst>
                <a:ext uri="{FF2B5EF4-FFF2-40B4-BE49-F238E27FC236}">
                  <a16:creationId xmlns:a16="http://schemas.microsoft.com/office/drawing/2014/main" id="{15BDB972-D9F4-5091-2DCB-770C65506162}"/>
                </a:ext>
              </a:extLst>
            </p:cNvPr>
            <p:cNvSpPr/>
            <p:nvPr/>
          </p:nvSpPr>
          <p:spPr>
            <a:xfrm rot="20082175">
              <a:off x="6855169" y="4400764"/>
              <a:ext cx="111831" cy="1015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6" name="文本框 87">
            <a:extLst>
              <a:ext uri="{FF2B5EF4-FFF2-40B4-BE49-F238E27FC236}">
                <a16:creationId xmlns:a16="http://schemas.microsoft.com/office/drawing/2014/main" id="{ADC1D0FA-598A-2B63-8B28-1988E07161ED}"/>
              </a:ext>
            </a:extLst>
          </p:cNvPr>
          <p:cNvSpPr txBox="1"/>
          <p:nvPr/>
        </p:nvSpPr>
        <p:spPr>
          <a:xfrm>
            <a:off x="7438565" y="4741457"/>
            <a:ext cx="20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文本框 88">
            <a:extLst>
              <a:ext uri="{FF2B5EF4-FFF2-40B4-BE49-F238E27FC236}">
                <a16:creationId xmlns:a16="http://schemas.microsoft.com/office/drawing/2014/main" id="{303DE78B-3328-F6D5-E523-59E5F362C752}"/>
              </a:ext>
            </a:extLst>
          </p:cNvPr>
          <p:cNvSpPr txBox="1"/>
          <p:nvPr/>
        </p:nvSpPr>
        <p:spPr>
          <a:xfrm>
            <a:off x="7543205" y="5106677"/>
            <a:ext cx="20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89">
            <a:extLst>
              <a:ext uri="{FF2B5EF4-FFF2-40B4-BE49-F238E27FC236}">
                <a16:creationId xmlns:a16="http://schemas.microsoft.com/office/drawing/2014/main" id="{4ED839D3-A26F-9D29-8218-8E01CDEB05F3}"/>
              </a:ext>
            </a:extLst>
          </p:cNvPr>
          <p:cNvSpPr txBox="1"/>
          <p:nvPr/>
        </p:nvSpPr>
        <p:spPr>
          <a:xfrm>
            <a:off x="6699477" y="5980961"/>
            <a:ext cx="20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文本框 90">
            <a:extLst>
              <a:ext uri="{FF2B5EF4-FFF2-40B4-BE49-F238E27FC236}">
                <a16:creationId xmlns:a16="http://schemas.microsoft.com/office/drawing/2014/main" id="{DB5FAF4E-9A80-D59F-33FD-93BEB098DA13}"/>
              </a:ext>
            </a:extLst>
          </p:cNvPr>
          <p:cNvSpPr txBox="1"/>
          <p:nvPr/>
        </p:nvSpPr>
        <p:spPr>
          <a:xfrm>
            <a:off x="7772613" y="5588066"/>
            <a:ext cx="20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91">
            <a:extLst>
              <a:ext uri="{FF2B5EF4-FFF2-40B4-BE49-F238E27FC236}">
                <a16:creationId xmlns:a16="http://schemas.microsoft.com/office/drawing/2014/main" id="{97A89551-C174-820A-D15D-7C956080A7EA}"/>
              </a:ext>
            </a:extLst>
          </p:cNvPr>
          <p:cNvSpPr txBox="1"/>
          <p:nvPr/>
        </p:nvSpPr>
        <p:spPr>
          <a:xfrm>
            <a:off x="7379634" y="5678405"/>
            <a:ext cx="20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92">
            <a:extLst>
              <a:ext uri="{FF2B5EF4-FFF2-40B4-BE49-F238E27FC236}">
                <a16:creationId xmlns:a16="http://schemas.microsoft.com/office/drawing/2014/main" id="{EBED8F21-F034-ED58-C532-5E80C09FD225}"/>
              </a:ext>
            </a:extLst>
          </p:cNvPr>
          <p:cNvSpPr txBox="1"/>
          <p:nvPr/>
        </p:nvSpPr>
        <p:spPr>
          <a:xfrm>
            <a:off x="8521064" y="4791930"/>
            <a:ext cx="20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直接箭头连接符 94">
            <a:extLst>
              <a:ext uri="{FF2B5EF4-FFF2-40B4-BE49-F238E27FC236}">
                <a16:creationId xmlns:a16="http://schemas.microsoft.com/office/drawing/2014/main" id="{6630DDFB-484F-C060-F780-D05D1F361184}"/>
              </a:ext>
            </a:extLst>
          </p:cNvPr>
          <p:cNvCxnSpPr>
            <a:cxnSpLocks/>
          </p:cNvCxnSpPr>
          <p:nvPr/>
        </p:nvCxnSpPr>
        <p:spPr>
          <a:xfrm>
            <a:off x="7394751" y="5312499"/>
            <a:ext cx="131247" cy="9885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100">
            <a:extLst>
              <a:ext uri="{FF2B5EF4-FFF2-40B4-BE49-F238E27FC236}">
                <a16:creationId xmlns:a16="http://schemas.microsoft.com/office/drawing/2014/main" id="{8DB2453A-7443-8458-0455-6FF0B888D85A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914579" y="4663419"/>
            <a:ext cx="543932" cy="41356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105">
            <a:extLst>
              <a:ext uri="{FF2B5EF4-FFF2-40B4-BE49-F238E27FC236}">
                <a16:creationId xmlns:a16="http://schemas.microsoft.com/office/drawing/2014/main" id="{DB0AFD08-E062-2914-CD88-5D0DC9EC9E97}"/>
              </a:ext>
            </a:extLst>
          </p:cNvPr>
          <p:cNvCxnSpPr>
            <a:cxnSpLocks/>
          </p:cNvCxnSpPr>
          <p:nvPr/>
        </p:nvCxnSpPr>
        <p:spPr>
          <a:xfrm flipH="1" flipV="1">
            <a:off x="7414201" y="6003660"/>
            <a:ext cx="92345" cy="7691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110">
            <a:extLst>
              <a:ext uri="{FF2B5EF4-FFF2-40B4-BE49-F238E27FC236}">
                <a16:creationId xmlns:a16="http://schemas.microsoft.com/office/drawing/2014/main" id="{46E7C4B5-BC63-C4B6-2963-59EF4CECDE7B}"/>
              </a:ext>
            </a:extLst>
          </p:cNvPr>
          <p:cNvCxnSpPr>
            <a:cxnSpLocks/>
          </p:cNvCxnSpPr>
          <p:nvPr/>
        </p:nvCxnSpPr>
        <p:spPr>
          <a:xfrm flipH="1" flipV="1">
            <a:off x="7014193" y="6074802"/>
            <a:ext cx="296516" cy="22903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椭圆 112">
            <a:extLst>
              <a:ext uri="{FF2B5EF4-FFF2-40B4-BE49-F238E27FC236}">
                <a16:creationId xmlns:a16="http://schemas.microsoft.com/office/drawing/2014/main" id="{AB373605-5470-859A-FCBC-4C554BA8FF62}"/>
              </a:ext>
            </a:extLst>
          </p:cNvPr>
          <p:cNvSpPr/>
          <p:nvPr/>
        </p:nvSpPr>
        <p:spPr>
          <a:xfrm>
            <a:off x="7379140" y="4977736"/>
            <a:ext cx="239000" cy="2195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椭圆 113">
            <a:extLst>
              <a:ext uri="{FF2B5EF4-FFF2-40B4-BE49-F238E27FC236}">
                <a16:creationId xmlns:a16="http://schemas.microsoft.com/office/drawing/2014/main" id="{E24A4B95-9A51-51EE-9651-51DFE95DE2E4}"/>
              </a:ext>
            </a:extLst>
          </p:cNvPr>
          <p:cNvSpPr/>
          <p:nvPr/>
        </p:nvSpPr>
        <p:spPr>
          <a:xfrm>
            <a:off x="7444257" y="5329534"/>
            <a:ext cx="239000" cy="2357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椭圆 114">
            <a:extLst>
              <a:ext uri="{FF2B5EF4-FFF2-40B4-BE49-F238E27FC236}">
                <a16:creationId xmlns:a16="http://schemas.microsoft.com/office/drawing/2014/main" id="{86B0CA7E-0B32-B081-8EEF-3ECD0432FFCF}"/>
              </a:ext>
            </a:extLst>
          </p:cNvPr>
          <p:cNvSpPr/>
          <p:nvPr/>
        </p:nvSpPr>
        <p:spPr>
          <a:xfrm>
            <a:off x="8399219" y="4978638"/>
            <a:ext cx="218924" cy="2280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椭圆 115">
            <a:extLst>
              <a:ext uri="{FF2B5EF4-FFF2-40B4-BE49-F238E27FC236}">
                <a16:creationId xmlns:a16="http://schemas.microsoft.com/office/drawing/2014/main" id="{A5C5E368-66AD-6868-228C-4962D4F3155E}"/>
              </a:ext>
            </a:extLst>
          </p:cNvPr>
          <p:cNvSpPr/>
          <p:nvPr/>
        </p:nvSpPr>
        <p:spPr>
          <a:xfrm>
            <a:off x="7670589" y="5769417"/>
            <a:ext cx="219539" cy="2146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椭圆 116">
            <a:extLst>
              <a:ext uri="{FF2B5EF4-FFF2-40B4-BE49-F238E27FC236}">
                <a16:creationId xmlns:a16="http://schemas.microsoft.com/office/drawing/2014/main" id="{2CAA5C6F-E0C9-6519-103C-588CB8C75E44}"/>
              </a:ext>
            </a:extLst>
          </p:cNvPr>
          <p:cNvSpPr/>
          <p:nvPr/>
        </p:nvSpPr>
        <p:spPr>
          <a:xfrm>
            <a:off x="7266233" y="5864338"/>
            <a:ext cx="219539" cy="2146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椭圆 117">
            <a:extLst>
              <a:ext uri="{FF2B5EF4-FFF2-40B4-BE49-F238E27FC236}">
                <a16:creationId xmlns:a16="http://schemas.microsoft.com/office/drawing/2014/main" id="{87BA3A33-6684-066E-B175-3945BF795C61}"/>
              </a:ext>
            </a:extLst>
          </p:cNvPr>
          <p:cNvSpPr/>
          <p:nvPr/>
        </p:nvSpPr>
        <p:spPr>
          <a:xfrm>
            <a:off x="6868056" y="5941265"/>
            <a:ext cx="219539" cy="2146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98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 animBg="1"/>
      <p:bldP spid="30" grpId="0" animBg="1"/>
      <p:bldP spid="31" grpId="0" animBg="1"/>
      <p:bldP spid="32" grpId="0"/>
      <p:bldP spid="36" grpId="0"/>
      <p:bldP spid="40" grpId="0"/>
      <p:bldP spid="66" grpId="0"/>
      <p:bldP spid="67" grpId="0"/>
      <p:bldP spid="68" grpId="0"/>
      <p:bldP spid="69" grpId="0"/>
      <p:bldP spid="70" grpId="0"/>
      <p:bldP spid="71" grpId="0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Linear SVM – soft margin classifier</a:t>
            </a:r>
          </a:p>
        </p:txBody>
      </p:sp>
      <p:cxnSp>
        <p:nvCxnSpPr>
          <p:cNvPr id="2" name="直接连接符 36">
            <a:extLst>
              <a:ext uri="{FF2B5EF4-FFF2-40B4-BE49-F238E27FC236}">
                <a16:creationId xmlns:a16="http://schemas.microsoft.com/office/drawing/2014/main" id="{6175A256-4F34-6741-62AE-E4BF04229413}"/>
              </a:ext>
            </a:extLst>
          </p:cNvPr>
          <p:cNvCxnSpPr>
            <a:cxnSpLocks/>
          </p:cNvCxnSpPr>
          <p:nvPr/>
        </p:nvCxnSpPr>
        <p:spPr>
          <a:xfrm flipV="1">
            <a:off x="3817180" y="2732228"/>
            <a:ext cx="1345093" cy="1569567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37">
            <a:extLst>
              <a:ext uri="{FF2B5EF4-FFF2-40B4-BE49-F238E27FC236}">
                <a16:creationId xmlns:a16="http://schemas.microsoft.com/office/drawing/2014/main" id="{49E2E906-8D52-8792-06BB-F3A1B17A182A}"/>
              </a:ext>
            </a:extLst>
          </p:cNvPr>
          <p:cNvCxnSpPr>
            <a:cxnSpLocks/>
          </p:cNvCxnSpPr>
          <p:nvPr/>
        </p:nvCxnSpPr>
        <p:spPr>
          <a:xfrm flipV="1">
            <a:off x="4072167" y="2913205"/>
            <a:ext cx="1333097" cy="15275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8">
            <a:extLst>
              <a:ext uri="{FF2B5EF4-FFF2-40B4-BE49-F238E27FC236}">
                <a16:creationId xmlns:a16="http://schemas.microsoft.com/office/drawing/2014/main" id="{331BA4B3-4044-57DD-5999-B121F5A02F8A}"/>
              </a:ext>
            </a:extLst>
          </p:cNvPr>
          <p:cNvCxnSpPr>
            <a:cxnSpLocks/>
          </p:cNvCxnSpPr>
          <p:nvPr/>
        </p:nvCxnSpPr>
        <p:spPr>
          <a:xfrm flipV="1">
            <a:off x="3563972" y="2532953"/>
            <a:ext cx="1348556" cy="161519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39">
                <a:extLst>
                  <a:ext uri="{FF2B5EF4-FFF2-40B4-BE49-F238E27FC236}">
                    <a16:creationId xmlns:a16="http://schemas.microsoft.com/office/drawing/2014/main" id="{D623C329-4998-1CF6-A3C3-C6F48DB29A2C}"/>
                  </a:ext>
                </a:extLst>
              </p:cNvPr>
              <p:cNvSpPr txBox="1"/>
              <p:nvPr/>
            </p:nvSpPr>
            <p:spPr>
              <a:xfrm>
                <a:off x="5085919" y="2388146"/>
                <a:ext cx="4709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39">
                <a:extLst>
                  <a:ext uri="{FF2B5EF4-FFF2-40B4-BE49-F238E27FC236}">
                    <a16:creationId xmlns:a16="http://schemas.microsoft.com/office/drawing/2014/main" id="{D623C329-4998-1CF6-A3C3-C6F48DB29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919" y="2388146"/>
                <a:ext cx="47098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40">
            <a:extLst>
              <a:ext uri="{FF2B5EF4-FFF2-40B4-BE49-F238E27FC236}">
                <a16:creationId xmlns:a16="http://schemas.microsoft.com/office/drawing/2014/main" id="{E7CFEE0E-7B05-A352-1FFE-80EBCD7B50A4}"/>
              </a:ext>
            </a:extLst>
          </p:cNvPr>
          <p:cNvGrpSpPr/>
          <p:nvPr/>
        </p:nvGrpSpPr>
        <p:grpSpPr>
          <a:xfrm>
            <a:off x="3197161" y="2373567"/>
            <a:ext cx="2960468" cy="2312008"/>
            <a:chOff x="1232523" y="2827386"/>
            <a:chExt cx="2944062" cy="2531010"/>
          </a:xfrm>
        </p:grpSpPr>
        <p:cxnSp>
          <p:nvCxnSpPr>
            <p:cNvPr id="7" name="直接箭头连接符 41">
              <a:extLst>
                <a:ext uri="{FF2B5EF4-FFF2-40B4-BE49-F238E27FC236}">
                  <a16:creationId xmlns:a16="http://schemas.microsoft.com/office/drawing/2014/main" id="{B945FCF9-0C76-16BB-E7B0-D25681BE1AA4}"/>
                </a:ext>
              </a:extLst>
            </p:cNvPr>
            <p:cNvCxnSpPr>
              <a:cxnSpLocks/>
            </p:cNvCxnSpPr>
            <p:nvPr/>
          </p:nvCxnSpPr>
          <p:spPr>
            <a:xfrm>
              <a:off x="1232523" y="5118924"/>
              <a:ext cx="2944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42">
              <a:extLst>
                <a:ext uri="{FF2B5EF4-FFF2-40B4-BE49-F238E27FC236}">
                  <a16:creationId xmlns:a16="http://schemas.microsoft.com/office/drawing/2014/main" id="{82E59A68-B3A3-EF86-BF62-4ED9043AB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5518" y="2827386"/>
              <a:ext cx="0" cy="25310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43">
            <a:extLst>
              <a:ext uri="{FF2B5EF4-FFF2-40B4-BE49-F238E27FC236}">
                <a16:creationId xmlns:a16="http://schemas.microsoft.com/office/drawing/2014/main" id="{2B88692A-E326-36C6-726E-C456D91FA3A7}"/>
              </a:ext>
            </a:extLst>
          </p:cNvPr>
          <p:cNvSpPr txBox="1"/>
          <p:nvPr/>
        </p:nvSpPr>
        <p:spPr>
          <a:xfrm>
            <a:off x="3144367" y="4507258"/>
            <a:ext cx="3777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linear non-separable case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组合 44">
            <a:extLst>
              <a:ext uri="{FF2B5EF4-FFF2-40B4-BE49-F238E27FC236}">
                <a16:creationId xmlns:a16="http://schemas.microsoft.com/office/drawing/2014/main" id="{F9BED3D6-60A5-7B63-DA28-7818FEE86852}"/>
              </a:ext>
            </a:extLst>
          </p:cNvPr>
          <p:cNvGrpSpPr/>
          <p:nvPr/>
        </p:nvGrpSpPr>
        <p:grpSpPr>
          <a:xfrm>
            <a:off x="3446563" y="3400647"/>
            <a:ext cx="2671772" cy="1086002"/>
            <a:chOff x="5307657" y="4767692"/>
            <a:chExt cx="2671772" cy="1086002"/>
          </a:xfrm>
        </p:grpSpPr>
        <p:sp>
          <p:nvSpPr>
            <p:cNvPr id="12" name="矩形 45">
              <a:extLst>
                <a:ext uri="{FF2B5EF4-FFF2-40B4-BE49-F238E27FC236}">
                  <a16:creationId xmlns:a16="http://schemas.microsoft.com/office/drawing/2014/main" id="{5143E785-7FCB-E8D7-B548-B392474CD2A3}"/>
                </a:ext>
              </a:extLst>
            </p:cNvPr>
            <p:cNvSpPr/>
            <p:nvPr/>
          </p:nvSpPr>
          <p:spPr>
            <a:xfrm rot="20682264">
              <a:off x="6559259" y="5325212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矩形 46">
              <a:extLst>
                <a:ext uri="{FF2B5EF4-FFF2-40B4-BE49-F238E27FC236}">
                  <a16:creationId xmlns:a16="http://schemas.microsoft.com/office/drawing/2014/main" id="{31631C08-DC64-0521-4E0B-40C17FC641B2}"/>
                </a:ext>
              </a:extLst>
            </p:cNvPr>
            <p:cNvSpPr/>
            <p:nvPr/>
          </p:nvSpPr>
          <p:spPr>
            <a:xfrm rot="20682264">
              <a:off x="6518355" y="5020859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矩形 47">
              <a:extLst>
                <a:ext uri="{FF2B5EF4-FFF2-40B4-BE49-F238E27FC236}">
                  <a16:creationId xmlns:a16="http://schemas.microsoft.com/office/drawing/2014/main" id="{0B6E585E-DC76-24F7-336C-8D67B2158248}"/>
                </a:ext>
              </a:extLst>
            </p:cNvPr>
            <p:cNvSpPr/>
            <p:nvPr/>
          </p:nvSpPr>
          <p:spPr>
            <a:xfrm rot="20682264">
              <a:off x="6710881" y="4986441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矩形 48">
              <a:extLst>
                <a:ext uri="{FF2B5EF4-FFF2-40B4-BE49-F238E27FC236}">
                  <a16:creationId xmlns:a16="http://schemas.microsoft.com/office/drawing/2014/main" id="{600F16DC-7FDD-282A-2D26-73BF0EAD5BFA}"/>
                </a:ext>
              </a:extLst>
            </p:cNvPr>
            <p:cNvSpPr/>
            <p:nvPr/>
          </p:nvSpPr>
          <p:spPr>
            <a:xfrm rot="20682264">
              <a:off x="6135245" y="5183327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49">
              <a:extLst>
                <a:ext uri="{FF2B5EF4-FFF2-40B4-BE49-F238E27FC236}">
                  <a16:creationId xmlns:a16="http://schemas.microsoft.com/office/drawing/2014/main" id="{97EDE71E-12F2-0F80-35FC-1C8DB9B168F2}"/>
                </a:ext>
              </a:extLst>
            </p:cNvPr>
            <p:cNvSpPr/>
            <p:nvPr/>
          </p:nvSpPr>
          <p:spPr>
            <a:xfrm rot="20682264">
              <a:off x="6779562" y="4811640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50">
              <a:extLst>
                <a:ext uri="{FF2B5EF4-FFF2-40B4-BE49-F238E27FC236}">
                  <a16:creationId xmlns:a16="http://schemas.microsoft.com/office/drawing/2014/main" id="{2CCBB27B-7F85-29F2-ED22-84043977806E}"/>
                </a:ext>
              </a:extLst>
            </p:cNvPr>
            <p:cNvSpPr/>
            <p:nvPr/>
          </p:nvSpPr>
          <p:spPr>
            <a:xfrm rot="20682264">
              <a:off x="6613464" y="4767692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51">
              <a:extLst>
                <a:ext uri="{FF2B5EF4-FFF2-40B4-BE49-F238E27FC236}">
                  <a16:creationId xmlns:a16="http://schemas.microsoft.com/office/drawing/2014/main" id="{F4AC2B02-4248-5595-8333-1B006526FE3A}"/>
                </a:ext>
              </a:extLst>
            </p:cNvPr>
            <p:cNvSpPr/>
            <p:nvPr/>
          </p:nvSpPr>
          <p:spPr>
            <a:xfrm rot="20682264">
              <a:off x="6350933" y="5239286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文本框 52">
              <a:extLst>
                <a:ext uri="{FF2B5EF4-FFF2-40B4-BE49-F238E27FC236}">
                  <a16:creationId xmlns:a16="http://schemas.microsoft.com/office/drawing/2014/main" id="{B577BC35-4611-21E1-5226-A24EFF775D94}"/>
                </a:ext>
              </a:extLst>
            </p:cNvPr>
            <p:cNvSpPr txBox="1"/>
            <p:nvPr/>
          </p:nvSpPr>
          <p:spPr>
            <a:xfrm>
              <a:off x="6742578" y="5392029"/>
              <a:ext cx="12368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class -1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53">
              <a:extLst>
                <a:ext uri="{FF2B5EF4-FFF2-40B4-BE49-F238E27FC236}">
                  <a16:creationId xmlns:a16="http://schemas.microsoft.com/office/drawing/2014/main" id="{FF78D1E0-74C7-4419-C438-0BE527152382}"/>
                </a:ext>
              </a:extLst>
            </p:cNvPr>
            <p:cNvSpPr/>
            <p:nvPr/>
          </p:nvSpPr>
          <p:spPr>
            <a:xfrm rot="20682264">
              <a:off x="6386084" y="5458667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54">
              <a:extLst>
                <a:ext uri="{FF2B5EF4-FFF2-40B4-BE49-F238E27FC236}">
                  <a16:creationId xmlns:a16="http://schemas.microsoft.com/office/drawing/2014/main" id="{41C62119-090D-09A7-1634-6AD7DD535FC7}"/>
                </a:ext>
              </a:extLst>
            </p:cNvPr>
            <p:cNvSpPr/>
            <p:nvPr/>
          </p:nvSpPr>
          <p:spPr>
            <a:xfrm rot="20682264">
              <a:off x="5712090" y="5284597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55">
              <a:extLst>
                <a:ext uri="{FF2B5EF4-FFF2-40B4-BE49-F238E27FC236}">
                  <a16:creationId xmlns:a16="http://schemas.microsoft.com/office/drawing/2014/main" id="{47AD9920-A0C1-8CD3-7F46-85A056A94413}"/>
                </a:ext>
              </a:extLst>
            </p:cNvPr>
            <p:cNvSpPr/>
            <p:nvPr/>
          </p:nvSpPr>
          <p:spPr>
            <a:xfrm rot="20682264">
              <a:off x="5307657" y="5360804"/>
              <a:ext cx="93186" cy="8465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组合 56">
            <a:extLst>
              <a:ext uri="{FF2B5EF4-FFF2-40B4-BE49-F238E27FC236}">
                <a16:creationId xmlns:a16="http://schemas.microsoft.com/office/drawing/2014/main" id="{E5A881BD-A181-687D-B98B-583C21BCB345}"/>
              </a:ext>
            </a:extLst>
          </p:cNvPr>
          <p:cNvGrpSpPr/>
          <p:nvPr/>
        </p:nvGrpSpPr>
        <p:grpSpPr>
          <a:xfrm>
            <a:off x="3358220" y="2434374"/>
            <a:ext cx="2052579" cy="1280353"/>
            <a:chOff x="4914421" y="3751353"/>
            <a:chExt cx="2052579" cy="1280353"/>
          </a:xfrm>
        </p:grpSpPr>
        <p:grpSp>
          <p:nvGrpSpPr>
            <p:cNvPr id="24" name="组合 57">
              <a:extLst>
                <a:ext uri="{FF2B5EF4-FFF2-40B4-BE49-F238E27FC236}">
                  <a16:creationId xmlns:a16="http://schemas.microsoft.com/office/drawing/2014/main" id="{044545A2-72F4-36CF-235C-9CB8179F96CD}"/>
                </a:ext>
              </a:extLst>
            </p:cNvPr>
            <p:cNvGrpSpPr/>
            <p:nvPr/>
          </p:nvGrpSpPr>
          <p:grpSpPr>
            <a:xfrm>
              <a:off x="4914421" y="3751353"/>
              <a:ext cx="1348556" cy="1280353"/>
              <a:chOff x="4914421" y="3751353"/>
              <a:chExt cx="1348556" cy="1280353"/>
            </a:xfrm>
          </p:grpSpPr>
          <p:sp>
            <p:nvSpPr>
              <p:cNvPr id="26" name="椭圆 59">
                <a:extLst>
                  <a:ext uri="{FF2B5EF4-FFF2-40B4-BE49-F238E27FC236}">
                    <a16:creationId xmlns:a16="http://schemas.microsoft.com/office/drawing/2014/main" id="{06B541FA-E5EA-3714-E987-81861C4A37DE}"/>
                  </a:ext>
                </a:extLst>
              </p:cNvPr>
              <p:cNvSpPr/>
              <p:nvPr/>
            </p:nvSpPr>
            <p:spPr>
              <a:xfrm rot="20082175">
                <a:off x="5354443" y="4451501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椭圆 60">
                <a:extLst>
                  <a:ext uri="{FF2B5EF4-FFF2-40B4-BE49-F238E27FC236}">
                    <a16:creationId xmlns:a16="http://schemas.microsoft.com/office/drawing/2014/main" id="{B035257C-3176-9E22-D266-35FC5F77BA4E}"/>
                  </a:ext>
                </a:extLst>
              </p:cNvPr>
              <p:cNvSpPr/>
              <p:nvPr/>
            </p:nvSpPr>
            <p:spPr>
              <a:xfrm rot="20082175">
                <a:off x="5558482" y="4517877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椭圆 61">
                <a:extLst>
                  <a:ext uri="{FF2B5EF4-FFF2-40B4-BE49-F238E27FC236}">
                    <a16:creationId xmlns:a16="http://schemas.microsoft.com/office/drawing/2014/main" id="{150C391A-BA39-7E81-052A-47DFF3F949D2}"/>
                  </a:ext>
                </a:extLst>
              </p:cNvPr>
              <p:cNvSpPr/>
              <p:nvPr/>
            </p:nvSpPr>
            <p:spPr>
              <a:xfrm rot="20082175">
                <a:off x="5275085" y="4690809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椭圆 62">
                <a:extLst>
                  <a:ext uri="{FF2B5EF4-FFF2-40B4-BE49-F238E27FC236}">
                    <a16:creationId xmlns:a16="http://schemas.microsoft.com/office/drawing/2014/main" id="{D42AC25E-1446-4565-C8F0-5216EA8C20ED}"/>
                  </a:ext>
                </a:extLst>
              </p:cNvPr>
              <p:cNvSpPr/>
              <p:nvPr/>
            </p:nvSpPr>
            <p:spPr>
              <a:xfrm rot="20082175">
                <a:off x="5510798" y="4675305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椭圆 63">
                <a:extLst>
                  <a:ext uri="{FF2B5EF4-FFF2-40B4-BE49-F238E27FC236}">
                    <a16:creationId xmlns:a16="http://schemas.microsoft.com/office/drawing/2014/main" id="{C4A18FDD-49A8-AD4B-1E47-91BF17C4D510}"/>
                  </a:ext>
                </a:extLst>
              </p:cNvPr>
              <p:cNvSpPr/>
              <p:nvPr/>
            </p:nvSpPr>
            <p:spPr>
              <a:xfrm rot="20082175">
                <a:off x="5850938" y="4377981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椭圆 64">
                <a:extLst>
                  <a:ext uri="{FF2B5EF4-FFF2-40B4-BE49-F238E27FC236}">
                    <a16:creationId xmlns:a16="http://schemas.microsoft.com/office/drawing/2014/main" id="{0325C4C9-FC1B-D9D7-277E-0251C8BD0805}"/>
                  </a:ext>
                </a:extLst>
              </p:cNvPr>
              <p:cNvSpPr/>
              <p:nvPr/>
            </p:nvSpPr>
            <p:spPr>
              <a:xfrm rot="20082175">
                <a:off x="5238419" y="4930118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文本框 65">
                <a:extLst>
                  <a:ext uri="{FF2B5EF4-FFF2-40B4-BE49-F238E27FC236}">
                    <a16:creationId xmlns:a16="http://schemas.microsoft.com/office/drawing/2014/main" id="{00936BC8-3C07-0390-0407-157479D8189B}"/>
                  </a:ext>
                </a:extLst>
              </p:cNvPr>
              <p:cNvSpPr txBox="1"/>
              <p:nvPr/>
            </p:nvSpPr>
            <p:spPr>
              <a:xfrm>
                <a:off x="4914421" y="3751353"/>
                <a:ext cx="13485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class +1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椭圆 66">
                <a:extLst>
                  <a:ext uri="{FF2B5EF4-FFF2-40B4-BE49-F238E27FC236}">
                    <a16:creationId xmlns:a16="http://schemas.microsoft.com/office/drawing/2014/main" id="{81781600-D13A-1830-7CE4-54797131C567}"/>
                  </a:ext>
                </a:extLst>
              </p:cNvPr>
              <p:cNvSpPr/>
              <p:nvPr/>
            </p:nvSpPr>
            <p:spPr>
              <a:xfrm rot="20082175">
                <a:off x="5558483" y="4312417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椭圆 67">
                <a:extLst>
                  <a:ext uri="{FF2B5EF4-FFF2-40B4-BE49-F238E27FC236}">
                    <a16:creationId xmlns:a16="http://schemas.microsoft.com/office/drawing/2014/main" id="{FC9154FA-0D71-3278-F098-94EC56DC2DB0}"/>
                  </a:ext>
                </a:extLst>
              </p:cNvPr>
              <p:cNvSpPr/>
              <p:nvPr/>
            </p:nvSpPr>
            <p:spPr>
              <a:xfrm rot="20082175">
                <a:off x="5907681" y="4748122"/>
                <a:ext cx="111831" cy="1015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" name="椭圆 58">
              <a:extLst>
                <a:ext uri="{FF2B5EF4-FFF2-40B4-BE49-F238E27FC236}">
                  <a16:creationId xmlns:a16="http://schemas.microsoft.com/office/drawing/2014/main" id="{B7EE6DCA-22C8-2C0A-E0A0-209CE39B9C43}"/>
                </a:ext>
              </a:extLst>
            </p:cNvPr>
            <p:cNvSpPr/>
            <p:nvPr/>
          </p:nvSpPr>
          <p:spPr>
            <a:xfrm rot="20082175">
              <a:off x="6855169" y="4400764"/>
              <a:ext cx="111831" cy="1015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" name="椭圆 79">
            <a:extLst>
              <a:ext uri="{FF2B5EF4-FFF2-40B4-BE49-F238E27FC236}">
                <a16:creationId xmlns:a16="http://schemas.microsoft.com/office/drawing/2014/main" id="{95EDA834-A220-3DA6-0C52-8F0249C3E962}"/>
              </a:ext>
            </a:extLst>
          </p:cNvPr>
          <p:cNvSpPr/>
          <p:nvPr/>
        </p:nvSpPr>
        <p:spPr>
          <a:xfrm>
            <a:off x="4289535" y="3371552"/>
            <a:ext cx="239000" cy="2357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椭圆 80">
            <a:extLst>
              <a:ext uri="{FF2B5EF4-FFF2-40B4-BE49-F238E27FC236}">
                <a16:creationId xmlns:a16="http://schemas.microsoft.com/office/drawing/2014/main" id="{09D598C5-6080-6B75-1EAA-6492A8A5DD86}"/>
              </a:ext>
            </a:extLst>
          </p:cNvPr>
          <p:cNvSpPr/>
          <p:nvPr/>
        </p:nvSpPr>
        <p:spPr>
          <a:xfrm>
            <a:off x="3801379" y="3840578"/>
            <a:ext cx="218924" cy="2280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椭圆 82">
            <a:extLst>
              <a:ext uri="{FF2B5EF4-FFF2-40B4-BE49-F238E27FC236}">
                <a16:creationId xmlns:a16="http://schemas.microsoft.com/office/drawing/2014/main" id="{ED555431-43E5-B343-3A97-3F942BD20720}"/>
              </a:ext>
            </a:extLst>
          </p:cNvPr>
          <p:cNvSpPr/>
          <p:nvPr/>
        </p:nvSpPr>
        <p:spPr>
          <a:xfrm>
            <a:off x="5240272" y="3034088"/>
            <a:ext cx="219539" cy="2146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椭圆 83">
            <a:extLst>
              <a:ext uri="{FF2B5EF4-FFF2-40B4-BE49-F238E27FC236}">
                <a16:creationId xmlns:a16="http://schemas.microsoft.com/office/drawing/2014/main" id="{BF99AEA3-205B-D5CC-F2F8-61EF13797D1B}"/>
              </a:ext>
            </a:extLst>
          </p:cNvPr>
          <p:cNvSpPr/>
          <p:nvPr/>
        </p:nvSpPr>
        <p:spPr>
          <a:xfrm>
            <a:off x="3408441" y="3933217"/>
            <a:ext cx="219539" cy="2146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84">
                <a:extLst>
                  <a:ext uri="{FF2B5EF4-FFF2-40B4-BE49-F238E27FC236}">
                    <a16:creationId xmlns:a16="http://schemas.microsoft.com/office/drawing/2014/main" id="{038811B3-272B-38B3-AFF6-A479CA17778F}"/>
                  </a:ext>
                </a:extLst>
              </p:cNvPr>
              <p:cNvSpPr txBox="1"/>
              <p:nvPr/>
            </p:nvSpPr>
            <p:spPr>
              <a:xfrm>
                <a:off x="65010" y="5454412"/>
                <a:ext cx="5396967" cy="1211357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≥1,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=1, ⋯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文本框 84">
                <a:extLst>
                  <a:ext uri="{FF2B5EF4-FFF2-40B4-BE49-F238E27FC236}">
                    <a16:creationId xmlns:a16="http://schemas.microsoft.com/office/drawing/2014/main" id="{038811B3-272B-38B3-AFF6-A479CA177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0" y="5454412"/>
                <a:ext cx="5396967" cy="12113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本框 85">
            <a:extLst>
              <a:ext uri="{FF2B5EF4-FFF2-40B4-BE49-F238E27FC236}">
                <a16:creationId xmlns:a16="http://schemas.microsoft.com/office/drawing/2014/main" id="{2E929307-575E-1EE0-6992-58E9FCC44F2D}"/>
              </a:ext>
            </a:extLst>
          </p:cNvPr>
          <p:cNvSpPr txBox="1"/>
          <p:nvPr/>
        </p:nvSpPr>
        <p:spPr>
          <a:xfrm>
            <a:off x="0" y="5435600"/>
            <a:ext cx="1470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(optional)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86">
                <a:extLst>
                  <a:ext uri="{FF2B5EF4-FFF2-40B4-BE49-F238E27FC236}">
                    <a16:creationId xmlns:a16="http://schemas.microsoft.com/office/drawing/2014/main" id="{24FF84EC-0FF5-816F-2119-06432906817B}"/>
                  </a:ext>
                </a:extLst>
              </p:cNvPr>
              <p:cNvSpPr txBox="1"/>
              <p:nvPr/>
            </p:nvSpPr>
            <p:spPr>
              <a:xfrm>
                <a:off x="6796691" y="4030701"/>
                <a:ext cx="5146493" cy="2625399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𝜻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=1, ⋯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Constant for penalization,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slack variable vector to relax the condition. 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8" name="文本框 86">
                <a:extLst>
                  <a:ext uri="{FF2B5EF4-FFF2-40B4-BE49-F238E27FC236}">
                    <a16:creationId xmlns:a16="http://schemas.microsoft.com/office/drawing/2014/main" id="{24FF84EC-0FF5-816F-2119-064329068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6691" y="4030701"/>
                <a:ext cx="5146493" cy="2625399"/>
              </a:xfrm>
              <a:prstGeom prst="rect">
                <a:avLst/>
              </a:prstGeom>
              <a:blipFill>
                <a:blip r:embed="rId5"/>
                <a:stretch>
                  <a:fillRect l="-1773" r="-3428" b="-415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箭头: 右 1">
            <a:extLst>
              <a:ext uri="{FF2B5EF4-FFF2-40B4-BE49-F238E27FC236}">
                <a16:creationId xmlns:a16="http://schemas.microsoft.com/office/drawing/2014/main" id="{3F620483-17A1-B9EB-D476-A94C29BC24AC}"/>
              </a:ext>
            </a:extLst>
          </p:cNvPr>
          <p:cNvSpPr/>
          <p:nvPr/>
        </p:nvSpPr>
        <p:spPr>
          <a:xfrm>
            <a:off x="5590125" y="6008103"/>
            <a:ext cx="1120588" cy="25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87">
            <a:extLst>
              <a:ext uri="{FF2B5EF4-FFF2-40B4-BE49-F238E27FC236}">
                <a16:creationId xmlns:a16="http://schemas.microsoft.com/office/drawing/2014/main" id="{122CC6BA-DE0D-31F3-B42A-39DEEAB4B070}"/>
              </a:ext>
            </a:extLst>
          </p:cNvPr>
          <p:cNvSpPr txBox="1"/>
          <p:nvPr/>
        </p:nvSpPr>
        <p:spPr>
          <a:xfrm>
            <a:off x="5415237" y="5531390"/>
            <a:ext cx="1470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(optional)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4">
            <a:extLst>
              <a:ext uri="{FF2B5EF4-FFF2-40B4-BE49-F238E27FC236}">
                <a16:creationId xmlns:a16="http://schemas.microsoft.com/office/drawing/2014/main" id="{D242033E-27EF-D21C-FEDB-5504947099BF}"/>
              </a:ext>
            </a:extLst>
          </p:cNvPr>
          <p:cNvSpPr txBox="1"/>
          <p:nvPr/>
        </p:nvSpPr>
        <p:spPr>
          <a:xfrm>
            <a:off x="6095999" y="3037249"/>
            <a:ext cx="4053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violate the margin boundary</a:t>
            </a:r>
            <a:endParaRPr lang="zh-CN" altLang="en-US" sz="2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2" name="直接箭头连接符 9">
            <a:extLst>
              <a:ext uri="{FF2B5EF4-FFF2-40B4-BE49-F238E27FC236}">
                <a16:creationId xmlns:a16="http://schemas.microsoft.com/office/drawing/2014/main" id="{79CDD0D3-E39A-75B7-12B6-785B58A4F18F}"/>
              </a:ext>
            </a:extLst>
          </p:cNvPr>
          <p:cNvCxnSpPr>
            <a:cxnSpLocks/>
            <a:stCxn id="42" idx="5"/>
            <a:endCxn id="51" idx="1"/>
          </p:cNvCxnSpPr>
          <p:nvPr/>
        </p:nvCxnSpPr>
        <p:spPr>
          <a:xfrm flipV="1">
            <a:off x="3988242" y="3268082"/>
            <a:ext cx="2107757" cy="76717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11">
            <a:extLst>
              <a:ext uri="{FF2B5EF4-FFF2-40B4-BE49-F238E27FC236}">
                <a16:creationId xmlns:a16="http://schemas.microsoft.com/office/drawing/2014/main" id="{4C2B056C-E08E-C47D-74DE-210AE4EA4C83}"/>
              </a:ext>
            </a:extLst>
          </p:cNvPr>
          <p:cNvCxnSpPr>
            <a:stCxn id="41" idx="6"/>
          </p:cNvCxnSpPr>
          <p:nvPr/>
        </p:nvCxnSpPr>
        <p:spPr>
          <a:xfrm flipV="1">
            <a:off x="4528535" y="3277793"/>
            <a:ext cx="1570482" cy="21161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13">
            <a:extLst>
              <a:ext uri="{FF2B5EF4-FFF2-40B4-BE49-F238E27FC236}">
                <a16:creationId xmlns:a16="http://schemas.microsoft.com/office/drawing/2014/main" id="{CCCFCD67-CD5A-7E80-398A-BF3422B02AF5}"/>
              </a:ext>
            </a:extLst>
          </p:cNvPr>
          <p:cNvCxnSpPr>
            <a:cxnSpLocks/>
            <a:stCxn id="44" idx="2"/>
            <a:endCxn id="56" idx="3"/>
          </p:cNvCxnSpPr>
          <p:nvPr/>
        </p:nvCxnSpPr>
        <p:spPr>
          <a:xfrm flipH="1" flipV="1">
            <a:off x="2755827" y="3857085"/>
            <a:ext cx="652614" cy="18344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16">
            <a:extLst>
              <a:ext uri="{FF2B5EF4-FFF2-40B4-BE49-F238E27FC236}">
                <a16:creationId xmlns:a16="http://schemas.microsoft.com/office/drawing/2014/main" id="{C85E983D-4F18-B2DA-95BB-320C2CFB4AB2}"/>
              </a:ext>
            </a:extLst>
          </p:cNvPr>
          <p:cNvCxnSpPr>
            <a:cxnSpLocks/>
            <a:stCxn id="43" idx="2"/>
            <a:endCxn id="56" idx="3"/>
          </p:cNvCxnSpPr>
          <p:nvPr/>
        </p:nvCxnSpPr>
        <p:spPr>
          <a:xfrm flipH="1">
            <a:off x="2755827" y="3141402"/>
            <a:ext cx="2484445" cy="71568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88">
            <a:extLst>
              <a:ext uri="{FF2B5EF4-FFF2-40B4-BE49-F238E27FC236}">
                <a16:creationId xmlns:a16="http://schemas.microsoft.com/office/drawing/2014/main" id="{098BA673-78AC-937F-ADD7-3A5BFB6BF4B3}"/>
              </a:ext>
            </a:extLst>
          </p:cNvPr>
          <p:cNvSpPr txBox="1"/>
          <p:nvPr/>
        </p:nvSpPr>
        <p:spPr>
          <a:xfrm>
            <a:off x="764519" y="3626252"/>
            <a:ext cx="199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misclassified</a:t>
            </a:r>
            <a:endParaRPr lang="zh-CN" altLang="en-US" sz="2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2">
            <a:extLst>
              <a:ext uri="{FF2B5EF4-FFF2-40B4-BE49-F238E27FC236}">
                <a16:creationId xmlns:a16="http://schemas.microsoft.com/office/drawing/2014/main" id="{1FA6D511-8815-5EB0-74F3-E2C0C07C03B4}"/>
              </a:ext>
            </a:extLst>
          </p:cNvPr>
          <p:cNvSpPr/>
          <p:nvPr/>
        </p:nvSpPr>
        <p:spPr>
          <a:xfrm>
            <a:off x="230582" y="1426556"/>
            <a:ext cx="100797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use of a slack variable to allow for margin boundary violation and misclassifications in the optimization problem.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82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41" grpId="0" animBg="1"/>
      <p:bldP spid="42" grpId="0" animBg="1"/>
      <p:bldP spid="43" grpId="0" animBg="1"/>
      <p:bldP spid="44" grpId="0" animBg="1"/>
      <p:bldP spid="46" grpId="0" animBg="1"/>
      <p:bldP spid="47" grpId="0"/>
      <p:bldP spid="48" grpId="0" animBg="1"/>
      <p:bldP spid="49" grpId="0" animBg="1"/>
      <p:bldP spid="50" grpId="0"/>
      <p:bldP spid="51" grpId="0"/>
      <p:bldP spid="56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Linear SVM – soft margin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86">
                <a:extLst>
                  <a:ext uri="{FF2B5EF4-FFF2-40B4-BE49-F238E27FC236}">
                    <a16:creationId xmlns:a16="http://schemas.microsoft.com/office/drawing/2014/main" id="{F500770C-B30F-5E16-CFA3-3C0B87FC0AA1}"/>
                  </a:ext>
                </a:extLst>
              </p:cNvPr>
              <p:cNvSpPr txBox="1"/>
              <p:nvPr/>
            </p:nvSpPr>
            <p:spPr>
              <a:xfrm>
                <a:off x="533464" y="3055652"/>
                <a:ext cx="6319542" cy="1517403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𝜻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=1, ⋯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86">
                <a:extLst>
                  <a:ext uri="{FF2B5EF4-FFF2-40B4-BE49-F238E27FC236}">
                    <a16:creationId xmlns:a16="http://schemas.microsoft.com/office/drawing/2014/main" id="{F500770C-B30F-5E16-CFA3-3C0B87FC0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64" y="3055652"/>
                <a:ext cx="6319542" cy="15174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87">
            <a:extLst>
              <a:ext uri="{FF2B5EF4-FFF2-40B4-BE49-F238E27FC236}">
                <a16:creationId xmlns:a16="http://schemas.microsoft.com/office/drawing/2014/main" id="{4DA8B47E-32A3-C5DF-8E9A-8E444B4A021A}"/>
              </a:ext>
            </a:extLst>
          </p:cNvPr>
          <p:cNvSpPr txBox="1"/>
          <p:nvPr/>
        </p:nvSpPr>
        <p:spPr>
          <a:xfrm>
            <a:off x="7640004" y="3956247"/>
            <a:ext cx="1428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7">
                <a:extLst>
                  <a:ext uri="{FF2B5EF4-FFF2-40B4-BE49-F238E27FC236}">
                    <a16:creationId xmlns:a16="http://schemas.microsoft.com/office/drawing/2014/main" id="{8CB40584-BE97-C28D-CA0E-7B5FC3B6504E}"/>
                  </a:ext>
                </a:extLst>
              </p:cNvPr>
              <p:cNvSpPr txBox="1"/>
              <p:nvPr/>
            </p:nvSpPr>
            <p:spPr>
              <a:xfrm>
                <a:off x="340071" y="2136710"/>
                <a:ext cx="10222182" cy="821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But we want the violation of the margins to be minimized.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By minimizing the sum of slack variables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CN" sz="23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p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zh-CN" altLang="en-US" sz="23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本框 7">
                <a:extLst>
                  <a:ext uri="{FF2B5EF4-FFF2-40B4-BE49-F238E27FC236}">
                    <a16:creationId xmlns:a16="http://schemas.microsoft.com/office/drawing/2014/main" id="{8CB40584-BE97-C28D-CA0E-7B5FC3B65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71" y="2136710"/>
                <a:ext cx="10222182" cy="821059"/>
              </a:xfrm>
              <a:prstGeom prst="rect">
                <a:avLst/>
              </a:prstGeom>
              <a:blipFill>
                <a:blip r:embed="rId4"/>
                <a:stretch>
                  <a:fillRect l="-716" t="-24627" b="-105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12">
            <a:extLst>
              <a:ext uri="{FF2B5EF4-FFF2-40B4-BE49-F238E27FC236}">
                <a16:creationId xmlns:a16="http://schemas.microsoft.com/office/drawing/2014/main" id="{63023BE1-BB32-1BE1-6255-5984D63D97B4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172537" y="2998980"/>
            <a:ext cx="2105341" cy="230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15">
            <a:extLst>
              <a:ext uri="{FF2B5EF4-FFF2-40B4-BE49-F238E27FC236}">
                <a16:creationId xmlns:a16="http://schemas.microsoft.com/office/drawing/2014/main" id="{5A8F4FA3-FCF7-4B4E-F34D-49F31E83FFAD}"/>
              </a:ext>
            </a:extLst>
          </p:cNvPr>
          <p:cNvSpPr/>
          <p:nvPr/>
        </p:nvSpPr>
        <p:spPr>
          <a:xfrm>
            <a:off x="4094652" y="3106639"/>
            <a:ext cx="1034078" cy="101749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18">
            <a:extLst>
              <a:ext uri="{FF2B5EF4-FFF2-40B4-BE49-F238E27FC236}">
                <a16:creationId xmlns:a16="http://schemas.microsoft.com/office/drawing/2014/main" id="{DBCA4F9A-B566-5EC0-A6D7-C88C2F608025}"/>
              </a:ext>
            </a:extLst>
          </p:cNvPr>
          <p:cNvSpPr txBox="1"/>
          <p:nvPr/>
        </p:nvSpPr>
        <p:spPr>
          <a:xfrm>
            <a:off x="7277878" y="2768147"/>
            <a:ext cx="4059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penalty for margin violation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21">
                <a:extLst>
                  <a:ext uri="{FF2B5EF4-FFF2-40B4-BE49-F238E27FC236}">
                    <a16:creationId xmlns:a16="http://schemas.microsoft.com/office/drawing/2014/main" id="{D1FB70E4-7FF8-ABC6-9B28-0C4EEB1601AD}"/>
                  </a:ext>
                </a:extLst>
              </p:cNvPr>
              <p:cNvSpPr/>
              <p:nvPr/>
            </p:nvSpPr>
            <p:spPr>
              <a:xfrm>
                <a:off x="344120" y="4642009"/>
                <a:ext cx="8535141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slack variable indicates how much the points can violate the margin.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hyperparameter to control the tradeoff between margin violation and margins</a:t>
                </a:r>
                <a:endParaRPr lang="zh-CN" altLang="en-US" sz="23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Large </a:t>
                </a:r>
                <a14:m>
                  <m:oMath xmlns:m="http://schemas.openxmlformats.org/officeDocument/2006/math"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, prefer a small number of margin violation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Small </a:t>
                </a:r>
                <a14:m>
                  <m:oMath xmlns:m="http://schemas.openxmlformats.org/officeDocument/2006/math"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, prefer large margins </a:t>
                </a:r>
              </a:p>
            </p:txBody>
          </p:sp>
        </mc:Choice>
        <mc:Fallback>
          <p:sp>
            <p:nvSpPr>
              <p:cNvPr id="10" name="矩形 21">
                <a:extLst>
                  <a:ext uri="{FF2B5EF4-FFF2-40B4-BE49-F238E27FC236}">
                    <a16:creationId xmlns:a16="http://schemas.microsoft.com/office/drawing/2014/main" id="{D1FB70E4-7FF8-ABC6-9B28-0C4EEB160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20" y="4642009"/>
                <a:ext cx="8535141" cy="2246769"/>
              </a:xfrm>
              <a:prstGeom prst="rect">
                <a:avLst/>
              </a:prstGeom>
              <a:blipFill>
                <a:blip r:embed="rId5"/>
                <a:stretch>
                  <a:fillRect l="-999" t="-1897" r="-1285" b="-35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22">
            <a:extLst>
              <a:ext uri="{FF2B5EF4-FFF2-40B4-BE49-F238E27FC236}">
                <a16:creationId xmlns:a16="http://schemas.microsoft.com/office/drawing/2014/main" id="{9040C808-52A1-6E84-9D24-C2D619914050}"/>
              </a:ext>
            </a:extLst>
          </p:cNvPr>
          <p:cNvSpPr txBox="1"/>
          <p:nvPr/>
        </p:nvSpPr>
        <p:spPr>
          <a:xfrm>
            <a:off x="9068609" y="3248307"/>
            <a:ext cx="28372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See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Support Vector Machines for Beginners - Linear SVM - A Developer Diary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for a detailed derivation.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直接箭头连接符 24">
            <a:extLst>
              <a:ext uri="{FF2B5EF4-FFF2-40B4-BE49-F238E27FC236}">
                <a16:creationId xmlns:a16="http://schemas.microsoft.com/office/drawing/2014/main" id="{7F80A77B-0F2B-07AE-D1A0-ACCC95ED447D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>
            <a:off x="6853006" y="3814354"/>
            <a:ext cx="2215603" cy="588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2">
            <a:extLst>
              <a:ext uri="{FF2B5EF4-FFF2-40B4-BE49-F238E27FC236}">
                <a16:creationId xmlns:a16="http://schemas.microsoft.com/office/drawing/2014/main" id="{D522EDC2-BAD9-FC2E-90C1-B0A332651126}"/>
              </a:ext>
            </a:extLst>
          </p:cNvPr>
          <p:cNvSpPr/>
          <p:nvPr/>
        </p:nvSpPr>
        <p:spPr>
          <a:xfrm>
            <a:off x="230582" y="1426556"/>
            <a:ext cx="100797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use of a slack variable to allow for margin boundary violation and misclassifications in the optimization problem.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01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 animBg="1"/>
      <p:bldP spid="9" grpId="0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The primal and dual problems</a:t>
            </a:r>
          </a:p>
        </p:txBody>
      </p:sp>
      <p:sp>
        <p:nvSpPr>
          <p:cNvPr id="2" name="矩形 2">
            <a:extLst>
              <a:ext uri="{FF2B5EF4-FFF2-40B4-BE49-F238E27FC236}">
                <a16:creationId xmlns:a16="http://schemas.microsoft.com/office/drawing/2014/main" id="{D4970E1F-9E74-0F6D-8330-DF46C48E4B87}"/>
              </a:ext>
            </a:extLst>
          </p:cNvPr>
          <p:cNvSpPr/>
          <p:nvPr/>
        </p:nvSpPr>
        <p:spPr>
          <a:xfrm>
            <a:off x="228103" y="1764683"/>
            <a:ext cx="106420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optimization is often solved in through its dual problem. They are equivalent.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86">
                <a:extLst>
                  <a:ext uri="{FF2B5EF4-FFF2-40B4-BE49-F238E27FC236}">
                    <a16:creationId xmlns:a16="http://schemas.microsoft.com/office/drawing/2014/main" id="{454AC461-C527-BFAC-848C-21088B94B242}"/>
                  </a:ext>
                </a:extLst>
              </p:cNvPr>
              <p:cNvSpPr txBox="1"/>
              <p:nvPr/>
            </p:nvSpPr>
            <p:spPr>
              <a:xfrm>
                <a:off x="814380" y="2627247"/>
                <a:ext cx="6220902" cy="1398653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𝜻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nary>
                            <m:naryPr>
                              <m:chr m:val="∑"/>
                              <m:ctrl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sSup>
                        <m:sSupPr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d>
                        <m:dPr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≥1−</m:t>
                      </m:r>
                      <m:sSup>
                        <m:sSupPr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, </m:t>
                      </m:r>
                      <m:sSup>
                        <m:sSupPr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=1, ⋯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86">
                <a:extLst>
                  <a:ext uri="{FF2B5EF4-FFF2-40B4-BE49-F238E27FC236}">
                    <a16:creationId xmlns:a16="http://schemas.microsoft.com/office/drawing/2014/main" id="{454AC461-C527-BFAC-848C-21088B94B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380" y="2627247"/>
                <a:ext cx="6220902" cy="1398653"/>
              </a:xfrm>
              <a:prstGeom prst="rect">
                <a:avLst/>
              </a:prstGeom>
              <a:blipFill>
                <a:blip r:embed="rId3"/>
                <a:stretch>
                  <a:fillRect b="-259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87">
            <a:extLst>
              <a:ext uri="{FF2B5EF4-FFF2-40B4-BE49-F238E27FC236}">
                <a16:creationId xmlns:a16="http://schemas.microsoft.com/office/drawing/2014/main" id="{266348E3-00FD-EF9B-0BF8-293DDB52814F}"/>
              </a:ext>
            </a:extLst>
          </p:cNvPr>
          <p:cNvSpPr txBox="1"/>
          <p:nvPr/>
        </p:nvSpPr>
        <p:spPr>
          <a:xfrm>
            <a:off x="228103" y="1422400"/>
            <a:ext cx="1432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箭头连接符 12">
            <a:extLst>
              <a:ext uri="{FF2B5EF4-FFF2-40B4-BE49-F238E27FC236}">
                <a16:creationId xmlns:a16="http://schemas.microsoft.com/office/drawing/2014/main" id="{2C27E16E-4EAE-2C45-B62F-ACEBB443122E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7035282" y="3063095"/>
            <a:ext cx="923730" cy="263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4">
                <a:extLst>
                  <a:ext uri="{FF2B5EF4-FFF2-40B4-BE49-F238E27FC236}">
                    <a16:creationId xmlns:a16="http://schemas.microsoft.com/office/drawing/2014/main" id="{A6409140-6690-EEFD-312F-8A3A5E8611E9}"/>
                  </a:ext>
                </a:extLst>
              </p:cNvPr>
              <p:cNvSpPr txBox="1"/>
              <p:nvPr/>
            </p:nvSpPr>
            <p:spPr>
              <a:xfrm>
                <a:off x="7959012" y="2509097"/>
                <a:ext cx="4232988" cy="1107996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number of samples, usually very large.</a:t>
                </a:r>
                <a:endParaRPr lang="zh-CN" alt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4">
                <a:extLst>
                  <a:ext uri="{FF2B5EF4-FFF2-40B4-BE49-F238E27FC236}">
                    <a16:creationId xmlns:a16="http://schemas.microsoft.com/office/drawing/2014/main" id="{A6409140-6690-EEFD-312F-8A3A5E861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012" y="2509097"/>
                <a:ext cx="4232988" cy="1107996"/>
              </a:xfrm>
              <a:prstGeom prst="rect">
                <a:avLst/>
              </a:prstGeom>
              <a:blipFill>
                <a:blip r:embed="rId4"/>
                <a:stretch>
                  <a:fillRect l="-1580" t="-2732" b="-10383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9">
            <a:extLst>
              <a:ext uri="{FF2B5EF4-FFF2-40B4-BE49-F238E27FC236}">
                <a16:creationId xmlns:a16="http://schemas.microsoft.com/office/drawing/2014/main" id="{18E49816-9612-E745-31D1-F0BE5A3A0EE6}"/>
              </a:ext>
            </a:extLst>
          </p:cNvPr>
          <p:cNvSpPr/>
          <p:nvPr/>
        </p:nvSpPr>
        <p:spPr>
          <a:xfrm>
            <a:off x="2466306" y="2264364"/>
            <a:ext cx="24136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primal problem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19">
                <a:extLst>
                  <a:ext uri="{FF2B5EF4-FFF2-40B4-BE49-F238E27FC236}">
                    <a16:creationId xmlns:a16="http://schemas.microsoft.com/office/drawing/2014/main" id="{1B93D543-39F9-CD12-CCEC-3A7A36774453}"/>
                  </a:ext>
                </a:extLst>
              </p:cNvPr>
              <p:cNvSpPr txBox="1"/>
              <p:nvPr/>
            </p:nvSpPr>
            <p:spPr>
              <a:xfrm>
                <a:off x="814380" y="4350971"/>
                <a:ext cx="6127596" cy="2069541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altLang="zh-CN" sz="22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0≤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=1,⋯,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19">
                <a:extLst>
                  <a:ext uri="{FF2B5EF4-FFF2-40B4-BE49-F238E27FC236}">
                    <a16:creationId xmlns:a16="http://schemas.microsoft.com/office/drawing/2014/main" id="{1B93D543-39F9-CD12-CCEC-3A7A36774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380" y="4350971"/>
                <a:ext cx="6127596" cy="20695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20">
            <a:extLst>
              <a:ext uri="{FF2B5EF4-FFF2-40B4-BE49-F238E27FC236}">
                <a16:creationId xmlns:a16="http://schemas.microsoft.com/office/drawing/2014/main" id="{A6AE7163-105A-A364-4482-82242CC01485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6941976" y="4451582"/>
            <a:ext cx="1017036" cy="934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23">
                <a:extLst>
                  <a:ext uri="{FF2B5EF4-FFF2-40B4-BE49-F238E27FC236}">
                    <a16:creationId xmlns:a16="http://schemas.microsoft.com/office/drawing/2014/main" id="{8AE55F42-EFE8-33D2-F883-CB2EBE63C4C7}"/>
                  </a:ext>
                </a:extLst>
              </p:cNvPr>
              <p:cNvSpPr txBox="1"/>
              <p:nvPr/>
            </p:nvSpPr>
            <p:spPr>
              <a:xfrm>
                <a:off x="7959012" y="3897584"/>
                <a:ext cx="4232988" cy="1107996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optimize </a:t>
                </a:r>
                <a14:m>
                  <m:oMath xmlns:m="http://schemas.openxmlformats.org/officeDocument/2006/math">
                    <m:r>
                      <a:rPr lang="en-US" altLang="zh-CN" sz="2200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altLang="zh-CN" sz="22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altLang="zh-C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which is called </a:t>
                </a:r>
                <a:r>
                  <a:rPr lang="en-US" altLang="zh-CN" sz="2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dual variable.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variables, easier to optimize</a:t>
                </a:r>
              </a:p>
            </p:txBody>
          </p:sp>
        </mc:Choice>
        <mc:Fallback xmlns="">
          <p:sp>
            <p:nvSpPr>
              <p:cNvPr id="11" name="文本框 23">
                <a:extLst>
                  <a:ext uri="{FF2B5EF4-FFF2-40B4-BE49-F238E27FC236}">
                    <a16:creationId xmlns:a16="http://schemas.microsoft.com/office/drawing/2014/main" id="{8AE55F42-EFE8-33D2-F883-CB2EBE63C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012" y="3897584"/>
                <a:ext cx="4232988" cy="1107996"/>
              </a:xfrm>
              <a:prstGeom prst="rect">
                <a:avLst/>
              </a:prstGeom>
              <a:blipFill>
                <a:blip r:embed="rId6"/>
                <a:stretch>
                  <a:fillRect l="-1580" t="-2174" r="-718" b="-10326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25">
            <a:extLst>
              <a:ext uri="{FF2B5EF4-FFF2-40B4-BE49-F238E27FC236}">
                <a16:creationId xmlns:a16="http://schemas.microsoft.com/office/drawing/2014/main" id="{CA3849CF-C2A6-7839-9B3E-962CEB4AA572}"/>
              </a:ext>
            </a:extLst>
          </p:cNvPr>
          <p:cNvSpPr/>
          <p:nvPr/>
        </p:nvSpPr>
        <p:spPr>
          <a:xfrm>
            <a:off x="2624891" y="4020241"/>
            <a:ext cx="21710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dual problem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3">
            <a:extLst>
              <a:ext uri="{FF2B5EF4-FFF2-40B4-BE49-F238E27FC236}">
                <a16:creationId xmlns:a16="http://schemas.microsoft.com/office/drawing/2014/main" id="{E60F2417-E10D-B995-53D8-02A36F3896A4}"/>
              </a:ext>
            </a:extLst>
          </p:cNvPr>
          <p:cNvSpPr txBox="1"/>
          <p:nvPr/>
        </p:nvSpPr>
        <p:spPr>
          <a:xfrm>
            <a:off x="135292" y="6419796"/>
            <a:ext cx="836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dual problem is optimized instead of the primal problem.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6">
            <a:extLst>
              <a:ext uri="{FF2B5EF4-FFF2-40B4-BE49-F238E27FC236}">
                <a16:creationId xmlns:a16="http://schemas.microsoft.com/office/drawing/2014/main" id="{032347B2-E587-43FA-F6F7-B213C6E1C510}"/>
              </a:ext>
            </a:extLst>
          </p:cNvPr>
          <p:cNvSpPr txBox="1"/>
          <p:nvPr/>
        </p:nvSpPr>
        <p:spPr>
          <a:xfrm>
            <a:off x="8631628" y="5385741"/>
            <a:ext cx="34608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See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Support Vector Machines for Beginners - Linear SVM - A Developer Diary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for details.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19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6" grpId="0" animBg="1"/>
      <p:bldP spid="7" grpId="0"/>
      <p:bldP spid="9" grpId="0" animBg="1"/>
      <p:bldP spid="11" grpId="0" animBg="1"/>
      <p:bldP spid="12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36">
                <a:extLst>
                  <a:ext uri="{FF2B5EF4-FFF2-40B4-BE49-F238E27FC236}">
                    <a16:creationId xmlns:a16="http://schemas.microsoft.com/office/drawing/2014/main" id="{2F1965A5-B1A0-4867-AD80-D81904DC290F}"/>
                  </a:ext>
                </a:extLst>
              </p:cNvPr>
              <p:cNvSpPr txBox="1"/>
              <p:nvPr/>
            </p:nvSpPr>
            <p:spPr>
              <a:xfrm>
                <a:off x="429435" y="2613796"/>
                <a:ext cx="5971365" cy="9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=(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,⋯,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=(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,⋯,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then dot product is:</a:t>
                </a:r>
              </a:p>
            </p:txBody>
          </p:sp>
        </mc:Choice>
        <mc:Fallback xmlns="">
          <p:sp>
            <p:nvSpPr>
              <p:cNvPr id="2" name="文本框 36">
                <a:extLst>
                  <a:ext uri="{FF2B5EF4-FFF2-40B4-BE49-F238E27FC236}">
                    <a16:creationId xmlns:a16="http://schemas.microsoft.com/office/drawing/2014/main" id="{2F1965A5-B1A0-4867-AD80-D81904DC2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35" y="2613796"/>
                <a:ext cx="5971365" cy="916982"/>
              </a:xfrm>
              <a:prstGeom prst="rect">
                <a:avLst/>
              </a:prstGeom>
              <a:blipFill>
                <a:blip r:embed="rId3"/>
                <a:stretch>
                  <a:fillRect l="-1531" b="-1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1">
            <a:extLst>
              <a:ext uri="{FF2B5EF4-FFF2-40B4-BE49-F238E27FC236}">
                <a16:creationId xmlns:a16="http://schemas.microsoft.com/office/drawing/2014/main" id="{810AC24B-66E6-6565-F395-1EBC514D3D6C}"/>
              </a:ext>
            </a:extLst>
          </p:cNvPr>
          <p:cNvSpPr txBox="1"/>
          <p:nvPr/>
        </p:nvSpPr>
        <p:spPr>
          <a:xfrm>
            <a:off x="429435" y="1588585"/>
            <a:ext cx="9946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dot product is a mathematical operation between two vectors.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result of dot product of two vectors is scalar.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2">
                <a:extLst>
                  <a:ext uri="{FF2B5EF4-FFF2-40B4-BE49-F238E27FC236}">
                    <a16:creationId xmlns:a16="http://schemas.microsoft.com/office/drawing/2014/main" id="{25BC96D9-3CA0-1BC9-6D4D-B42891FCEB68}"/>
                  </a:ext>
                </a:extLst>
              </p:cNvPr>
              <p:cNvSpPr txBox="1"/>
              <p:nvPr/>
            </p:nvSpPr>
            <p:spPr>
              <a:xfrm>
                <a:off x="1402713" y="4652483"/>
                <a:ext cx="7187101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2,3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4,1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=2×4+3×1=11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2">
                <a:extLst>
                  <a:ext uri="{FF2B5EF4-FFF2-40B4-BE49-F238E27FC236}">
                    <a16:creationId xmlns:a16="http://schemas.microsoft.com/office/drawing/2014/main" id="{25BC96D9-3CA0-1BC9-6D4D-B42891FCE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713" y="4652483"/>
                <a:ext cx="7187101" cy="878510"/>
              </a:xfrm>
              <a:prstGeom prst="rect">
                <a:avLst/>
              </a:prstGeom>
              <a:blipFill>
                <a:blip r:embed="rId4"/>
                <a:stretch>
                  <a:fillRect l="-1272" t="-4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7">
                <a:extLst>
                  <a:ext uri="{FF2B5EF4-FFF2-40B4-BE49-F238E27FC236}">
                    <a16:creationId xmlns:a16="http://schemas.microsoft.com/office/drawing/2014/main" id="{E3B00F27-1471-D37E-62EB-75B71F501A70}"/>
                  </a:ext>
                </a:extLst>
              </p:cNvPr>
              <p:cNvSpPr/>
              <p:nvPr/>
            </p:nvSpPr>
            <p:spPr>
              <a:xfrm>
                <a:off x="3415117" y="3530778"/>
                <a:ext cx="4299960" cy="11382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d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矩形 7">
                <a:extLst>
                  <a:ext uri="{FF2B5EF4-FFF2-40B4-BE49-F238E27FC236}">
                    <a16:creationId xmlns:a16="http://schemas.microsoft.com/office/drawing/2014/main" id="{E3B00F27-1471-D37E-62EB-75B71F501A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117" y="3530778"/>
                <a:ext cx="4299960" cy="11382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Linear SVM – soft margin classifier</a:t>
            </a:r>
          </a:p>
        </p:txBody>
      </p:sp>
      <p:sp>
        <p:nvSpPr>
          <p:cNvPr id="2" name="矩形 2">
            <a:extLst>
              <a:ext uri="{FF2B5EF4-FFF2-40B4-BE49-F238E27FC236}">
                <a16:creationId xmlns:a16="http://schemas.microsoft.com/office/drawing/2014/main" id="{800139B5-6BEF-B95D-49AC-E1E2246AB330}"/>
              </a:ext>
            </a:extLst>
          </p:cNvPr>
          <p:cNvSpPr/>
          <p:nvPr/>
        </p:nvSpPr>
        <p:spPr>
          <a:xfrm>
            <a:off x="237434" y="1810336"/>
            <a:ext cx="82078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optimization is often solved through its dual problem.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19">
                <a:extLst>
                  <a:ext uri="{FF2B5EF4-FFF2-40B4-BE49-F238E27FC236}">
                    <a16:creationId xmlns:a16="http://schemas.microsoft.com/office/drawing/2014/main" id="{09FC2A70-42AC-D394-4007-80354AC2953C}"/>
                  </a:ext>
                </a:extLst>
              </p:cNvPr>
              <p:cNvSpPr txBox="1"/>
              <p:nvPr/>
            </p:nvSpPr>
            <p:spPr>
              <a:xfrm>
                <a:off x="1232905" y="2706553"/>
                <a:ext cx="5515963" cy="2249270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=1,⋯,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19">
                <a:extLst>
                  <a:ext uri="{FF2B5EF4-FFF2-40B4-BE49-F238E27FC236}">
                    <a16:creationId xmlns:a16="http://schemas.microsoft.com/office/drawing/2014/main" id="{09FC2A70-42AC-D394-4007-80354AC29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905" y="2706553"/>
                <a:ext cx="5515963" cy="2249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25">
            <a:extLst>
              <a:ext uri="{FF2B5EF4-FFF2-40B4-BE49-F238E27FC236}">
                <a16:creationId xmlns:a16="http://schemas.microsoft.com/office/drawing/2014/main" id="{ED46BE32-5DBA-087B-5CC7-5BA67CA06236}"/>
              </a:ext>
            </a:extLst>
          </p:cNvPr>
          <p:cNvSpPr/>
          <p:nvPr/>
        </p:nvSpPr>
        <p:spPr>
          <a:xfrm>
            <a:off x="3058298" y="2237838"/>
            <a:ext cx="21678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dual problem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箭头连接符 16">
            <a:extLst>
              <a:ext uri="{FF2B5EF4-FFF2-40B4-BE49-F238E27FC236}">
                <a16:creationId xmlns:a16="http://schemas.microsoft.com/office/drawing/2014/main" id="{9CAE1759-47DF-A7CD-7529-718006C42F92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459654" y="3110467"/>
            <a:ext cx="2735987" cy="175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17">
            <a:extLst>
              <a:ext uri="{FF2B5EF4-FFF2-40B4-BE49-F238E27FC236}">
                <a16:creationId xmlns:a16="http://schemas.microsoft.com/office/drawing/2014/main" id="{6611024A-1C12-D258-C52E-F88460C1B7B7}"/>
              </a:ext>
            </a:extLst>
          </p:cNvPr>
          <p:cNvSpPr/>
          <p:nvPr/>
        </p:nvSpPr>
        <p:spPr>
          <a:xfrm>
            <a:off x="4341378" y="2996725"/>
            <a:ext cx="1118276" cy="5780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21">
                <a:extLst>
                  <a:ext uri="{FF2B5EF4-FFF2-40B4-BE49-F238E27FC236}">
                    <a16:creationId xmlns:a16="http://schemas.microsoft.com/office/drawing/2014/main" id="{36B45C58-E732-04BF-216B-65EB8BB252B5}"/>
                  </a:ext>
                </a:extLst>
              </p:cNvPr>
              <p:cNvSpPr txBox="1"/>
              <p:nvPr/>
            </p:nvSpPr>
            <p:spPr>
              <a:xfrm>
                <a:off x="8191447" y="2865450"/>
                <a:ext cx="2997672" cy="509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dot product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21">
                <a:extLst>
                  <a:ext uri="{FF2B5EF4-FFF2-40B4-BE49-F238E27FC236}">
                    <a16:creationId xmlns:a16="http://schemas.microsoft.com/office/drawing/2014/main" id="{36B45C58-E732-04BF-216B-65EB8BB25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447" y="2865450"/>
                <a:ext cx="2997672" cy="509178"/>
              </a:xfrm>
              <a:prstGeom prst="rect">
                <a:avLst/>
              </a:prstGeom>
              <a:blipFill>
                <a:blip r:embed="rId4"/>
                <a:stretch>
                  <a:fillRect t="-4762" r="-183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13">
            <a:extLst>
              <a:ext uri="{FF2B5EF4-FFF2-40B4-BE49-F238E27FC236}">
                <a16:creationId xmlns:a16="http://schemas.microsoft.com/office/drawing/2014/main" id="{5C282200-0C05-2347-8C21-B3DB82B3AC11}"/>
              </a:ext>
            </a:extLst>
          </p:cNvPr>
          <p:cNvCxnSpPr>
            <a:cxnSpLocks/>
          </p:cNvCxnSpPr>
          <p:nvPr/>
        </p:nvCxnSpPr>
        <p:spPr>
          <a:xfrm flipV="1">
            <a:off x="5570376" y="4122572"/>
            <a:ext cx="2621071" cy="585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4">
            <a:extLst>
              <a:ext uri="{FF2B5EF4-FFF2-40B4-BE49-F238E27FC236}">
                <a16:creationId xmlns:a16="http://schemas.microsoft.com/office/drawing/2014/main" id="{7EB582B3-EF9A-F0B3-2219-B81B6C7BDB4A}"/>
              </a:ext>
            </a:extLst>
          </p:cNvPr>
          <p:cNvSpPr/>
          <p:nvPr/>
        </p:nvSpPr>
        <p:spPr>
          <a:xfrm>
            <a:off x="2498695" y="4486988"/>
            <a:ext cx="3071681" cy="41910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5">
            <a:extLst>
              <a:ext uri="{FF2B5EF4-FFF2-40B4-BE49-F238E27FC236}">
                <a16:creationId xmlns:a16="http://schemas.microsoft.com/office/drawing/2014/main" id="{0FDE45CA-E1D8-7D6B-7260-0FBAFD971BF9}"/>
              </a:ext>
            </a:extLst>
          </p:cNvPr>
          <p:cNvSpPr txBox="1"/>
          <p:nvPr/>
        </p:nvSpPr>
        <p:spPr>
          <a:xfrm>
            <a:off x="8195641" y="3891740"/>
            <a:ext cx="2493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box constraint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">
            <a:extLst>
              <a:ext uri="{FF2B5EF4-FFF2-40B4-BE49-F238E27FC236}">
                <a16:creationId xmlns:a16="http://schemas.microsoft.com/office/drawing/2014/main" id="{82FBDC20-6698-5A58-B9DB-FF1F1A907142}"/>
              </a:ext>
            </a:extLst>
          </p:cNvPr>
          <p:cNvSpPr txBox="1"/>
          <p:nvPr/>
        </p:nvSpPr>
        <p:spPr>
          <a:xfrm>
            <a:off x="240360" y="4997267"/>
            <a:ext cx="71320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Box constraint: constraints that confine the variables within a range.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2C198962-1F4E-4BF8-ACED-F1B7078A931C}"/>
                  </a:ext>
                </a:extLst>
              </p:cNvPr>
              <p:cNvSpPr txBox="1"/>
              <p:nvPr/>
            </p:nvSpPr>
            <p:spPr>
              <a:xfrm>
                <a:off x="4080817" y="5416171"/>
                <a:ext cx="3431265" cy="1285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2D example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0≤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0≤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dirty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2C198962-1F4E-4BF8-ACED-F1B7078A9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817" y="5416171"/>
                <a:ext cx="3431265" cy="1285480"/>
              </a:xfrm>
              <a:prstGeom prst="rect">
                <a:avLst/>
              </a:prstGeom>
              <a:blipFill>
                <a:blip r:embed="rId5"/>
                <a:stretch>
                  <a:fillRect l="-2664" t="-3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31">
            <a:extLst>
              <a:ext uri="{FF2B5EF4-FFF2-40B4-BE49-F238E27FC236}">
                <a16:creationId xmlns:a16="http://schemas.microsoft.com/office/drawing/2014/main" id="{51DFF316-EA1F-7A89-42D1-CCFB3172908F}"/>
              </a:ext>
            </a:extLst>
          </p:cNvPr>
          <p:cNvSpPr txBox="1"/>
          <p:nvPr/>
        </p:nvSpPr>
        <p:spPr>
          <a:xfrm>
            <a:off x="8919346" y="4385472"/>
            <a:ext cx="3233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feasible area is a box.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组合 11">
            <a:extLst>
              <a:ext uri="{FF2B5EF4-FFF2-40B4-BE49-F238E27FC236}">
                <a16:creationId xmlns:a16="http://schemas.microsoft.com/office/drawing/2014/main" id="{3489A18C-CCA8-BF2C-1F83-6D1BCFAE7325}"/>
              </a:ext>
            </a:extLst>
          </p:cNvPr>
          <p:cNvGrpSpPr/>
          <p:nvPr/>
        </p:nvGrpSpPr>
        <p:grpSpPr>
          <a:xfrm>
            <a:off x="7292626" y="4662117"/>
            <a:ext cx="2717774" cy="2229105"/>
            <a:chOff x="5133340" y="4328560"/>
            <a:chExt cx="2717774" cy="2229105"/>
          </a:xfrm>
        </p:grpSpPr>
        <p:cxnSp>
          <p:nvCxnSpPr>
            <p:cNvPr id="17" name="直接箭头连接符 20">
              <a:extLst>
                <a:ext uri="{FF2B5EF4-FFF2-40B4-BE49-F238E27FC236}">
                  <a16:creationId xmlns:a16="http://schemas.microsoft.com/office/drawing/2014/main" id="{49B8038E-AE90-4DB2-2592-34FC937DEB7B}"/>
                </a:ext>
              </a:extLst>
            </p:cNvPr>
            <p:cNvCxnSpPr/>
            <p:nvPr/>
          </p:nvCxnSpPr>
          <p:spPr>
            <a:xfrm flipV="1">
              <a:off x="5492496" y="4513580"/>
              <a:ext cx="0" cy="16394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9">
              <a:extLst>
                <a:ext uri="{FF2B5EF4-FFF2-40B4-BE49-F238E27FC236}">
                  <a16:creationId xmlns:a16="http://schemas.microsoft.com/office/drawing/2014/main" id="{8960A6F4-A558-1A91-25E1-CF734E55E5DB}"/>
                </a:ext>
              </a:extLst>
            </p:cNvPr>
            <p:cNvGrpSpPr/>
            <p:nvPr/>
          </p:nvGrpSpPr>
          <p:grpSpPr>
            <a:xfrm>
              <a:off x="5133340" y="4328560"/>
              <a:ext cx="2717774" cy="2229105"/>
              <a:chOff x="5133340" y="4328560"/>
              <a:chExt cx="2717774" cy="2229105"/>
            </a:xfrm>
          </p:grpSpPr>
          <p:sp>
            <p:nvSpPr>
              <p:cNvPr id="19" name="矩形 7">
                <a:extLst>
                  <a:ext uri="{FF2B5EF4-FFF2-40B4-BE49-F238E27FC236}">
                    <a16:creationId xmlns:a16="http://schemas.microsoft.com/office/drawing/2014/main" id="{7F72D412-6EE0-B82C-A2B0-17A4AB2515BB}"/>
                  </a:ext>
                </a:extLst>
              </p:cNvPr>
              <p:cNvSpPr/>
              <p:nvPr/>
            </p:nvSpPr>
            <p:spPr>
              <a:xfrm>
                <a:off x="5492496" y="4892920"/>
                <a:ext cx="1548384" cy="1260109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文本框 10">
                <a:extLst>
                  <a:ext uri="{FF2B5EF4-FFF2-40B4-BE49-F238E27FC236}">
                    <a16:creationId xmlns:a16="http://schemas.microsoft.com/office/drawing/2014/main" id="{62182CC0-B4E6-49DE-D9CC-7DB3486EE912}"/>
                  </a:ext>
                </a:extLst>
              </p:cNvPr>
              <p:cNvSpPr txBox="1"/>
              <p:nvPr/>
            </p:nvSpPr>
            <p:spPr>
              <a:xfrm>
                <a:off x="5213096" y="6096000"/>
                <a:ext cx="279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3">
                    <a:extLst>
                      <a:ext uri="{FF2B5EF4-FFF2-40B4-BE49-F238E27FC236}">
                        <a16:creationId xmlns:a16="http://schemas.microsoft.com/office/drawing/2014/main" id="{56345DAA-5732-6C5B-276D-DD5E6E53A350}"/>
                      </a:ext>
                    </a:extLst>
                  </p:cNvPr>
                  <p:cNvSpPr txBox="1"/>
                  <p:nvPr/>
                </p:nvSpPr>
                <p:spPr>
                  <a:xfrm>
                    <a:off x="6898258" y="6091615"/>
                    <a:ext cx="27940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1" name="文本框 23">
                    <a:extLst>
                      <a:ext uri="{FF2B5EF4-FFF2-40B4-BE49-F238E27FC236}">
                        <a16:creationId xmlns:a16="http://schemas.microsoft.com/office/drawing/2014/main" id="{56345DAA-5732-6C5B-276D-DD5E6E53A3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98258" y="6091615"/>
                    <a:ext cx="279400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522" r="-3478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4">
                    <a:extLst>
                      <a:ext uri="{FF2B5EF4-FFF2-40B4-BE49-F238E27FC236}">
                        <a16:creationId xmlns:a16="http://schemas.microsoft.com/office/drawing/2014/main" id="{D84B9C5E-AB6C-B4B3-EC0B-B33B078B31DB}"/>
                      </a:ext>
                    </a:extLst>
                  </p:cNvPr>
                  <p:cNvSpPr txBox="1"/>
                  <p:nvPr/>
                </p:nvSpPr>
                <p:spPr>
                  <a:xfrm>
                    <a:off x="5133340" y="4760948"/>
                    <a:ext cx="27940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2" name="文本框 24">
                    <a:extLst>
                      <a:ext uri="{FF2B5EF4-FFF2-40B4-BE49-F238E27FC236}">
                        <a16:creationId xmlns:a16="http://schemas.microsoft.com/office/drawing/2014/main" id="{D84B9C5E-AB6C-B4B3-EC0B-B33B078B31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33340" y="4760948"/>
                    <a:ext cx="279400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348" r="-369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直接箭头连接符 12">
                <a:extLst>
                  <a:ext uri="{FF2B5EF4-FFF2-40B4-BE49-F238E27FC236}">
                    <a16:creationId xmlns:a16="http://schemas.microsoft.com/office/drawing/2014/main" id="{237109DF-C14B-335E-053F-D0166E1C6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2496" y="6153029"/>
                <a:ext cx="2111564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7">
                    <a:extLst>
                      <a:ext uri="{FF2B5EF4-FFF2-40B4-BE49-F238E27FC236}">
                        <a16:creationId xmlns:a16="http://schemas.microsoft.com/office/drawing/2014/main" id="{C9C35607-D2CD-7A21-BA04-AE278D697736}"/>
                      </a:ext>
                    </a:extLst>
                  </p:cNvPr>
                  <p:cNvSpPr txBox="1"/>
                  <p:nvPr/>
                </p:nvSpPr>
                <p:spPr>
                  <a:xfrm>
                    <a:off x="7571714" y="6091615"/>
                    <a:ext cx="27940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4" name="文本框 27">
                    <a:extLst>
                      <a:ext uri="{FF2B5EF4-FFF2-40B4-BE49-F238E27FC236}">
                        <a16:creationId xmlns:a16="http://schemas.microsoft.com/office/drawing/2014/main" id="{C9C35607-D2CD-7A21-BA04-AE278D6977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71714" y="6091615"/>
                    <a:ext cx="279400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739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矩形 26">
                    <a:extLst>
                      <a:ext uri="{FF2B5EF4-FFF2-40B4-BE49-F238E27FC236}">
                        <a16:creationId xmlns:a16="http://schemas.microsoft.com/office/drawing/2014/main" id="{0F3CC187-7595-148B-CD6C-A51C9077C5F2}"/>
                      </a:ext>
                    </a:extLst>
                  </p:cNvPr>
                  <p:cNvSpPr/>
                  <p:nvPr/>
                </p:nvSpPr>
                <p:spPr>
                  <a:xfrm>
                    <a:off x="5492496" y="4328560"/>
                    <a:ext cx="611899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5" name="矩形 26">
                    <a:extLst>
                      <a:ext uri="{FF2B5EF4-FFF2-40B4-BE49-F238E27FC236}">
                        <a16:creationId xmlns:a16="http://schemas.microsoft.com/office/drawing/2014/main" id="{0F3CC187-7595-148B-CD6C-A51C9077C5F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92496" y="4328560"/>
                    <a:ext cx="611899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直接箭头连接符 32">
                <a:extLst>
                  <a:ext uri="{FF2B5EF4-FFF2-40B4-BE49-F238E27FC236}">
                    <a16:creationId xmlns:a16="http://schemas.microsoft.com/office/drawing/2014/main" id="{25230E04-8E4D-23AF-FDB3-27EB2EF81B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60060" y="4494648"/>
                <a:ext cx="797388" cy="4607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1" name="文本框 87">
            <a:extLst>
              <a:ext uri="{FF2B5EF4-FFF2-40B4-BE49-F238E27FC236}">
                <a16:creationId xmlns:a16="http://schemas.microsoft.com/office/drawing/2014/main" id="{79FBEDD2-34E0-2749-0D1B-A4FCBD23433A}"/>
              </a:ext>
            </a:extLst>
          </p:cNvPr>
          <p:cNvSpPr txBox="1"/>
          <p:nvPr/>
        </p:nvSpPr>
        <p:spPr>
          <a:xfrm>
            <a:off x="228103" y="1422400"/>
            <a:ext cx="1432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635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/>
      <p:bldP spid="7" grpId="0" animBg="1"/>
      <p:bldP spid="9" grpId="0"/>
      <p:bldP spid="11" grpId="0" animBg="1"/>
      <p:bldP spid="12" grpId="0"/>
      <p:bldP spid="14" grpId="0"/>
      <p:bldP spid="15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Linear SVM – soft margin classifier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35">
                <a:extLst>
                  <a:ext uri="{FF2B5EF4-FFF2-40B4-BE49-F238E27FC236}">
                    <a16:creationId xmlns:a16="http://schemas.microsoft.com/office/drawing/2014/main" id="{3817B82A-2F18-30CF-E1EC-1E98A5805BB9}"/>
                  </a:ext>
                </a:extLst>
              </p:cNvPr>
              <p:cNvSpPr txBox="1"/>
              <p:nvPr/>
            </p:nvSpPr>
            <p:spPr>
              <a:xfrm>
                <a:off x="88641" y="5296049"/>
                <a:ext cx="1201471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 smaller value of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will allow for more support vectors (and margin violation) and a larger margin.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 larger value of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will result in a stricter margin and a smaller number of support vectors (and margin violation).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soft margin classifier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hard margin classifier.</a:t>
                </a:r>
              </a:p>
            </p:txBody>
          </p:sp>
        </mc:Choice>
        <mc:Fallback>
          <p:sp>
            <p:nvSpPr>
              <p:cNvPr id="2" name="文本框 35">
                <a:extLst>
                  <a:ext uri="{FF2B5EF4-FFF2-40B4-BE49-F238E27FC236}">
                    <a16:creationId xmlns:a16="http://schemas.microsoft.com/office/drawing/2014/main" id="{3817B82A-2F18-30CF-E1EC-1E98A5805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1" y="5296049"/>
                <a:ext cx="12014717" cy="1323439"/>
              </a:xfrm>
              <a:prstGeom prst="rect">
                <a:avLst/>
              </a:prstGeom>
              <a:blipFill>
                <a:blip r:embed="rId3"/>
                <a:stretch>
                  <a:fillRect l="-457" t="-2304" b="-78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BE798026-4D75-D84D-AD6D-D28A5978F843}"/>
              </a:ext>
            </a:extLst>
          </p:cNvPr>
          <p:cNvSpPr/>
          <p:nvPr/>
        </p:nvSpPr>
        <p:spPr>
          <a:xfrm>
            <a:off x="431801" y="1422400"/>
            <a:ext cx="82078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Iris flower classification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1F5076EA-BB0C-5F13-1AEA-59FF7DB7D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712" y="1803317"/>
            <a:ext cx="3516871" cy="3057932"/>
          </a:xfrm>
          <a:prstGeom prst="rect">
            <a:avLst/>
          </a:prstGeom>
        </p:spPr>
      </p:pic>
      <p:pic>
        <p:nvPicPr>
          <p:cNvPr id="5" name="图片 7">
            <a:extLst>
              <a:ext uri="{FF2B5EF4-FFF2-40B4-BE49-F238E27FC236}">
                <a16:creationId xmlns:a16="http://schemas.microsoft.com/office/drawing/2014/main" id="{1D4380CB-440A-A6DC-DB04-F37ECFF72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798" y="1803318"/>
            <a:ext cx="3485545" cy="30579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0">
                <a:extLst>
                  <a:ext uri="{FF2B5EF4-FFF2-40B4-BE49-F238E27FC236}">
                    <a16:creationId xmlns:a16="http://schemas.microsoft.com/office/drawing/2014/main" id="{F8816DC7-65A1-B62B-AD07-A060EC68B322}"/>
                  </a:ext>
                </a:extLst>
              </p:cNvPr>
              <p:cNvSpPr txBox="1"/>
              <p:nvPr/>
            </p:nvSpPr>
            <p:spPr>
              <a:xfrm>
                <a:off x="6624733" y="4834384"/>
                <a:ext cx="17731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10">
                <a:extLst>
                  <a:ext uri="{FF2B5EF4-FFF2-40B4-BE49-F238E27FC236}">
                    <a16:creationId xmlns:a16="http://schemas.microsoft.com/office/drawing/2014/main" id="{F8816DC7-65A1-B62B-AD07-A060EC68B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733" y="4834384"/>
                <a:ext cx="177319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84">
                <a:extLst>
                  <a:ext uri="{FF2B5EF4-FFF2-40B4-BE49-F238E27FC236}">
                    <a16:creationId xmlns:a16="http://schemas.microsoft.com/office/drawing/2014/main" id="{B12CDA3E-EFEA-008A-5AE6-B96BEB591431}"/>
                  </a:ext>
                </a:extLst>
              </p:cNvPr>
              <p:cNvSpPr txBox="1"/>
              <p:nvPr/>
            </p:nvSpPr>
            <p:spPr>
              <a:xfrm>
                <a:off x="2838000" y="4834384"/>
                <a:ext cx="17731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=0.0625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84">
                <a:extLst>
                  <a:ext uri="{FF2B5EF4-FFF2-40B4-BE49-F238E27FC236}">
                    <a16:creationId xmlns:a16="http://schemas.microsoft.com/office/drawing/2014/main" id="{B12CDA3E-EFEA-008A-5AE6-B96BEB591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000" y="4834384"/>
                <a:ext cx="177319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19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57839B3-F82A-400B-9A60-22E5885806D3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40314145-0D20-47C5-A06E-53315857F9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41D00-48D6-4CC7-8DBF-7B7596E8F7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2334</TotalTime>
  <Words>738</Words>
  <Application>Microsoft Office PowerPoint</Application>
  <PresentationFormat>Widescreen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Linear SVM – Soft Margin Classifier</vt:lpstr>
      <vt:lpstr>Linear SVM – soft margin classifier</vt:lpstr>
      <vt:lpstr>Linear SVM – soft margin classifier</vt:lpstr>
      <vt:lpstr>Linear SVM – soft margin classifier</vt:lpstr>
      <vt:lpstr>Linear SVM – soft margin classifier</vt:lpstr>
      <vt:lpstr>The primal and dual problems</vt:lpstr>
      <vt:lpstr>Dot product</vt:lpstr>
      <vt:lpstr>Linear SVM – soft margin classifier</vt:lpstr>
      <vt:lpstr>Linear SVM – soft margin classifier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95</cp:revision>
  <dcterms:created xsi:type="dcterms:W3CDTF">2021-01-06T14:22:07Z</dcterms:created>
  <dcterms:modified xsi:type="dcterms:W3CDTF">2024-08-16T17:02:17Z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