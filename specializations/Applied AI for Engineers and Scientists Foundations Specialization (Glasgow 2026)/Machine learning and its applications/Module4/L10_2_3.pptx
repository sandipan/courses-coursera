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505" r:id="rId16"/>
    <p:sldId id="506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62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13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66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02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29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52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05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50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00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43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Non-linear SVM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Non-linear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4">
                <a:extLst>
                  <a:ext uri="{FF2B5EF4-FFF2-40B4-BE49-F238E27FC236}">
                    <a16:creationId xmlns:a16="http://schemas.microsoft.com/office/drawing/2014/main" id="{C00BD64C-13D1-819C-ACB9-60C0D8A194C8}"/>
                  </a:ext>
                </a:extLst>
              </p:cNvPr>
              <p:cNvSpPr txBox="1"/>
              <p:nvPr/>
            </p:nvSpPr>
            <p:spPr>
              <a:xfrm>
                <a:off x="490613" y="1572587"/>
                <a:ext cx="1064080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Limitation of linear SVM: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linear classifier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has very limited representation power.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It cannot solve nonlinear classification problems.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4">
                <a:extLst>
                  <a:ext uri="{FF2B5EF4-FFF2-40B4-BE49-F238E27FC236}">
                    <a16:creationId xmlns:a16="http://schemas.microsoft.com/office/drawing/2014/main" id="{C00BD64C-13D1-819C-ACB9-60C0D8A19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3" y="1572587"/>
                <a:ext cx="10640807" cy="1200329"/>
              </a:xfrm>
              <a:prstGeom prst="rect">
                <a:avLst/>
              </a:prstGeom>
              <a:blipFill>
                <a:blip r:embed="rId3"/>
                <a:stretch>
                  <a:fillRect l="-859" t="-35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椭圆 9">
            <a:extLst>
              <a:ext uri="{FF2B5EF4-FFF2-40B4-BE49-F238E27FC236}">
                <a16:creationId xmlns:a16="http://schemas.microsoft.com/office/drawing/2014/main" id="{82ED8057-1516-B8D5-097F-727A609E8076}"/>
              </a:ext>
            </a:extLst>
          </p:cNvPr>
          <p:cNvSpPr/>
          <p:nvPr/>
        </p:nvSpPr>
        <p:spPr>
          <a:xfrm>
            <a:off x="4329475" y="3485012"/>
            <a:ext cx="125591" cy="116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椭圆 11">
            <a:extLst>
              <a:ext uri="{FF2B5EF4-FFF2-40B4-BE49-F238E27FC236}">
                <a16:creationId xmlns:a16="http://schemas.microsoft.com/office/drawing/2014/main" id="{4829D149-5912-21F6-D004-1AB47D27D861}"/>
              </a:ext>
            </a:extLst>
          </p:cNvPr>
          <p:cNvSpPr/>
          <p:nvPr/>
        </p:nvSpPr>
        <p:spPr>
          <a:xfrm>
            <a:off x="4481875" y="3637412"/>
            <a:ext cx="125591" cy="116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12">
            <a:extLst>
              <a:ext uri="{FF2B5EF4-FFF2-40B4-BE49-F238E27FC236}">
                <a16:creationId xmlns:a16="http://schemas.microsoft.com/office/drawing/2014/main" id="{A4C222A0-AB81-F66C-1BD6-72DD5197E76D}"/>
              </a:ext>
            </a:extLst>
          </p:cNvPr>
          <p:cNvSpPr/>
          <p:nvPr/>
        </p:nvSpPr>
        <p:spPr>
          <a:xfrm>
            <a:off x="4138975" y="3789812"/>
            <a:ext cx="125591" cy="116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椭圆 13">
            <a:extLst>
              <a:ext uri="{FF2B5EF4-FFF2-40B4-BE49-F238E27FC236}">
                <a16:creationId xmlns:a16="http://schemas.microsoft.com/office/drawing/2014/main" id="{3C992613-1C10-B11C-7E5A-91C42F67C641}"/>
              </a:ext>
            </a:extLst>
          </p:cNvPr>
          <p:cNvSpPr/>
          <p:nvPr/>
        </p:nvSpPr>
        <p:spPr>
          <a:xfrm>
            <a:off x="4368605" y="3893844"/>
            <a:ext cx="125591" cy="116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椭圆 14">
            <a:extLst>
              <a:ext uri="{FF2B5EF4-FFF2-40B4-BE49-F238E27FC236}">
                <a16:creationId xmlns:a16="http://schemas.microsoft.com/office/drawing/2014/main" id="{18251918-81B6-7402-45C3-74164DB9124C}"/>
              </a:ext>
            </a:extLst>
          </p:cNvPr>
          <p:cNvSpPr/>
          <p:nvPr/>
        </p:nvSpPr>
        <p:spPr>
          <a:xfrm>
            <a:off x="4758873" y="3596223"/>
            <a:ext cx="125591" cy="116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椭圆 15">
            <a:extLst>
              <a:ext uri="{FF2B5EF4-FFF2-40B4-BE49-F238E27FC236}">
                <a16:creationId xmlns:a16="http://schemas.microsoft.com/office/drawing/2014/main" id="{CCD897B7-2741-2D81-76E5-C4F40E4509B7}"/>
              </a:ext>
            </a:extLst>
          </p:cNvPr>
          <p:cNvSpPr/>
          <p:nvPr/>
        </p:nvSpPr>
        <p:spPr>
          <a:xfrm>
            <a:off x="4083369" y="4001994"/>
            <a:ext cx="125591" cy="116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6">
            <a:extLst>
              <a:ext uri="{FF2B5EF4-FFF2-40B4-BE49-F238E27FC236}">
                <a16:creationId xmlns:a16="http://schemas.microsoft.com/office/drawing/2014/main" id="{E0866D77-5DC1-9F3C-BFA9-D7A0949A4DFB}"/>
              </a:ext>
            </a:extLst>
          </p:cNvPr>
          <p:cNvSpPr/>
          <p:nvPr/>
        </p:nvSpPr>
        <p:spPr>
          <a:xfrm>
            <a:off x="3793412" y="3524357"/>
            <a:ext cx="104653" cy="967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7">
            <a:extLst>
              <a:ext uri="{FF2B5EF4-FFF2-40B4-BE49-F238E27FC236}">
                <a16:creationId xmlns:a16="http://schemas.microsoft.com/office/drawing/2014/main" id="{FADA33D8-2745-E7B2-536F-E1A5116DCCEA}"/>
              </a:ext>
            </a:extLst>
          </p:cNvPr>
          <p:cNvSpPr/>
          <p:nvPr/>
        </p:nvSpPr>
        <p:spPr>
          <a:xfrm>
            <a:off x="4930267" y="4200472"/>
            <a:ext cx="104653" cy="967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8">
            <a:extLst>
              <a:ext uri="{FF2B5EF4-FFF2-40B4-BE49-F238E27FC236}">
                <a16:creationId xmlns:a16="http://schemas.microsoft.com/office/drawing/2014/main" id="{38160B7F-FB7A-81D6-B8AD-0B7E69D04F75}"/>
              </a:ext>
            </a:extLst>
          </p:cNvPr>
          <p:cNvSpPr/>
          <p:nvPr/>
        </p:nvSpPr>
        <p:spPr>
          <a:xfrm>
            <a:off x="3764649" y="3901846"/>
            <a:ext cx="104653" cy="967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9">
            <a:extLst>
              <a:ext uri="{FF2B5EF4-FFF2-40B4-BE49-F238E27FC236}">
                <a16:creationId xmlns:a16="http://schemas.microsoft.com/office/drawing/2014/main" id="{093E57C6-B515-0FCD-0057-A5886D0CB47B}"/>
              </a:ext>
            </a:extLst>
          </p:cNvPr>
          <p:cNvSpPr/>
          <p:nvPr/>
        </p:nvSpPr>
        <p:spPr>
          <a:xfrm>
            <a:off x="4251052" y="3216299"/>
            <a:ext cx="104653" cy="967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20">
            <a:extLst>
              <a:ext uri="{FF2B5EF4-FFF2-40B4-BE49-F238E27FC236}">
                <a16:creationId xmlns:a16="http://schemas.microsoft.com/office/drawing/2014/main" id="{A9FE7946-1F6A-8BFA-214E-C2E9F22E4581}"/>
              </a:ext>
            </a:extLst>
          </p:cNvPr>
          <p:cNvSpPr/>
          <p:nvPr/>
        </p:nvSpPr>
        <p:spPr>
          <a:xfrm>
            <a:off x="4706592" y="3229855"/>
            <a:ext cx="104653" cy="967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21">
            <a:extLst>
              <a:ext uri="{FF2B5EF4-FFF2-40B4-BE49-F238E27FC236}">
                <a16:creationId xmlns:a16="http://schemas.microsoft.com/office/drawing/2014/main" id="{BE489C11-0507-E847-0A25-22A812F1BC6E}"/>
              </a:ext>
            </a:extLst>
          </p:cNvPr>
          <p:cNvSpPr/>
          <p:nvPr/>
        </p:nvSpPr>
        <p:spPr>
          <a:xfrm>
            <a:off x="4996169" y="3856542"/>
            <a:ext cx="104653" cy="967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22">
            <a:extLst>
              <a:ext uri="{FF2B5EF4-FFF2-40B4-BE49-F238E27FC236}">
                <a16:creationId xmlns:a16="http://schemas.microsoft.com/office/drawing/2014/main" id="{02C07F8A-C8AC-5634-A305-C67B7B1D727A}"/>
              </a:ext>
            </a:extLst>
          </p:cNvPr>
          <p:cNvSpPr/>
          <p:nvPr/>
        </p:nvSpPr>
        <p:spPr>
          <a:xfrm>
            <a:off x="4706592" y="4387198"/>
            <a:ext cx="104653" cy="967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23">
            <a:extLst>
              <a:ext uri="{FF2B5EF4-FFF2-40B4-BE49-F238E27FC236}">
                <a16:creationId xmlns:a16="http://schemas.microsoft.com/office/drawing/2014/main" id="{E86F2819-371E-E31D-8D70-22B8DEC45ABD}"/>
              </a:ext>
            </a:extLst>
          </p:cNvPr>
          <p:cNvSpPr/>
          <p:nvPr/>
        </p:nvSpPr>
        <p:spPr>
          <a:xfrm>
            <a:off x="5023563" y="3475410"/>
            <a:ext cx="104653" cy="967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24">
            <a:extLst>
              <a:ext uri="{FF2B5EF4-FFF2-40B4-BE49-F238E27FC236}">
                <a16:creationId xmlns:a16="http://schemas.microsoft.com/office/drawing/2014/main" id="{167FAF92-6ECA-1661-8DA6-CF2513E33C7E}"/>
              </a:ext>
            </a:extLst>
          </p:cNvPr>
          <p:cNvSpPr/>
          <p:nvPr/>
        </p:nvSpPr>
        <p:spPr>
          <a:xfrm>
            <a:off x="3853001" y="4260970"/>
            <a:ext cx="104653" cy="967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椭圆 25">
            <a:extLst>
              <a:ext uri="{FF2B5EF4-FFF2-40B4-BE49-F238E27FC236}">
                <a16:creationId xmlns:a16="http://schemas.microsoft.com/office/drawing/2014/main" id="{B7A13239-EF39-C5A4-C0FC-0315F0A72830}"/>
              </a:ext>
            </a:extLst>
          </p:cNvPr>
          <p:cNvSpPr/>
          <p:nvPr/>
        </p:nvSpPr>
        <p:spPr>
          <a:xfrm>
            <a:off x="4329475" y="4179904"/>
            <a:ext cx="125591" cy="116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6">
            <a:extLst>
              <a:ext uri="{FF2B5EF4-FFF2-40B4-BE49-F238E27FC236}">
                <a16:creationId xmlns:a16="http://schemas.microsoft.com/office/drawing/2014/main" id="{85F4402C-34A5-9147-778E-A82E399DE73F}"/>
              </a:ext>
            </a:extLst>
          </p:cNvPr>
          <p:cNvSpPr/>
          <p:nvPr/>
        </p:nvSpPr>
        <p:spPr>
          <a:xfrm>
            <a:off x="4251052" y="4512018"/>
            <a:ext cx="104653" cy="967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椭圆 27">
            <a:extLst>
              <a:ext uri="{FF2B5EF4-FFF2-40B4-BE49-F238E27FC236}">
                <a16:creationId xmlns:a16="http://schemas.microsoft.com/office/drawing/2014/main" id="{B3CB6172-D673-B6AF-8398-DFE9DDBE10E7}"/>
              </a:ext>
            </a:extLst>
          </p:cNvPr>
          <p:cNvSpPr/>
          <p:nvPr/>
        </p:nvSpPr>
        <p:spPr>
          <a:xfrm>
            <a:off x="4521005" y="4046244"/>
            <a:ext cx="125591" cy="116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椭圆 28">
            <a:extLst>
              <a:ext uri="{FF2B5EF4-FFF2-40B4-BE49-F238E27FC236}">
                <a16:creationId xmlns:a16="http://schemas.microsoft.com/office/drawing/2014/main" id="{7CBBDAA6-DF15-DA23-1FB6-0A11A14F5A63}"/>
              </a:ext>
            </a:extLst>
          </p:cNvPr>
          <p:cNvSpPr/>
          <p:nvPr/>
        </p:nvSpPr>
        <p:spPr>
          <a:xfrm>
            <a:off x="4739654" y="3979516"/>
            <a:ext cx="125591" cy="116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9">
            <a:extLst>
              <a:ext uri="{FF2B5EF4-FFF2-40B4-BE49-F238E27FC236}">
                <a16:creationId xmlns:a16="http://schemas.microsoft.com/office/drawing/2014/main" id="{6673A111-C64F-A324-3B89-1C2A886C4130}"/>
              </a:ext>
            </a:extLst>
          </p:cNvPr>
          <p:cNvGrpSpPr/>
          <p:nvPr/>
        </p:nvGrpSpPr>
        <p:grpSpPr>
          <a:xfrm>
            <a:off x="3402025" y="3033274"/>
            <a:ext cx="3580665" cy="2252161"/>
            <a:chOff x="3893139" y="3842785"/>
            <a:chExt cx="3170670" cy="1991868"/>
          </a:xfrm>
        </p:grpSpPr>
        <p:cxnSp>
          <p:nvCxnSpPr>
            <p:cNvPr id="26" name="直接箭头连接符 30">
              <a:extLst>
                <a:ext uri="{FF2B5EF4-FFF2-40B4-BE49-F238E27FC236}">
                  <a16:creationId xmlns:a16="http://schemas.microsoft.com/office/drawing/2014/main" id="{4F88E9AF-D057-422A-EF3C-D737383FB51B}"/>
                </a:ext>
              </a:extLst>
            </p:cNvPr>
            <p:cNvCxnSpPr>
              <a:cxnSpLocks/>
            </p:cNvCxnSpPr>
            <p:nvPr/>
          </p:nvCxnSpPr>
          <p:spPr>
            <a:xfrm>
              <a:off x="3893139" y="5396550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31">
              <a:extLst>
                <a:ext uri="{FF2B5EF4-FFF2-40B4-BE49-F238E27FC236}">
                  <a16:creationId xmlns:a16="http://schemas.microsoft.com/office/drawing/2014/main" id="{5876AEF4-AAB9-B238-B7A7-8FF5A3CF03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372" y="3842785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32">
              <a:extLst>
                <a:ext uri="{FF2B5EF4-FFF2-40B4-BE49-F238E27FC236}">
                  <a16:creationId xmlns:a16="http://schemas.microsoft.com/office/drawing/2014/main" id="{07FB1BAB-D85C-3385-D22C-6B2EAE4A69B3}"/>
                </a:ext>
              </a:extLst>
            </p:cNvPr>
            <p:cNvSpPr txBox="1"/>
            <p:nvPr/>
          </p:nvSpPr>
          <p:spPr>
            <a:xfrm>
              <a:off x="4045342" y="5426345"/>
              <a:ext cx="3018467" cy="408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Not linearly separable 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9" name="直接连接符 33">
            <a:extLst>
              <a:ext uri="{FF2B5EF4-FFF2-40B4-BE49-F238E27FC236}">
                <a16:creationId xmlns:a16="http://schemas.microsoft.com/office/drawing/2014/main" id="{3BE42E96-7E0A-3A8C-2CA7-384A4855331F}"/>
              </a:ext>
            </a:extLst>
          </p:cNvPr>
          <p:cNvCxnSpPr>
            <a:cxnSpLocks/>
          </p:cNvCxnSpPr>
          <p:nvPr/>
        </p:nvCxnSpPr>
        <p:spPr>
          <a:xfrm flipV="1">
            <a:off x="3610695" y="3528474"/>
            <a:ext cx="1841157" cy="76758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34">
            <a:extLst>
              <a:ext uri="{FF2B5EF4-FFF2-40B4-BE49-F238E27FC236}">
                <a16:creationId xmlns:a16="http://schemas.microsoft.com/office/drawing/2014/main" id="{D80F1513-8B4C-81BA-597F-46ACDA5A7C80}"/>
              </a:ext>
            </a:extLst>
          </p:cNvPr>
          <p:cNvSpPr txBox="1"/>
          <p:nvPr/>
        </p:nvSpPr>
        <p:spPr>
          <a:xfrm>
            <a:off x="418854" y="5603858"/>
            <a:ext cx="10824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Good news: with a slight modification using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 trick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SVM can solve highly nonlinear classification problems.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Kernel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2FE71349-6293-37CE-FDB8-B8D7BDFF8955}"/>
              </a:ext>
            </a:extLst>
          </p:cNvPr>
          <p:cNvSpPr txBox="1"/>
          <p:nvPr/>
        </p:nvSpPr>
        <p:spPr>
          <a:xfrm>
            <a:off x="915875" y="4723530"/>
            <a:ext cx="2850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1-dimensional case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35">
            <a:extLst>
              <a:ext uri="{FF2B5EF4-FFF2-40B4-BE49-F238E27FC236}">
                <a16:creationId xmlns:a16="http://schemas.microsoft.com/office/drawing/2014/main" id="{3A7E46CE-670F-F7B9-F038-9E4916131709}"/>
              </a:ext>
            </a:extLst>
          </p:cNvPr>
          <p:cNvSpPr/>
          <p:nvPr/>
        </p:nvSpPr>
        <p:spPr>
          <a:xfrm>
            <a:off x="2006835" y="5307276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椭圆 36">
            <a:extLst>
              <a:ext uri="{FF2B5EF4-FFF2-40B4-BE49-F238E27FC236}">
                <a16:creationId xmlns:a16="http://schemas.microsoft.com/office/drawing/2014/main" id="{FDF7177B-6CD6-2910-D700-E1F113907E6E}"/>
              </a:ext>
            </a:extLst>
          </p:cNvPr>
          <p:cNvSpPr/>
          <p:nvPr/>
        </p:nvSpPr>
        <p:spPr>
          <a:xfrm>
            <a:off x="2170090" y="5301438"/>
            <a:ext cx="77108" cy="7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椭圆 37">
            <a:extLst>
              <a:ext uri="{FF2B5EF4-FFF2-40B4-BE49-F238E27FC236}">
                <a16:creationId xmlns:a16="http://schemas.microsoft.com/office/drawing/2014/main" id="{620E25D2-6C81-DFE6-673B-027C100BD772}"/>
              </a:ext>
            </a:extLst>
          </p:cNvPr>
          <p:cNvSpPr/>
          <p:nvPr/>
        </p:nvSpPr>
        <p:spPr>
          <a:xfrm>
            <a:off x="2307646" y="5301438"/>
            <a:ext cx="77108" cy="7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椭圆 38">
            <a:extLst>
              <a:ext uri="{FF2B5EF4-FFF2-40B4-BE49-F238E27FC236}">
                <a16:creationId xmlns:a16="http://schemas.microsoft.com/office/drawing/2014/main" id="{54F7CADE-2F74-B7CE-DC49-97F316FEFB21}"/>
              </a:ext>
            </a:extLst>
          </p:cNvPr>
          <p:cNvSpPr/>
          <p:nvPr/>
        </p:nvSpPr>
        <p:spPr>
          <a:xfrm>
            <a:off x="2443807" y="5301438"/>
            <a:ext cx="77108" cy="7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39">
            <a:extLst>
              <a:ext uri="{FF2B5EF4-FFF2-40B4-BE49-F238E27FC236}">
                <a16:creationId xmlns:a16="http://schemas.microsoft.com/office/drawing/2014/main" id="{59411A66-A1EA-2C0C-7A95-C9295A5255BE}"/>
              </a:ext>
            </a:extLst>
          </p:cNvPr>
          <p:cNvSpPr/>
          <p:nvPr/>
        </p:nvSpPr>
        <p:spPr>
          <a:xfrm>
            <a:off x="2765638" y="5307278"/>
            <a:ext cx="77108" cy="7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41">
            <a:extLst>
              <a:ext uri="{FF2B5EF4-FFF2-40B4-BE49-F238E27FC236}">
                <a16:creationId xmlns:a16="http://schemas.microsoft.com/office/drawing/2014/main" id="{180D33CF-6833-3967-A67F-71C82AD60433}"/>
              </a:ext>
            </a:extLst>
          </p:cNvPr>
          <p:cNvSpPr/>
          <p:nvPr/>
        </p:nvSpPr>
        <p:spPr>
          <a:xfrm>
            <a:off x="1843581" y="5301438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42">
            <a:extLst>
              <a:ext uri="{FF2B5EF4-FFF2-40B4-BE49-F238E27FC236}">
                <a16:creationId xmlns:a16="http://schemas.microsoft.com/office/drawing/2014/main" id="{52E2B4AC-CF85-C564-1806-8FE8D40AFBCE}"/>
              </a:ext>
            </a:extLst>
          </p:cNvPr>
          <p:cNvSpPr/>
          <p:nvPr/>
        </p:nvSpPr>
        <p:spPr>
          <a:xfrm>
            <a:off x="1680326" y="5301437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43">
            <a:extLst>
              <a:ext uri="{FF2B5EF4-FFF2-40B4-BE49-F238E27FC236}">
                <a16:creationId xmlns:a16="http://schemas.microsoft.com/office/drawing/2014/main" id="{92D029FA-0A7A-D85E-D3A3-103FAE37760A}"/>
              </a:ext>
            </a:extLst>
          </p:cNvPr>
          <p:cNvSpPr/>
          <p:nvPr/>
        </p:nvSpPr>
        <p:spPr>
          <a:xfrm>
            <a:off x="1503342" y="5307276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44">
            <a:extLst>
              <a:ext uri="{FF2B5EF4-FFF2-40B4-BE49-F238E27FC236}">
                <a16:creationId xmlns:a16="http://schemas.microsoft.com/office/drawing/2014/main" id="{4D134BD3-75AD-DAB6-E15A-650FC61FAD81}"/>
              </a:ext>
            </a:extLst>
          </p:cNvPr>
          <p:cNvSpPr/>
          <p:nvPr/>
        </p:nvSpPr>
        <p:spPr>
          <a:xfrm>
            <a:off x="1340087" y="5301438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45">
            <a:extLst>
              <a:ext uri="{FF2B5EF4-FFF2-40B4-BE49-F238E27FC236}">
                <a16:creationId xmlns:a16="http://schemas.microsoft.com/office/drawing/2014/main" id="{C8E6540D-E22D-5ADF-0DB6-7C5866D25809}"/>
              </a:ext>
            </a:extLst>
          </p:cNvPr>
          <p:cNvSpPr/>
          <p:nvPr/>
        </p:nvSpPr>
        <p:spPr>
          <a:xfrm>
            <a:off x="1176832" y="5301437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46">
            <a:extLst>
              <a:ext uri="{FF2B5EF4-FFF2-40B4-BE49-F238E27FC236}">
                <a16:creationId xmlns:a16="http://schemas.microsoft.com/office/drawing/2014/main" id="{96E1A535-3194-33ED-37E2-1BD79AC0F4E5}"/>
              </a:ext>
            </a:extLst>
          </p:cNvPr>
          <p:cNvSpPr/>
          <p:nvPr/>
        </p:nvSpPr>
        <p:spPr>
          <a:xfrm>
            <a:off x="3772936" y="5318956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47">
            <a:extLst>
              <a:ext uri="{FF2B5EF4-FFF2-40B4-BE49-F238E27FC236}">
                <a16:creationId xmlns:a16="http://schemas.microsoft.com/office/drawing/2014/main" id="{9F2AC2D7-94B9-5325-E0A6-9856D9003178}"/>
              </a:ext>
            </a:extLst>
          </p:cNvPr>
          <p:cNvSpPr/>
          <p:nvPr/>
        </p:nvSpPr>
        <p:spPr>
          <a:xfrm>
            <a:off x="3609681" y="5313117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48">
            <a:extLst>
              <a:ext uri="{FF2B5EF4-FFF2-40B4-BE49-F238E27FC236}">
                <a16:creationId xmlns:a16="http://schemas.microsoft.com/office/drawing/2014/main" id="{1BECF372-0EC0-627F-7484-3C103F99FA88}"/>
              </a:ext>
            </a:extLst>
          </p:cNvPr>
          <p:cNvSpPr/>
          <p:nvPr/>
        </p:nvSpPr>
        <p:spPr>
          <a:xfrm>
            <a:off x="3446426" y="5313116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49">
            <a:extLst>
              <a:ext uri="{FF2B5EF4-FFF2-40B4-BE49-F238E27FC236}">
                <a16:creationId xmlns:a16="http://schemas.microsoft.com/office/drawing/2014/main" id="{B13FAC7B-5CFC-C3FD-0925-F47824EBA138}"/>
              </a:ext>
            </a:extLst>
          </p:cNvPr>
          <p:cNvSpPr/>
          <p:nvPr/>
        </p:nvSpPr>
        <p:spPr>
          <a:xfrm>
            <a:off x="3269442" y="5318956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50">
            <a:extLst>
              <a:ext uri="{FF2B5EF4-FFF2-40B4-BE49-F238E27FC236}">
                <a16:creationId xmlns:a16="http://schemas.microsoft.com/office/drawing/2014/main" id="{49FDC6A9-7056-86C1-068B-D902C35D0644}"/>
              </a:ext>
            </a:extLst>
          </p:cNvPr>
          <p:cNvSpPr/>
          <p:nvPr/>
        </p:nvSpPr>
        <p:spPr>
          <a:xfrm>
            <a:off x="3106187" y="5313117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51">
            <a:extLst>
              <a:ext uri="{FF2B5EF4-FFF2-40B4-BE49-F238E27FC236}">
                <a16:creationId xmlns:a16="http://schemas.microsoft.com/office/drawing/2014/main" id="{F2B113CE-035C-12EF-CED3-5817877403D1}"/>
              </a:ext>
            </a:extLst>
          </p:cNvPr>
          <p:cNvSpPr/>
          <p:nvPr/>
        </p:nvSpPr>
        <p:spPr>
          <a:xfrm>
            <a:off x="2942932" y="5313116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椭圆 53">
            <a:extLst>
              <a:ext uri="{FF2B5EF4-FFF2-40B4-BE49-F238E27FC236}">
                <a16:creationId xmlns:a16="http://schemas.microsoft.com/office/drawing/2014/main" id="{C8F91DE7-1287-9B1F-948C-30784FFA82EC}"/>
              </a:ext>
            </a:extLst>
          </p:cNvPr>
          <p:cNvSpPr/>
          <p:nvPr/>
        </p:nvSpPr>
        <p:spPr>
          <a:xfrm>
            <a:off x="2608458" y="5301438"/>
            <a:ext cx="77108" cy="7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椭圆 54">
            <a:extLst>
              <a:ext uri="{FF2B5EF4-FFF2-40B4-BE49-F238E27FC236}">
                <a16:creationId xmlns:a16="http://schemas.microsoft.com/office/drawing/2014/main" id="{8335A98C-22D8-B99E-9B54-37FE42005DDE}"/>
              </a:ext>
            </a:extLst>
          </p:cNvPr>
          <p:cNvSpPr/>
          <p:nvPr/>
        </p:nvSpPr>
        <p:spPr>
          <a:xfrm>
            <a:off x="8360112" y="5507732"/>
            <a:ext cx="77108" cy="7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椭圆 55">
            <a:extLst>
              <a:ext uri="{FF2B5EF4-FFF2-40B4-BE49-F238E27FC236}">
                <a16:creationId xmlns:a16="http://schemas.microsoft.com/office/drawing/2014/main" id="{7B43A555-ED2A-04DD-2D31-E2A02023B76B}"/>
              </a:ext>
            </a:extLst>
          </p:cNvPr>
          <p:cNvSpPr/>
          <p:nvPr/>
        </p:nvSpPr>
        <p:spPr>
          <a:xfrm>
            <a:off x="8540293" y="5623714"/>
            <a:ext cx="77108" cy="7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椭圆 56">
            <a:extLst>
              <a:ext uri="{FF2B5EF4-FFF2-40B4-BE49-F238E27FC236}">
                <a16:creationId xmlns:a16="http://schemas.microsoft.com/office/drawing/2014/main" id="{B881B41B-1F57-FE23-27EF-BA65EB88183B}"/>
              </a:ext>
            </a:extLst>
          </p:cNvPr>
          <p:cNvSpPr/>
          <p:nvPr/>
        </p:nvSpPr>
        <p:spPr>
          <a:xfrm>
            <a:off x="8737365" y="5677006"/>
            <a:ext cx="77108" cy="7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椭圆 57">
            <a:extLst>
              <a:ext uri="{FF2B5EF4-FFF2-40B4-BE49-F238E27FC236}">
                <a16:creationId xmlns:a16="http://schemas.microsoft.com/office/drawing/2014/main" id="{7307DCE5-06FE-2C0C-BBFC-CABF800FF1FB}"/>
              </a:ext>
            </a:extLst>
          </p:cNvPr>
          <p:cNvSpPr/>
          <p:nvPr/>
        </p:nvSpPr>
        <p:spPr>
          <a:xfrm>
            <a:off x="9093336" y="5507732"/>
            <a:ext cx="77108" cy="7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椭圆 58">
            <a:extLst>
              <a:ext uri="{FF2B5EF4-FFF2-40B4-BE49-F238E27FC236}">
                <a16:creationId xmlns:a16="http://schemas.microsoft.com/office/drawing/2014/main" id="{2615765E-1498-50B7-00BF-A0C95E2BA1AB}"/>
              </a:ext>
            </a:extLst>
          </p:cNvPr>
          <p:cNvSpPr/>
          <p:nvPr/>
        </p:nvSpPr>
        <p:spPr>
          <a:xfrm>
            <a:off x="8917911" y="5628036"/>
            <a:ext cx="77108" cy="70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59">
            <a:extLst>
              <a:ext uri="{FF2B5EF4-FFF2-40B4-BE49-F238E27FC236}">
                <a16:creationId xmlns:a16="http://schemas.microsoft.com/office/drawing/2014/main" id="{2CCB714E-0587-2D37-F1CB-86C4DE707792}"/>
              </a:ext>
            </a:extLst>
          </p:cNvPr>
          <p:cNvSpPr/>
          <p:nvPr/>
        </p:nvSpPr>
        <p:spPr>
          <a:xfrm>
            <a:off x="9759035" y="4580689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60">
            <a:extLst>
              <a:ext uri="{FF2B5EF4-FFF2-40B4-BE49-F238E27FC236}">
                <a16:creationId xmlns:a16="http://schemas.microsoft.com/office/drawing/2014/main" id="{7B344FA1-5ADC-D9FA-C140-AFD54F1029E1}"/>
              </a:ext>
            </a:extLst>
          </p:cNvPr>
          <p:cNvSpPr/>
          <p:nvPr/>
        </p:nvSpPr>
        <p:spPr>
          <a:xfrm>
            <a:off x="9694783" y="4729508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61">
            <a:extLst>
              <a:ext uri="{FF2B5EF4-FFF2-40B4-BE49-F238E27FC236}">
                <a16:creationId xmlns:a16="http://schemas.microsoft.com/office/drawing/2014/main" id="{B6D7B21A-B0EC-BA6C-2762-C8B9FEDE5F68}"/>
              </a:ext>
            </a:extLst>
          </p:cNvPr>
          <p:cNvSpPr/>
          <p:nvPr/>
        </p:nvSpPr>
        <p:spPr>
          <a:xfrm>
            <a:off x="9630531" y="4892115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62">
            <a:extLst>
              <a:ext uri="{FF2B5EF4-FFF2-40B4-BE49-F238E27FC236}">
                <a16:creationId xmlns:a16="http://schemas.microsoft.com/office/drawing/2014/main" id="{C75952C3-3E0F-13B7-A6FB-546870D039A4}"/>
              </a:ext>
            </a:extLst>
          </p:cNvPr>
          <p:cNvSpPr/>
          <p:nvPr/>
        </p:nvSpPr>
        <p:spPr>
          <a:xfrm>
            <a:off x="9520603" y="5077993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63">
            <a:extLst>
              <a:ext uri="{FF2B5EF4-FFF2-40B4-BE49-F238E27FC236}">
                <a16:creationId xmlns:a16="http://schemas.microsoft.com/office/drawing/2014/main" id="{E02411A3-29B0-CFBB-EBA5-4C00EE32DE25}"/>
              </a:ext>
            </a:extLst>
          </p:cNvPr>
          <p:cNvSpPr/>
          <p:nvPr/>
        </p:nvSpPr>
        <p:spPr>
          <a:xfrm>
            <a:off x="9406878" y="5263871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64">
            <a:extLst>
              <a:ext uri="{FF2B5EF4-FFF2-40B4-BE49-F238E27FC236}">
                <a16:creationId xmlns:a16="http://schemas.microsoft.com/office/drawing/2014/main" id="{4FB9EAE1-43D9-FB14-F8EB-6E94A50800FD}"/>
              </a:ext>
            </a:extLst>
          </p:cNvPr>
          <p:cNvSpPr/>
          <p:nvPr/>
        </p:nvSpPr>
        <p:spPr>
          <a:xfrm>
            <a:off x="9255053" y="5397220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65">
            <a:extLst>
              <a:ext uri="{FF2B5EF4-FFF2-40B4-BE49-F238E27FC236}">
                <a16:creationId xmlns:a16="http://schemas.microsoft.com/office/drawing/2014/main" id="{2112C498-0AC8-CD20-87C5-4F641B07A5BC}"/>
              </a:ext>
            </a:extLst>
          </p:cNvPr>
          <p:cNvSpPr/>
          <p:nvPr/>
        </p:nvSpPr>
        <p:spPr>
          <a:xfrm>
            <a:off x="7886204" y="4594326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66">
            <a:extLst>
              <a:ext uri="{FF2B5EF4-FFF2-40B4-BE49-F238E27FC236}">
                <a16:creationId xmlns:a16="http://schemas.microsoft.com/office/drawing/2014/main" id="{1A6E5B21-AFCE-3BFC-11E4-08227637CCEE}"/>
              </a:ext>
            </a:extLst>
          </p:cNvPr>
          <p:cNvSpPr/>
          <p:nvPr/>
        </p:nvSpPr>
        <p:spPr>
          <a:xfrm>
            <a:off x="7918330" y="4743221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67">
            <a:extLst>
              <a:ext uri="{FF2B5EF4-FFF2-40B4-BE49-F238E27FC236}">
                <a16:creationId xmlns:a16="http://schemas.microsoft.com/office/drawing/2014/main" id="{66235DEF-162B-DBAE-BA98-73F04FBD7510}"/>
              </a:ext>
            </a:extLst>
          </p:cNvPr>
          <p:cNvSpPr/>
          <p:nvPr/>
        </p:nvSpPr>
        <p:spPr>
          <a:xfrm>
            <a:off x="7982582" y="4921299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68">
            <a:extLst>
              <a:ext uri="{FF2B5EF4-FFF2-40B4-BE49-F238E27FC236}">
                <a16:creationId xmlns:a16="http://schemas.microsoft.com/office/drawing/2014/main" id="{C83ADF72-C4BA-D813-0E61-329DBAF7CBAF}"/>
              </a:ext>
            </a:extLst>
          </p:cNvPr>
          <p:cNvSpPr/>
          <p:nvPr/>
        </p:nvSpPr>
        <p:spPr>
          <a:xfrm>
            <a:off x="8046834" y="5077993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69">
            <a:extLst>
              <a:ext uri="{FF2B5EF4-FFF2-40B4-BE49-F238E27FC236}">
                <a16:creationId xmlns:a16="http://schemas.microsoft.com/office/drawing/2014/main" id="{8E301BB1-5A97-283B-18CB-98DAFD6AC165}"/>
              </a:ext>
            </a:extLst>
          </p:cNvPr>
          <p:cNvSpPr/>
          <p:nvPr/>
        </p:nvSpPr>
        <p:spPr>
          <a:xfrm>
            <a:off x="8112859" y="5234687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70">
            <a:extLst>
              <a:ext uri="{FF2B5EF4-FFF2-40B4-BE49-F238E27FC236}">
                <a16:creationId xmlns:a16="http://schemas.microsoft.com/office/drawing/2014/main" id="{FCAB6ECA-8912-0D0A-E9C1-CC9918BEA007}"/>
              </a:ext>
            </a:extLst>
          </p:cNvPr>
          <p:cNvSpPr/>
          <p:nvPr/>
        </p:nvSpPr>
        <p:spPr>
          <a:xfrm>
            <a:off x="8234177" y="5397219"/>
            <a:ext cx="64252" cy="5836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直接连接符 72">
            <a:extLst>
              <a:ext uri="{FF2B5EF4-FFF2-40B4-BE49-F238E27FC236}">
                <a16:creationId xmlns:a16="http://schemas.microsoft.com/office/drawing/2014/main" id="{5A33A050-3AD0-DF58-175B-CDD826427464}"/>
              </a:ext>
            </a:extLst>
          </p:cNvPr>
          <p:cNvCxnSpPr>
            <a:cxnSpLocks/>
          </p:cNvCxnSpPr>
          <p:nvPr/>
        </p:nvCxnSpPr>
        <p:spPr>
          <a:xfrm>
            <a:off x="1042292" y="5339851"/>
            <a:ext cx="3044266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73">
                <a:extLst>
                  <a:ext uri="{FF2B5EF4-FFF2-40B4-BE49-F238E27FC236}">
                    <a16:creationId xmlns:a16="http://schemas.microsoft.com/office/drawing/2014/main" id="{E6FAF75D-02A9-6165-4331-6EB752212CA5}"/>
                  </a:ext>
                </a:extLst>
              </p:cNvPr>
              <p:cNvSpPr txBox="1"/>
              <p:nvPr/>
            </p:nvSpPr>
            <p:spPr>
              <a:xfrm>
                <a:off x="4025279" y="5160496"/>
                <a:ext cx="1732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文本框 73">
                <a:extLst>
                  <a:ext uri="{FF2B5EF4-FFF2-40B4-BE49-F238E27FC236}">
                    <a16:creationId xmlns:a16="http://schemas.microsoft.com/office/drawing/2014/main" id="{E6FAF75D-02A9-6165-4331-6EB752212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279" y="5160496"/>
                <a:ext cx="173289" cy="461665"/>
              </a:xfrm>
              <a:prstGeom prst="rect">
                <a:avLst/>
              </a:prstGeom>
              <a:blipFill>
                <a:blip r:embed="rId3"/>
                <a:stretch>
                  <a:fillRect r="-8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接箭头连接符 75">
            <a:extLst>
              <a:ext uri="{FF2B5EF4-FFF2-40B4-BE49-F238E27FC236}">
                <a16:creationId xmlns:a16="http://schemas.microsoft.com/office/drawing/2014/main" id="{0509F1EF-A81D-79DF-9817-672FA56E550A}"/>
              </a:ext>
            </a:extLst>
          </p:cNvPr>
          <p:cNvCxnSpPr/>
          <p:nvPr/>
        </p:nvCxnSpPr>
        <p:spPr>
          <a:xfrm>
            <a:off x="7376288" y="5747051"/>
            <a:ext cx="2931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77">
            <a:extLst>
              <a:ext uri="{FF2B5EF4-FFF2-40B4-BE49-F238E27FC236}">
                <a16:creationId xmlns:a16="http://schemas.microsoft.com/office/drawing/2014/main" id="{868ABF4C-B1CD-24A9-3950-A3B100D6986F}"/>
              </a:ext>
            </a:extLst>
          </p:cNvPr>
          <p:cNvCxnSpPr>
            <a:cxnSpLocks/>
          </p:cNvCxnSpPr>
          <p:nvPr/>
        </p:nvCxnSpPr>
        <p:spPr>
          <a:xfrm flipV="1">
            <a:off x="8775919" y="4137067"/>
            <a:ext cx="0" cy="2037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79">
            <a:extLst>
              <a:ext uri="{FF2B5EF4-FFF2-40B4-BE49-F238E27FC236}">
                <a16:creationId xmlns:a16="http://schemas.microsoft.com/office/drawing/2014/main" id="{D4A0F9A8-D106-3B4A-CA29-939F14F4A8AD}"/>
              </a:ext>
            </a:extLst>
          </p:cNvPr>
          <p:cNvCxnSpPr>
            <a:cxnSpLocks/>
          </p:cNvCxnSpPr>
          <p:nvPr/>
        </p:nvCxnSpPr>
        <p:spPr>
          <a:xfrm flipH="1">
            <a:off x="7975050" y="5485828"/>
            <a:ext cx="1545553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箭头: 右 85">
            <a:extLst>
              <a:ext uri="{FF2B5EF4-FFF2-40B4-BE49-F238E27FC236}">
                <a16:creationId xmlns:a16="http://schemas.microsoft.com/office/drawing/2014/main" id="{AF17BD46-9EAF-DD67-4493-B3A81174CFCD}"/>
              </a:ext>
            </a:extLst>
          </p:cNvPr>
          <p:cNvSpPr/>
          <p:nvPr/>
        </p:nvSpPr>
        <p:spPr>
          <a:xfrm>
            <a:off x="4753268" y="5371483"/>
            <a:ext cx="2140737" cy="2219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87">
                <a:extLst>
                  <a:ext uri="{FF2B5EF4-FFF2-40B4-BE49-F238E27FC236}">
                    <a16:creationId xmlns:a16="http://schemas.microsoft.com/office/drawing/2014/main" id="{0DC6FFA1-CA8C-DAC4-8FCC-6D18A432EB79}"/>
                  </a:ext>
                </a:extLst>
              </p:cNvPr>
              <p:cNvSpPr txBox="1"/>
              <p:nvPr/>
            </p:nvSpPr>
            <p:spPr>
              <a:xfrm>
                <a:off x="10274688" y="5527362"/>
                <a:ext cx="1732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文本框 87">
                <a:extLst>
                  <a:ext uri="{FF2B5EF4-FFF2-40B4-BE49-F238E27FC236}">
                    <a16:creationId xmlns:a16="http://schemas.microsoft.com/office/drawing/2014/main" id="{0DC6FFA1-CA8C-DAC4-8FCC-6D18A432E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688" y="5527362"/>
                <a:ext cx="173289" cy="461665"/>
              </a:xfrm>
              <a:prstGeom prst="rect">
                <a:avLst/>
              </a:prstGeom>
              <a:blipFill>
                <a:blip r:embed="rId4"/>
                <a:stretch>
                  <a:fillRect r="-141379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88">
                <a:extLst>
                  <a:ext uri="{FF2B5EF4-FFF2-40B4-BE49-F238E27FC236}">
                    <a16:creationId xmlns:a16="http://schemas.microsoft.com/office/drawing/2014/main" id="{92D740E3-2F3B-8B24-1079-C3CC3E187C70}"/>
                  </a:ext>
                </a:extLst>
              </p:cNvPr>
              <p:cNvSpPr txBox="1"/>
              <p:nvPr/>
            </p:nvSpPr>
            <p:spPr>
              <a:xfrm>
                <a:off x="8775919" y="4029545"/>
                <a:ext cx="3443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文本框 88">
                <a:extLst>
                  <a:ext uri="{FF2B5EF4-FFF2-40B4-BE49-F238E27FC236}">
                    <a16:creationId xmlns:a16="http://schemas.microsoft.com/office/drawing/2014/main" id="{92D740E3-2F3B-8B24-1079-C3CC3E187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919" y="4029545"/>
                <a:ext cx="344300" cy="461665"/>
              </a:xfrm>
              <a:prstGeom prst="rect">
                <a:avLst/>
              </a:prstGeom>
              <a:blipFill>
                <a:blip r:embed="rId5"/>
                <a:stretch>
                  <a:fillRect r="-26786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本框 89">
            <a:extLst>
              <a:ext uri="{FF2B5EF4-FFF2-40B4-BE49-F238E27FC236}">
                <a16:creationId xmlns:a16="http://schemas.microsoft.com/office/drawing/2014/main" id="{7CBC898B-D591-C1F5-3089-B31A71B78D74}"/>
              </a:ext>
            </a:extLst>
          </p:cNvPr>
          <p:cNvSpPr txBox="1"/>
          <p:nvPr/>
        </p:nvSpPr>
        <p:spPr>
          <a:xfrm>
            <a:off x="4639516" y="4851451"/>
            <a:ext cx="2399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 mapping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52">
                <a:extLst>
                  <a:ext uri="{FF2B5EF4-FFF2-40B4-BE49-F238E27FC236}">
                    <a16:creationId xmlns:a16="http://schemas.microsoft.com/office/drawing/2014/main" id="{7B199318-E8C5-C348-A822-FB6D74BF8EE6}"/>
                  </a:ext>
                </a:extLst>
              </p:cNvPr>
              <p:cNvSpPr txBox="1"/>
              <p:nvPr/>
            </p:nvSpPr>
            <p:spPr>
              <a:xfrm>
                <a:off x="1737399" y="5489762"/>
                <a:ext cx="17877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space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文本框 52">
                <a:extLst>
                  <a:ext uri="{FF2B5EF4-FFF2-40B4-BE49-F238E27FC236}">
                    <a16:creationId xmlns:a16="http://schemas.microsoft.com/office/drawing/2014/main" id="{7B199318-E8C5-C348-A822-FB6D74BF8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99" y="5489762"/>
                <a:ext cx="1787762" cy="461665"/>
              </a:xfrm>
              <a:prstGeom prst="rect">
                <a:avLst/>
              </a:prstGeom>
              <a:blipFill>
                <a:blip r:embed="rId6"/>
                <a:stretch>
                  <a:fillRect t="-9333" r="-273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71">
                <a:extLst>
                  <a:ext uri="{FF2B5EF4-FFF2-40B4-BE49-F238E27FC236}">
                    <a16:creationId xmlns:a16="http://schemas.microsoft.com/office/drawing/2014/main" id="{544CD85B-693A-0501-9F39-FC4F20B72F95}"/>
                  </a:ext>
                </a:extLst>
              </p:cNvPr>
              <p:cNvSpPr txBox="1"/>
              <p:nvPr/>
            </p:nvSpPr>
            <p:spPr>
              <a:xfrm>
                <a:off x="7934599" y="6141568"/>
                <a:ext cx="25133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space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文本框 71">
                <a:extLst>
                  <a:ext uri="{FF2B5EF4-FFF2-40B4-BE49-F238E27FC236}">
                    <a16:creationId xmlns:a16="http://schemas.microsoft.com/office/drawing/2014/main" id="{544CD85B-693A-0501-9F39-FC4F20B72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599" y="6141568"/>
                <a:ext cx="2513377" cy="461665"/>
              </a:xfrm>
              <a:prstGeom prst="rect">
                <a:avLst/>
              </a:prstGeom>
              <a:blipFill>
                <a:blip r:embed="rId7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矩形 74">
            <a:extLst>
              <a:ext uri="{FF2B5EF4-FFF2-40B4-BE49-F238E27FC236}">
                <a16:creationId xmlns:a16="http://schemas.microsoft.com/office/drawing/2014/main" id="{8395FD42-0EE3-6899-11B4-3D4012D542B4}"/>
              </a:ext>
            </a:extLst>
          </p:cNvPr>
          <p:cNvSpPr/>
          <p:nvPr/>
        </p:nvSpPr>
        <p:spPr>
          <a:xfrm>
            <a:off x="523416" y="1527494"/>
            <a:ext cx="11447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Kernels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functions that transform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 to required 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First, map data to higher dimensions where it exhibits linear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Then, learn a linear classifier in the new input space.</a:t>
            </a:r>
          </a:p>
        </p:txBody>
      </p:sp>
      <p:sp>
        <p:nvSpPr>
          <p:cNvPr id="50" name="文本框 4">
            <a:extLst>
              <a:ext uri="{FF2B5EF4-FFF2-40B4-BE49-F238E27FC236}">
                <a16:creationId xmlns:a16="http://schemas.microsoft.com/office/drawing/2014/main" id="{B8217207-6D6B-7031-A133-C909A754A92A}"/>
              </a:ext>
            </a:extLst>
          </p:cNvPr>
          <p:cNvSpPr txBox="1"/>
          <p:nvPr/>
        </p:nvSpPr>
        <p:spPr>
          <a:xfrm>
            <a:off x="523416" y="2912911"/>
            <a:ext cx="115034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Kernel maps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space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space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Input space: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space where the data exists.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Feature space: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transformed space where data is transformed to be linearly separable.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50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/>
      <p:bldP spid="43" grpId="0" animBg="1"/>
      <p:bldP spid="44" grpId="0"/>
      <p:bldP spid="45" grpId="0"/>
      <p:bldP spid="46" grpId="0"/>
      <p:bldP spid="47" grpId="0"/>
      <p:bldP spid="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Kernel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0D15E618-07E8-0418-E477-32461EF79327}"/>
              </a:ext>
            </a:extLst>
          </p:cNvPr>
          <p:cNvSpPr txBox="1"/>
          <p:nvPr/>
        </p:nvSpPr>
        <p:spPr>
          <a:xfrm>
            <a:off x="513015" y="3154760"/>
            <a:ext cx="462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Example in 2-dimensional space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立方体 142">
            <a:extLst>
              <a:ext uri="{FF2B5EF4-FFF2-40B4-BE49-F238E27FC236}">
                <a16:creationId xmlns:a16="http://schemas.microsoft.com/office/drawing/2014/main" id="{E95A8F10-164C-56E1-77C6-9F58EB71EADC}"/>
              </a:ext>
            </a:extLst>
          </p:cNvPr>
          <p:cNvSpPr/>
          <p:nvPr/>
        </p:nvSpPr>
        <p:spPr>
          <a:xfrm>
            <a:off x="7087061" y="3691574"/>
            <a:ext cx="2142490" cy="1965416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平行四边形 143">
            <a:extLst>
              <a:ext uri="{FF2B5EF4-FFF2-40B4-BE49-F238E27FC236}">
                <a16:creationId xmlns:a16="http://schemas.microsoft.com/office/drawing/2014/main" id="{D4C62567-3400-6379-AB07-58463D24CDF0}"/>
              </a:ext>
            </a:extLst>
          </p:cNvPr>
          <p:cNvSpPr/>
          <p:nvPr/>
        </p:nvSpPr>
        <p:spPr>
          <a:xfrm rot="20781617">
            <a:off x="7023976" y="4392111"/>
            <a:ext cx="2292243" cy="460910"/>
          </a:xfrm>
          <a:prstGeom prst="parallelogram">
            <a:avLst>
              <a:gd name="adj" fmla="val 133541"/>
            </a:avLst>
          </a:prstGeom>
          <a:solidFill>
            <a:srgbClr val="92D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144">
            <a:extLst>
              <a:ext uri="{FF2B5EF4-FFF2-40B4-BE49-F238E27FC236}">
                <a16:creationId xmlns:a16="http://schemas.microsoft.com/office/drawing/2014/main" id="{8AEFC858-D2CE-E739-5E78-7FD5CA9288AF}"/>
              </a:ext>
            </a:extLst>
          </p:cNvPr>
          <p:cNvCxnSpPr>
            <a:cxnSpLocks/>
          </p:cNvCxnSpPr>
          <p:nvPr/>
        </p:nvCxnSpPr>
        <p:spPr>
          <a:xfrm>
            <a:off x="7569167" y="3428016"/>
            <a:ext cx="43476" cy="1768366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45">
            <a:extLst>
              <a:ext uri="{FF2B5EF4-FFF2-40B4-BE49-F238E27FC236}">
                <a16:creationId xmlns:a16="http://schemas.microsoft.com/office/drawing/2014/main" id="{F78CD163-72EC-4D21-99DD-524E30A1FBFE}"/>
              </a:ext>
            </a:extLst>
          </p:cNvPr>
          <p:cNvCxnSpPr>
            <a:cxnSpLocks/>
          </p:cNvCxnSpPr>
          <p:nvPr/>
        </p:nvCxnSpPr>
        <p:spPr>
          <a:xfrm flipH="1">
            <a:off x="7608407" y="5170651"/>
            <a:ext cx="1968302" cy="2367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6">
            <a:extLst>
              <a:ext uri="{FF2B5EF4-FFF2-40B4-BE49-F238E27FC236}">
                <a16:creationId xmlns:a16="http://schemas.microsoft.com/office/drawing/2014/main" id="{F7CCA7AC-62B2-DBE2-3658-F49F20E65B1A}"/>
              </a:ext>
            </a:extLst>
          </p:cNvPr>
          <p:cNvCxnSpPr>
            <a:cxnSpLocks/>
          </p:cNvCxnSpPr>
          <p:nvPr/>
        </p:nvCxnSpPr>
        <p:spPr>
          <a:xfrm flipH="1">
            <a:off x="6953937" y="5196382"/>
            <a:ext cx="654471" cy="58016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箭头: 右 161">
            <a:extLst>
              <a:ext uri="{FF2B5EF4-FFF2-40B4-BE49-F238E27FC236}">
                <a16:creationId xmlns:a16="http://schemas.microsoft.com/office/drawing/2014/main" id="{97ED940A-4FE4-2096-44E1-FBA23DB7DC16}"/>
              </a:ext>
            </a:extLst>
          </p:cNvPr>
          <p:cNvSpPr/>
          <p:nvPr/>
        </p:nvSpPr>
        <p:spPr>
          <a:xfrm>
            <a:off x="3784763" y="4792961"/>
            <a:ext cx="2775040" cy="1608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162">
            <a:extLst>
              <a:ext uri="{FF2B5EF4-FFF2-40B4-BE49-F238E27FC236}">
                <a16:creationId xmlns:a16="http://schemas.microsoft.com/office/drawing/2014/main" id="{042734DF-078C-5EA3-B502-073CF65CA335}"/>
              </a:ext>
            </a:extLst>
          </p:cNvPr>
          <p:cNvSpPr txBox="1"/>
          <p:nvPr/>
        </p:nvSpPr>
        <p:spPr>
          <a:xfrm>
            <a:off x="3909154" y="4377630"/>
            <a:ext cx="250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 mapping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63">
                <a:extLst>
                  <a:ext uri="{FF2B5EF4-FFF2-40B4-BE49-F238E27FC236}">
                    <a16:creationId xmlns:a16="http://schemas.microsoft.com/office/drawing/2014/main" id="{4271AC5C-34BD-CD8B-FA41-266851E9E551}"/>
                  </a:ext>
                </a:extLst>
              </p:cNvPr>
              <p:cNvSpPr txBox="1"/>
              <p:nvPr/>
            </p:nvSpPr>
            <p:spPr>
              <a:xfrm>
                <a:off x="6610035" y="5894738"/>
                <a:ext cx="3546589" cy="52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space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63">
                <a:extLst>
                  <a:ext uri="{FF2B5EF4-FFF2-40B4-BE49-F238E27FC236}">
                    <a16:creationId xmlns:a16="http://schemas.microsoft.com/office/drawing/2014/main" id="{4271AC5C-34BD-CD8B-FA41-266851E9E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035" y="5894738"/>
                <a:ext cx="3546589" cy="527260"/>
              </a:xfrm>
              <a:prstGeom prst="rect">
                <a:avLst/>
              </a:prstGeom>
              <a:blipFill>
                <a:blip r:embed="rId3"/>
                <a:stretch>
                  <a:fillRect t="-1163" b="-2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67">
                <a:extLst>
                  <a:ext uri="{FF2B5EF4-FFF2-40B4-BE49-F238E27FC236}">
                    <a16:creationId xmlns:a16="http://schemas.microsoft.com/office/drawing/2014/main" id="{9E079180-7CA1-3DFF-6868-8DC4AA4BE425}"/>
                  </a:ext>
                </a:extLst>
              </p:cNvPr>
              <p:cNvSpPr txBox="1"/>
              <p:nvPr/>
            </p:nvSpPr>
            <p:spPr>
              <a:xfrm>
                <a:off x="9546011" y="4941216"/>
                <a:ext cx="1732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本框 167">
                <a:extLst>
                  <a:ext uri="{FF2B5EF4-FFF2-40B4-BE49-F238E27FC236}">
                    <a16:creationId xmlns:a16="http://schemas.microsoft.com/office/drawing/2014/main" id="{9E079180-7CA1-3DFF-6868-8DC4AA4BE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6011" y="4941216"/>
                <a:ext cx="173289" cy="461665"/>
              </a:xfrm>
              <a:prstGeom prst="rect">
                <a:avLst/>
              </a:prstGeom>
              <a:blipFill>
                <a:blip r:embed="rId4"/>
                <a:stretch>
                  <a:fillRect r="-146429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68">
                <a:extLst>
                  <a:ext uri="{FF2B5EF4-FFF2-40B4-BE49-F238E27FC236}">
                    <a16:creationId xmlns:a16="http://schemas.microsoft.com/office/drawing/2014/main" id="{7C2907B5-F5A0-8B89-57F1-1993CD53CADD}"/>
                  </a:ext>
                </a:extLst>
              </p:cNvPr>
              <p:cNvSpPr txBox="1"/>
              <p:nvPr/>
            </p:nvSpPr>
            <p:spPr>
              <a:xfrm>
                <a:off x="6671958" y="5514915"/>
                <a:ext cx="1732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168">
                <a:extLst>
                  <a:ext uri="{FF2B5EF4-FFF2-40B4-BE49-F238E27FC236}">
                    <a16:creationId xmlns:a16="http://schemas.microsoft.com/office/drawing/2014/main" id="{7C2907B5-F5A0-8B89-57F1-1993CD53C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958" y="5514915"/>
                <a:ext cx="173289" cy="461665"/>
              </a:xfrm>
              <a:prstGeom prst="rect">
                <a:avLst/>
              </a:prstGeom>
              <a:blipFill>
                <a:blip r:embed="rId5"/>
                <a:stretch>
                  <a:fillRect r="-144828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69">
                <a:extLst>
                  <a:ext uri="{FF2B5EF4-FFF2-40B4-BE49-F238E27FC236}">
                    <a16:creationId xmlns:a16="http://schemas.microsoft.com/office/drawing/2014/main" id="{A09B063B-4D75-437B-ACA3-72B1230332F2}"/>
                  </a:ext>
                </a:extLst>
              </p:cNvPr>
              <p:cNvSpPr txBox="1"/>
              <p:nvPr/>
            </p:nvSpPr>
            <p:spPr>
              <a:xfrm>
                <a:off x="7521761" y="3142770"/>
                <a:ext cx="1732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文本框 169">
                <a:extLst>
                  <a:ext uri="{FF2B5EF4-FFF2-40B4-BE49-F238E27FC236}">
                    <a16:creationId xmlns:a16="http://schemas.microsoft.com/office/drawing/2014/main" id="{A09B063B-4D75-437B-ACA3-72B123033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761" y="3142770"/>
                <a:ext cx="173289" cy="461665"/>
              </a:xfrm>
              <a:prstGeom prst="rect">
                <a:avLst/>
              </a:prstGeom>
              <a:blipFill>
                <a:blip r:embed="rId6"/>
                <a:stretch>
                  <a:fillRect r="-150000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">
            <a:extLst>
              <a:ext uri="{FF2B5EF4-FFF2-40B4-BE49-F238E27FC236}">
                <a16:creationId xmlns:a16="http://schemas.microsoft.com/office/drawing/2014/main" id="{8746349B-8AB8-402C-80E3-47C6C5A078D0}"/>
              </a:ext>
            </a:extLst>
          </p:cNvPr>
          <p:cNvGrpSpPr/>
          <p:nvPr/>
        </p:nvGrpSpPr>
        <p:grpSpPr>
          <a:xfrm>
            <a:off x="1055387" y="3830709"/>
            <a:ext cx="2776895" cy="2348631"/>
            <a:chOff x="1256249" y="3855699"/>
            <a:chExt cx="2776895" cy="2348631"/>
          </a:xfrm>
        </p:grpSpPr>
        <p:sp>
          <p:nvSpPr>
            <p:cNvPr id="16" name="椭圆 120">
              <a:extLst>
                <a:ext uri="{FF2B5EF4-FFF2-40B4-BE49-F238E27FC236}">
                  <a16:creationId xmlns:a16="http://schemas.microsoft.com/office/drawing/2014/main" id="{77BC95C6-2B43-AD11-4550-41EFECFDE3B2}"/>
                </a:ext>
              </a:extLst>
            </p:cNvPr>
            <p:cNvSpPr/>
            <p:nvPr/>
          </p:nvSpPr>
          <p:spPr>
            <a:xfrm>
              <a:off x="2366630" y="441427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椭圆 121">
              <a:extLst>
                <a:ext uri="{FF2B5EF4-FFF2-40B4-BE49-F238E27FC236}">
                  <a16:creationId xmlns:a16="http://schemas.microsoft.com/office/drawing/2014/main" id="{9A001DC9-009C-36E6-2C3E-9A2D170F048C}"/>
                </a:ext>
              </a:extLst>
            </p:cNvPr>
            <p:cNvSpPr/>
            <p:nvPr/>
          </p:nvSpPr>
          <p:spPr>
            <a:xfrm>
              <a:off x="2631000" y="447336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椭圆 122">
              <a:extLst>
                <a:ext uri="{FF2B5EF4-FFF2-40B4-BE49-F238E27FC236}">
                  <a16:creationId xmlns:a16="http://schemas.microsoft.com/office/drawing/2014/main" id="{15723A4B-762C-671D-F25A-6CD237BBC4DF}"/>
                </a:ext>
              </a:extLst>
            </p:cNvPr>
            <p:cNvSpPr/>
            <p:nvPr/>
          </p:nvSpPr>
          <p:spPr>
            <a:xfrm>
              <a:off x="2297431" y="4681749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椭圆 123">
              <a:extLst>
                <a:ext uri="{FF2B5EF4-FFF2-40B4-BE49-F238E27FC236}">
                  <a16:creationId xmlns:a16="http://schemas.microsoft.com/office/drawing/2014/main" id="{B741A534-5B91-5510-26FE-CD8979D63235}"/>
                </a:ext>
              </a:extLst>
            </p:cNvPr>
            <p:cNvSpPr/>
            <p:nvPr/>
          </p:nvSpPr>
          <p:spPr>
            <a:xfrm>
              <a:off x="2527061" y="478578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椭圆 124">
              <a:extLst>
                <a:ext uri="{FF2B5EF4-FFF2-40B4-BE49-F238E27FC236}">
                  <a16:creationId xmlns:a16="http://schemas.microsoft.com/office/drawing/2014/main" id="{F9B8B352-8E0B-E78E-72BB-44036E6EA8A5}"/>
                </a:ext>
              </a:extLst>
            </p:cNvPr>
            <p:cNvSpPr/>
            <p:nvPr/>
          </p:nvSpPr>
          <p:spPr>
            <a:xfrm>
              <a:off x="2889336" y="4562808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椭圆 125">
              <a:extLst>
                <a:ext uri="{FF2B5EF4-FFF2-40B4-BE49-F238E27FC236}">
                  <a16:creationId xmlns:a16="http://schemas.microsoft.com/office/drawing/2014/main" id="{41FD1F16-FDA1-F15F-B84D-3A31CD402678}"/>
                </a:ext>
              </a:extLst>
            </p:cNvPr>
            <p:cNvSpPr/>
            <p:nvPr/>
          </p:nvSpPr>
          <p:spPr>
            <a:xfrm>
              <a:off x="2241825" y="489393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126">
              <a:extLst>
                <a:ext uri="{FF2B5EF4-FFF2-40B4-BE49-F238E27FC236}">
                  <a16:creationId xmlns:a16="http://schemas.microsoft.com/office/drawing/2014/main" id="{4C662F77-A4B5-8823-69FC-3C9538F7ACB1}"/>
                </a:ext>
              </a:extLst>
            </p:cNvPr>
            <p:cNvSpPr/>
            <p:nvPr/>
          </p:nvSpPr>
          <p:spPr>
            <a:xfrm>
              <a:off x="1951869" y="4415471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127">
              <a:extLst>
                <a:ext uri="{FF2B5EF4-FFF2-40B4-BE49-F238E27FC236}">
                  <a16:creationId xmlns:a16="http://schemas.microsoft.com/office/drawing/2014/main" id="{8419A8CD-56AC-A26E-4CE5-043F3CA0DB51}"/>
                </a:ext>
              </a:extLst>
            </p:cNvPr>
            <p:cNvSpPr/>
            <p:nvPr/>
          </p:nvSpPr>
          <p:spPr>
            <a:xfrm>
              <a:off x="3088724" y="509158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128">
              <a:extLst>
                <a:ext uri="{FF2B5EF4-FFF2-40B4-BE49-F238E27FC236}">
                  <a16:creationId xmlns:a16="http://schemas.microsoft.com/office/drawing/2014/main" id="{0AD51BDC-408C-CF9B-21DB-69209612F820}"/>
                </a:ext>
              </a:extLst>
            </p:cNvPr>
            <p:cNvSpPr/>
            <p:nvPr/>
          </p:nvSpPr>
          <p:spPr>
            <a:xfrm>
              <a:off x="1923106" y="479296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129">
              <a:extLst>
                <a:ext uri="{FF2B5EF4-FFF2-40B4-BE49-F238E27FC236}">
                  <a16:creationId xmlns:a16="http://schemas.microsoft.com/office/drawing/2014/main" id="{F83BC11F-912B-A49A-E058-A7359F401E9E}"/>
                </a:ext>
              </a:extLst>
            </p:cNvPr>
            <p:cNvSpPr/>
            <p:nvPr/>
          </p:nvSpPr>
          <p:spPr>
            <a:xfrm>
              <a:off x="2409509" y="4107413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矩形 130">
              <a:extLst>
                <a:ext uri="{FF2B5EF4-FFF2-40B4-BE49-F238E27FC236}">
                  <a16:creationId xmlns:a16="http://schemas.microsoft.com/office/drawing/2014/main" id="{C8E187A6-8ED4-D33C-DB2E-68C798936920}"/>
                </a:ext>
              </a:extLst>
            </p:cNvPr>
            <p:cNvSpPr/>
            <p:nvPr/>
          </p:nvSpPr>
          <p:spPr>
            <a:xfrm>
              <a:off x="2865049" y="412096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131">
              <a:extLst>
                <a:ext uri="{FF2B5EF4-FFF2-40B4-BE49-F238E27FC236}">
                  <a16:creationId xmlns:a16="http://schemas.microsoft.com/office/drawing/2014/main" id="{1879A09B-7C2E-F753-2C8A-EC46C5477384}"/>
                </a:ext>
              </a:extLst>
            </p:cNvPr>
            <p:cNvSpPr/>
            <p:nvPr/>
          </p:nvSpPr>
          <p:spPr>
            <a:xfrm>
              <a:off x="3154626" y="4747656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 132">
              <a:extLst>
                <a:ext uri="{FF2B5EF4-FFF2-40B4-BE49-F238E27FC236}">
                  <a16:creationId xmlns:a16="http://schemas.microsoft.com/office/drawing/2014/main" id="{97511ED1-B904-EC4D-116F-EA30C1E60A9A}"/>
                </a:ext>
              </a:extLst>
            </p:cNvPr>
            <p:cNvSpPr/>
            <p:nvPr/>
          </p:nvSpPr>
          <p:spPr>
            <a:xfrm>
              <a:off x="2865049" y="527831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 133">
              <a:extLst>
                <a:ext uri="{FF2B5EF4-FFF2-40B4-BE49-F238E27FC236}">
                  <a16:creationId xmlns:a16="http://schemas.microsoft.com/office/drawing/2014/main" id="{289E1E3F-5111-23D2-971B-7AAD3798007F}"/>
                </a:ext>
              </a:extLst>
            </p:cNvPr>
            <p:cNvSpPr/>
            <p:nvPr/>
          </p:nvSpPr>
          <p:spPr>
            <a:xfrm>
              <a:off x="3182020" y="436652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矩形 134">
              <a:extLst>
                <a:ext uri="{FF2B5EF4-FFF2-40B4-BE49-F238E27FC236}">
                  <a16:creationId xmlns:a16="http://schemas.microsoft.com/office/drawing/2014/main" id="{E39C819F-8A77-6F72-9EBE-B02D8FB6FBDF}"/>
                </a:ext>
              </a:extLst>
            </p:cNvPr>
            <p:cNvSpPr/>
            <p:nvPr/>
          </p:nvSpPr>
          <p:spPr>
            <a:xfrm>
              <a:off x="2011458" y="5152084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椭圆 135">
              <a:extLst>
                <a:ext uri="{FF2B5EF4-FFF2-40B4-BE49-F238E27FC236}">
                  <a16:creationId xmlns:a16="http://schemas.microsoft.com/office/drawing/2014/main" id="{1F51062F-EE65-B481-6BF3-375DD8F7940B}"/>
                </a:ext>
              </a:extLst>
            </p:cNvPr>
            <p:cNvSpPr/>
            <p:nvPr/>
          </p:nvSpPr>
          <p:spPr>
            <a:xfrm>
              <a:off x="2487931" y="507184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直接箭头连接符 136">
              <a:extLst>
                <a:ext uri="{FF2B5EF4-FFF2-40B4-BE49-F238E27FC236}">
                  <a16:creationId xmlns:a16="http://schemas.microsoft.com/office/drawing/2014/main" id="{65CADE63-6A8D-FE36-E024-4EA9BC9FF845}"/>
                </a:ext>
              </a:extLst>
            </p:cNvPr>
            <p:cNvCxnSpPr>
              <a:cxnSpLocks/>
            </p:cNvCxnSpPr>
            <p:nvPr/>
          </p:nvCxnSpPr>
          <p:spPr>
            <a:xfrm>
              <a:off x="1560482" y="5560495"/>
              <a:ext cx="209447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137">
              <a:extLst>
                <a:ext uri="{FF2B5EF4-FFF2-40B4-BE49-F238E27FC236}">
                  <a16:creationId xmlns:a16="http://schemas.microsoft.com/office/drawing/2014/main" id="{AB6DF3BB-B4FD-04AC-39B1-8DFA23BAC5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817" y="3903108"/>
              <a:ext cx="0" cy="18389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138">
              <a:extLst>
                <a:ext uri="{FF2B5EF4-FFF2-40B4-BE49-F238E27FC236}">
                  <a16:creationId xmlns:a16="http://schemas.microsoft.com/office/drawing/2014/main" id="{DED52C24-06D4-9001-41BB-ED62CDE4FBDC}"/>
                </a:ext>
              </a:extLst>
            </p:cNvPr>
            <p:cNvSpPr/>
            <p:nvPr/>
          </p:nvSpPr>
          <p:spPr>
            <a:xfrm>
              <a:off x="2072900" y="4238529"/>
              <a:ext cx="1047053" cy="1047053"/>
            </a:xfrm>
            <a:prstGeom prst="ellipse">
              <a:avLst/>
            </a:prstGeom>
            <a:noFill/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139">
              <a:extLst>
                <a:ext uri="{FF2B5EF4-FFF2-40B4-BE49-F238E27FC236}">
                  <a16:creationId xmlns:a16="http://schemas.microsoft.com/office/drawing/2014/main" id="{F7529915-69B6-0C08-ED0E-2A61E3934F45}"/>
                </a:ext>
              </a:extLst>
            </p:cNvPr>
            <p:cNvSpPr/>
            <p:nvPr/>
          </p:nvSpPr>
          <p:spPr>
            <a:xfrm>
              <a:off x="2409509" y="540313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椭圆 140">
              <a:extLst>
                <a:ext uri="{FF2B5EF4-FFF2-40B4-BE49-F238E27FC236}">
                  <a16:creationId xmlns:a16="http://schemas.microsoft.com/office/drawing/2014/main" id="{D3B8B206-5F39-A64F-9B89-6DC789065EE5}"/>
                </a:ext>
              </a:extLst>
            </p:cNvPr>
            <p:cNvSpPr/>
            <p:nvPr/>
          </p:nvSpPr>
          <p:spPr>
            <a:xfrm>
              <a:off x="2679461" y="4938181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椭圆 141">
              <a:extLst>
                <a:ext uri="{FF2B5EF4-FFF2-40B4-BE49-F238E27FC236}">
                  <a16:creationId xmlns:a16="http://schemas.microsoft.com/office/drawing/2014/main" id="{E3D90D61-118C-8A81-B7A2-D4B85FB5FF1F}"/>
                </a:ext>
              </a:extLst>
            </p:cNvPr>
            <p:cNvSpPr/>
            <p:nvPr/>
          </p:nvSpPr>
          <p:spPr>
            <a:xfrm>
              <a:off x="2898110" y="4871453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165">
                  <a:extLst>
                    <a:ext uri="{FF2B5EF4-FFF2-40B4-BE49-F238E27FC236}">
                      <a16:creationId xmlns:a16="http://schemas.microsoft.com/office/drawing/2014/main" id="{A3277F93-F406-A80D-4FF2-EEC5FB7129EE}"/>
                    </a:ext>
                  </a:extLst>
                </p:cNvPr>
                <p:cNvSpPr txBox="1"/>
                <p:nvPr/>
              </p:nvSpPr>
              <p:spPr>
                <a:xfrm>
                  <a:off x="3611474" y="5335874"/>
                  <a:ext cx="17328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8" name="文本框 165">
                  <a:extLst>
                    <a:ext uri="{FF2B5EF4-FFF2-40B4-BE49-F238E27FC236}">
                      <a16:creationId xmlns:a16="http://schemas.microsoft.com/office/drawing/2014/main" id="{A3277F93-F406-A80D-4FF2-EEC5FB712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1474" y="5335874"/>
                  <a:ext cx="173289" cy="461665"/>
                </a:xfrm>
                <a:prstGeom prst="rect">
                  <a:avLst/>
                </a:prstGeom>
                <a:blipFill>
                  <a:blip r:embed="rId7"/>
                  <a:stretch>
                    <a:fillRect r="-155172"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166">
                  <a:extLst>
                    <a:ext uri="{FF2B5EF4-FFF2-40B4-BE49-F238E27FC236}">
                      <a16:creationId xmlns:a16="http://schemas.microsoft.com/office/drawing/2014/main" id="{5271CA2A-0B1F-87C6-7761-813B735EDB12}"/>
                    </a:ext>
                  </a:extLst>
                </p:cNvPr>
                <p:cNvSpPr txBox="1"/>
                <p:nvPr/>
              </p:nvSpPr>
              <p:spPr>
                <a:xfrm>
                  <a:off x="1256249" y="3855699"/>
                  <a:ext cx="3783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9" name="文本框 166">
                  <a:extLst>
                    <a:ext uri="{FF2B5EF4-FFF2-40B4-BE49-F238E27FC236}">
                      <a16:creationId xmlns:a16="http://schemas.microsoft.com/office/drawing/2014/main" id="{5271CA2A-0B1F-87C6-7761-813B735EDB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6249" y="3855699"/>
                  <a:ext cx="378399" cy="461665"/>
                </a:xfrm>
                <a:prstGeom prst="rect">
                  <a:avLst/>
                </a:prstGeom>
                <a:blipFill>
                  <a:blip r:embed="rId8"/>
                  <a:stretch>
                    <a:fillRect r="-20968"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170">
                  <a:extLst>
                    <a:ext uri="{FF2B5EF4-FFF2-40B4-BE49-F238E27FC236}">
                      <a16:creationId xmlns:a16="http://schemas.microsoft.com/office/drawing/2014/main" id="{30E9A0DB-7891-0E3E-92A9-46CBFCA7A912}"/>
                    </a:ext>
                  </a:extLst>
                </p:cNvPr>
                <p:cNvSpPr txBox="1"/>
                <p:nvPr/>
              </p:nvSpPr>
              <p:spPr>
                <a:xfrm>
                  <a:off x="1696954" y="5742665"/>
                  <a:ext cx="233619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US" altLang="zh-CN" sz="2400" b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space</a:t>
                  </a:r>
                  <a14:m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:[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endPara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0" name="文本框 170">
                  <a:extLst>
                    <a:ext uri="{FF2B5EF4-FFF2-40B4-BE49-F238E27FC236}">
                      <a16:creationId xmlns:a16="http://schemas.microsoft.com/office/drawing/2014/main" id="{30E9A0DB-7891-0E3E-92A9-46CBFCA7A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6954" y="5742665"/>
                  <a:ext cx="2336190" cy="461665"/>
                </a:xfrm>
                <a:prstGeom prst="rect">
                  <a:avLst/>
                </a:prstGeom>
                <a:blipFill>
                  <a:blip r:embed="rId9"/>
                  <a:stretch>
                    <a:fillRect t="-9211" r="-1563" b="-30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组合 4">
            <a:extLst>
              <a:ext uri="{FF2B5EF4-FFF2-40B4-BE49-F238E27FC236}">
                <a16:creationId xmlns:a16="http://schemas.microsoft.com/office/drawing/2014/main" id="{48FAE810-3223-080C-7053-AC7DC5AE8896}"/>
              </a:ext>
            </a:extLst>
          </p:cNvPr>
          <p:cNvGrpSpPr/>
          <p:nvPr/>
        </p:nvGrpSpPr>
        <p:grpSpPr>
          <a:xfrm>
            <a:off x="7441589" y="3889950"/>
            <a:ext cx="939115" cy="628193"/>
            <a:chOff x="6042645" y="4022945"/>
            <a:chExt cx="939115" cy="628193"/>
          </a:xfrm>
        </p:grpSpPr>
        <p:sp>
          <p:nvSpPr>
            <p:cNvPr id="42" name="椭圆 148">
              <a:extLst>
                <a:ext uri="{FF2B5EF4-FFF2-40B4-BE49-F238E27FC236}">
                  <a16:creationId xmlns:a16="http://schemas.microsoft.com/office/drawing/2014/main" id="{2A79B19F-CC18-FEE2-0382-4D5D88265C14}"/>
                </a:ext>
              </a:extLst>
            </p:cNvPr>
            <p:cNvSpPr/>
            <p:nvPr/>
          </p:nvSpPr>
          <p:spPr>
            <a:xfrm>
              <a:off x="6288751" y="4022945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椭圆 149">
              <a:extLst>
                <a:ext uri="{FF2B5EF4-FFF2-40B4-BE49-F238E27FC236}">
                  <a16:creationId xmlns:a16="http://schemas.microsoft.com/office/drawing/2014/main" id="{643E7730-F963-D433-50A6-8970B7DA9201}"/>
                </a:ext>
              </a:extLst>
            </p:cNvPr>
            <p:cNvSpPr/>
            <p:nvPr/>
          </p:nvSpPr>
          <p:spPr>
            <a:xfrm>
              <a:off x="6441151" y="4175345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椭圆 150">
              <a:extLst>
                <a:ext uri="{FF2B5EF4-FFF2-40B4-BE49-F238E27FC236}">
                  <a16:creationId xmlns:a16="http://schemas.microsoft.com/office/drawing/2014/main" id="{C49550D7-1C34-AF4C-510A-118B383680B4}"/>
                </a:ext>
              </a:extLst>
            </p:cNvPr>
            <p:cNvSpPr/>
            <p:nvPr/>
          </p:nvSpPr>
          <p:spPr>
            <a:xfrm>
              <a:off x="6098251" y="4327745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151">
              <a:extLst>
                <a:ext uri="{FF2B5EF4-FFF2-40B4-BE49-F238E27FC236}">
                  <a16:creationId xmlns:a16="http://schemas.microsoft.com/office/drawing/2014/main" id="{86CED056-1428-A27B-34F8-827392CE749E}"/>
                </a:ext>
              </a:extLst>
            </p:cNvPr>
            <p:cNvSpPr/>
            <p:nvPr/>
          </p:nvSpPr>
          <p:spPr>
            <a:xfrm>
              <a:off x="6327881" y="443177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椭圆 152">
              <a:extLst>
                <a:ext uri="{FF2B5EF4-FFF2-40B4-BE49-F238E27FC236}">
                  <a16:creationId xmlns:a16="http://schemas.microsoft.com/office/drawing/2014/main" id="{F9950D43-6D6A-A7B8-BBB5-ED3B2D999BF5}"/>
                </a:ext>
              </a:extLst>
            </p:cNvPr>
            <p:cNvSpPr/>
            <p:nvPr/>
          </p:nvSpPr>
          <p:spPr>
            <a:xfrm>
              <a:off x="6655850" y="4086532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椭圆 153">
              <a:extLst>
                <a:ext uri="{FF2B5EF4-FFF2-40B4-BE49-F238E27FC236}">
                  <a16:creationId xmlns:a16="http://schemas.microsoft.com/office/drawing/2014/main" id="{630F9F98-125C-40A4-9D11-DBAEAD8B6F7C}"/>
                </a:ext>
              </a:extLst>
            </p:cNvPr>
            <p:cNvSpPr/>
            <p:nvPr/>
          </p:nvSpPr>
          <p:spPr>
            <a:xfrm>
              <a:off x="6042645" y="4539927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椭圆 57">
              <a:extLst>
                <a:ext uri="{FF2B5EF4-FFF2-40B4-BE49-F238E27FC236}">
                  <a16:creationId xmlns:a16="http://schemas.microsoft.com/office/drawing/2014/main" id="{9CF9A35A-7C17-E70E-D7F2-727B97E4D06F}"/>
                </a:ext>
              </a:extLst>
            </p:cNvPr>
            <p:cNvSpPr/>
            <p:nvPr/>
          </p:nvSpPr>
          <p:spPr>
            <a:xfrm>
              <a:off x="6441151" y="4175345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椭圆 58">
              <a:extLst>
                <a:ext uri="{FF2B5EF4-FFF2-40B4-BE49-F238E27FC236}">
                  <a16:creationId xmlns:a16="http://schemas.microsoft.com/office/drawing/2014/main" id="{E64F4AC9-9DFD-654F-8ABD-D110D439A699}"/>
                </a:ext>
              </a:extLst>
            </p:cNvPr>
            <p:cNvSpPr/>
            <p:nvPr/>
          </p:nvSpPr>
          <p:spPr>
            <a:xfrm>
              <a:off x="6510144" y="4369430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椭圆 59">
              <a:extLst>
                <a:ext uri="{FF2B5EF4-FFF2-40B4-BE49-F238E27FC236}">
                  <a16:creationId xmlns:a16="http://schemas.microsoft.com/office/drawing/2014/main" id="{D3D01B45-57F8-DAD6-638D-DE4F0B0D9A81}"/>
                </a:ext>
              </a:extLst>
            </p:cNvPr>
            <p:cNvSpPr/>
            <p:nvPr/>
          </p:nvSpPr>
          <p:spPr>
            <a:xfrm>
              <a:off x="6870549" y="4286556"/>
              <a:ext cx="111211" cy="1112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1" name="组合 7">
            <a:extLst>
              <a:ext uri="{FF2B5EF4-FFF2-40B4-BE49-F238E27FC236}">
                <a16:creationId xmlns:a16="http://schemas.microsoft.com/office/drawing/2014/main" id="{96F24D8F-2BC6-CE5E-7BDC-FC7CA62FB248}"/>
              </a:ext>
            </a:extLst>
          </p:cNvPr>
          <p:cNvGrpSpPr/>
          <p:nvPr/>
        </p:nvGrpSpPr>
        <p:grpSpPr>
          <a:xfrm>
            <a:off x="7726825" y="4953787"/>
            <a:ext cx="985683" cy="600470"/>
            <a:chOff x="6327881" y="5086782"/>
            <a:chExt cx="985683" cy="600470"/>
          </a:xfrm>
        </p:grpSpPr>
        <p:sp>
          <p:nvSpPr>
            <p:cNvPr id="52" name="矩形 154">
              <a:extLst>
                <a:ext uri="{FF2B5EF4-FFF2-40B4-BE49-F238E27FC236}">
                  <a16:creationId xmlns:a16="http://schemas.microsoft.com/office/drawing/2014/main" id="{88FB8999-1FCB-7326-6ABE-4E5C8887ACDD}"/>
                </a:ext>
              </a:extLst>
            </p:cNvPr>
            <p:cNvSpPr/>
            <p:nvPr/>
          </p:nvSpPr>
          <p:spPr>
            <a:xfrm>
              <a:off x="6757516" y="527831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155">
              <a:extLst>
                <a:ext uri="{FF2B5EF4-FFF2-40B4-BE49-F238E27FC236}">
                  <a16:creationId xmlns:a16="http://schemas.microsoft.com/office/drawing/2014/main" id="{B0260004-8621-9B1D-F660-E202BC534C5E}"/>
                </a:ext>
              </a:extLst>
            </p:cNvPr>
            <p:cNvSpPr/>
            <p:nvPr/>
          </p:nvSpPr>
          <p:spPr>
            <a:xfrm>
              <a:off x="6496756" y="5513547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156">
              <a:extLst>
                <a:ext uri="{FF2B5EF4-FFF2-40B4-BE49-F238E27FC236}">
                  <a16:creationId xmlns:a16="http://schemas.microsoft.com/office/drawing/2014/main" id="{954256AD-D024-C083-02F2-F59DF5EE3A3A}"/>
                </a:ext>
              </a:extLst>
            </p:cNvPr>
            <p:cNvSpPr/>
            <p:nvPr/>
          </p:nvSpPr>
          <p:spPr>
            <a:xfrm>
              <a:off x="6938051" y="525237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矩形 157">
              <a:extLst>
                <a:ext uri="{FF2B5EF4-FFF2-40B4-BE49-F238E27FC236}">
                  <a16:creationId xmlns:a16="http://schemas.microsoft.com/office/drawing/2014/main" id="{366F0017-A31B-0EF2-E062-8D86D05F4B4F}"/>
                </a:ext>
              </a:extLst>
            </p:cNvPr>
            <p:cNvSpPr/>
            <p:nvPr/>
          </p:nvSpPr>
          <p:spPr>
            <a:xfrm>
              <a:off x="6327881" y="5440510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矩形 158">
              <a:extLst>
                <a:ext uri="{FF2B5EF4-FFF2-40B4-BE49-F238E27FC236}">
                  <a16:creationId xmlns:a16="http://schemas.microsoft.com/office/drawing/2014/main" id="{20D9F622-4B9A-6061-4527-E99189F0B010}"/>
                </a:ext>
              </a:extLst>
            </p:cNvPr>
            <p:cNvSpPr/>
            <p:nvPr/>
          </p:nvSpPr>
          <p:spPr>
            <a:xfrm>
              <a:off x="7220894" y="527831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矩形 159">
              <a:extLst>
                <a:ext uri="{FF2B5EF4-FFF2-40B4-BE49-F238E27FC236}">
                  <a16:creationId xmlns:a16="http://schemas.microsoft.com/office/drawing/2014/main" id="{82C864EA-6283-5CC0-AABE-47F8B9BC9601}"/>
                </a:ext>
              </a:extLst>
            </p:cNvPr>
            <p:cNvSpPr/>
            <p:nvPr/>
          </p:nvSpPr>
          <p:spPr>
            <a:xfrm>
              <a:off x="6975818" y="508678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矩形 160">
              <a:extLst>
                <a:ext uri="{FF2B5EF4-FFF2-40B4-BE49-F238E27FC236}">
                  <a16:creationId xmlns:a16="http://schemas.microsoft.com/office/drawing/2014/main" id="{2DB43A0A-6145-7954-18A3-8B5C29AF0A6E}"/>
                </a:ext>
              </a:extLst>
            </p:cNvPr>
            <p:cNvSpPr/>
            <p:nvPr/>
          </p:nvSpPr>
          <p:spPr>
            <a:xfrm>
              <a:off x="6521008" y="522885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矩形 60">
              <a:extLst>
                <a:ext uri="{FF2B5EF4-FFF2-40B4-BE49-F238E27FC236}">
                  <a16:creationId xmlns:a16="http://schemas.microsoft.com/office/drawing/2014/main" id="{B07B3E32-EB93-D332-E9AD-D8B561D83FBE}"/>
                </a:ext>
              </a:extLst>
            </p:cNvPr>
            <p:cNvSpPr/>
            <p:nvPr/>
          </p:nvSpPr>
          <p:spPr>
            <a:xfrm>
              <a:off x="6909916" y="543071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矩形 61">
              <a:extLst>
                <a:ext uri="{FF2B5EF4-FFF2-40B4-BE49-F238E27FC236}">
                  <a16:creationId xmlns:a16="http://schemas.microsoft.com/office/drawing/2014/main" id="{CE935772-D8D0-9B81-669B-DFB9F333B902}"/>
                </a:ext>
              </a:extLst>
            </p:cNvPr>
            <p:cNvSpPr/>
            <p:nvPr/>
          </p:nvSpPr>
          <p:spPr>
            <a:xfrm>
              <a:off x="6737329" y="5594582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矩形 62">
              <a:extLst>
                <a:ext uri="{FF2B5EF4-FFF2-40B4-BE49-F238E27FC236}">
                  <a16:creationId xmlns:a16="http://schemas.microsoft.com/office/drawing/2014/main" id="{EE5062B5-D62F-A89D-98D5-6AF145366506}"/>
                </a:ext>
              </a:extLst>
            </p:cNvPr>
            <p:cNvSpPr/>
            <p:nvPr/>
          </p:nvSpPr>
          <p:spPr>
            <a:xfrm>
              <a:off x="6673408" y="5381259"/>
              <a:ext cx="92670" cy="9267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2" name="文本框 64">
            <a:extLst>
              <a:ext uri="{FF2B5EF4-FFF2-40B4-BE49-F238E27FC236}">
                <a16:creationId xmlns:a16="http://schemas.microsoft.com/office/drawing/2014/main" id="{D18D51A1-3629-CA81-7FF9-77BDE33D808F}"/>
              </a:ext>
            </a:extLst>
          </p:cNvPr>
          <p:cNvSpPr txBox="1"/>
          <p:nvPr/>
        </p:nvSpPr>
        <p:spPr>
          <a:xfrm>
            <a:off x="508851" y="1525796"/>
            <a:ext cx="112264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Kernel maps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input space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space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Input space: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space where the data exists.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Feature space: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transformed space where data is transformed to be linearly separable.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96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 animBg="1"/>
      <p:bldP spid="10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Apply kernel to the dual problem</a:t>
            </a:r>
          </a:p>
        </p:txBody>
      </p:sp>
      <p:sp>
        <p:nvSpPr>
          <p:cNvPr id="2" name="矩形 9">
            <a:extLst>
              <a:ext uri="{FF2B5EF4-FFF2-40B4-BE49-F238E27FC236}">
                <a16:creationId xmlns:a16="http://schemas.microsoft.com/office/drawing/2014/main" id="{13390E51-19F2-DBF5-7D50-F6A5D725C540}"/>
              </a:ext>
            </a:extLst>
          </p:cNvPr>
          <p:cNvSpPr/>
          <p:nvPr/>
        </p:nvSpPr>
        <p:spPr>
          <a:xfrm>
            <a:off x="247999" y="1462108"/>
            <a:ext cx="42913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dual problem of linear SVM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10">
                <a:extLst>
                  <a:ext uri="{FF2B5EF4-FFF2-40B4-BE49-F238E27FC236}">
                    <a16:creationId xmlns:a16="http://schemas.microsoft.com/office/drawing/2014/main" id="{CBA0180C-F643-C9C3-6554-11511B1674DA}"/>
                  </a:ext>
                </a:extLst>
              </p:cNvPr>
              <p:cNvSpPr txBox="1"/>
              <p:nvPr/>
            </p:nvSpPr>
            <p:spPr>
              <a:xfrm>
                <a:off x="2549236" y="1881448"/>
                <a:ext cx="5372808" cy="2069541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zh-CN" sz="22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0≤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=1,⋯,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10">
                <a:extLst>
                  <a:ext uri="{FF2B5EF4-FFF2-40B4-BE49-F238E27FC236}">
                    <a16:creationId xmlns:a16="http://schemas.microsoft.com/office/drawing/2014/main" id="{CBA0180C-F643-C9C3-6554-11511B167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236" y="1881448"/>
                <a:ext cx="5372808" cy="20695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">
                <a:extLst>
                  <a:ext uri="{FF2B5EF4-FFF2-40B4-BE49-F238E27FC236}">
                    <a16:creationId xmlns:a16="http://schemas.microsoft.com/office/drawing/2014/main" id="{6BD77A5B-261F-E621-5023-4C5055157C4A}"/>
                  </a:ext>
                </a:extLst>
              </p:cNvPr>
              <p:cNvSpPr txBox="1"/>
              <p:nvPr/>
            </p:nvSpPr>
            <p:spPr>
              <a:xfrm>
                <a:off x="281632" y="3995044"/>
                <a:ext cx="8760721" cy="1512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Through a nonlinear mapping: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1">
                <a:extLst>
                  <a:ext uri="{FF2B5EF4-FFF2-40B4-BE49-F238E27FC236}">
                    <a16:creationId xmlns:a16="http://schemas.microsoft.com/office/drawing/2014/main" id="{6BD77A5B-261F-E621-5023-4C505515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32" y="3995044"/>
                <a:ext cx="8760721" cy="1512209"/>
              </a:xfrm>
              <a:prstGeom prst="rect">
                <a:avLst/>
              </a:prstGeom>
              <a:blipFill>
                <a:blip r:embed="rId4"/>
                <a:stretch>
                  <a:fillRect l="-905" t="-2016" b="-2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2">
                <a:extLst>
                  <a:ext uri="{FF2B5EF4-FFF2-40B4-BE49-F238E27FC236}">
                    <a16:creationId xmlns:a16="http://schemas.microsoft.com/office/drawing/2014/main" id="{81B989B4-3E3D-6D05-71F9-16A01A5874A9}"/>
                  </a:ext>
                </a:extLst>
              </p:cNvPr>
              <p:cNvSpPr txBox="1"/>
              <p:nvPr/>
            </p:nvSpPr>
            <p:spPr>
              <a:xfrm>
                <a:off x="3390418" y="5778430"/>
                <a:ext cx="3575652" cy="52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space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12">
                <a:extLst>
                  <a:ext uri="{FF2B5EF4-FFF2-40B4-BE49-F238E27FC236}">
                    <a16:creationId xmlns:a16="http://schemas.microsoft.com/office/drawing/2014/main" id="{81B989B4-3E3D-6D05-71F9-16A01A587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418" y="5778430"/>
                <a:ext cx="3575652" cy="527260"/>
              </a:xfrm>
              <a:prstGeom prst="rect">
                <a:avLst/>
              </a:prstGeom>
              <a:blipFill>
                <a:blip r:embed="rId5"/>
                <a:stretch>
                  <a:fillRect t="-1163" b="-2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3">
                <a:extLst>
                  <a:ext uri="{FF2B5EF4-FFF2-40B4-BE49-F238E27FC236}">
                    <a16:creationId xmlns:a16="http://schemas.microsoft.com/office/drawing/2014/main" id="{CA560E01-18D9-71FB-EB01-F49EE25BC9A5}"/>
                  </a:ext>
                </a:extLst>
              </p:cNvPr>
              <p:cNvSpPr txBox="1"/>
              <p:nvPr/>
            </p:nvSpPr>
            <p:spPr>
              <a:xfrm>
                <a:off x="247999" y="5809819"/>
                <a:ext cx="25623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space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:[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13">
                <a:extLst>
                  <a:ext uri="{FF2B5EF4-FFF2-40B4-BE49-F238E27FC236}">
                    <a16:creationId xmlns:a16="http://schemas.microsoft.com/office/drawing/2014/main" id="{CA560E01-18D9-71FB-EB01-F49EE25B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99" y="5809819"/>
                <a:ext cx="2562372" cy="461665"/>
              </a:xfrm>
              <a:prstGeom prst="rect">
                <a:avLst/>
              </a:prstGeom>
              <a:blipFill>
                <a:blip r:embed="rId6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4">
            <a:extLst>
              <a:ext uri="{FF2B5EF4-FFF2-40B4-BE49-F238E27FC236}">
                <a16:creationId xmlns:a16="http://schemas.microsoft.com/office/drawing/2014/main" id="{C162A09D-BB58-470A-5623-D603D8154B5C}"/>
              </a:ext>
            </a:extLst>
          </p:cNvPr>
          <p:cNvSpPr txBox="1"/>
          <p:nvPr/>
        </p:nvSpPr>
        <p:spPr>
          <a:xfrm>
            <a:off x="215077" y="5404521"/>
            <a:ext cx="1537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箭头: 右 7">
            <a:extLst>
              <a:ext uri="{FF2B5EF4-FFF2-40B4-BE49-F238E27FC236}">
                <a16:creationId xmlns:a16="http://schemas.microsoft.com/office/drawing/2014/main" id="{7CEBAD1F-BE4A-6CAC-3A41-94F8F3AC1BA5}"/>
              </a:ext>
            </a:extLst>
          </p:cNvPr>
          <p:cNvSpPr/>
          <p:nvPr/>
        </p:nvSpPr>
        <p:spPr>
          <a:xfrm>
            <a:off x="2549236" y="6028843"/>
            <a:ext cx="766119" cy="1174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15">
                <a:extLst>
                  <a:ext uri="{FF2B5EF4-FFF2-40B4-BE49-F238E27FC236}">
                    <a16:creationId xmlns:a16="http://schemas.microsoft.com/office/drawing/2014/main" id="{745144D3-5C1E-E4F0-60ED-4E06407DEE7C}"/>
                  </a:ext>
                </a:extLst>
              </p:cNvPr>
              <p:cNvSpPr txBox="1"/>
              <p:nvPr/>
            </p:nvSpPr>
            <p:spPr>
              <a:xfrm>
                <a:off x="2713952" y="5595362"/>
                <a:ext cx="4366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15">
                <a:extLst>
                  <a:ext uri="{FF2B5EF4-FFF2-40B4-BE49-F238E27FC236}">
                    <a16:creationId xmlns:a16="http://schemas.microsoft.com/office/drawing/2014/main" id="{745144D3-5C1E-E4F0-60ED-4E06407DE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952" y="5595362"/>
                <a:ext cx="436686" cy="461665"/>
              </a:xfrm>
              <a:prstGeom prst="rect">
                <a:avLst/>
              </a:prstGeom>
              <a:blipFill>
                <a:blip r:embed="rId7"/>
                <a:stretch>
                  <a:fillRect l="-6944" r="-4167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6">
                <a:extLst>
                  <a:ext uri="{FF2B5EF4-FFF2-40B4-BE49-F238E27FC236}">
                    <a16:creationId xmlns:a16="http://schemas.microsoft.com/office/drawing/2014/main" id="{D5C00C1F-CFA1-99E2-5427-B096883D3DA0}"/>
                  </a:ext>
                </a:extLst>
              </p:cNvPr>
              <p:cNvSpPr txBox="1"/>
              <p:nvPr/>
            </p:nvSpPr>
            <p:spPr>
              <a:xfrm>
                <a:off x="7136452" y="5012737"/>
                <a:ext cx="4968816" cy="1642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6">
                <a:extLst>
                  <a:ext uri="{FF2B5EF4-FFF2-40B4-BE49-F238E27FC236}">
                    <a16:creationId xmlns:a16="http://schemas.microsoft.com/office/drawing/2014/main" id="{D5C00C1F-CFA1-99E2-5427-B096883D3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452" y="5012737"/>
                <a:ext cx="4968816" cy="1642757"/>
              </a:xfrm>
              <a:prstGeom prst="rect">
                <a:avLst/>
              </a:prstGeom>
              <a:blipFill>
                <a:blip r:embed="rId8"/>
                <a:stretch>
                  <a:fillRect b="-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: 圆角 2">
            <a:extLst>
              <a:ext uri="{FF2B5EF4-FFF2-40B4-BE49-F238E27FC236}">
                <a16:creationId xmlns:a16="http://schemas.microsoft.com/office/drawing/2014/main" id="{90AE5DBE-01BA-7374-CFE0-6A32959C7A32}"/>
              </a:ext>
            </a:extLst>
          </p:cNvPr>
          <p:cNvSpPr/>
          <p:nvPr/>
        </p:nvSpPr>
        <p:spPr>
          <a:xfrm>
            <a:off x="4357396" y="4285928"/>
            <a:ext cx="2161764" cy="128974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接箭头连接符 14">
            <a:extLst>
              <a:ext uri="{FF2B5EF4-FFF2-40B4-BE49-F238E27FC236}">
                <a16:creationId xmlns:a16="http://schemas.microsoft.com/office/drawing/2014/main" id="{40F4F99E-895A-3661-3B1D-BE641EE9202F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6519160" y="4531528"/>
            <a:ext cx="1234584" cy="399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7">
                <a:extLst>
                  <a:ext uri="{FF2B5EF4-FFF2-40B4-BE49-F238E27FC236}">
                    <a16:creationId xmlns:a16="http://schemas.microsoft.com/office/drawing/2014/main" id="{A8EDD209-EDD5-D5B8-351F-9CD5AE30CC13}"/>
                  </a:ext>
                </a:extLst>
              </p:cNvPr>
              <p:cNvSpPr txBox="1"/>
              <p:nvPr/>
            </p:nvSpPr>
            <p:spPr>
              <a:xfrm>
                <a:off x="7753744" y="4300695"/>
                <a:ext cx="3648264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mapping function.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文本框 17">
                <a:extLst>
                  <a:ext uri="{FF2B5EF4-FFF2-40B4-BE49-F238E27FC236}">
                    <a16:creationId xmlns:a16="http://schemas.microsoft.com/office/drawing/2014/main" id="{A8EDD209-EDD5-D5B8-351F-9CD5AE30C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744" y="4300695"/>
                <a:ext cx="3648264" cy="461665"/>
              </a:xfrm>
              <a:prstGeom prst="rect">
                <a:avLst/>
              </a:prstGeom>
              <a:blipFill>
                <a:blip r:embed="rId9"/>
                <a:stretch>
                  <a:fillRect l="-1167" t="-7692" r="-4500" b="-2820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870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/>
      <p:bldP spid="7" grpId="0"/>
      <p:bldP spid="9" grpId="0" animBg="1"/>
      <p:bldP spid="10" grpId="0"/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Apply kernel to the dual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1">
                <a:extLst>
                  <a:ext uri="{FF2B5EF4-FFF2-40B4-BE49-F238E27FC236}">
                    <a16:creationId xmlns:a16="http://schemas.microsoft.com/office/drawing/2014/main" id="{016B891C-28FE-80A7-4871-C40447E72F08}"/>
                  </a:ext>
                </a:extLst>
              </p:cNvPr>
              <p:cNvSpPr txBox="1"/>
              <p:nvPr/>
            </p:nvSpPr>
            <p:spPr>
              <a:xfrm>
                <a:off x="1982755" y="2068731"/>
                <a:ext cx="6629400" cy="2249270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=1,⋯,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1">
                <a:extLst>
                  <a:ext uri="{FF2B5EF4-FFF2-40B4-BE49-F238E27FC236}">
                    <a16:creationId xmlns:a16="http://schemas.microsoft.com/office/drawing/2014/main" id="{016B891C-28FE-80A7-4871-C40447E72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755" y="2068731"/>
                <a:ext cx="6629400" cy="2249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12">
            <a:extLst>
              <a:ext uri="{FF2B5EF4-FFF2-40B4-BE49-F238E27FC236}">
                <a16:creationId xmlns:a16="http://schemas.microsoft.com/office/drawing/2014/main" id="{CFD0D5D9-91FC-30BB-DCF4-9BC45B53434E}"/>
              </a:ext>
            </a:extLst>
          </p:cNvPr>
          <p:cNvSpPr/>
          <p:nvPr/>
        </p:nvSpPr>
        <p:spPr>
          <a:xfrm>
            <a:off x="305557" y="1610382"/>
            <a:ext cx="48356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dual problem of nonlinear SVM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4">
            <a:extLst>
              <a:ext uri="{FF2B5EF4-FFF2-40B4-BE49-F238E27FC236}">
                <a16:creationId xmlns:a16="http://schemas.microsoft.com/office/drawing/2014/main" id="{DF247C3D-94E4-6CF1-19C1-6278FE8B1937}"/>
              </a:ext>
            </a:extLst>
          </p:cNvPr>
          <p:cNvSpPr txBox="1"/>
          <p:nvPr/>
        </p:nvSpPr>
        <p:spPr>
          <a:xfrm>
            <a:off x="305557" y="5872107"/>
            <a:ext cx="11552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dimension of the feature space is usually much larger than the input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above steps will be very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and memory consuming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16">
                <a:extLst>
                  <a:ext uri="{FF2B5EF4-FFF2-40B4-BE49-F238E27FC236}">
                    <a16:creationId xmlns:a16="http://schemas.microsoft.com/office/drawing/2014/main" id="{7FAA1C6D-5B9A-23CB-B4C3-6266403A7CBD}"/>
                  </a:ext>
                </a:extLst>
              </p:cNvPr>
              <p:cNvSpPr/>
              <p:nvPr/>
            </p:nvSpPr>
            <p:spPr>
              <a:xfrm>
                <a:off x="305557" y="4283856"/>
                <a:ext cx="11100782" cy="1648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formulate the above problem, we need: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Every data point </a:t>
                </a:r>
                <a14:m>
                  <m:oMath xmlns:m="http://schemas.openxmlformats.org/officeDocument/2006/math">
                    <m:r>
                      <a:rPr lang="en-GB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the input space needs to be transformed to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the feature space.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 every pair of dot product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should be computed. </a:t>
                </a:r>
              </a:p>
            </p:txBody>
          </p:sp>
        </mc:Choice>
        <mc:Fallback xmlns="">
          <p:sp>
            <p:nvSpPr>
              <p:cNvPr id="5" name="矩形 16">
                <a:extLst>
                  <a:ext uri="{FF2B5EF4-FFF2-40B4-BE49-F238E27FC236}">
                    <a16:creationId xmlns:a16="http://schemas.microsoft.com/office/drawing/2014/main" id="{7FAA1C6D-5B9A-23CB-B4C3-6266403A7C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57" y="4283856"/>
                <a:ext cx="11100782" cy="1648785"/>
              </a:xfrm>
              <a:prstGeom prst="rect">
                <a:avLst/>
              </a:prstGeom>
              <a:blipFill>
                <a:blip r:embed="rId4"/>
                <a:stretch>
                  <a:fillRect l="-824" t="-2593"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9">
            <a:extLst>
              <a:ext uri="{FF2B5EF4-FFF2-40B4-BE49-F238E27FC236}">
                <a16:creationId xmlns:a16="http://schemas.microsoft.com/office/drawing/2014/main" id="{51DF4BD9-FE1F-D17F-0FB7-2670E882D682}"/>
              </a:ext>
            </a:extLst>
          </p:cNvPr>
          <p:cNvSpPr/>
          <p:nvPr/>
        </p:nvSpPr>
        <p:spPr>
          <a:xfrm>
            <a:off x="5169159" y="2397223"/>
            <a:ext cx="2090057" cy="46166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10">
            <a:extLst>
              <a:ext uri="{FF2B5EF4-FFF2-40B4-BE49-F238E27FC236}">
                <a16:creationId xmlns:a16="http://schemas.microsoft.com/office/drawing/2014/main" id="{57BD2D90-1459-8692-29E1-4CFAFE755A15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7259216" y="2628056"/>
            <a:ext cx="630231" cy="1288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13">
                <a:extLst>
                  <a:ext uri="{FF2B5EF4-FFF2-40B4-BE49-F238E27FC236}">
                    <a16:creationId xmlns:a16="http://schemas.microsoft.com/office/drawing/2014/main" id="{03480110-1AE5-B3F1-78D8-8728862A0A0B}"/>
                  </a:ext>
                </a:extLst>
              </p:cNvPr>
              <p:cNvSpPr txBox="1"/>
              <p:nvPr/>
            </p:nvSpPr>
            <p:spPr>
              <a:xfrm>
                <a:off x="7889447" y="3685463"/>
                <a:ext cx="3684843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mapping function.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13">
                <a:extLst>
                  <a:ext uri="{FF2B5EF4-FFF2-40B4-BE49-F238E27FC236}">
                    <a16:creationId xmlns:a16="http://schemas.microsoft.com/office/drawing/2014/main" id="{03480110-1AE5-B3F1-78D8-8728862A0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47" y="3685463"/>
                <a:ext cx="3684843" cy="461665"/>
              </a:xfrm>
              <a:prstGeom prst="rect">
                <a:avLst/>
              </a:prstGeom>
              <a:blipFill>
                <a:blip r:embed="rId5"/>
                <a:stretch>
                  <a:fillRect l="-1153" t="-7792" r="-4448" b="-2987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119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Kernel trick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1">
                <a:extLst>
                  <a:ext uri="{FF2B5EF4-FFF2-40B4-BE49-F238E27FC236}">
                    <a16:creationId xmlns:a16="http://schemas.microsoft.com/office/drawing/2014/main" id="{37F427A4-B70A-7F3E-30FC-9D3D1DB40297}"/>
                  </a:ext>
                </a:extLst>
              </p:cNvPr>
              <p:cNvSpPr/>
              <p:nvPr/>
            </p:nvSpPr>
            <p:spPr>
              <a:xfrm>
                <a:off x="349112" y="1975860"/>
                <a:ext cx="9037483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Kernel trick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help us to avoid the problem: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mapping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does not have to be explicitly defined.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dot product does not have to be explicitly computed.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We only need to define a kernel function (‘kernel’ for short).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矩形 11">
                <a:extLst>
                  <a:ext uri="{FF2B5EF4-FFF2-40B4-BE49-F238E27FC236}">
                    <a16:creationId xmlns:a16="http://schemas.microsoft.com/office/drawing/2014/main" id="{37F427A4-B70A-7F3E-30FC-9D3D1DB402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12" y="1975860"/>
                <a:ext cx="9037483" cy="1569660"/>
              </a:xfrm>
              <a:prstGeom prst="rect">
                <a:avLst/>
              </a:prstGeom>
              <a:blipFill>
                <a:blip r:embed="rId3"/>
                <a:stretch>
                  <a:fillRect l="-1011" t="-2713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16">
                <a:extLst>
                  <a:ext uri="{FF2B5EF4-FFF2-40B4-BE49-F238E27FC236}">
                    <a16:creationId xmlns:a16="http://schemas.microsoft.com/office/drawing/2014/main" id="{B14A9C9A-BF13-633D-8E89-BB9C8B78BF21}"/>
                  </a:ext>
                </a:extLst>
              </p:cNvPr>
              <p:cNvSpPr txBox="1"/>
              <p:nvPr/>
            </p:nvSpPr>
            <p:spPr>
              <a:xfrm>
                <a:off x="4854467" y="4646182"/>
                <a:ext cx="2326049" cy="50917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16">
                <a:extLst>
                  <a:ext uri="{FF2B5EF4-FFF2-40B4-BE49-F238E27FC236}">
                    <a16:creationId xmlns:a16="http://schemas.microsoft.com/office/drawing/2014/main" id="{B14A9C9A-BF13-633D-8E89-BB9C8B78B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467" y="4646182"/>
                <a:ext cx="2326049" cy="509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7">
                <a:extLst>
                  <a:ext uri="{FF2B5EF4-FFF2-40B4-BE49-F238E27FC236}">
                    <a16:creationId xmlns:a16="http://schemas.microsoft.com/office/drawing/2014/main" id="{705B82D9-2B22-76E2-ADC9-5145C55A3D74}"/>
                  </a:ext>
                </a:extLst>
              </p:cNvPr>
              <p:cNvSpPr txBox="1"/>
              <p:nvPr/>
            </p:nvSpPr>
            <p:spPr>
              <a:xfrm>
                <a:off x="349112" y="3640379"/>
                <a:ext cx="11146201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Kernel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takes two points in the input space, and gives the dot product of their mappings in the feature space. 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17">
                <a:extLst>
                  <a:ext uri="{FF2B5EF4-FFF2-40B4-BE49-F238E27FC236}">
                    <a16:creationId xmlns:a16="http://schemas.microsoft.com/office/drawing/2014/main" id="{705B82D9-2B22-76E2-ADC9-5145C55A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12" y="3640379"/>
                <a:ext cx="11146201" cy="878510"/>
              </a:xfrm>
              <a:prstGeom prst="rect">
                <a:avLst/>
              </a:prstGeom>
              <a:blipFill>
                <a:blip r:embed="rId5"/>
                <a:stretch>
                  <a:fillRect l="-820" t="-2778" r="-55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18">
                <a:extLst>
                  <a:ext uri="{FF2B5EF4-FFF2-40B4-BE49-F238E27FC236}">
                    <a16:creationId xmlns:a16="http://schemas.microsoft.com/office/drawing/2014/main" id="{F93FE68E-52BC-62D3-7EC5-77B2237EB21B}"/>
                  </a:ext>
                </a:extLst>
              </p:cNvPr>
              <p:cNvSpPr/>
              <p:nvPr/>
            </p:nvSpPr>
            <p:spPr>
              <a:xfrm>
                <a:off x="349112" y="5687184"/>
                <a:ext cx="1166871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Using kernel trick, we can get the result of considering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without really using it and can obtain the same result only using the data from original input space. 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矩形 18">
                <a:extLst>
                  <a:ext uri="{FF2B5EF4-FFF2-40B4-BE49-F238E27FC236}">
                    <a16:creationId xmlns:a16="http://schemas.microsoft.com/office/drawing/2014/main" id="{F93FE68E-52BC-62D3-7EC5-77B2237EB2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12" y="5687184"/>
                <a:ext cx="11668717" cy="830997"/>
              </a:xfrm>
              <a:prstGeom prst="rect">
                <a:avLst/>
              </a:prstGeom>
              <a:blipFill>
                <a:blip r:embed="rId6"/>
                <a:stretch>
                  <a:fillRect l="-784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19">
            <a:extLst>
              <a:ext uri="{FF2B5EF4-FFF2-40B4-BE49-F238E27FC236}">
                <a16:creationId xmlns:a16="http://schemas.microsoft.com/office/drawing/2014/main" id="{22D001A6-335D-D2F5-BA91-45348E609CB8}"/>
              </a:ext>
            </a:extLst>
          </p:cNvPr>
          <p:cNvSpPr/>
          <p:nvPr/>
        </p:nvSpPr>
        <p:spPr>
          <a:xfrm>
            <a:off x="349112" y="1474472"/>
            <a:ext cx="103451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Explicit feature mapping and dot product are inefficient.​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1">
                <a:extLst>
                  <a:ext uri="{FF2B5EF4-FFF2-40B4-BE49-F238E27FC236}">
                    <a16:creationId xmlns:a16="http://schemas.microsoft.com/office/drawing/2014/main" id="{A5EF6455-9BF0-8ED0-A22E-FB29BF69D794}"/>
                  </a:ext>
                </a:extLst>
              </p:cNvPr>
              <p:cNvSpPr/>
              <p:nvPr/>
            </p:nvSpPr>
            <p:spPr>
              <a:xfrm>
                <a:off x="1675751" y="4631576"/>
                <a:ext cx="1427122" cy="509178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矩形 1">
                <a:extLst>
                  <a:ext uri="{FF2B5EF4-FFF2-40B4-BE49-F238E27FC236}">
                    <a16:creationId xmlns:a16="http://schemas.microsoft.com/office/drawing/2014/main" id="{A5EF6455-9BF0-8ED0-A22E-FB29BF69D7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751" y="4631576"/>
                <a:ext cx="1427122" cy="5091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箭头: 左右 2">
            <a:extLst>
              <a:ext uri="{FF2B5EF4-FFF2-40B4-BE49-F238E27FC236}">
                <a16:creationId xmlns:a16="http://schemas.microsoft.com/office/drawing/2014/main" id="{5CC70833-9A84-81DB-1B9C-398219E4E8F4}"/>
              </a:ext>
            </a:extLst>
          </p:cNvPr>
          <p:cNvSpPr/>
          <p:nvPr/>
        </p:nvSpPr>
        <p:spPr>
          <a:xfrm>
            <a:off x="3103113" y="4855981"/>
            <a:ext cx="1750874" cy="9505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4">
            <a:extLst>
              <a:ext uri="{FF2B5EF4-FFF2-40B4-BE49-F238E27FC236}">
                <a16:creationId xmlns:a16="http://schemas.microsoft.com/office/drawing/2014/main" id="{B6C73BC3-B5B2-C5DC-1720-A96DE2DAD3F4}"/>
              </a:ext>
            </a:extLst>
          </p:cNvPr>
          <p:cNvSpPr txBox="1"/>
          <p:nvPr/>
        </p:nvSpPr>
        <p:spPr>
          <a:xfrm>
            <a:off x="3137486" y="4429256"/>
            <a:ext cx="1607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equivalent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7">
            <a:extLst>
              <a:ext uri="{FF2B5EF4-FFF2-40B4-BE49-F238E27FC236}">
                <a16:creationId xmlns:a16="http://schemas.microsoft.com/office/drawing/2014/main" id="{695B6EA2-143A-5B01-29F2-F4C7EFC32DDB}"/>
              </a:ext>
            </a:extLst>
          </p:cNvPr>
          <p:cNvSpPr txBox="1"/>
          <p:nvPr/>
        </p:nvSpPr>
        <p:spPr>
          <a:xfrm>
            <a:off x="1347920" y="5136297"/>
            <a:ext cx="2208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define a kernel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4">
                <a:extLst>
                  <a:ext uri="{FF2B5EF4-FFF2-40B4-BE49-F238E27FC236}">
                    <a16:creationId xmlns:a16="http://schemas.microsoft.com/office/drawing/2014/main" id="{6424BF93-7043-BC1F-032C-F2D90CCCEA16}"/>
                  </a:ext>
                </a:extLst>
              </p:cNvPr>
              <p:cNvSpPr txBox="1"/>
              <p:nvPr/>
            </p:nvSpPr>
            <p:spPr>
              <a:xfrm>
                <a:off x="3973205" y="5140754"/>
                <a:ext cx="43626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define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calculate dot product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本框 14">
                <a:extLst>
                  <a:ext uri="{FF2B5EF4-FFF2-40B4-BE49-F238E27FC236}">
                    <a16:creationId xmlns:a16="http://schemas.microsoft.com/office/drawing/2014/main" id="{6424BF93-7043-BC1F-032C-F2D90CCCE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205" y="5140754"/>
                <a:ext cx="4362641" cy="461665"/>
              </a:xfrm>
              <a:prstGeom prst="rect">
                <a:avLst/>
              </a:prstGeom>
              <a:blipFill>
                <a:blip r:embed="rId8"/>
                <a:stretch>
                  <a:fillRect l="-2238" t="-9211" r="-839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60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Kernel trick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1">
                <a:extLst>
                  <a:ext uri="{FF2B5EF4-FFF2-40B4-BE49-F238E27FC236}">
                    <a16:creationId xmlns:a16="http://schemas.microsoft.com/office/drawing/2014/main" id="{7B71BC34-BAF7-BA3B-5A30-0D2BC171E362}"/>
                  </a:ext>
                </a:extLst>
              </p:cNvPr>
              <p:cNvSpPr txBox="1"/>
              <p:nvPr/>
            </p:nvSpPr>
            <p:spPr>
              <a:xfrm>
                <a:off x="5359669" y="1873043"/>
                <a:ext cx="3590095" cy="52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space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1">
                <a:extLst>
                  <a:ext uri="{FF2B5EF4-FFF2-40B4-BE49-F238E27FC236}">
                    <a16:creationId xmlns:a16="http://schemas.microsoft.com/office/drawing/2014/main" id="{7B71BC34-BAF7-BA3B-5A30-0D2BC171E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669" y="1873043"/>
                <a:ext cx="3590095" cy="527260"/>
              </a:xfrm>
              <a:prstGeom prst="rect">
                <a:avLst/>
              </a:prstGeom>
              <a:blipFill>
                <a:blip r:embed="rId3"/>
                <a:stretch>
                  <a:fillRect t="-1149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12">
                <a:extLst>
                  <a:ext uri="{FF2B5EF4-FFF2-40B4-BE49-F238E27FC236}">
                    <a16:creationId xmlns:a16="http://schemas.microsoft.com/office/drawing/2014/main" id="{9E3C76FA-9856-6249-3796-990F43D6EB47}"/>
                  </a:ext>
                </a:extLst>
              </p:cNvPr>
              <p:cNvSpPr txBox="1"/>
              <p:nvPr/>
            </p:nvSpPr>
            <p:spPr>
              <a:xfrm>
                <a:off x="1398717" y="1905841"/>
                <a:ext cx="23901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space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:[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12">
                <a:extLst>
                  <a:ext uri="{FF2B5EF4-FFF2-40B4-BE49-F238E27FC236}">
                    <a16:creationId xmlns:a16="http://schemas.microsoft.com/office/drawing/2014/main" id="{9E3C76FA-9856-6249-3796-990F43D6E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717" y="1905841"/>
                <a:ext cx="2390166" cy="461665"/>
              </a:xfrm>
              <a:prstGeom prst="rect">
                <a:avLst/>
              </a:prstGeom>
              <a:blipFill>
                <a:blip r:embed="rId4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右 13">
            <a:extLst>
              <a:ext uri="{FF2B5EF4-FFF2-40B4-BE49-F238E27FC236}">
                <a16:creationId xmlns:a16="http://schemas.microsoft.com/office/drawing/2014/main" id="{38EA6627-2F2F-1E3A-37C9-8C55A8F31270}"/>
              </a:ext>
            </a:extLst>
          </p:cNvPr>
          <p:cNvSpPr/>
          <p:nvPr/>
        </p:nvSpPr>
        <p:spPr>
          <a:xfrm>
            <a:off x="3677449" y="2105036"/>
            <a:ext cx="1594347" cy="1219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4">
                <a:extLst>
                  <a:ext uri="{FF2B5EF4-FFF2-40B4-BE49-F238E27FC236}">
                    <a16:creationId xmlns:a16="http://schemas.microsoft.com/office/drawing/2014/main" id="{7892A783-9195-C55A-310D-00691DDA46D5}"/>
                  </a:ext>
                </a:extLst>
              </p:cNvPr>
              <p:cNvSpPr txBox="1"/>
              <p:nvPr/>
            </p:nvSpPr>
            <p:spPr>
              <a:xfrm>
                <a:off x="755226" y="3489711"/>
                <a:ext cx="6798414" cy="1642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14">
                <a:extLst>
                  <a:ext uri="{FF2B5EF4-FFF2-40B4-BE49-F238E27FC236}">
                    <a16:creationId xmlns:a16="http://schemas.microsoft.com/office/drawing/2014/main" id="{7892A783-9195-C55A-310D-00691DDA4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26" y="3489711"/>
                <a:ext cx="6798414" cy="1642757"/>
              </a:xfrm>
              <a:prstGeom prst="rect">
                <a:avLst/>
              </a:prstGeom>
              <a:blipFill>
                <a:blip r:embed="rId5"/>
                <a:stretch>
                  <a:fillRect b="-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16">
            <a:extLst>
              <a:ext uri="{FF2B5EF4-FFF2-40B4-BE49-F238E27FC236}">
                <a16:creationId xmlns:a16="http://schemas.microsoft.com/office/drawing/2014/main" id="{7A62185D-AD4E-27D4-8E07-0CDC4D661D54}"/>
              </a:ext>
            </a:extLst>
          </p:cNvPr>
          <p:cNvSpPr txBox="1"/>
          <p:nvPr/>
        </p:nvSpPr>
        <p:spPr>
          <a:xfrm>
            <a:off x="420001" y="3030621"/>
            <a:ext cx="849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Without kernel trick, we need to calculate the following: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18">
                <a:extLst>
                  <a:ext uri="{FF2B5EF4-FFF2-40B4-BE49-F238E27FC236}">
                    <a16:creationId xmlns:a16="http://schemas.microsoft.com/office/drawing/2014/main" id="{25952B46-5C78-4F37-DE4D-40A15DBB7555}"/>
                  </a:ext>
                </a:extLst>
              </p:cNvPr>
              <p:cNvSpPr txBox="1"/>
              <p:nvPr/>
            </p:nvSpPr>
            <p:spPr>
              <a:xfrm>
                <a:off x="409607" y="5132468"/>
                <a:ext cx="107268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 kernel trick, we only need to define a </a:t>
                </a:r>
                <a:r>
                  <a:rPr lang="en-US" altLang="zh-CN" sz="24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quadratic kernel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18">
                <a:extLst>
                  <a:ext uri="{FF2B5EF4-FFF2-40B4-BE49-F238E27FC236}">
                    <a16:creationId xmlns:a16="http://schemas.microsoft.com/office/drawing/2014/main" id="{25952B46-5C78-4F37-DE4D-40A15DBB7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07" y="5132468"/>
                <a:ext cx="10726845" cy="461665"/>
              </a:xfrm>
              <a:prstGeom prst="rect">
                <a:avLst/>
              </a:prstGeom>
              <a:blipFill>
                <a:blip r:embed="rId6"/>
                <a:stretch>
                  <a:fillRect l="-739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19">
                <a:extLst>
                  <a:ext uri="{FF2B5EF4-FFF2-40B4-BE49-F238E27FC236}">
                    <a16:creationId xmlns:a16="http://schemas.microsoft.com/office/drawing/2014/main" id="{B06290D3-663D-7573-92BD-7C78B369DEFF}"/>
                  </a:ext>
                </a:extLst>
              </p:cNvPr>
              <p:cNvSpPr/>
              <p:nvPr/>
            </p:nvSpPr>
            <p:spPr>
              <a:xfrm>
                <a:off x="431800" y="2529513"/>
                <a:ext cx="4177521" cy="5091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calculate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矩形 19">
                <a:extLst>
                  <a:ext uri="{FF2B5EF4-FFF2-40B4-BE49-F238E27FC236}">
                    <a16:creationId xmlns:a16="http://schemas.microsoft.com/office/drawing/2014/main" id="{B06290D3-663D-7573-92BD-7C78B369DE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0" y="2529513"/>
                <a:ext cx="4177521" cy="509178"/>
              </a:xfrm>
              <a:prstGeom prst="rect">
                <a:avLst/>
              </a:prstGeom>
              <a:blipFill>
                <a:blip r:embed="rId7"/>
                <a:stretch>
                  <a:fillRect l="-2336" t="-4819" b="-22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21">
            <a:extLst>
              <a:ext uri="{FF2B5EF4-FFF2-40B4-BE49-F238E27FC236}">
                <a16:creationId xmlns:a16="http://schemas.microsoft.com/office/drawing/2014/main" id="{7E60834B-5A85-8EAB-D955-16F60C381A47}"/>
              </a:ext>
            </a:extLst>
          </p:cNvPr>
          <p:cNvSpPr txBox="1"/>
          <p:nvPr/>
        </p:nvSpPr>
        <p:spPr>
          <a:xfrm>
            <a:off x="431800" y="1422400"/>
            <a:ext cx="7741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 of a 2nd-degree polynomial mapping: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5">
                <a:extLst>
                  <a:ext uri="{FF2B5EF4-FFF2-40B4-BE49-F238E27FC236}">
                    <a16:creationId xmlns:a16="http://schemas.microsoft.com/office/drawing/2014/main" id="{68449164-7039-746C-AAC6-2C54A7F502F8}"/>
                  </a:ext>
                </a:extLst>
              </p:cNvPr>
              <p:cNvSpPr txBox="1"/>
              <p:nvPr/>
            </p:nvSpPr>
            <p:spPr>
              <a:xfrm>
                <a:off x="4266004" y="1702741"/>
                <a:ext cx="4366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5">
                <a:extLst>
                  <a:ext uri="{FF2B5EF4-FFF2-40B4-BE49-F238E27FC236}">
                    <a16:creationId xmlns:a16="http://schemas.microsoft.com/office/drawing/2014/main" id="{68449164-7039-746C-AAC6-2C54A7F50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004" y="1702741"/>
                <a:ext cx="436686" cy="461665"/>
              </a:xfrm>
              <a:prstGeom prst="rect">
                <a:avLst/>
              </a:prstGeom>
              <a:blipFill>
                <a:blip r:embed="rId8"/>
                <a:stretch>
                  <a:fillRect l="-7042" r="-5634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">
                <a:extLst>
                  <a:ext uri="{FF2B5EF4-FFF2-40B4-BE49-F238E27FC236}">
                    <a16:creationId xmlns:a16="http://schemas.microsoft.com/office/drawing/2014/main" id="{60E1D7CD-D3AE-5B23-8DDC-4E75AE2038C2}"/>
                  </a:ext>
                </a:extLst>
              </p:cNvPr>
              <p:cNvSpPr/>
              <p:nvPr/>
            </p:nvSpPr>
            <p:spPr>
              <a:xfrm>
                <a:off x="1602275" y="5475393"/>
                <a:ext cx="5703594" cy="6222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矩形 1">
                <a:extLst>
                  <a:ext uri="{FF2B5EF4-FFF2-40B4-BE49-F238E27FC236}">
                    <a16:creationId xmlns:a16="http://schemas.microsoft.com/office/drawing/2014/main" id="{60E1D7CD-D3AE-5B23-8DDC-4E75AE2038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275" y="5475393"/>
                <a:ext cx="5703594" cy="6222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2">
                <a:extLst>
                  <a:ext uri="{FF2B5EF4-FFF2-40B4-BE49-F238E27FC236}">
                    <a16:creationId xmlns:a16="http://schemas.microsoft.com/office/drawing/2014/main" id="{A239B277-A01A-FAE5-445E-1B8C2300D469}"/>
                  </a:ext>
                </a:extLst>
              </p:cNvPr>
              <p:cNvSpPr txBox="1"/>
              <p:nvPr/>
            </p:nvSpPr>
            <p:spPr>
              <a:xfrm>
                <a:off x="754151" y="6245988"/>
                <a:ext cx="83482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do not need to know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zh-CN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2">
                <a:extLst>
                  <a:ext uri="{FF2B5EF4-FFF2-40B4-BE49-F238E27FC236}">
                    <a16:creationId xmlns:a16="http://schemas.microsoft.com/office/drawing/2014/main" id="{A239B277-A01A-FAE5-445E-1B8C2300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51" y="6245988"/>
                <a:ext cx="8348202" cy="461665"/>
              </a:xfrm>
              <a:prstGeom prst="rect">
                <a:avLst/>
              </a:prstGeom>
              <a:blipFill>
                <a:blip r:embed="rId10"/>
                <a:stretch>
                  <a:fillRect l="-1169" t="-9333" b="-3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7">
            <a:extLst>
              <a:ext uri="{FF2B5EF4-FFF2-40B4-BE49-F238E27FC236}">
                <a16:creationId xmlns:a16="http://schemas.microsoft.com/office/drawing/2014/main" id="{D43D564F-BF27-C97C-A71B-A62210942A80}"/>
              </a:ext>
            </a:extLst>
          </p:cNvPr>
          <p:cNvSpPr/>
          <p:nvPr/>
        </p:nvSpPr>
        <p:spPr>
          <a:xfrm>
            <a:off x="3339864" y="5538268"/>
            <a:ext cx="3729180" cy="62515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箭头连接符 20">
            <a:extLst>
              <a:ext uri="{FF2B5EF4-FFF2-40B4-BE49-F238E27FC236}">
                <a16:creationId xmlns:a16="http://schemas.microsoft.com/office/drawing/2014/main" id="{28509BB7-4B61-9E30-1455-5E4C2D1CF48D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7069044" y="4308850"/>
            <a:ext cx="967062" cy="1541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22">
            <a:extLst>
              <a:ext uri="{FF2B5EF4-FFF2-40B4-BE49-F238E27FC236}">
                <a16:creationId xmlns:a16="http://schemas.microsoft.com/office/drawing/2014/main" id="{76C8F773-6A76-2B95-2344-B09775207AE9}"/>
              </a:ext>
            </a:extLst>
          </p:cNvPr>
          <p:cNvSpPr txBox="1"/>
          <p:nvPr/>
        </p:nvSpPr>
        <p:spPr>
          <a:xfrm>
            <a:off x="8036106" y="4078017"/>
            <a:ext cx="106624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equal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: 圆角 23">
            <a:extLst>
              <a:ext uri="{FF2B5EF4-FFF2-40B4-BE49-F238E27FC236}">
                <a16:creationId xmlns:a16="http://schemas.microsoft.com/office/drawing/2014/main" id="{DFE24AB9-CC21-894D-2EEB-F806CA795FCD}"/>
              </a:ext>
            </a:extLst>
          </p:cNvPr>
          <p:cNvSpPr/>
          <p:nvPr/>
        </p:nvSpPr>
        <p:spPr>
          <a:xfrm>
            <a:off x="1981802" y="4574589"/>
            <a:ext cx="4345261" cy="548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直接箭头连接符 9">
            <a:extLst>
              <a:ext uri="{FF2B5EF4-FFF2-40B4-BE49-F238E27FC236}">
                <a16:creationId xmlns:a16="http://schemas.microsoft.com/office/drawing/2014/main" id="{ADF37114-9EEA-771B-41F4-4B1636E69B74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6327063" y="4308850"/>
            <a:ext cx="1709043" cy="539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57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11" grpId="0"/>
      <p:bldP spid="14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Widely used kernels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45F1D05-BFA9-2CA4-2F0D-655DE5CFAD66}"/>
                  </a:ext>
                </a:extLst>
              </p:cNvPr>
              <p:cNvSpPr/>
              <p:nvPr/>
            </p:nvSpPr>
            <p:spPr>
              <a:xfrm>
                <a:off x="539675" y="4808807"/>
                <a:ext cx="921096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Radial Basis Function (RBF) kernel: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⁡(−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45F1D05-BFA9-2CA4-2F0D-655DE5CFAD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75" y="4808807"/>
                <a:ext cx="9210962" cy="461665"/>
              </a:xfrm>
              <a:prstGeom prst="rect">
                <a:avLst/>
              </a:prstGeom>
              <a:blipFill>
                <a:blip r:embed="rId3"/>
                <a:stretch>
                  <a:fillRect l="-927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4">
            <a:extLst>
              <a:ext uri="{FF2B5EF4-FFF2-40B4-BE49-F238E27FC236}">
                <a16:creationId xmlns:a16="http://schemas.microsoft.com/office/drawing/2014/main" id="{F2F353E7-9541-E5AB-5BB8-E6D072D3CC63}"/>
              </a:ext>
            </a:extLst>
          </p:cNvPr>
          <p:cNvSpPr/>
          <p:nvPr/>
        </p:nvSpPr>
        <p:spPr>
          <a:xfrm>
            <a:off x="431902" y="1540610"/>
            <a:ext cx="40142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Some widely used kernels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7">
                <a:extLst>
                  <a:ext uri="{FF2B5EF4-FFF2-40B4-BE49-F238E27FC236}">
                    <a16:creationId xmlns:a16="http://schemas.microsoft.com/office/drawing/2014/main" id="{05ED438E-8DC3-7502-B57E-73D217B4B3E6}"/>
                  </a:ext>
                </a:extLst>
              </p:cNvPr>
              <p:cNvSpPr/>
              <p:nvPr/>
            </p:nvSpPr>
            <p:spPr>
              <a:xfrm>
                <a:off x="539675" y="2271099"/>
                <a:ext cx="628395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kernel: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矩形 7">
                <a:extLst>
                  <a:ext uri="{FF2B5EF4-FFF2-40B4-BE49-F238E27FC236}">
                    <a16:creationId xmlns:a16="http://schemas.microsoft.com/office/drawing/2014/main" id="{05ED438E-8DC3-7502-B57E-73D217B4B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75" y="2271099"/>
                <a:ext cx="6283958" cy="461665"/>
              </a:xfrm>
              <a:prstGeom prst="rect">
                <a:avLst/>
              </a:prstGeom>
              <a:blipFill>
                <a:blip r:embed="rId4"/>
                <a:stretch>
                  <a:fillRect l="-1359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9">
                <a:extLst>
                  <a:ext uri="{FF2B5EF4-FFF2-40B4-BE49-F238E27FC236}">
                    <a16:creationId xmlns:a16="http://schemas.microsoft.com/office/drawing/2014/main" id="{3C1F5972-614C-897B-BFA5-9A8FC4B870C7}"/>
                  </a:ext>
                </a:extLst>
              </p:cNvPr>
              <p:cNvSpPr/>
              <p:nvPr/>
            </p:nvSpPr>
            <p:spPr>
              <a:xfrm>
                <a:off x="539874" y="2999990"/>
                <a:ext cx="82889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Quadratic Kernel: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矩形 9">
                <a:extLst>
                  <a:ext uri="{FF2B5EF4-FFF2-40B4-BE49-F238E27FC236}">
                    <a16:creationId xmlns:a16="http://schemas.microsoft.com/office/drawing/2014/main" id="{3C1F5972-614C-897B-BFA5-9A8FC4B87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874" y="2999990"/>
                <a:ext cx="8288936" cy="461665"/>
              </a:xfrm>
              <a:prstGeom prst="rect">
                <a:avLst/>
              </a:prstGeom>
              <a:blipFill>
                <a:blip r:embed="rId5"/>
                <a:stretch>
                  <a:fillRect l="-1030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10">
                <a:extLst>
                  <a:ext uri="{FF2B5EF4-FFF2-40B4-BE49-F238E27FC236}">
                    <a16:creationId xmlns:a16="http://schemas.microsoft.com/office/drawing/2014/main" id="{4290D65E-2AFC-43F6-C2DF-1101E1626BED}"/>
                  </a:ext>
                </a:extLst>
              </p:cNvPr>
              <p:cNvSpPr/>
              <p:nvPr/>
            </p:nvSpPr>
            <p:spPr>
              <a:xfrm>
                <a:off x="539874" y="3887208"/>
                <a:ext cx="84003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Polynomial Kernel: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矩形 10">
                <a:extLst>
                  <a:ext uri="{FF2B5EF4-FFF2-40B4-BE49-F238E27FC236}">
                    <a16:creationId xmlns:a16="http://schemas.microsoft.com/office/drawing/2014/main" id="{4290D65E-2AFC-43F6-C2DF-1101E1626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874" y="3887208"/>
                <a:ext cx="8400313" cy="461665"/>
              </a:xfrm>
              <a:prstGeom prst="rect">
                <a:avLst/>
              </a:prstGeom>
              <a:blipFill>
                <a:blip r:embed="rId6"/>
                <a:stretch>
                  <a:fillRect l="-1016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11">
                <a:extLst>
                  <a:ext uri="{FF2B5EF4-FFF2-40B4-BE49-F238E27FC236}">
                    <a16:creationId xmlns:a16="http://schemas.microsoft.com/office/drawing/2014/main" id="{818BDDEC-0A4B-60C6-3608-A1E1194EE05E}"/>
                  </a:ext>
                </a:extLst>
              </p:cNvPr>
              <p:cNvSpPr/>
              <p:nvPr/>
            </p:nvSpPr>
            <p:spPr>
              <a:xfrm>
                <a:off x="539675" y="5537698"/>
                <a:ext cx="9696007" cy="668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Gaussian kernel (similar to RBF kernel):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矩形 11">
                <a:extLst>
                  <a:ext uri="{FF2B5EF4-FFF2-40B4-BE49-F238E27FC236}">
                    <a16:creationId xmlns:a16="http://schemas.microsoft.com/office/drawing/2014/main" id="{818BDDEC-0A4B-60C6-3608-A1E1194EE0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75" y="5537698"/>
                <a:ext cx="9696007" cy="668388"/>
              </a:xfrm>
              <a:prstGeom prst="rect">
                <a:avLst/>
              </a:prstGeom>
              <a:blipFill>
                <a:blip r:embed="rId7"/>
                <a:stretch>
                  <a:fillRect l="-881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529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Choose the appropriate kernel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EA10111B-42A5-8BD9-CBC4-C7FDB807BFC5}"/>
              </a:ext>
            </a:extLst>
          </p:cNvPr>
          <p:cNvSpPr txBox="1"/>
          <p:nvPr/>
        </p:nvSpPr>
        <p:spPr>
          <a:xfrm>
            <a:off x="476483" y="1700058"/>
            <a:ext cx="5724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How to choose kernel?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7A7D6CB6-D25F-FF3F-0658-101C0B9C2B77}"/>
              </a:ext>
            </a:extLst>
          </p:cNvPr>
          <p:cNvSpPr/>
          <p:nvPr/>
        </p:nvSpPr>
        <p:spPr>
          <a:xfrm>
            <a:off x="514983" y="2439381"/>
            <a:ext cx="106549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choice of kernel function should be based on the nature of the problem and the characteristics of the data.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9">
            <a:extLst>
              <a:ext uri="{FF2B5EF4-FFF2-40B4-BE49-F238E27FC236}">
                <a16:creationId xmlns:a16="http://schemas.microsoft.com/office/drawing/2014/main" id="{53342862-64B5-181D-2DA7-3CD03DA778CE}"/>
              </a:ext>
            </a:extLst>
          </p:cNvPr>
          <p:cNvSpPr/>
          <p:nvPr/>
        </p:nvSpPr>
        <p:spPr>
          <a:xfrm>
            <a:off x="476483" y="4543825"/>
            <a:ext cx="110759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Gaussian kernels tend to give good results when there is no additional information regarding data.</a:t>
            </a:r>
          </a:p>
        </p:txBody>
      </p:sp>
      <p:sp>
        <p:nvSpPr>
          <p:cNvPr id="5" name="矩形 10">
            <a:extLst>
              <a:ext uri="{FF2B5EF4-FFF2-40B4-BE49-F238E27FC236}">
                <a16:creationId xmlns:a16="http://schemas.microsoft.com/office/drawing/2014/main" id="{2F35A0AD-7A17-1813-465F-DA92B612D3D4}"/>
              </a:ext>
            </a:extLst>
          </p:cNvPr>
          <p:cNvSpPr/>
          <p:nvPr/>
        </p:nvSpPr>
        <p:spPr>
          <a:xfrm>
            <a:off x="476484" y="3484525"/>
            <a:ext cx="109640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linear kernel is mostly preferred for text classification problems as it performs well for large datasets. </a:t>
            </a:r>
          </a:p>
        </p:txBody>
      </p:sp>
      <p:sp>
        <p:nvSpPr>
          <p:cNvPr id="6" name="矩形 11">
            <a:extLst>
              <a:ext uri="{FF2B5EF4-FFF2-40B4-BE49-F238E27FC236}">
                <a16:creationId xmlns:a16="http://schemas.microsoft.com/office/drawing/2014/main" id="{C76F9D05-1B12-71C9-F119-60AEFE07637D}"/>
              </a:ext>
            </a:extLst>
          </p:cNvPr>
          <p:cNvSpPr/>
          <p:nvPr/>
        </p:nvSpPr>
        <p:spPr>
          <a:xfrm>
            <a:off x="514983" y="5582018"/>
            <a:ext cx="3869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Use cross-validation 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87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Choose kernels by cross-validation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396AE3CB-BFCB-1865-5040-06C396868A5C}"/>
              </a:ext>
            </a:extLst>
          </p:cNvPr>
          <p:cNvSpPr txBox="1"/>
          <p:nvPr/>
        </p:nvSpPr>
        <p:spPr>
          <a:xfrm>
            <a:off x="413473" y="1636048"/>
            <a:ext cx="9193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 Split the dataset into training set and test set in different ways.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4">
            <a:extLst>
              <a:ext uri="{FF2B5EF4-FFF2-40B4-BE49-F238E27FC236}">
                <a16:creationId xmlns:a16="http://schemas.microsoft.com/office/drawing/2014/main" id="{3BE17F39-1A97-9BEC-2428-202D04A7DA49}"/>
              </a:ext>
            </a:extLst>
          </p:cNvPr>
          <p:cNvSpPr/>
          <p:nvPr/>
        </p:nvSpPr>
        <p:spPr>
          <a:xfrm>
            <a:off x="107310" y="3603202"/>
            <a:ext cx="1339699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: 圆角 7">
            <a:extLst>
              <a:ext uri="{FF2B5EF4-FFF2-40B4-BE49-F238E27FC236}">
                <a16:creationId xmlns:a16="http://schemas.microsoft.com/office/drawing/2014/main" id="{8769B2C7-514D-97DD-005C-999E0DCBE5E4}"/>
              </a:ext>
            </a:extLst>
          </p:cNvPr>
          <p:cNvSpPr/>
          <p:nvPr/>
        </p:nvSpPr>
        <p:spPr>
          <a:xfrm>
            <a:off x="1968438" y="2480323"/>
            <a:ext cx="1146685" cy="3651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1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: 圆角 9">
            <a:extLst>
              <a:ext uri="{FF2B5EF4-FFF2-40B4-BE49-F238E27FC236}">
                <a16:creationId xmlns:a16="http://schemas.microsoft.com/office/drawing/2014/main" id="{24868F71-248C-A03C-9666-8AD9BE5A9164}"/>
              </a:ext>
            </a:extLst>
          </p:cNvPr>
          <p:cNvSpPr/>
          <p:nvPr/>
        </p:nvSpPr>
        <p:spPr>
          <a:xfrm>
            <a:off x="1979070" y="3043700"/>
            <a:ext cx="11466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2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: 圆角 10">
            <a:extLst>
              <a:ext uri="{FF2B5EF4-FFF2-40B4-BE49-F238E27FC236}">
                <a16:creationId xmlns:a16="http://schemas.microsoft.com/office/drawing/2014/main" id="{7D45F092-2CF3-AA96-8D66-8151E90D2BA5}"/>
              </a:ext>
            </a:extLst>
          </p:cNvPr>
          <p:cNvSpPr/>
          <p:nvPr/>
        </p:nvSpPr>
        <p:spPr>
          <a:xfrm>
            <a:off x="1979070" y="3605949"/>
            <a:ext cx="1136053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3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: 圆角 11">
            <a:extLst>
              <a:ext uri="{FF2B5EF4-FFF2-40B4-BE49-F238E27FC236}">
                <a16:creationId xmlns:a16="http://schemas.microsoft.com/office/drawing/2014/main" id="{CF646780-6045-7388-72C2-BABBCA68AB4A}"/>
              </a:ext>
            </a:extLst>
          </p:cNvPr>
          <p:cNvSpPr/>
          <p:nvPr/>
        </p:nvSpPr>
        <p:spPr>
          <a:xfrm>
            <a:off x="1968438" y="4170454"/>
            <a:ext cx="11466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4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: 圆角 12">
            <a:extLst>
              <a:ext uri="{FF2B5EF4-FFF2-40B4-BE49-F238E27FC236}">
                <a16:creationId xmlns:a16="http://schemas.microsoft.com/office/drawing/2014/main" id="{EF4C52BD-1DA4-709C-571D-D62A9E263822}"/>
              </a:ext>
            </a:extLst>
          </p:cNvPr>
          <p:cNvSpPr/>
          <p:nvPr/>
        </p:nvSpPr>
        <p:spPr>
          <a:xfrm>
            <a:off x="1968438" y="4732703"/>
            <a:ext cx="1146684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5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直接箭头连接符 13">
            <a:extLst>
              <a:ext uri="{FF2B5EF4-FFF2-40B4-BE49-F238E27FC236}">
                <a16:creationId xmlns:a16="http://schemas.microsoft.com/office/drawing/2014/main" id="{40A752E9-8148-5915-96D3-F47A6E6924F5}"/>
              </a:ext>
            </a:extLst>
          </p:cNvPr>
          <p:cNvCxnSpPr>
            <a:cxnSpLocks/>
          </p:cNvCxnSpPr>
          <p:nvPr/>
        </p:nvCxnSpPr>
        <p:spPr>
          <a:xfrm>
            <a:off x="1454692" y="3788511"/>
            <a:ext cx="232386" cy="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5">
            <a:extLst>
              <a:ext uri="{FF2B5EF4-FFF2-40B4-BE49-F238E27FC236}">
                <a16:creationId xmlns:a16="http://schemas.microsoft.com/office/drawing/2014/main" id="{053CEE17-A372-3FEB-156A-B3C93DFE8159}"/>
              </a:ext>
            </a:extLst>
          </p:cNvPr>
          <p:cNvCxnSpPr>
            <a:cxnSpLocks/>
          </p:cNvCxnSpPr>
          <p:nvPr/>
        </p:nvCxnSpPr>
        <p:spPr>
          <a:xfrm>
            <a:off x="1679394" y="2580597"/>
            <a:ext cx="0" cy="2420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8">
            <a:extLst>
              <a:ext uri="{FF2B5EF4-FFF2-40B4-BE49-F238E27FC236}">
                <a16:creationId xmlns:a16="http://schemas.microsoft.com/office/drawing/2014/main" id="{C3A62056-4D69-F8C8-7737-F0632DD08694}"/>
              </a:ext>
            </a:extLst>
          </p:cNvPr>
          <p:cNvCxnSpPr/>
          <p:nvPr/>
        </p:nvCxnSpPr>
        <p:spPr>
          <a:xfrm>
            <a:off x="1679394" y="2580597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20">
            <a:extLst>
              <a:ext uri="{FF2B5EF4-FFF2-40B4-BE49-F238E27FC236}">
                <a16:creationId xmlns:a16="http://schemas.microsoft.com/office/drawing/2014/main" id="{9DFD7457-3073-FC6A-5658-BE6E0FBD6CB6}"/>
              </a:ext>
            </a:extLst>
          </p:cNvPr>
          <p:cNvCxnSpPr/>
          <p:nvPr/>
        </p:nvCxnSpPr>
        <p:spPr>
          <a:xfrm>
            <a:off x="1679394" y="3217297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22">
            <a:extLst>
              <a:ext uri="{FF2B5EF4-FFF2-40B4-BE49-F238E27FC236}">
                <a16:creationId xmlns:a16="http://schemas.microsoft.com/office/drawing/2014/main" id="{7690B050-E446-E72E-D0ED-0047077E4B26}"/>
              </a:ext>
            </a:extLst>
          </p:cNvPr>
          <p:cNvCxnSpPr/>
          <p:nvPr/>
        </p:nvCxnSpPr>
        <p:spPr>
          <a:xfrm>
            <a:off x="1679394" y="3788511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23">
            <a:extLst>
              <a:ext uri="{FF2B5EF4-FFF2-40B4-BE49-F238E27FC236}">
                <a16:creationId xmlns:a16="http://schemas.microsoft.com/office/drawing/2014/main" id="{AEF8CAF8-4609-3D4A-FDC7-E23B7D992B08}"/>
              </a:ext>
            </a:extLst>
          </p:cNvPr>
          <p:cNvCxnSpPr/>
          <p:nvPr/>
        </p:nvCxnSpPr>
        <p:spPr>
          <a:xfrm>
            <a:off x="1690026" y="4353016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24">
            <a:extLst>
              <a:ext uri="{FF2B5EF4-FFF2-40B4-BE49-F238E27FC236}">
                <a16:creationId xmlns:a16="http://schemas.microsoft.com/office/drawing/2014/main" id="{84037914-00FD-2638-EEE7-196922226272}"/>
              </a:ext>
            </a:extLst>
          </p:cNvPr>
          <p:cNvCxnSpPr/>
          <p:nvPr/>
        </p:nvCxnSpPr>
        <p:spPr>
          <a:xfrm>
            <a:off x="1679394" y="5001068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27">
            <a:extLst>
              <a:ext uri="{FF2B5EF4-FFF2-40B4-BE49-F238E27FC236}">
                <a16:creationId xmlns:a16="http://schemas.microsoft.com/office/drawing/2014/main" id="{D1C6F549-4218-6BDE-8828-1765B39956A8}"/>
              </a:ext>
            </a:extLst>
          </p:cNvPr>
          <p:cNvSpPr txBox="1"/>
          <p:nvPr/>
        </p:nvSpPr>
        <p:spPr>
          <a:xfrm>
            <a:off x="1511141" y="5131279"/>
            <a:ext cx="1920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1-th iteration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43">
            <a:extLst>
              <a:ext uri="{FF2B5EF4-FFF2-40B4-BE49-F238E27FC236}">
                <a16:creationId xmlns:a16="http://schemas.microsoft.com/office/drawing/2014/main" id="{7030B153-CFBD-C738-DA83-FB4418F73875}"/>
              </a:ext>
            </a:extLst>
          </p:cNvPr>
          <p:cNvSpPr/>
          <p:nvPr/>
        </p:nvSpPr>
        <p:spPr>
          <a:xfrm>
            <a:off x="3794910" y="3603201"/>
            <a:ext cx="1321741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: 圆角 44">
            <a:extLst>
              <a:ext uri="{FF2B5EF4-FFF2-40B4-BE49-F238E27FC236}">
                <a16:creationId xmlns:a16="http://schemas.microsoft.com/office/drawing/2014/main" id="{686C1482-68BB-6129-32B7-0D28D3BEF284}"/>
              </a:ext>
            </a:extLst>
          </p:cNvPr>
          <p:cNvSpPr/>
          <p:nvPr/>
        </p:nvSpPr>
        <p:spPr>
          <a:xfrm>
            <a:off x="5641029" y="2480323"/>
            <a:ext cx="1146683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1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: 圆角 45">
            <a:extLst>
              <a:ext uri="{FF2B5EF4-FFF2-40B4-BE49-F238E27FC236}">
                <a16:creationId xmlns:a16="http://schemas.microsoft.com/office/drawing/2014/main" id="{164A4CE9-499B-BAF6-8716-EA06A7C27862}"/>
              </a:ext>
            </a:extLst>
          </p:cNvPr>
          <p:cNvSpPr/>
          <p:nvPr/>
        </p:nvSpPr>
        <p:spPr>
          <a:xfrm>
            <a:off x="5651661" y="3043700"/>
            <a:ext cx="1136051" cy="3651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2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: 圆角 46">
            <a:extLst>
              <a:ext uri="{FF2B5EF4-FFF2-40B4-BE49-F238E27FC236}">
                <a16:creationId xmlns:a16="http://schemas.microsoft.com/office/drawing/2014/main" id="{821176C9-AD3A-0F47-BAAF-9E7ACBA1B373}"/>
              </a:ext>
            </a:extLst>
          </p:cNvPr>
          <p:cNvSpPr/>
          <p:nvPr/>
        </p:nvSpPr>
        <p:spPr>
          <a:xfrm>
            <a:off x="5651661" y="3605949"/>
            <a:ext cx="1133942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3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47">
            <a:extLst>
              <a:ext uri="{FF2B5EF4-FFF2-40B4-BE49-F238E27FC236}">
                <a16:creationId xmlns:a16="http://schemas.microsoft.com/office/drawing/2014/main" id="{A379E948-D70D-A200-92F7-7A87D21EA984}"/>
              </a:ext>
            </a:extLst>
          </p:cNvPr>
          <p:cNvSpPr/>
          <p:nvPr/>
        </p:nvSpPr>
        <p:spPr>
          <a:xfrm>
            <a:off x="5641029" y="4170454"/>
            <a:ext cx="1144574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4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: 圆角 48">
            <a:extLst>
              <a:ext uri="{FF2B5EF4-FFF2-40B4-BE49-F238E27FC236}">
                <a16:creationId xmlns:a16="http://schemas.microsoft.com/office/drawing/2014/main" id="{75D009D8-9C74-B109-622F-EB28CBB27D39}"/>
              </a:ext>
            </a:extLst>
          </p:cNvPr>
          <p:cNvSpPr/>
          <p:nvPr/>
        </p:nvSpPr>
        <p:spPr>
          <a:xfrm>
            <a:off x="5641029" y="4732703"/>
            <a:ext cx="1144573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5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直接箭头连接符 49">
            <a:extLst>
              <a:ext uri="{FF2B5EF4-FFF2-40B4-BE49-F238E27FC236}">
                <a16:creationId xmlns:a16="http://schemas.microsoft.com/office/drawing/2014/main" id="{6CB5E46A-D249-BD09-A803-231B2D371B4C}"/>
              </a:ext>
            </a:extLst>
          </p:cNvPr>
          <p:cNvCxnSpPr>
            <a:cxnSpLocks/>
          </p:cNvCxnSpPr>
          <p:nvPr/>
        </p:nvCxnSpPr>
        <p:spPr>
          <a:xfrm>
            <a:off x="5127283" y="3788511"/>
            <a:ext cx="232386" cy="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50">
            <a:extLst>
              <a:ext uri="{FF2B5EF4-FFF2-40B4-BE49-F238E27FC236}">
                <a16:creationId xmlns:a16="http://schemas.microsoft.com/office/drawing/2014/main" id="{3161DDDA-C503-4789-F7C2-AB059E60A5C7}"/>
              </a:ext>
            </a:extLst>
          </p:cNvPr>
          <p:cNvCxnSpPr>
            <a:cxnSpLocks/>
          </p:cNvCxnSpPr>
          <p:nvPr/>
        </p:nvCxnSpPr>
        <p:spPr>
          <a:xfrm>
            <a:off x="5351985" y="2580597"/>
            <a:ext cx="0" cy="2420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51">
            <a:extLst>
              <a:ext uri="{FF2B5EF4-FFF2-40B4-BE49-F238E27FC236}">
                <a16:creationId xmlns:a16="http://schemas.microsoft.com/office/drawing/2014/main" id="{5193A038-C52A-89D6-351B-9BB189398ACD}"/>
              </a:ext>
            </a:extLst>
          </p:cNvPr>
          <p:cNvCxnSpPr/>
          <p:nvPr/>
        </p:nvCxnSpPr>
        <p:spPr>
          <a:xfrm>
            <a:off x="5351985" y="2580597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52">
            <a:extLst>
              <a:ext uri="{FF2B5EF4-FFF2-40B4-BE49-F238E27FC236}">
                <a16:creationId xmlns:a16="http://schemas.microsoft.com/office/drawing/2014/main" id="{9852E208-4C1F-9DDD-F109-8A624555A918}"/>
              </a:ext>
            </a:extLst>
          </p:cNvPr>
          <p:cNvCxnSpPr/>
          <p:nvPr/>
        </p:nvCxnSpPr>
        <p:spPr>
          <a:xfrm>
            <a:off x="5351985" y="3217297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53">
            <a:extLst>
              <a:ext uri="{FF2B5EF4-FFF2-40B4-BE49-F238E27FC236}">
                <a16:creationId xmlns:a16="http://schemas.microsoft.com/office/drawing/2014/main" id="{C13C1DFE-CC70-E1DE-2859-886898F2C0B6}"/>
              </a:ext>
            </a:extLst>
          </p:cNvPr>
          <p:cNvCxnSpPr/>
          <p:nvPr/>
        </p:nvCxnSpPr>
        <p:spPr>
          <a:xfrm>
            <a:off x="5351985" y="3788511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54">
            <a:extLst>
              <a:ext uri="{FF2B5EF4-FFF2-40B4-BE49-F238E27FC236}">
                <a16:creationId xmlns:a16="http://schemas.microsoft.com/office/drawing/2014/main" id="{792EBE45-1CE1-4418-6FAF-3C56E0C1D85A}"/>
              </a:ext>
            </a:extLst>
          </p:cNvPr>
          <p:cNvCxnSpPr/>
          <p:nvPr/>
        </p:nvCxnSpPr>
        <p:spPr>
          <a:xfrm>
            <a:off x="5362617" y="4353016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55">
            <a:extLst>
              <a:ext uri="{FF2B5EF4-FFF2-40B4-BE49-F238E27FC236}">
                <a16:creationId xmlns:a16="http://schemas.microsoft.com/office/drawing/2014/main" id="{3093E45D-E649-1DF7-5C9A-9932DA7D0642}"/>
              </a:ext>
            </a:extLst>
          </p:cNvPr>
          <p:cNvCxnSpPr/>
          <p:nvPr/>
        </p:nvCxnSpPr>
        <p:spPr>
          <a:xfrm>
            <a:off x="5351985" y="5001068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56">
            <a:extLst>
              <a:ext uri="{FF2B5EF4-FFF2-40B4-BE49-F238E27FC236}">
                <a16:creationId xmlns:a16="http://schemas.microsoft.com/office/drawing/2014/main" id="{DD430638-9944-326F-8B12-D3F3DCED31F6}"/>
              </a:ext>
            </a:extLst>
          </p:cNvPr>
          <p:cNvSpPr txBox="1"/>
          <p:nvPr/>
        </p:nvSpPr>
        <p:spPr>
          <a:xfrm>
            <a:off x="5221120" y="5132280"/>
            <a:ext cx="1933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2-th iteration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椭圆 57">
            <a:extLst>
              <a:ext uri="{FF2B5EF4-FFF2-40B4-BE49-F238E27FC236}">
                <a16:creationId xmlns:a16="http://schemas.microsoft.com/office/drawing/2014/main" id="{8E2F4564-4C5F-8F45-4CEC-0B30889159CF}"/>
              </a:ext>
            </a:extLst>
          </p:cNvPr>
          <p:cNvSpPr/>
          <p:nvPr/>
        </p:nvSpPr>
        <p:spPr>
          <a:xfrm>
            <a:off x="6977956" y="3744981"/>
            <a:ext cx="87060" cy="870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椭圆 58">
            <a:extLst>
              <a:ext uri="{FF2B5EF4-FFF2-40B4-BE49-F238E27FC236}">
                <a16:creationId xmlns:a16="http://schemas.microsoft.com/office/drawing/2014/main" id="{0ECD7FAF-EA6E-3058-EFFB-1DF0C9C8BC9E}"/>
              </a:ext>
            </a:extLst>
          </p:cNvPr>
          <p:cNvSpPr/>
          <p:nvPr/>
        </p:nvSpPr>
        <p:spPr>
          <a:xfrm>
            <a:off x="7137467" y="3744981"/>
            <a:ext cx="87060" cy="870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椭圆 59">
            <a:extLst>
              <a:ext uri="{FF2B5EF4-FFF2-40B4-BE49-F238E27FC236}">
                <a16:creationId xmlns:a16="http://schemas.microsoft.com/office/drawing/2014/main" id="{EC8CF2B3-9C18-FCAD-8F5A-CDBE84F0F676}"/>
              </a:ext>
            </a:extLst>
          </p:cNvPr>
          <p:cNvSpPr/>
          <p:nvPr/>
        </p:nvSpPr>
        <p:spPr>
          <a:xfrm>
            <a:off x="7296978" y="3744981"/>
            <a:ext cx="87060" cy="870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60">
            <a:extLst>
              <a:ext uri="{FF2B5EF4-FFF2-40B4-BE49-F238E27FC236}">
                <a16:creationId xmlns:a16="http://schemas.microsoft.com/office/drawing/2014/main" id="{5B0A621B-F1D8-C3CE-1EF4-EB377CA4A1A8}"/>
              </a:ext>
            </a:extLst>
          </p:cNvPr>
          <p:cNvSpPr/>
          <p:nvPr/>
        </p:nvSpPr>
        <p:spPr>
          <a:xfrm>
            <a:off x="7588970" y="3603202"/>
            <a:ext cx="127942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: 圆角 61">
            <a:extLst>
              <a:ext uri="{FF2B5EF4-FFF2-40B4-BE49-F238E27FC236}">
                <a16:creationId xmlns:a16="http://schemas.microsoft.com/office/drawing/2014/main" id="{F99FC1E2-9DA8-A1D9-F0E4-45ABC8A0D018}"/>
              </a:ext>
            </a:extLst>
          </p:cNvPr>
          <p:cNvSpPr/>
          <p:nvPr/>
        </p:nvSpPr>
        <p:spPr>
          <a:xfrm>
            <a:off x="9380947" y="2498221"/>
            <a:ext cx="1225417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1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: 圆角 62">
            <a:extLst>
              <a:ext uri="{FF2B5EF4-FFF2-40B4-BE49-F238E27FC236}">
                <a16:creationId xmlns:a16="http://schemas.microsoft.com/office/drawing/2014/main" id="{8526FF88-1BDF-7AA1-4A34-7B0B201EBEA8}"/>
              </a:ext>
            </a:extLst>
          </p:cNvPr>
          <p:cNvSpPr/>
          <p:nvPr/>
        </p:nvSpPr>
        <p:spPr>
          <a:xfrm>
            <a:off x="9391579" y="3061598"/>
            <a:ext cx="1214783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2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: 圆角 63">
            <a:extLst>
              <a:ext uri="{FF2B5EF4-FFF2-40B4-BE49-F238E27FC236}">
                <a16:creationId xmlns:a16="http://schemas.microsoft.com/office/drawing/2014/main" id="{22124B76-BCA5-23B9-94C4-74FA3F1AAAC0}"/>
              </a:ext>
            </a:extLst>
          </p:cNvPr>
          <p:cNvSpPr/>
          <p:nvPr/>
        </p:nvSpPr>
        <p:spPr>
          <a:xfrm>
            <a:off x="9391579" y="3623847"/>
            <a:ext cx="1214782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3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: 圆角 64">
            <a:extLst>
              <a:ext uri="{FF2B5EF4-FFF2-40B4-BE49-F238E27FC236}">
                <a16:creationId xmlns:a16="http://schemas.microsoft.com/office/drawing/2014/main" id="{AEF46905-BC03-518B-F6F6-026684281567}"/>
              </a:ext>
            </a:extLst>
          </p:cNvPr>
          <p:cNvSpPr/>
          <p:nvPr/>
        </p:nvSpPr>
        <p:spPr>
          <a:xfrm>
            <a:off x="9380947" y="4188352"/>
            <a:ext cx="1214781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4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: 圆角 65">
            <a:extLst>
              <a:ext uri="{FF2B5EF4-FFF2-40B4-BE49-F238E27FC236}">
                <a16:creationId xmlns:a16="http://schemas.microsoft.com/office/drawing/2014/main" id="{7F78CABF-F689-00A5-6516-0685C04E7118}"/>
              </a:ext>
            </a:extLst>
          </p:cNvPr>
          <p:cNvSpPr/>
          <p:nvPr/>
        </p:nvSpPr>
        <p:spPr>
          <a:xfrm>
            <a:off x="9380947" y="4750601"/>
            <a:ext cx="1214781" cy="3651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Fold 5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接箭头连接符 66">
            <a:extLst>
              <a:ext uri="{FF2B5EF4-FFF2-40B4-BE49-F238E27FC236}">
                <a16:creationId xmlns:a16="http://schemas.microsoft.com/office/drawing/2014/main" id="{57993CB6-A877-E794-6E1E-93C35B7C80FB}"/>
              </a:ext>
            </a:extLst>
          </p:cNvPr>
          <p:cNvCxnSpPr>
            <a:cxnSpLocks/>
          </p:cNvCxnSpPr>
          <p:nvPr/>
        </p:nvCxnSpPr>
        <p:spPr>
          <a:xfrm>
            <a:off x="8867201" y="3806409"/>
            <a:ext cx="232386" cy="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67">
            <a:extLst>
              <a:ext uri="{FF2B5EF4-FFF2-40B4-BE49-F238E27FC236}">
                <a16:creationId xmlns:a16="http://schemas.microsoft.com/office/drawing/2014/main" id="{9671839F-00C6-6BD5-3F18-3AEF88A49981}"/>
              </a:ext>
            </a:extLst>
          </p:cNvPr>
          <p:cNvCxnSpPr>
            <a:cxnSpLocks/>
          </p:cNvCxnSpPr>
          <p:nvPr/>
        </p:nvCxnSpPr>
        <p:spPr>
          <a:xfrm>
            <a:off x="9091903" y="2598495"/>
            <a:ext cx="0" cy="2420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68">
            <a:extLst>
              <a:ext uri="{FF2B5EF4-FFF2-40B4-BE49-F238E27FC236}">
                <a16:creationId xmlns:a16="http://schemas.microsoft.com/office/drawing/2014/main" id="{987B25C8-CA6B-9278-EC9C-850F6773B54F}"/>
              </a:ext>
            </a:extLst>
          </p:cNvPr>
          <p:cNvCxnSpPr/>
          <p:nvPr/>
        </p:nvCxnSpPr>
        <p:spPr>
          <a:xfrm>
            <a:off x="9091903" y="2598495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69">
            <a:extLst>
              <a:ext uri="{FF2B5EF4-FFF2-40B4-BE49-F238E27FC236}">
                <a16:creationId xmlns:a16="http://schemas.microsoft.com/office/drawing/2014/main" id="{13BD751B-C8B8-6F5C-E74E-25532B840902}"/>
              </a:ext>
            </a:extLst>
          </p:cNvPr>
          <p:cNvCxnSpPr/>
          <p:nvPr/>
        </p:nvCxnSpPr>
        <p:spPr>
          <a:xfrm>
            <a:off x="9091903" y="3235195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70">
            <a:extLst>
              <a:ext uri="{FF2B5EF4-FFF2-40B4-BE49-F238E27FC236}">
                <a16:creationId xmlns:a16="http://schemas.microsoft.com/office/drawing/2014/main" id="{BC20140D-0404-4ABA-E79B-0C7FFAE8344B}"/>
              </a:ext>
            </a:extLst>
          </p:cNvPr>
          <p:cNvCxnSpPr/>
          <p:nvPr/>
        </p:nvCxnSpPr>
        <p:spPr>
          <a:xfrm>
            <a:off x="9091903" y="3806409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71">
            <a:extLst>
              <a:ext uri="{FF2B5EF4-FFF2-40B4-BE49-F238E27FC236}">
                <a16:creationId xmlns:a16="http://schemas.microsoft.com/office/drawing/2014/main" id="{89238309-847E-77BD-63E6-D1298AFBB381}"/>
              </a:ext>
            </a:extLst>
          </p:cNvPr>
          <p:cNvCxnSpPr/>
          <p:nvPr/>
        </p:nvCxnSpPr>
        <p:spPr>
          <a:xfrm>
            <a:off x="9102535" y="4370914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72">
            <a:extLst>
              <a:ext uri="{FF2B5EF4-FFF2-40B4-BE49-F238E27FC236}">
                <a16:creationId xmlns:a16="http://schemas.microsoft.com/office/drawing/2014/main" id="{91B790E8-EB1C-CB86-B50B-33AA81CB9E10}"/>
              </a:ext>
            </a:extLst>
          </p:cNvPr>
          <p:cNvCxnSpPr/>
          <p:nvPr/>
        </p:nvCxnSpPr>
        <p:spPr>
          <a:xfrm>
            <a:off x="9091903" y="5018966"/>
            <a:ext cx="289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73">
            <a:extLst>
              <a:ext uri="{FF2B5EF4-FFF2-40B4-BE49-F238E27FC236}">
                <a16:creationId xmlns:a16="http://schemas.microsoft.com/office/drawing/2014/main" id="{C625CC86-9C2B-7C25-0F40-84FD3003DEEF}"/>
              </a:ext>
            </a:extLst>
          </p:cNvPr>
          <p:cNvSpPr txBox="1"/>
          <p:nvPr/>
        </p:nvSpPr>
        <p:spPr>
          <a:xfrm>
            <a:off x="8983394" y="5138990"/>
            <a:ext cx="2302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5-th iteration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矩形: 圆角 74">
            <a:extLst>
              <a:ext uri="{FF2B5EF4-FFF2-40B4-BE49-F238E27FC236}">
                <a16:creationId xmlns:a16="http://schemas.microsoft.com/office/drawing/2014/main" id="{0F55338A-E8DA-B3D1-8572-E41F7170D1E9}"/>
              </a:ext>
            </a:extLst>
          </p:cNvPr>
          <p:cNvSpPr/>
          <p:nvPr/>
        </p:nvSpPr>
        <p:spPr>
          <a:xfrm>
            <a:off x="1834548" y="5710346"/>
            <a:ext cx="935585" cy="3651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矩形: 圆角 76">
            <a:extLst>
              <a:ext uri="{FF2B5EF4-FFF2-40B4-BE49-F238E27FC236}">
                <a16:creationId xmlns:a16="http://schemas.microsoft.com/office/drawing/2014/main" id="{43CDBF4A-251B-5D0C-B96F-50893C21410A}"/>
              </a:ext>
            </a:extLst>
          </p:cNvPr>
          <p:cNvSpPr/>
          <p:nvPr/>
        </p:nvSpPr>
        <p:spPr>
          <a:xfrm>
            <a:off x="6593302" y="5696089"/>
            <a:ext cx="935585" cy="3651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77">
            <a:extLst>
              <a:ext uri="{FF2B5EF4-FFF2-40B4-BE49-F238E27FC236}">
                <a16:creationId xmlns:a16="http://schemas.microsoft.com/office/drawing/2014/main" id="{91D70961-7E41-FBD7-5F44-01286A8853B2}"/>
              </a:ext>
            </a:extLst>
          </p:cNvPr>
          <p:cNvSpPr txBox="1"/>
          <p:nvPr/>
        </p:nvSpPr>
        <p:spPr>
          <a:xfrm>
            <a:off x="2793096" y="5644172"/>
            <a:ext cx="22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Test dataset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78">
            <a:extLst>
              <a:ext uri="{FF2B5EF4-FFF2-40B4-BE49-F238E27FC236}">
                <a16:creationId xmlns:a16="http://schemas.microsoft.com/office/drawing/2014/main" id="{68E51F78-5B84-6204-5CD9-7802C086108F}"/>
              </a:ext>
            </a:extLst>
          </p:cNvPr>
          <p:cNvSpPr txBox="1"/>
          <p:nvPr/>
        </p:nvSpPr>
        <p:spPr>
          <a:xfrm>
            <a:off x="7545253" y="5645185"/>
            <a:ext cx="2453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Training dataset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80">
            <a:extLst>
              <a:ext uri="{FF2B5EF4-FFF2-40B4-BE49-F238E27FC236}">
                <a16:creationId xmlns:a16="http://schemas.microsoft.com/office/drawing/2014/main" id="{CB62693C-ED6A-F203-8383-2F14AD45A31E}"/>
              </a:ext>
            </a:extLst>
          </p:cNvPr>
          <p:cNvSpPr txBox="1"/>
          <p:nvPr/>
        </p:nvSpPr>
        <p:spPr>
          <a:xfrm>
            <a:off x="431149" y="6168270"/>
            <a:ext cx="10989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2. For each candidate kernel, train and test the model on each split dataset.  </a:t>
            </a:r>
          </a:p>
        </p:txBody>
      </p:sp>
    </p:spTree>
    <p:extLst>
      <p:ext uri="{BB962C8B-B14F-4D97-AF65-F5344CB8AC3E}">
        <p14:creationId xmlns:p14="http://schemas.microsoft.com/office/powerpoint/2010/main" val="343172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Choose kernels by cross-validation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798821D6-3A9C-CF90-8A88-65A7DE485ECC}"/>
              </a:ext>
            </a:extLst>
          </p:cNvPr>
          <p:cNvSpPr txBox="1"/>
          <p:nvPr/>
        </p:nvSpPr>
        <p:spPr>
          <a:xfrm>
            <a:off x="341609" y="1550149"/>
            <a:ext cx="9735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3. Suppose we have three candidate kernels: linear, Gaussian, RBF.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75">
                <a:extLst>
                  <a:ext uri="{FF2B5EF4-FFF2-40B4-BE49-F238E27FC236}">
                    <a16:creationId xmlns:a16="http://schemas.microsoft.com/office/drawing/2014/main" id="{78DA703F-BD70-023A-E84F-BC3347B8A5F3}"/>
                  </a:ext>
                </a:extLst>
              </p:cNvPr>
              <p:cNvSpPr txBox="1"/>
              <p:nvPr/>
            </p:nvSpPr>
            <p:spPr>
              <a:xfrm>
                <a:off x="526478" y="2154170"/>
                <a:ext cx="107262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After k-cross validation, we will get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different estimates prediction accuracy:</a:t>
                </a:r>
              </a:p>
            </p:txBody>
          </p:sp>
        </mc:Choice>
        <mc:Fallback xmlns="">
          <p:sp>
            <p:nvSpPr>
              <p:cNvPr id="3" name="文本框 75">
                <a:extLst>
                  <a:ext uri="{FF2B5EF4-FFF2-40B4-BE49-F238E27FC236}">
                    <a16:creationId xmlns:a16="http://schemas.microsoft.com/office/drawing/2014/main" id="{78DA703F-BD70-023A-E84F-BC3347B8A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78" y="2154170"/>
                <a:ext cx="10726239" cy="461665"/>
              </a:xfrm>
              <a:prstGeom prst="rect">
                <a:avLst/>
              </a:prstGeom>
              <a:blipFill>
                <a:blip r:embed="rId3"/>
                <a:stretch>
                  <a:fillRect l="-852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4">
                <a:extLst>
                  <a:ext uri="{FF2B5EF4-FFF2-40B4-BE49-F238E27FC236}">
                    <a16:creationId xmlns:a16="http://schemas.microsoft.com/office/drawing/2014/main" id="{5D120E6E-A804-6024-92AB-77A89AC6875C}"/>
                  </a:ext>
                </a:extLst>
              </p:cNvPr>
              <p:cNvSpPr txBox="1"/>
              <p:nvPr/>
            </p:nvSpPr>
            <p:spPr>
              <a:xfrm>
                <a:off x="2183231" y="2659843"/>
                <a:ext cx="3620410" cy="1258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,⋯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Gaussian: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,⋯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bSup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RBF: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,⋯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4">
                <a:extLst>
                  <a:ext uri="{FF2B5EF4-FFF2-40B4-BE49-F238E27FC236}">
                    <a16:creationId xmlns:a16="http://schemas.microsoft.com/office/drawing/2014/main" id="{5D120E6E-A804-6024-92AB-77A89AC68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231" y="2659843"/>
                <a:ext cx="3620410" cy="1258678"/>
              </a:xfrm>
              <a:prstGeom prst="rect">
                <a:avLst/>
              </a:prstGeom>
              <a:blipFill>
                <a:blip r:embed="rId4"/>
                <a:stretch>
                  <a:fillRect l="-2189" t="-1932" b="-9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6">
            <a:extLst>
              <a:ext uri="{FF2B5EF4-FFF2-40B4-BE49-F238E27FC236}">
                <a16:creationId xmlns:a16="http://schemas.microsoft.com/office/drawing/2014/main" id="{9E693788-99E6-620A-6F1B-6B8787E1C3C9}"/>
              </a:ext>
            </a:extLst>
          </p:cNvPr>
          <p:cNvSpPr txBox="1"/>
          <p:nvPr/>
        </p:nvSpPr>
        <p:spPr>
          <a:xfrm>
            <a:off x="402568" y="3956375"/>
            <a:ext cx="9282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4. Then we average them to get the average prediction accuracy:</a:t>
            </a:r>
          </a:p>
          <a:p>
            <a:pPr algn="ctr"/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B85FABDC-6F26-C47A-81DE-E3A365F4B3F9}"/>
              </a:ext>
            </a:extLst>
          </p:cNvPr>
          <p:cNvSpPr txBox="1"/>
          <p:nvPr/>
        </p:nvSpPr>
        <p:spPr>
          <a:xfrm>
            <a:off x="404077" y="5270702"/>
            <a:ext cx="8487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5. Choose the kernel with the best prediction accuracy.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8">
            <a:extLst>
              <a:ext uri="{FF2B5EF4-FFF2-40B4-BE49-F238E27FC236}">
                <a16:creationId xmlns:a16="http://schemas.microsoft.com/office/drawing/2014/main" id="{CD370417-AD5E-73AE-B731-F4789D11ADDB}"/>
              </a:ext>
            </a:extLst>
          </p:cNvPr>
          <p:cNvSpPr txBox="1"/>
          <p:nvPr/>
        </p:nvSpPr>
        <p:spPr>
          <a:xfrm>
            <a:off x="666206" y="6096825"/>
            <a:ext cx="5315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details in MATLAB case study.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9">
                <a:extLst>
                  <a:ext uri="{FF2B5EF4-FFF2-40B4-BE49-F238E27FC236}">
                    <a16:creationId xmlns:a16="http://schemas.microsoft.com/office/drawing/2014/main" id="{E4A281C8-570E-7E60-CB1C-0F7002390BDE}"/>
                  </a:ext>
                </a:extLst>
              </p:cNvPr>
              <p:cNvSpPr/>
              <p:nvPr/>
            </p:nvSpPr>
            <p:spPr>
              <a:xfrm>
                <a:off x="3586190" y="4648628"/>
                <a:ext cx="1419171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矩形 9">
                <a:extLst>
                  <a:ext uri="{FF2B5EF4-FFF2-40B4-BE49-F238E27FC236}">
                    <a16:creationId xmlns:a16="http://schemas.microsoft.com/office/drawing/2014/main" id="{E4A281C8-570E-7E60-CB1C-0F7002390B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190" y="4648628"/>
                <a:ext cx="1419171" cy="468205"/>
              </a:xfrm>
              <a:prstGeom prst="rect">
                <a:avLst/>
              </a:prstGeom>
              <a:blipFill>
                <a:blip r:embed="rId5"/>
                <a:stretch>
                  <a:fillRect r="-11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53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2" name="图片 12">
            <a:extLst>
              <a:ext uri="{FF2B5EF4-FFF2-40B4-BE49-F238E27FC236}">
                <a16:creationId xmlns:a16="http://schemas.microsoft.com/office/drawing/2014/main" id="{D3F4D454-AFA6-87BD-4119-030D2C734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63" y="2560648"/>
            <a:ext cx="4290504" cy="3543109"/>
          </a:xfrm>
          <a:prstGeom prst="rect">
            <a:avLst/>
          </a:prstGeom>
        </p:spPr>
      </p:pic>
      <p:pic>
        <p:nvPicPr>
          <p:cNvPr id="3" name="图片 1">
            <a:extLst>
              <a:ext uri="{FF2B5EF4-FFF2-40B4-BE49-F238E27FC236}">
                <a16:creationId xmlns:a16="http://schemas.microsoft.com/office/drawing/2014/main" id="{677D924C-C060-DC50-6768-A4E2E69A6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13790"/>
            <a:ext cx="3584448" cy="3356522"/>
          </a:xfrm>
          <a:prstGeom prst="rect">
            <a:avLst/>
          </a:prstGeom>
        </p:spPr>
      </p:pic>
      <p:sp>
        <p:nvSpPr>
          <p:cNvPr id="4" name="文本框 2">
            <a:extLst>
              <a:ext uri="{FF2B5EF4-FFF2-40B4-BE49-F238E27FC236}">
                <a16:creationId xmlns:a16="http://schemas.microsoft.com/office/drawing/2014/main" id="{F2AEB649-4266-58CA-ECC7-BEFE9E14B266}"/>
              </a:ext>
            </a:extLst>
          </p:cNvPr>
          <p:cNvSpPr txBox="1"/>
          <p:nvPr/>
        </p:nvSpPr>
        <p:spPr>
          <a:xfrm>
            <a:off x="1573847" y="1830638"/>
            <a:ext cx="7224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Train nonlinear SVM using a Gaussian kernel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543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1B8EA8-FC3A-4F07-8BAC-0534131B8D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C8E933-7C2B-4303-A25D-1FFA1A0F2C09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7FD76C51-AA40-44C8-8F1D-1E080C0BD1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2910</TotalTime>
  <Words>1008</Words>
  <Application>Microsoft Office PowerPoint</Application>
  <PresentationFormat>Widescreen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Non-linear SVM</vt:lpstr>
      <vt:lpstr>Non-linear SVM</vt:lpstr>
      <vt:lpstr>Kernel</vt:lpstr>
      <vt:lpstr>Kernel</vt:lpstr>
      <vt:lpstr>Apply kernel to the dual problem</vt:lpstr>
      <vt:lpstr>Apply kernel to the dual problem</vt:lpstr>
      <vt:lpstr>Kernel trick</vt:lpstr>
      <vt:lpstr>Kernel trick</vt:lpstr>
      <vt:lpstr>Widely used kernels</vt:lpstr>
      <vt:lpstr>Choose the appropriate kernel</vt:lpstr>
      <vt:lpstr>Choose kernels by cross-validation</vt:lpstr>
      <vt:lpstr>Choose kernels by cross-validation</vt:lpstr>
      <vt:lpstr>Example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84</cp:revision>
  <dcterms:created xsi:type="dcterms:W3CDTF">2021-01-06T14:22:07Z</dcterms:created>
  <dcterms:modified xsi:type="dcterms:W3CDTF">2024-08-16T16:02:06Z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