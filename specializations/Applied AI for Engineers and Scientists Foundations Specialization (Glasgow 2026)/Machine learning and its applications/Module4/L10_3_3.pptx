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2"/>
  </p:notesMasterIdLst>
  <p:sldIdLst>
    <p:sldId id="256" r:id="rId5"/>
    <p:sldId id="494" r:id="rId6"/>
    <p:sldId id="496" r:id="rId7"/>
    <p:sldId id="497" r:id="rId8"/>
    <p:sldId id="498" r:id="rId9"/>
    <p:sldId id="499" r:id="rId10"/>
    <p:sldId id="27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3359" autoAdjust="0"/>
    <p:restoredTop sz="96327"/>
  </p:normalViewPr>
  <p:slideViewPr>
    <p:cSldViewPr snapToGrid="0">
      <p:cViewPr varScale="1">
        <p:scale>
          <a:sx n="153" d="100"/>
          <a:sy n="153" d="100"/>
        </p:scale>
        <p:origin x="92" y="156"/>
      </p:cViewPr>
      <p:guideLst/>
    </p:cSldViewPr>
  </p:slideViewPr>
  <p:outlineViewPr>
    <p:cViewPr>
      <p:scale>
        <a:sx n="30" d="100"/>
        <a:sy n="30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95AE2-43AC-144B-AE88-DCB376799F11}" type="datetimeFigureOut">
              <a:rPr lang="en-US" smtClean="0"/>
              <a:t>7/16/2024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24E5BB-E6B0-B84A-ABCD-9A3E9C2D7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42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9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2024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7342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2159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660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3995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494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3BB4406-02B4-284F-84C5-A21F22E6B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5FEA054A-F191-E34B-8C26-BA11F3F0C0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11474450" cy="4606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2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EE31514-F8EA-5D4E-B45D-65DD78DBE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2524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91D55F9-A3F2-1242-A5F3-5AAACC9DB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9408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6629400" cy="789709"/>
          </a:xfrm>
        </p:spPr>
        <p:txBody>
          <a:bodyPr anchor="t">
            <a:normAutofit/>
          </a:bodyPr>
          <a:lstStyle>
            <a:lvl1pPr algn="l">
              <a:defRPr sz="2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0418" y="3015529"/>
            <a:ext cx="5680364" cy="623598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4273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97420DD-2415-454D-AA0F-DBDA719CB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1283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680" y="2123676"/>
            <a:ext cx="4027169" cy="1600200"/>
          </a:xfrm>
        </p:spPr>
        <p:txBody>
          <a:bodyPr anchor="t">
            <a:normAutofit/>
          </a:bodyPr>
          <a:lstStyle>
            <a:lvl1pPr algn="l">
              <a:defRPr sz="280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1680" y="3934224"/>
            <a:ext cx="4030345" cy="1934763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8039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A65B24-645B-1746-9651-55C209C5E2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810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1800" y="681037"/>
            <a:ext cx="5842000" cy="10096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24FB1-CB24-4B4C-BFD4-AD276D9A4059}" type="datetimeFigureOut">
              <a:rPr lang="en-GB" smtClean="0"/>
              <a:t>16/07/2024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9F3F6-C255-4AC5-91C2-3F61B6509B36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262A0F-9E49-6B4D-94F3-647B33A25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69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52" r:id="rId2"/>
    <p:sldLayoutId id="2147483653" r:id="rId3"/>
    <p:sldLayoutId id="2147483649" r:id="rId4"/>
    <p:sldLayoutId id="2147483654" r:id="rId5"/>
    <p:sldLayoutId id="2147483656" r:id="rId6"/>
    <p:sldLayoutId id="2147483684" r:id="rId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he Gilbert Scott Building">
            <a:extLst>
              <a:ext uri="{FF2B5EF4-FFF2-40B4-BE49-F238E27FC236}">
                <a16:creationId xmlns:a16="http://schemas.microsoft.com/office/drawing/2014/main" id="{BAB3C4BD-A67A-4D47-6D5C-637F167E7C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8210986" cy="78970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2D Point Classification Example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FC54586-8882-6804-A250-091EB79369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418" y="2576945"/>
            <a:ext cx="5680364" cy="1062182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Professor Bo Liu</a:t>
            </a:r>
          </a:p>
          <a:p>
            <a:r>
              <a:rPr lang="en-GB" dirty="0">
                <a:solidFill>
                  <a:schemeClr val="tx1"/>
                </a:solidFill>
              </a:rPr>
              <a:t>James Watt School of Engineering</a:t>
            </a:r>
          </a:p>
        </p:txBody>
      </p:sp>
    </p:spTree>
    <p:extLst>
      <p:ext uri="{BB962C8B-B14F-4D97-AF65-F5344CB8AC3E}">
        <p14:creationId xmlns:p14="http://schemas.microsoft.com/office/powerpoint/2010/main" val="4244171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Nonlinear SVM – 2D point classification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E8DD159-86D6-ABFD-0473-949A3FB9049C}"/>
              </a:ext>
            </a:extLst>
          </p:cNvPr>
          <p:cNvSpPr txBox="1"/>
          <p:nvPr/>
        </p:nvSpPr>
        <p:spPr>
          <a:xfrm>
            <a:off x="186612" y="1434022"/>
            <a:ext cx="60690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A simple example for illustrative purpose.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13">
            <a:extLst>
              <a:ext uri="{FF2B5EF4-FFF2-40B4-BE49-F238E27FC236}">
                <a16:creationId xmlns:a16="http://schemas.microsoft.com/office/drawing/2014/main" id="{4F08001D-A51E-D831-90AB-F987EC449991}"/>
              </a:ext>
            </a:extLst>
          </p:cNvPr>
          <p:cNvSpPr txBox="1"/>
          <p:nvPr/>
        </p:nvSpPr>
        <p:spPr>
          <a:xfrm>
            <a:off x="181429" y="1895687"/>
            <a:ext cx="81041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We generate the data by the following code. </a:t>
            </a:r>
          </a:p>
        </p:txBody>
      </p:sp>
      <p:pic>
        <p:nvPicPr>
          <p:cNvPr id="4" name="图片 16">
            <a:extLst>
              <a:ext uri="{FF2B5EF4-FFF2-40B4-BE49-F238E27FC236}">
                <a16:creationId xmlns:a16="http://schemas.microsoft.com/office/drawing/2014/main" id="{3ED80805-8BC9-206D-989A-F971DDA0CF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7480" y="2858056"/>
            <a:ext cx="3725333" cy="3005667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DD357016-4484-B547-F51B-E24953BBE71D}"/>
              </a:ext>
            </a:extLst>
          </p:cNvPr>
          <p:cNvGrpSpPr/>
          <p:nvPr/>
        </p:nvGrpSpPr>
        <p:grpSpPr>
          <a:xfrm>
            <a:off x="501606" y="2858056"/>
            <a:ext cx="10632119" cy="3512153"/>
            <a:chOff x="501606" y="2858056"/>
            <a:chExt cx="10632119" cy="3512153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66A87CF8-AEAE-69C9-BE1D-A05983C429D5}"/>
                </a:ext>
              </a:extLst>
            </p:cNvPr>
            <p:cNvSpPr/>
            <p:nvPr/>
          </p:nvSpPr>
          <p:spPr>
            <a:xfrm>
              <a:off x="501606" y="2858056"/>
              <a:ext cx="5909388" cy="3327487"/>
            </a:xfrm>
            <a:prstGeom prst="roundRect">
              <a:avLst>
                <a:gd name="adj" fmla="val 4506"/>
              </a:avLst>
            </a:prstGeom>
            <a:solidFill>
              <a:srgbClr val="F2F2F2"/>
            </a:solidFill>
            <a:ln>
              <a:solidFill>
                <a:schemeClr val="tx2">
                  <a:lumMod val="95000"/>
                  <a:lumOff val="5000"/>
                </a:schemeClr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rng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(1); </a:t>
              </a:r>
              <a:r>
                <a:rPr lang="en-US" altLang="zh-CN" sz="1600" dirty="0">
                  <a:solidFill>
                    <a:srgbClr val="028009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% For reproducibility</a:t>
              </a:r>
              <a:endPara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endParaRP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r = sqrt(rand(100,1)); </a:t>
              </a:r>
              <a:r>
                <a:rPr lang="en-US" altLang="zh-CN" sz="1600" dirty="0">
                  <a:solidFill>
                    <a:srgbClr val="028009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% Radius</a:t>
              </a:r>
              <a:endPara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endParaRP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t = 2*pi*rand(100,1); </a:t>
              </a:r>
              <a:r>
                <a:rPr lang="en-US" altLang="zh-CN" sz="1600" dirty="0">
                  <a:solidFill>
                    <a:srgbClr val="028009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% Angle</a:t>
              </a:r>
              <a:endPara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endParaRP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data1 = [r.*cos(t), r.*sin(t)]; </a:t>
              </a:r>
              <a:r>
                <a:rPr lang="en-US" altLang="zh-CN" sz="1600" dirty="0">
                  <a:solidFill>
                    <a:srgbClr val="028009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% Points</a:t>
              </a:r>
              <a:endPara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endParaRP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r2 = sqrt(3*rand(100,1)+1); </a:t>
              </a:r>
              <a:r>
                <a:rPr lang="en-US" altLang="zh-CN" sz="1600" dirty="0">
                  <a:solidFill>
                    <a:srgbClr val="028009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% Radius</a:t>
              </a:r>
              <a:endPara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endParaRP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t2 = 2*pi*rand(100,1); </a:t>
              </a:r>
              <a:r>
                <a:rPr lang="en-US" altLang="zh-CN" sz="1600" dirty="0">
                  <a:solidFill>
                    <a:srgbClr val="028009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% Angle</a:t>
              </a:r>
              <a:endPara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endParaRP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data2 = [r2.*cos(t2), r2.*sin(t2)]; </a:t>
              </a:r>
              <a:r>
                <a:rPr lang="en-US" altLang="zh-CN" sz="1600" dirty="0">
                  <a:solidFill>
                    <a:srgbClr val="028009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% points</a:t>
              </a:r>
              <a:endPara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endParaRP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figure;</a:t>
              </a: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plot(data1(:,1),data1(:,2),</a:t>
              </a:r>
              <a:r>
                <a:rPr lang="en-US" altLang="zh-CN" sz="1600" dirty="0">
                  <a:solidFill>
                    <a:srgbClr val="AA04F9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'r.'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,</a:t>
              </a:r>
              <a:r>
                <a:rPr lang="en-US" altLang="zh-CN" sz="1600" dirty="0">
                  <a:solidFill>
                    <a:srgbClr val="AA04F9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'MarkerSize'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,15)</a:t>
              </a: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hold </a:t>
              </a:r>
              <a:r>
                <a:rPr lang="en-US" altLang="zh-CN" sz="1600" dirty="0">
                  <a:solidFill>
                    <a:srgbClr val="AA04F9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on</a:t>
              </a:r>
              <a:endPara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endParaRP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plot(data2(:,1),data2(:,2),</a:t>
              </a:r>
              <a:r>
                <a:rPr lang="en-US" altLang="zh-CN" sz="1600" dirty="0">
                  <a:solidFill>
                    <a:srgbClr val="AA04F9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'b.'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,</a:t>
              </a:r>
              <a:r>
                <a:rPr lang="en-US" altLang="zh-CN" sz="1600" dirty="0">
                  <a:solidFill>
                    <a:srgbClr val="AA04F9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'MarkerSize'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,15)</a:t>
              </a: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axis </a:t>
              </a:r>
              <a:r>
                <a:rPr lang="en-US" altLang="zh-CN" sz="1600" dirty="0">
                  <a:solidFill>
                    <a:srgbClr val="AA04F9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equal</a:t>
              </a:r>
              <a:endPara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endParaRP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hold </a:t>
              </a:r>
              <a:r>
                <a:rPr lang="en-US" altLang="zh-CN" sz="1600" dirty="0">
                  <a:solidFill>
                    <a:srgbClr val="AA04F9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off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;</a:t>
              </a: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1BD0C613-8D4D-41FC-77FC-5ADD1BBB3CC4}"/>
                </a:ext>
              </a:extLst>
            </p:cNvPr>
            <p:cNvSpPr/>
            <p:nvPr/>
          </p:nvSpPr>
          <p:spPr>
            <a:xfrm>
              <a:off x="9589713" y="6000877"/>
              <a:ext cx="1544012" cy="369332"/>
            </a:xfrm>
            <a:prstGeom prst="rect">
              <a:avLst/>
            </a:prstGeom>
            <a:solidFill>
              <a:srgbClr val="E7E6E6"/>
            </a:solidFill>
            <a:ln w="19050">
              <a:solidFill>
                <a:srgbClr val="FF0000"/>
              </a:solidFill>
            </a:ln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cs typeface="Times New Roman" pitchFamily="18" charset="0"/>
                </a:rPr>
                <a:t>See live script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76015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Nonlinear SVM – 2D point classification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FDECF46-6DB4-0A18-4310-7A03106CC50A}"/>
              </a:ext>
            </a:extLst>
          </p:cNvPr>
          <p:cNvSpPr txBox="1"/>
          <p:nvPr/>
        </p:nvSpPr>
        <p:spPr>
          <a:xfrm>
            <a:off x="499946" y="1622298"/>
            <a:ext cx="41740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1. Create our dataset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10">
            <a:extLst>
              <a:ext uri="{FF2B5EF4-FFF2-40B4-BE49-F238E27FC236}">
                <a16:creationId xmlns:a16="http://schemas.microsoft.com/office/drawing/2014/main" id="{CC655154-4B02-F20E-2A8A-C294AA004CD7}"/>
              </a:ext>
            </a:extLst>
          </p:cNvPr>
          <p:cNvSpPr txBox="1"/>
          <p:nvPr/>
        </p:nvSpPr>
        <p:spPr>
          <a:xfrm>
            <a:off x="499946" y="5047882"/>
            <a:ext cx="80976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3. Train a nonlinear SVM classifier by RBF kernel 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文本框 12">
            <a:extLst>
              <a:ext uri="{FF2B5EF4-FFF2-40B4-BE49-F238E27FC236}">
                <a16:creationId xmlns:a16="http://schemas.microsoft.com/office/drawing/2014/main" id="{18EB096E-5BCC-9663-9475-F8013A23AC83}"/>
              </a:ext>
            </a:extLst>
          </p:cNvPr>
          <p:cNvSpPr txBox="1"/>
          <p:nvPr/>
        </p:nvSpPr>
        <p:spPr>
          <a:xfrm>
            <a:off x="499946" y="3118182"/>
            <a:ext cx="4117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2. Data split 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40830A6-7C54-ADA6-7EFA-AAA42ACC6530}"/>
              </a:ext>
            </a:extLst>
          </p:cNvPr>
          <p:cNvSpPr/>
          <p:nvPr/>
        </p:nvSpPr>
        <p:spPr>
          <a:xfrm>
            <a:off x="730662" y="3635628"/>
            <a:ext cx="9342606" cy="1339506"/>
          </a:xfrm>
          <a:prstGeom prst="roundRect">
            <a:avLst>
              <a:gd name="adj" fmla="val 10840"/>
            </a:avLst>
          </a:prstGeom>
          <a:solidFill>
            <a:srgbClr val="F2F2F2"/>
          </a:solidFill>
          <a:ln>
            <a:solidFill>
              <a:schemeClr val="tx2">
                <a:lumMod val="95000"/>
                <a:lumOff val="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dirty="0">
                <a:solidFill>
                  <a:srgbClr val="028009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% Split into training and test data by the ratio 75% and 25%, respectively.</a:t>
            </a:r>
            <a:endParaRPr lang="en-US" altLang="zh-CN" sz="1600" dirty="0">
              <a:solidFill>
                <a:srgbClr val="000000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cvObj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=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cvpartition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(size(X, 1), </a:t>
            </a:r>
            <a:r>
              <a:rPr lang="en-US" altLang="zh-CN" sz="1600" dirty="0">
                <a:solidFill>
                  <a:srgbClr val="AA04F9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'</a:t>
            </a:r>
            <a:r>
              <a:rPr lang="en-US" altLang="zh-CN" sz="1600" dirty="0" err="1">
                <a:solidFill>
                  <a:srgbClr val="AA04F9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HoldOut</a:t>
            </a:r>
            <a:r>
              <a:rPr lang="en-US" altLang="zh-CN" sz="1600" dirty="0">
                <a:solidFill>
                  <a:srgbClr val="AA04F9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'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, 0.75);</a:t>
            </a:r>
          </a:p>
          <a:p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idx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=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cvObj.test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;</a:t>
            </a:r>
          </a:p>
          <a:p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X_train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= X(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idx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, :);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X_test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= X(~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idx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, :); </a:t>
            </a:r>
          </a:p>
          <a:p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y_train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= y(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idx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, :);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y_test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= y(~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idx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, :); 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E652884-C40F-01FF-07DB-4E7A3F0C7B30}"/>
              </a:ext>
            </a:extLst>
          </p:cNvPr>
          <p:cNvSpPr/>
          <p:nvPr/>
        </p:nvSpPr>
        <p:spPr>
          <a:xfrm>
            <a:off x="730662" y="5582296"/>
            <a:ext cx="9342606" cy="660351"/>
          </a:xfrm>
          <a:prstGeom prst="roundRect">
            <a:avLst>
              <a:gd name="adj" fmla="val 11888"/>
            </a:avLst>
          </a:prstGeom>
          <a:solidFill>
            <a:srgbClr val="F2F2F2"/>
          </a:solidFill>
          <a:ln>
            <a:solidFill>
              <a:schemeClr val="tx2">
                <a:lumMod val="95000"/>
                <a:lumOff val="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dirty="0">
                <a:solidFill>
                  <a:srgbClr val="028009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%Train a nonlinear SVM Classifier with '</a:t>
            </a:r>
            <a:r>
              <a:rPr lang="en-US" altLang="zh-CN" sz="1600" dirty="0" err="1">
                <a:solidFill>
                  <a:srgbClr val="028009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rbf</a:t>
            </a:r>
            <a:r>
              <a:rPr lang="en-US" altLang="zh-CN" sz="1600" dirty="0">
                <a:solidFill>
                  <a:srgbClr val="028009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' kernel</a:t>
            </a:r>
            <a:endParaRPr lang="en-US" altLang="zh-CN" sz="1600" dirty="0">
              <a:solidFill>
                <a:srgbClr val="000000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svm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=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fitcsvm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(X_train,y_train,</a:t>
            </a:r>
            <a:r>
              <a:rPr lang="en-US" altLang="zh-CN" sz="1600" dirty="0">
                <a:solidFill>
                  <a:srgbClr val="AA04F9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'</a:t>
            </a:r>
            <a:r>
              <a:rPr lang="en-US" altLang="zh-CN" sz="1600" dirty="0" err="1">
                <a:solidFill>
                  <a:srgbClr val="AA04F9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KernelFunction</a:t>
            </a:r>
            <a:r>
              <a:rPr lang="en-US" altLang="zh-CN" sz="1600" dirty="0">
                <a:solidFill>
                  <a:srgbClr val="AA04F9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'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,</a:t>
            </a:r>
            <a:r>
              <a:rPr lang="en-US" altLang="zh-CN" sz="1600" dirty="0">
                <a:solidFill>
                  <a:srgbClr val="AA04F9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'</a:t>
            </a:r>
            <a:r>
              <a:rPr lang="en-US" altLang="zh-CN" sz="1600" dirty="0" err="1">
                <a:solidFill>
                  <a:srgbClr val="AA04F9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rbf</a:t>
            </a:r>
            <a:r>
              <a:rPr lang="en-US" altLang="zh-CN" sz="1600" dirty="0">
                <a:solidFill>
                  <a:srgbClr val="AA04F9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'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, </a:t>
            </a:r>
            <a:r>
              <a:rPr lang="en-US" altLang="zh-CN" sz="1600" dirty="0">
                <a:solidFill>
                  <a:srgbClr val="AA04F9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'</a:t>
            </a:r>
            <a:r>
              <a:rPr lang="en-US" altLang="zh-CN" sz="1600" dirty="0" err="1">
                <a:solidFill>
                  <a:srgbClr val="AA04F9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BoxConstraint</a:t>
            </a:r>
            <a:r>
              <a:rPr lang="en-US" altLang="zh-CN" sz="1600" dirty="0">
                <a:solidFill>
                  <a:srgbClr val="AA04F9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'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, 1);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488D895-906B-3B7A-FE38-06D5934B31DB}"/>
              </a:ext>
            </a:extLst>
          </p:cNvPr>
          <p:cNvGrpSpPr/>
          <p:nvPr/>
        </p:nvGrpSpPr>
        <p:grpSpPr>
          <a:xfrm>
            <a:off x="730662" y="2129120"/>
            <a:ext cx="10403063" cy="4241089"/>
            <a:chOff x="730662" y="2129120"/>
            <a:chExt cx="10403063" cy="4241089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C637CD67-998D-2CD4-76DE-F17E77CE2903}"/>
                </a:ext>
              </a:extLst>
            </p:cNvPr>
            <p:cNvSpPr/>
            <p:nvPr/>
          </p:nvSpPr>
          <p:spPr>
            <a:xfrm>
              <a:off x="730662" y="2129120"/>
              <a:ext cx="9342606" cy="933281"/>
            </a:xfrm>
            <a:prstGeom prst="roundRect">
              <a:avLst>
                <a:gd name="adj" fmla="val 11888"/>
              </a:avLst>
            </a:prstGeom>
            <a:solidFill>
              <a:srgbClr val="F2F2F2"/>
            </a:solidFill>
            <a:ln>
              <a:solidFill>
                <a:schemeClr val="tx2">
                  <a:lumMod val="95000"/>
                  <a:lumOff val="5000"/>
                </a:schemeClr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X = [data1;data2]; </a:t>
              </a:r>
              <a:r>
                <a:rPr lang="en-US" altLang="zh-CN" sz="1600" dirty="0">
                  <a:solidFill>
                    <a:srgbClr val="028009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% Features of the dataset</a:t>
              </a:r>
              <a:endPara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endParaRPr>
            </a:p>
            <a:p>
              <a:r>
                <a:rPr lang="en-US" altLang="zh-CN" sz="1600" dirty="0">
                  <a:solidFill>
                    <a:srgbClr val="028009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% Labels of the dataset. The first 100 data are +1, the rest are -1.</a:t>
              </a:r>
              <a:endPara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endParaRP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y = ones(200,1); y(1:100) = -1;</a:t>
              </a:r>
            </a:p>
          </p:txBody>
        </p:sp>
        <p:sp>
          <p:nvSpPr>
            <p:cNvPr id="12" name="矩形 8">
              <a:extLst>
                <a:ext uri="{FF2B5EF4-FFF2-40B4-BE49-F238E27FC236}">
                  <a16:creationId xmlns:a16="http://schemas.microsoft.com/office/drawing/2014/main" id="{29B213D7-732B-1057-EF82-6C9DB4BC3D0B}"/>
                </a:ext>
              </a:extLst>
            </p:cNvPr>
            <p:cNvSpPr/>
            <p:nvPr/>
          </p:nvSpPr>
          <p:spPr>
            <a:xfrm>
              <a:off x="9589713" y="6000877"/>
              <a:ext cx="1544012" cy="369332"/>
            </a:xfrm>
            <a:prstGeom prst="rect">
              <a:avLst/>
            </a:prstGeom>
            <a:solidFill>
              <a:srgbClr val="E7E6E6"/>
            </a:solidFill>
            <a:ln w="19050">
              <a:solidFill>
                <a:srgbClr val="FF0000"/>
              </a:solidFill>
            </a:ln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cs typeface="Times New Roman" pitchFamily="18" charset="0"/>
                </a:rPr>
                <a:t>See live script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33801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10" grpId="0" animBg="1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Nonlinear SVM – 2D point classification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2CC8796-71FE-5EF9-7B27-D10D0B0D4F94}"/>
              </a:ext>
            </a:extLst>
          </p:cNvPr>
          <p:cNvSpPr txBox="1"/>
          <p:nvPr/>
        </p:nvSpPr>
        <p:spPr>
          <a:xfrm>
            <a:off x="335669" y="1530934"/>
            <a:ext cx="41740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4. Prediction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12">
            <a:extLst>
              <a:ext uri="{FF2B5EF4-FFF2-40B4-BE49-F238E27FC236}">
                <a16:creationId xmlns:a16="http://schemas.microsoft.com/office/drawing/2014/main" id="{42A72342-C80E-63A4-E075-EF221FD530E5}"/>
              </a:ext>
            </a:extLst>
          </p:cNvPr>
          <p:cNvSpPr txBox="1"/>
          <p:nvPr/>
        </p:nvSpPr>
        <p:spPr>
          <a:xfrm>
            <a:off x="335669" y="4012276"/>
            <a:ext cx="67281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5. Plot the data and the support vectors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文本框 13">
            <a:extLst>
              <a:ext uri="{FF2B5EF4-FFF2-40B4-BE49-F238E27FC236}">
                <a16:creationId xmlns:a16="http://schemas.microsoft.com/office/drawing/2014/main" id="{798A23A5-C8AF-A3A6-1F97-F49F5F2D4FFE}"/>
              </a:ext>
            </a:extLst>
          </p:cNvPr>
          <p:cNvSpPr txBox="1"/>
          <p:nvPr/>
        </p:nvSpPr>
        <p:spPr>
          <a:xfrm>
            <a:off x="633423" y="3452091"/>
            <a:ext cx="61791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We will get ‘Accuracy=100’ in this example.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AD00D7A-DDCA-11AF-2C09-5295674BA4DB}"/>
              </a:ext>
            </a:extLst>
          </p:cNvPr>
          <p:cNvSpPr/>
          <p:nvPr/>
        </p:nvSpPr>
        <p:spPr>
          <a:xfrm>
            <a:off x="335669" y="4569114"/>
            <a:ext cx="10457799" cy="1471300"/>
          </a:xfrm>
          <a:prstGeom prst="roundRect">
            <a:avLst>
              <a:gd name="adj" fmla="val 11888"/>
            </a:avLst>
          </a:prstGeom>
          <a:solidFill>
            <a:srgbClr val="F2F2F2"/>
          </a:solidFill>
          <a:ln>
            <a:solidFill>
              <a:schemeClr val="tx2">
                <a:lumMod val="95000"/>
                <a:lumOff val="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dirty="0">
                <a:solidFill>
                  <a:srgbClr val="028009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% Plot the data and the support vectors</a:t>
            </a:r>
            <a:endParaRPr lang="en-US" altLang="zh-CN" sz="1600" dirty="0">
              <a:solidFill>
                <a:srgbClr val="000000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figure;</a:t>
            </a:r>
          </a:p>
          <a:p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gscatter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(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X_train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(:,1),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X_train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(:,2),y_train,</a:t>
            </a:r>
            <a:r>
              <a:rPr lang="en-US" altLang="zh-CN" sz="1600" dirty="0">
                <a:solidFill>
                  <a:srgbClr val="AA04F9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'</a:t>
            </a:r>
            <a:r>
              <a:rPr lang="en-US" altLang="zh-CN" sz="1600" dirty="0" err="1">
                <a:solidFill>
                  <a:srgbClr val="AA04F9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rb</a:t>
            </a:r>
            <a:r>
              <a:rPr lang="en-US" altLang="zh-CN" sz="1600" dirty="0">
                <a:solidFill>
                  <a:srgbClr val="AA04F9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'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,</a:t>
            </a:r>
            <a:r>
              <a:rPr lang="en-US" altLang="zh-CN" sz="1600" dirty="0">
                <a:solidFill>
                  <a:srgbClr val="AA04F9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'.'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); hold </a:t>
            </a:r>
            <a:r>
              <a:rPr lang="en-US" altLang="zh-CN" sz="1600" dirty="0">
                <a:solidFill>
                  <a:srgbClr val="AA04F9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on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; </a:t>
            </a:r>
            <a:r>
              <a:rPr lang="en-US" altLang="zh-CN" sz="1600" dirty="0">
                <a:solidFill>
                  <a:srgbClr val="028009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% Plot the data</a:t>
            </a:r>
            <a:endParaRPr lang="en-US" altLang="zh-CN" sz="1600" dirty="0">
              <a:solidFill>
                <a:srgbClr val="000000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sv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=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svm.SupportVectors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plot(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sv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(:,1),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sv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(:,2), </a:t>
            </a:r>
            <a:r>
              <a:rPr lang="en-US" altLang="zh-CN" sz="1600" dirty="0">
                <a:solidFill>
                  <a:srgbClr val="AA04F9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'ko'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, </a:t>
            </a:r>
            <a:r>
              <a:rPr lang="en-US" altLang="zh-CN" sz="1600" dirty="0">
                <a:solidFill>
                  <a:srgbClr val="AA04F9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'</a:t>
            </a:r>
            <a:r>
              <a:rPr lang="en-US" altLang="zh-CN" sz="1600" dirty="0" err="1">
                <a:solidFill>
                  <a:srgbClr val="AA04F9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MarkerSize</a:t>
            </a:r>
            <a:r>
              <a:rPr lang="en-US" altLang="zh-CN" sz="1600" dirty="0">
                <a:solidFill>
                  <a:srgbClr val="AA04F9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'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, 10); hold </a:t>
            </a:r>
            <a:r>
              <a:rPr lang="en-US" altLang="zh-CN" sz="1600" dirty="0">
                <a:solidFill>
                  <a:srgbClr val="AA04F9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on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; </a:t>
            </a:r>
            <a:r>
              <a:rPr lang="en-US" altLang="zh-CN" sz="1600" dirty="0">
                <a:solidFill>
                  <a:srgbClr val="028009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% Plot the support vectors</a:t>
            </a:r>
            <a:endParaRPr lang="en-US" altLang="zh-CN" sz="1600" dirty="0">
              <a:solidFill>
                <a:srgbClr val="000000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D84A263-6CF0-6511-70DB-7A377E74D1FC}"/>
              </a:ext>
            </a:extLst>
          </p:cNvPr>
          <p:cNvGrpSpPr/>
          <p:nvPr/>
        </p:nvGrpSpPr>
        <p:grpSpPr>
          <a:xfrm>
            <a:off x="358884" y="2048355"/>
            <a:ext cx="10995628" cy="4396489"/>
            <a:chOff x="715723" y="2059506"/>
            <a:chExt cx="10995628" cy="4396489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C98F891F-5DE9-65DB-AA54-A0693BA15F2F}"/>
                </a:ext>
              </a:extLst>
            </p:cNvPr>
            <p:cNvSpPr/>
            <p:nvPr/>
          </p:nvSpPr>
          <p:spPr>
            <a:xfrm>
              <a:off x="715723" y="2059506"/>
              <a:ext cx="9342606" cy="1104420"/>
            </a:xfrm>
            <a:prstGeom prst="roundRect">
              <a:avLst>
                <a:gd name="adj" fmla="val 11888"/>
              </a:avLst>
            </a:prstGeom>
            <a:solidFill>
              <a:srgbClr val="F2F2F2"/>
            </a:solidFill>
            <a:ln>
              <a:solidFill>
                <a:schemeClr val="tx2">
                  <a:lumMod val="95000"/>
                  <a:lumOff val="5000"/>
                </a:schemeClr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600" dirty="0">
                  <a:solidFill>
                    <a:srgbClr val="028009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% Predict</a:t>
              </a:r>
              <a:endPara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endParaRPr>
            </a:p>
            <a:p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y_pred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 = predict(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svm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, 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X_test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);</a:t>
              </a:r>
            </a:p>
            <a:p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accuracy_score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 = sum(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y_test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 == 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y_pred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)/length(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y_test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)*100; </a:t>
              </a:r>
              <a:r>
                <a:rPr lang="en-US" altLang="zh-CN" sz="1600" dirty="0">
                  <a:solidFill>
                    <a:srgbClr val="028009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% Prediction accuracy</a:t>
              </a:r>
              <a:endPara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endParaRPr>
            </a:p>
            <a:p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disp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([</a:t>
              </a:r>
              <a:r>
                <a:rPr lang="en-US" altLang="zh-CN" sz="1600" dirty="0">
                  <a:solidFill>
                    <a:srgbClr val="AA04F9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'Accuracy: '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, num2str(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accuracy_score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)]);</a:t>
              </a:r>
            </a:p>
          </p:txBody>
        </p:sp>
        <p:sp>
          <p:nvSpPr>
            <p:cNvPr id="10" name="矩形 8">
              <a:extLst>
                <a:ext uri="{FF2B5EF4-FFF2-40B4-BE49-F238E27FC236}">
                  <a16:creationId xmlns:a16="http://schemas.microsoft.com/office/drawing/2014/main" id="{C1CC0734-2A99-0E08-A517-CD2F40A4C80D}"/>
                </a:ext>
              </a:extLst>
            </p:cNvPr>
            <p:cNvSpPr/>
            <p:nvPr/>
          </p:nvSpPr>
          <p:spPr>
            <a:xfrm>
              <a:off x="10167339" y="6086663"/>
              <a:ext cx="1544012" cy="369332"/>
            </a:xfrm>
            <a:prstGeom prst="rect">
              <a:avLst/>
            </a:prstGeom>
            <a:solidFill>
              <a:srgbClr val="E7E6E6"/>
            </a:solidFill>
            <a:ln w="19050">
              <a:solidFill>
                <a:srgbClr val="FF0000"/>
              </a:solidFill>
            </a:ln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cs typeface="Times New Roman" pitchFamily="18" charset="0"/>
                </a:rPr>
                <a:t>See live script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98485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Nonlinear SVM – 2D point classification</a:t>
            </a:r>
          </a:p>
        </p:txBody>
      </p:sp>
      <p:sp>
        <p:nvSpPr>
          <p:cNvPr id="10" name="文本框 1">
            <a:extLst>
              <a:ext uri="{FF2B5EF4-FFF2-40B4-BE49-F238E27FC236}">
                <a16:creationId xmlns:a16="http://schemas.microsoft.com/office/drawing/2014/main" id="{022864B8-41DC-222C-6893-F241F3C238F3}"/>
              </a:ext>
            </a:extLst>
          </p:cNvPr>
          <p:cNvSpPr txBox="1"/>
          <p:nvPr/>
        </p:nvSpPr>
        <p:spPr>
          <a:xfrm>
            <a:off x="462202" y="1495502"/>
            <a:ext cx="56337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6. Plot the classifier (</a:t>
            </a:r>
            <a:r>
              <a:rPr lang="en-US" altLang="zh-CN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optional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E28B857-C01F-0CA7-6929-1EA272C324B6}"/>
              </a:ext>
            </a:extLst>
          </p:cNvPr>
          <p:cNvSpPr txBox="1"/>
          <p:nvPr/>
        </p:nvSpPr>
        <p:spPr>
          <a:xfrm>
            <a:off x="462202" y="4875183"/>
            <a:ext cx="112979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We do not plot the classifier and the support vectors in most cases, since that: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in practice, the dimension of the feature spaces is often much larger than 3, which is unable to plot.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CAA2E60-E33F-33BF-41D4-33B2ED1FF4DA}"/>
              </a:ext>
            </a:extLst>
          </p:cNvPr>
          <p:cNvGrpSpPr/>
          <p:nvPr/>
        </p:nvGrpSpPr>
        <p:grpSpPr>
          <a:xfrm>
            <a:off x="462202" y="2127779"/>
            <a:ext cx="10892310" cy="4317065"/>
            <a:chOff x="462202" y="2127779"/>
            <a:chExt cx="10892310" cy="4317065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F35CF19E-5D65-1BE2-AF69-A2CB26354280}"/>
                </a:ext>
              </a:extLst>
            </p:cNvPr>
            <p:cNvSpPr/>
            <p:nvPr/>
          </p:nvSpPr>
          <p:spPr>
            <a:xfrm>
              <a:off x="462202" y="2127779"/>
              <a:ext cx="8971730" cy="2489098"/>
            </a:xfrm>
            <a:prstGeom prst="roundRect">
              <a:avLst>
                <a:gd name="adj" fmla="val 6064"/>
              </a:avLst>
            </a:prstGeom>
            <a:solidFill>
              <a:srgbClr val="F2F2F2"/>
            </a:solidFill>
            <a:ln>
              <a:solidFill>
                <a:schemeClr val="tx2">
                  <a:lumMod val="95000"/>
                  <a:lumOff val="5000"/>
                </a:schemeClr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600" dirty="0">
                  <a:solidFill>
                    <a:srgbClr val="028009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% Plot the classifier (optional)</a:t>
              </a:r>
              <a:endPara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endParaRP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d = 0.02;</a:t>
              </a: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[x1, x2] = 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meshgrid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(min(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X_train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(:,1)):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d:max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(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X_train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(:,1)), min(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X_train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(:,2)):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d:max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(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X_train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(:,2)));</a:t>
              </a:r>
            </a:p>
            <a:p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XGrid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 = [x1(:),x2(:)];</a:t>
              </a:r>
            </a:p>
            <a:p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yGrid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 = predict(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svm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, 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XGrid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);</a:t>
              </a: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contour(x1, x2, reshape(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yGrid,size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(x1)), [0 0], </a:t>
              </a:r>
              <a:r>
                <a:rPr lang="en-US" altLang="zh-CN" sz="1600" dirty="0">
                  <a:solidFill>
                    <a:srgbClr val="AA04F9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'g'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); hold </a:t>
              </a:r>
              <a:r>
                <a:rPr lang="en-US" altLang="zh-CN" sz="1600" dirty="0">
                  <a:solidFill>
                    <a:srgbClr val="AA04F9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on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;</a:t>
              </a: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legend(</a:t>
              </a:r>
              <a:r>
                <a:rPr lang="en-US" altLang="zh-CN" sz="1600" dirty="0">
                  <a:solidFill>
                    <a:srgbClr val="AA04F9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'-1'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,</a:t>
              </a:r>
              <a:r>
                <a:rPr lang="en-US" altLang="zh-CN" sz="1600" dirty="0">
                  <a:solidFill>
                    <a:srgbClr val="AA04F9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'+1'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,</a:t>
              </a:r>
              <a:r>
                <a:rPr lang="en-US" altLang="zh-CN" sz="1600" dirty="0">
                  <a:solidFill>
                    <a:srgbClr val="AA04F9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'Support Vectors'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, </a:t>
              </a:r>
              <a:r>
                <a:rPr lang="en-US" altLang="zh-CN" sz="1600" dirty="0">
                  <a:solidFill>
                    <a:srgbClr val="AA04F9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'Classifier'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, </a:t>
              </a:r>
              <a:r>
                <a:rPr lang="en-US" altLang="zh-CN" sz="1600" dirty="0">
                  <a:solidFill>
                    <a:srgbClr val="AA04F9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'</a:t>
              </a:r>
              <a:r>
                <a:rPr lang="en-US" altLang="zh-CN" sz="1600" dirty="0" err="1">
                  <a:solidFill>
                    <a:srgbClr val="AA04F9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Fontsize</a:t>
              </a:r>
              <a:r>
                <a:rPr lang="en-US" altLang="zh-CN" sz="1600" dirty="0">
                  <a:solidFill>
                    <a:srgbClr val="AA04F9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'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, 14);</a:t>
              </a: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axis </a:t>
              </a:r>
              <a:r>
                <a:rPr lang="en-US" altLang="zh-CN" sz="1600" dirty="0">
                  <a:solidFill>
                    <a:srgbClr val="AA04F9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equal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; hold </a:t>
              </a:r>
              <a:r>
                <a:rPr lang="en-US" altLang="zh-CN" sz="1600" dirty="0">
                  <a:solidFill>
                    <a:srgbClr val="AA04F9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off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cs typeface="Arial" panose="020B0604020202020204" pitchFamily="34" charset="0"/>
                </a:rPr>
                <a:t>;</a:t>
              </a:r>
            </a:p>
          </p:txBody>
        </p:sp>
        <p:sp>
          <p:nvSpPr>
            <p:cNvPr id="15" name="矩形 8">
              <a:extLst>
                <a:ext uri="{FF2B5EF4-FFF2-40B4-BE49-F238E27FC236}">
                  <a16:creationId xmlns:a16="http://schemas.microsoft.com/office/drawing/2014/main" id="{7452E1B7-AE5C-0C9B-4CCE-1EB8A1848D84}"/>
                </a:ext>
              </a:extLst>
            </p:cNvPr>
            <p:cNvSpPr/>
            <p:nvPr/>
          </p:nvSpPr>
          <p:spPr>
            <a:xfrm>
              <a:off x="9810500" y="6075512"/>
              <a:ext cx="1544012" cy="369332"/>
            </a:xfrm>
            <a:prstGeom prst="rect">
              <a:avLst/>
            </a:prstGeom>
            <a:solidFill>
              <a:srgbClr val="E7E6E6"/>
            </a:solidFill>
            <a:ln w="19050">
              <a:solidFill>
                <a:srgbClr val="FF0000"/>
              </a:solidFill>
            </a:ln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cs typeface="Times New Roman" pitchFamily="18" charset="0"/>
                </a:rPr>
                <a:t>See live script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59121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Nonlinear SVM – 2D point classification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670B904-2D66-93CD-C969-7CEDEDFC833A}"/>
              </a:ext>
            </a:extLst>
          </p:cNvPr>
          <p:cNvSpPr txBox="1"/>
          <p:nvPr/>
        </p:nvSpPr>
        <p:spPr>
          <a:xfrm>
            <a:off x="288076" y="1554052"/>
            <a:ext cx="41740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The results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图片 7">
            <a:extLst>
              <a:ext uri="{FF2B5EF4-FFF2-40B4-BE49-F238E27FC236}">
                <a16:creationId xmlns:a16="http://schemas.microsoft.com/office/drawing/2014/main" id="{55028064-70AC-A33E-B07A-D785BD38D6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6560" y="2059134"/>
            <a:ext cx="2797175" cy="2736555"/>
          </a:xfrm>
          <a:prstGeom prst="rect">
            <a:avLst/>
          </a:prstGeom>
        </p:spPr>
      </p:pic>
      <p:pic>
        <p:nvPicPr>
          <p:cNvPr id="4" name="图片 8">
            <a:extLst>
              <a:ext uri="{FF2B5EF4-FFF2-40B4-BE49-F238E27FC236}">
                <a16:creationId xmlns:a16="http://schemas.microsoft.com/office/drawing/2014/main" id="{5BD28AB0-1F0E-F760-D90C-C97BD4D90F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7805" y="2059134"/>
            <a:ext cx="2987695" cy="27971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9">
                <a:extLst>
                  <a:ext uri="{FF2B5EF4-FFF2-40B4-BE49-F238E27FC236}">
                    <a16:creationId xmlns:a16="http://schemas.microsoft.com/office/drawing/2014/main" id="{8DEA2B4C-8845-AD45-4F05-B7A1FD57B16E}"/>
                  </a:ext>
                </a:extLst>
              </p:cNvPr>
              <p:cNvSpPr txBox="1"/>
              <p:nvPr/>
            </p:nvSpPr>
            <p:spPr>
              <a:xfrm>
                <a:off x="2091457" y="4894310"/>
                <a:ext cx="325099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 err="1">
                    <a:latin typeface="Consolas" panose="020B0609020204030204" pitchFamily="49" charset="0"/>
                    <a:cs typeface="Arial" panose="020B0604020202020204" pitchFamily="34" charset="0"/>
                  </a:rPr>
                  <a:t>BoxConstraint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endParaRPr lang="en-US" altLang="zh-CN" sz="2400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文本框 9">
                <a:extLst>
                  <a:ext uri="{FF2B5EF4-FFF2-40B4-BE49-F238E27FC236}">
                    <a16:creationId xmlns:a16="http://schemas.microsoft.com/office/drawing/2014/main" id="{8DEA2B4C-8845-AD45-4F05-B7A1FD57B1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1457" y="4894310"/>
                <a:ext cx="3250991" cy="461665"/>
              </a:xfrm>
              <a:prstGeom prst="rect">
                <a:avLst/>
              </a:prstGeom>
              <a:blipFill>
                <a:blip r:embed="rId5"/>
                <a:stretch>
                  <a:fillRect l="-2814" t="-11842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15">
            <a:extLst>
              <a:ext uri="{FF2B5EF4-FFF2-40B4-BE49-F238E27FC236}">
                <a16:creationId xmlns:a16="http://schemas.microsoft.com/office/drawing/2014/main" id="{C4603EB1-E6CF-1D48-1C0E-733051FE2111}"/>
              </a:ext>
            </a:extLst>
          </p:cNvPr>
          <p:cNvSpPr txBox="1"/>
          <p:nvPr/>
        </p:nvSpPr>
        <p:spPr>
          <a:xfrm>
            <a:off x="6705562" y="4894309"/>
            <a:ext cx="31049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latin typeface="Consolas" panose="020B0609020204030204" pitchFamily="49" charset="0"/>
                <a:cs typeface="Arial" panose="020B0604020202020204" pitchFamily="34" charset="0"/>
              </a:rPr>
              <a:t>BoxConstraint</a:t>
            </a:r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 = 1</a:t>
            </a:r>
            <a:endParaRPr lang="en-US" altLang="zh-CN" sz="24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文本框 10">
            <a:extLst>
              <a:ext uri="{FF2B5EF4-FFF2-40B4-BE49-F238E27FC236}">
                <a16:creationId xmlns:a16="http://schemas.microsoft.com/office/drawing/2014/main" id="{5B0F2EF2-96C9-8A8E-DE16-9094EB057392}"/>
              </a:ext>
            </a:extLst>
          </p:cNvPr>
          <p:cNvSpPr txBox="1"/>
          <p:nvPr/>
        </p:nvSpPr>
        <p:spPr>
          <a:xfrm>
            <a:off x="703426" y="5570430"/>
            <a:ext cx="107851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altLang="zh-CN" sz="2400" dirty="0" err="1">
                <a:latin typeface="Consolas" panose="020B0609020204030204" pitchFamily="49" charset="0"/>
                <a:cs typeface="Arial" panose="020B0604020202020204" pitchFamily="34" charset="0"/>
              </a:rPr>
              <a:t>BoxConstraint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parameter has the same effect as that in the linear case.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BA5CB96-25FA-E744-2E7F-E00D17D5B94D}"/>
              </a:ext>
            </a:extLst>
          </p:cNvPr>
          <p:cNvSpPr/>
          <p:nvPr/>
        </p:nvSpPr>
        <p:spPr>
          <a:xfrm>
            <a:off x="9810500" y="6075512"/>
            <a:ext cx="1544012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See live script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244964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University at sunset">
            <a:extLst>
              <a:ext uri="{FF2B5EF4-FFF2-40B4-BE49-F238E27FC236}">
                <a16:creationId xmlns:a16="http://schemas.microsoft.com/office/drawing/2014/main" id="{11FDCD37-95D4-D94F-8143-5384ADC6A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75F20C-468E-F742-9149-B8A5FEBC291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5886" y="1889351"/>
            <a:ext cx="5842000" cy="1931535"/>
          </a:xfrm>
        </p:spPr>
        <p:txBody>
          <a:bodyPr>
            <a:noAutofit/>
          </a:bodyPr>
          <a:lstStyle/>
          <a:p>
            <a:pPr algn="l"/>
            <a:r>
              <a:rPr lang="en-GB">
                <a:solidFill>
                  <a:schemeClr val="bg1"/>
                </a:solidFill>
              </a:rPr>
              <a:t>Thanks!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22ED6EA-1EF6-E99C-8D46-A77E8079F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85228" y="5699322"/>
            <a:ext cx="3413095" cy="854153"/>
            <a:chOff x="8385228" y="5699322"/>
            <a:chExt cx="3413095" cy="85415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44E80E0-21D5-A09C-9C43-3B822C05837D}"/>
                </a:ext>
              </a:extLst>
            </p:cNvPr>
            <p:cNvSpPr txBox="1"/>
            <p:nvPr/>
          </p:nvSpPr>
          <p:spPr>
            <a:xfrm>
              <a:off x="8385228" y="5699322"/>
              <a:ext cx="3413095" cy="461665"/>
            </a:xfrm>
            <a:prstGeom prst="rect">
              <a:avLst/>
            </a:prstGeom>
            <a:noFill/>
            <a:effectLst>
              <a:outerShdw blurRad="1270000" dist="50800" dir="5400000" sx="200000" sy="200000" algn="ctr" rotWithShape="0">
                <a:schemeClr val="tx1"/>
              </a:outerShdw>
            </a:effectLst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UofGWorldChangers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92BBCD2-E264-1B57-0E93-92E9DB639953}"/>
                </a:ext>
              </a:extLst>
            </p:cNvPr>
            <p:cNvSpPr txBox="1"/>
            <p:nvPr/>
          </p:nvSpPr>
          <p:spPr>
            <a:xfrm>
              <a:off x="9098531" y="6091810"/>
              <a:ext cx="2699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@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UofGlasgow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4EA5A01-D67E-B5A8-4983-B4E38F735C71}"/>
                </a:ext>
              </a:extLst>
            </p:cNvPr>
            <p:cNvGrpSpPr/>
            <p:nvPr/>
          </p:nvGrpSpPr>
          <p:grpSpPr>
            <a:xfrm>
              <a:off x="8516481" y="6162367"/>
              <a:ext cx="841333" cy="347112"/>
              <a:chOff x="8601252" y="6162367"/>
              <a:chExt cx="841333" cy="347112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8049EAA7-B259-E0CF-6188-D83E4A7650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78761" y="6162367"/>
                <a:ext cx="475023" cy="347112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C9EF044C-8E77-0253-404C-AEACFCC1AE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194185" y="6223334"/>
                <a:ext cx="248400" cy="248399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1EFBA2B9-08B7-B52F-FE3B-91DCAC58DC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8601252" y="6221141"/>
                <a:ext cx="239105" cy="23910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006378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ofG colours">
      <a:dk1>
        <a:srgbClr val="003865"/>
      </a:dk1>
      <a:lt1>
        <a:srgbClr val="FFFFFE"/>
      </a:lt1>
      <a:dk2>
        <a:srgbClr val="000000"/>
      </a:dk2>
      <a:lt2>
        <a:srgbClr val="7D2238"/>
      </a:lt2>
      <a:accent1>
        <a:srgbClr val="0075B0"/>
      </a:accent1>
      <a:accent2>
        <a:srgbClr val="5B4D93"/>
      </a:accent2>
      <a:accent3>
        <a:srgbClr val="CF1C20"/>
      </a:accent3>
      <a:accent4>
        <a:srgbClr val="00833C"/>
      </a:accent4>
      <a:accent5>
        <a:srgbClr val="BE4D00"/>
      </a:accent5>
      <a:accent6>
        <a:srgbClr val="951271"/>
      </a:accent6>
      <a:hlink>
        <a:srgbClr val="584B3D"/>
      </a:hlink>
      <a:folHlink>
        <a:srgbClr val="0068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61AF5F2-503D-2641-86A1-09AD8919EA9C}" vid="{A816E7D6-9491-074F-A4D5-6596497DAC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cc9bed8-8410-44eb-bf25-ca1ea4636418">
      <Terms xmlns="http://schemas.microsoft.com/office/infopath/2007/PartnerControls"/>
    </lcf76f155ced4ddcb4097134ff3c332f>
    <TaxCatchAll xmlns="dfc159fb-6789-415c-9027-b0bc58ba83c2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3DDD16490E0A48848881CB6EECDF92" ma:contentTypeVersion="14" ma:contentTypeDescription="Create a new document." ma:contentTypeScope="" ma:versionID="7257862a4d6c3825659cc59ecdb78f01">
  <xsd:schema xmlns:xsd="http://www.w3.org/2001/XMLSchema" xmlns:xs="http://www.w3.org/2001/XMLSchema" xmlns:p="http://schemas.microsoft.com/office/2006/metadata/properties" xmlns:ns2="1cc9bed8-8410-44eb-bf25-ca1ea4636418" xmlns:ns3="dfc159fb-6789-415c-9027-b0bc58ba83c2" targetNamespace="http://schemas.microsoft.com/office/2006/metadata/properties" ma:root="true" ma:fieldsID="e75013956d80933023b8c9f213f858d3" ns2:_="" ns3:_="">
    <xsd:import namespace="1cc9bed8-8410-44eb-bf25-ca1ea4636418"/>
    <xsd:import namespace="dfc159fb-6789-415c-9027-b0bc58ba83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c9bed8-8410-44eb-bf25-ca1ea46364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7306b285-ac2c-4225-b56d-e54690cf9c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c159fb-6789-415c-9027-b0bc58ba83c2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79eadc21-23c5-47b9-90bf-40474c6df852}" ma:internalName="TaxCatchAll" ma:showField="CatchAllData" ma:web="dfc159fb-6789-415c-9027-b0bc58ba83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449FBED-E6A8-4DBB-B9AC-CDAEE682514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6D01232-81F4-4F81-A736-D328C37D0362}">
  <ds:schemaRefs>
    <ds:schemaRef ds:uri="http://schemas.microsoft.com/office/2006/metadata/properties"/>
    <ds:schemaRef ds:uri="http://schemas.microsoft.com/office/infopath/2007/PartnerControls"/>
    <ds:schemaRef ds:uri="1cc9bed8-8410-44eb-bf25-ca1ea4636418"/>
    <ds:schemaRef ds:uri="dfc159fb-6789-415c-9027-b0bc58ba83c2"/>
  </ds:schemaRefs>
</ds:datastoreItem>
</file>

<file path=customXml/itemProps3.xml><?xml version="1.0" encoding="utf-8"?>
<ds:datastoreItem xmlns:ds="http://schemas.openxmlformats.org/officeDocument/2006/customXml" ds:itemID="{DF959C7C-4E6B-4C86-8C19-EB23BD161DA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cc9bed8-8410-44eb-bf25-ca1ea4636418"/>
    <ds:schemaRef ds:uri="dfc159fb-6789-415c-9027-b0bc58ba83c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1878</TotalTime>
  <Words>708</Words>
  <Application>Microsoft Office PowerPoint</Application>
  <PresentationFormat>Widescreen</PresentationFormat>
  <Paragraphs>78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Cambria Math</vt:lpstr>
      <vt:lpstr>Consolas</vt:lpstr>
      <vt:lpstr>Times New Roman</vt:lpstr>
      <vt:lpstr>Office Theme</vt:lpstr>
      <vt:lpstr>2D Point Classification Example</vt:lpstr>
      <vt:lpstr>Nonlinear SVM – 2D point classification</vt:lpstr>
      <vt:lpstr>Nonlinear SVM – 2D point classification</vt:lpstr>
      <vt:lpstr>Nonlinear SVM – 2D point classification</vt:lpstr>
      <vt:lpstr>Nonlinear SVM – 2D point classification</vt:lpstr>
      <vt:lpstr>Nonlinear SVM – 2D point classification</vt:lpstr>
      <vt:lpstr>Thanks!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/>
  <cp:lastModifiedBy>Bo Liu</cp:lastModifiedBy>
  <cp:revision>66</cp:revision>
  <dcterms:created xsi:type="dcterms:W3CDTF">2021-01-06T14:22:07Z</dcterms:created>
  <dcterms:modified xsi:type="dcterms:W3CDTF">2024-07-16T12:18:39Z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0x0101009C3DDD16490E0A48848881CB6EECDF92</vt:lpwstr>
  </property>
</Properties>
</file>