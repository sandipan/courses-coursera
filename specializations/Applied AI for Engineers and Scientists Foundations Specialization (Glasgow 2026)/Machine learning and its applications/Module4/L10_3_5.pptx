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75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00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26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72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9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81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04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2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0" y="1674552"/>
            <a:ext cx="6649720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Case Study 2: Raisin Classification (Nonlinear SVM)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883" y="263513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Nonlinear SVM – raisin classification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E5B2CF-E079-6DA6-6596-2B56675463D5}"/>
              </a:ext>
            </a:extLst>
          </p:cNvPr>
          <p:cNvSpPr/>
          <p:nvPr/>
        </p:nvSpPr>
        <p:spPr>
          <a:xfrm>
            <a:off x="281126" y="1567592"/>
            <a:ext cx="102997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Turkey is one of the countries that ranks top in the world’s grape, 37% are dried.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8587FB-59E3-58CE-6297-5A03D01C1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439" y="3931186"/>
            <a:ext cx="1661869" cy="2207270"/>
          </a:xfrm>
          <a:prstGeom prst="rect">
            <a:avLst/>
          </a:prstGeom>
        </p:spPr>
      </p:pic>
      <p:pic>
        <p:nvPicPr>
          <p:cNvPr id="4" name="图片 4">
            <a:extLst>
              <a:ext uri="{FF2B5EF4-FFF2-40B4-BE49-F238E27FC236}">
                <a16:creationId xmlns:a16="http://schemas.microsoft.com/office/drawing/2014/main" id="{D77E5AD2-9A59-BE77-C542-A51896C78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653" y="3931186"/>
            <a:ext cx="1642620" cy="2200854"/>
          </a:xfrm>
          <a:prstGeom prst="rect">
            <a:avLst/>
          </a:prstGeom>
        </p:spPr>
      </p:pic>
      <p:sp>
        <p:nvSpPr>
          <p:cNvPr id="5" name="文本框 9">
            <a:extLst>
              <a:ext uri="{FF2B5EF4-FFF2-40B4-BE49-F238E27FC236}">
                <a16:creationId xmlns:a16="http://schemas.microsoft.com/office/drawing/2014/main" id="{F2B83561-5DE2-2F1C-E33A-7152CD70F58F}"/>
              </a:ext>
            </a:extLst>
          </p:cNvPr>
          <p:cNvSpPr txBox="1"/>
          <p:nvPr/>
        </p:nvSpPr>
        <p:spPr>
          <a:xfrm>
            <a:off x="5949935" y="6182093"/>
            <a:ext cx="1032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Besni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0">
            <a:extLst>
              <a:ext uri="{FF2B5EF4-FFF2-40B4-BE49-F238E27FC236}">
                <a16:creationId xmlns:a16="http://schemas.microsoft.com/office/drawing/2014/main" id="{7AAB5FB2-27A1-2EB7-7225-D7CACA4AA31A}"/>
              </a:ext>
            </a:extLst>
          </p:cNvPr>
          <p:cNvSpPr/>
          <p:nvPr/>
        </p:nvSpPr>
        <p:spPr>
          <a:xfrm>
            <a:off x="7836107" y="6182093"/>
            <a:ext cx="13837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Kecimen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12">
            <a:extLst>
              <a:ext uri="{FF2B5EF4-FFF2-40B4-BE49-F238E27FC236}">
                <a16:creationId xmlns:a16="http://schemas.microsoft.com/office/drawing/2014/main" id="{FBD03723-686B-24B3-9788-6E357804AAC5}"/>
              </a:ext>
            </a:extLst>
          </p:cNvPr>
          <p:cNvSpPr txBox="1"/>
          <p:nvPr/>
        </p:nvSpPr>
        <p:spPr>
          <a:xfrm>
            <a:off x="281125" y="4222347"/>
            <a:ext cx="5170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Two classes of raisin varieties are considered: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">
            <a:extLst>
              <a:ext uri="{FF2B5EF4-FFF2-40B4-BE49-F238E27FC236}">
                <a16:creationId xmlns:a16="http://schemas.microsoft.com/office/drawing/2014/main" id="{68DA5F8B-2D7D-D0D8-A2B3-ED34E08394E1}"/>
              </a:ext>
            </a:extLst>
          </p:cNvPr>
          <p:cNvSpPr/>
          <p:nvPr/>
        </p:nvSpPr>
        <p:spPr>
          <a:xfrm>
            <a:off x="281125" y="2317889"/>
            <a:ext cx="1181134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Assessing the quality of raisin is essential.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Human-made procedures from traditional methods are inconsistent and inefficient.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Thus, we aim to develop alternative methods to quickly and precisely evaluate the basic features of raisins.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Nonlinear SVM – raisin classification</a:t>
            </a:r>
          </a:p>
        </p:txBody>
      </p:sp>
      <p:pic>
        <p:nvPicPr>
          <p:cNvPr id="2" name="图片 7">
            <a:extLst>
              <a:ext uri="{FF2B5EF4-FFF2-40B4-BE49-F238E27FC236}">
                <a16:creationId xmlns:a16="http://schemas.microsoft.com/office/drawing/2014/main" id="{436CE994-5F1B-9EC3-21F0-AFE0D33F9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860" y="1422400"/>
            <a:ext cx="7228892" cy="268108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BF4F567-C986-2F95-1AF2-0822AA9099A2}"/>
              </a:ext>
            </a:extLst>
          </p:cNvPr>
          <p:cNvSpPr/>
          <p:nvPr/>
        </p:nvSpPr>
        <p:spPr>
          <a:xfrm>
            <a:off x="596899" y="4350687"/>
            <a:ext cx="1116330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Features: (Area,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MajorAxisLength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MinorAxisLength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Eccentricity,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ConvexArea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Extent, Perimeter)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Class 1: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Kecimen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Class 0: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Besni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900 samples</a:t>
            </a:r>
          </a:p>
        </p:txBody>
      </p:sp>
    </p:spTree>
    <p:extLst>
      <p:ext uri="{BB962C8B-B14F-4D97-AF65-F5344CB8AC3E}">
        <p14:creationId xmlns:p14="http://schemas.microsoft.com/office/powerpoint/2010/main" val="256572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Nonlinear SVM – raisin classification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86B60F8E-B05A-BC4C-9A21-238D6BB4BD59}"/>
              </a:ext>
            </a:extLst>
          </p:cNvPr>
          <p:cNvSpPr txBox="1"/>
          <p:nvPr/>
        </p:nvSpPr>
        <p:spPr>
          <a:xfrm>
            <a:off x="288271" y="1540734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Load the data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7">
            <a:extLst>
              <a:ext uri="{FF2B5EF4-FFF2-40B4-BE49-F238E27FC236}">
                <a16:creationId xmlns:a16="http://schemas.microsoft.com/office/drawing/2014/main" id="{1071F4D8-EFFD-DA27-1A35-222FE1968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47" y="3674214"/>
            <a:ext cx="7396676" cy="2743318"/>
          </a:xfrm>
          <a:prstGeom prst="rect">
            <a:avLst/>
          </a:prstGeom>
        </p:spPr>
      </p:pic>
      <p:sp>
        <p:nvSpPr>
          <p:cNvPr id="4" name="矩形: 圆角 10">
            <a:extLst>
              <a:ext uri="{FF2B5EF4-FFF2-40B4-BE49-F238E27FC236}">
                <a16:creationId xmlns:a16="http://schemas.microsoft.com/office/drawing/2014/main" id="{0C2DD706-F8B3-1F02-FAB8-FFCBE54E267F}"/>
              </a:ext>
            </a:extLst>
          </p:cNvPr>
          <p:cNvSpPr/>
          <p:nvPr/>
        </p:nvSpPr>
        <p:spPr>
          <a:xfrm>
            <a:off x="849156" y="3606600"/>
            <a:ext cx="6798734" cy="3048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箭头连接符 13">
            <a:extLst>
              <a:ext uri="{FF2B5EF4-FFF2-40B4-BE49-F238E27FC236}">
                <a16:creationId xmlns:a16="http://schemas.microsoft.com/office/drawing/2014/main" id="{EB41C860-EDC5-3B63-5331-FEE3FA32212C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7647890" y="3798607"/>
            <a:ext cx="2149994" cy="483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14">
            <a:extLst>
              <a:ext uri="{FF2B5EF4-FFF2-40B4-BE49-F238E27FC236}">
                <a16:creationId xmlns:a16="http://schemas.microsoft.com/office/drawing/2014/main" id="{F162AF3F-3013-A18A-D69A-A8FE5054ACBD}"/>
              </a:ext>
            </a:extLst>
          </p:cNvPr>
          <p:cNvSpPr txBox="1"/>
          <p:nvPr/>
        </p:nvSpPr>
        <p:spPr>
          <a:xfrm>
            <a:off x="9797884" y="3383108"/>
            <a:ext cx="2153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column 1 to 7 are features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A31F19-AE83-8062-D4FA-98DA36B7939C}"/>
              </a:ext>
            </a:extLst>
          </p:cNvPr>
          <p:cNvGrpSpPr/>
          <p:nvPr/>
        </p:nvGrpSpPr>
        <p:grpSpPr>
          <a:xfrm>
            <a:off x="515669" y="2245058"/>
            <a:ext cx="10618056" cy="4125151"/>
            <a:chOff x="515669" y="2245058"/>
            <a:chExt cx="10618056" cy="412515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28F4197-B52A-771F-A6EB-5359DDF87864}"/>
                </a:ext>
              </a:extLst>
            </p:cNvPr>
            <p:cNvSpPr/>
            <p:nvPr/>
          </p:nvSpPr>
          <p:spPr>
            <a:xfrm>
              <a:off x="515669" y="2245058"/>
              <a:ext cx="7886700" cy="1046356"/>
            </a:xfrm>
            <a:prstGeom prst="roundRect">
              <a:avLst>
                <a:gd name="adj" fmla="val 10038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Load data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data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readtable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'raisin_dataset.csv'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 = data{:, 1:7};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Features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 = data{:,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'Class'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};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Labels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12" name="矩形 8">
              <a:extLst>
                <a:ext uri="{FF2B5EF4-FFF2-40B4-BE49-F238E27FC236}">
                  <a16:creationId xmlns:a16="http://schemas.microsoft.com/office/drawing/2014/main" id="{B44E8731-4CFD-07DE-669C-5889E20D00BC}"/>
                </a:ext>
              </a:extLst>
            </p:cNvPr>
            <p:cNvSpPr/>
            <p:nvPr/>
          </p:nvSpPr>
          <p:spPr>
            <a:xfrm>
              <a:off x="9589713" y="600087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465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Nonlinear SVM – raisin classification</a:t>
            </a:r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08CF8315-C259-3DC9-7BAD-A0D9FBED43F7}"/>
              </a:ext>
            </a:extLst>
          </p:cNvPr>
          <p:cNvSpPr txBox="1"/>
          <p:nvPr/>
        </p:nvSpPr>
        <p:spPr>
          <a:xfrm>
            <a:off x="575938" y="2819393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Train-test split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5AAA0639-25EE-74C3-7019-2AFF3F7A9B1F}"/>
              </a:ext>
            </a:extLst>
          </p:cNvPr>
          <p:cNvSpPr txBox="1"/>
          <p:nvPr/>
        </p:nvSpPr>
        <p:spPr>
          <a:xfrm>
            <a:off x="575938" y="1793820"/>
            <a:ext cx="7689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steps are similar to the linear cases,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need to specify the kernel function.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AB4164-C51F-26D6-7C8A-4F2A46C8E1DA}"/>
              </a:ext>
            </a:extLst>
          </p:cNvPr>
          <p:cNvGrpSpPr/>
          <p:nvPr/>
        </p:nvGrpSpPr>
        <p:grpSpPr>
          <a:xfrm>
            <a:off x="660900" y="3700632"/>
            <a:ext cx="10472825" cy="2669577"/>
            <a:chOff x="660900" y="3700632"/>
            <a:chExt cx="10472825" cy="2669577"/>
          </a:xfrm>
        </p:grpSpPr>
        <p:sp>
          <p:nvSpPr>
            <p:cNvPr id="2" name="矩形 8">
              <a:extLst>
                <a:ext uri="{FF2B5EF4-FFF2-40B4-BE49-F238E27FC236}">
                  <a16:creationId xmlns:a16="http://schemas.microsoft.com/office/drawing/2014/main" id="{C0AF2FD1-A799-304B-12C1-997DADB2C909}"/>
                </a:ext>
              </a:extLst>
            </p:cNvPr>
            <p:cNvSpPr/>
            <p:nvPr/>
          </p:nvSpPr>
          <p:spPr>
            <a:xfrm>
              <a:off x="9589713" y="600087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1BFFFF1-9575-9058-3A80-72041FE63818}"/>
                </a:ext>
              </a:extLst>
            </p:cNvPr>
            <p:cNvSpPr/>
            <p:nvPr/>
          </p:nvSpPr>
          <p:spPr>
            <a:xfrm>
              <a:off x="660900" y="3700632"/>
              <a:ext cx="8745933" cy="1361898"/>
            </a:xfrm>
            <a:prstGeom prst="roundRect">
              <a:avLst>
                <a:gd name="adj" fmla="val 10904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Split into training and test data by the ratio 75% and 25%, respectively.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cvObj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cvpartition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(size(X, 1),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 err="1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HoldOut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0.75);</a:t>
              </a: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idx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cvObj.test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;</a:t>
              </a: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X(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idx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:);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X_test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X(~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idx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:); </a:t>
              </a: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y(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idx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:);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y_test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y(~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idx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:);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57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Nonlinear SVM – raisin classification</a:t>
            </a:r>
          </a:p>
        </p:txBody>
      </p:sp>
      <p:sp>
        <p:nvSpPr>
          <p:cNvPr id="2" name="文本框 8">
            <a:extLst>
              <a:ext uri="{FF2B5EF4-FFF2-40B4-BE49-F238E27FC236}">
                <a16:creationId xmlns:a16="http://schemas.microsoft.com/office/drawing/2014/main" id="{3FE69962-36B5-C88E-747A-E633F5E29AD5}"/>
              </a:ext>
            </a:extLst>
          </p:cNvPr>
          <p:cNvSpPr txBox="1"/>
          <p:nvPr/>
        </p:nvSpPr>
        <p:spPr>
          <a:xfrm>
            <a:off x="497047" y="1602234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 Training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93C6E63D-856E-6161-19AD-C5F339482C13}"/>
              </a:ext>
            </a:extLst>
          </p:cNvPr>
          <p:cNvSpPr txBox="1"/>
          <p:nvPr/>
        </p:nvSpPr>
        <p:spPr>
          <a:xfrm>
            <a:off x="497047" y="4036263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4. Prediction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153DAF8A-24F1-CF98-52A8-90CE1BA79EA0}"/>
              </a:ext>
            </a:extLst>
          </p:cNvPr>
          <p:cNvSpPr/>
          <p:nvPr/>
        </p:nvSpPr>
        <p:spPr>
          <a:xfrm>
            <a:off x="854552" y="5846773"/>
            <a:ext cx="36162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Output: 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Accuracy: 86.2222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C21BDCC6-2603-A5AC-23FC-69ECE3583A34}"/>
              </a:ext>
            </a:extLst>
          </p:cNvPr>
          <p:cNvSpPr txBox="1"/>
          <p:nvPr/>
        </p:nvSpPr>
        <p:spPr>
          <a:xfrm>
            <a:off x="643532" y="3219088"/>
            <a:ext cx="11051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use gaussian kernel 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You can try other kernels, such as RBF, polynomial, or linear.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C189F8-82A2-E52B-D5D1-81DAF188B814}"/>
              </a:ext>
            </a:extLst>
          </p:cNvPr>
          <p:cNvSpPr/>
          <p:nvPr/>
        </p:nvSpPr>
        <p:spPr>
          <a:xfrm>
            <a:off x="643532" y="4625043"/>
            <a:ext cx="8745933" cy="1200328"/>
          </a:xfrm>
          <a:prstGeom prst="roundRect">
            <a:avLst>
              <a:gd name="adj" fmla="val 10904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Predict on test data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y_pred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predict(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SVMModel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accuracy_score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sum(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y_pred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)/length(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)*100;</a:t>
            </a: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disp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([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'Accuracy: 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num2str(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accuracy_score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)]);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EBAC588-2EE3-8F86-7CDC-4261937E8117}"/>
              </a:ext>
            </a:extLst>
          </p:cNvPr>
          <p:cNvGrpSpPr/>
          <p:nvPr/>
        </p:nvGrpSpPr>
        <p:grpSpPr>
          <a:xfrm>
            <a:off x="643532" y="2201106"/>
            <a:ext cx="10490193" cy="4169103"/>
            <a:chOff x="643532" y="2201106"/>
            <a:chExt cx="10490193" cy="416910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CA56FDE-69D5-B44C-725D-3AA303542A4F}"/>
                </a:ext>
              </a:extLst>
            </p:cNvPr>
            <p:cNvSpPr/>
            <p:nvPr/>
          </p:nvSpPr>
          <p:spPr>
            <a:xfrm>
              <a:off x="643532" y="2201106"/>
              <a:ext cx="8745933" cy="888786"/>
            </a:xfrm>
            <a:prstGeom prst="roundRect">
              <a:avLst>
                <a:gd name="adj" fmla="val 10904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Train SVM model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SVMModel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fitcsvm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 err="1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KernelFunction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'gaussian'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'Standardize'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true);</a:t>
              </a:r>
            </a:p>
          </p:txBody>
        </p:sp>
        <p:sp>
          <p:nvSpPr>
            <p:cNvPr id="11" name="矩形 8">
              <a:extLst>
                <a:ext uri="{FF2B5EF4-FFF2-40B4-BE49-F238E27FC236}">
                  <a16:creationId xmlns:a16="http://schemas.microsoft.com/office/drawing/2014/main" id="{9BB579D8-E7AB-6111-36C9-785F86FDC4B7}"/>
                </a:ext>
              </a:extLst>
            </p:cNvPr>
            <p:cNvSpPr/>
            <p:nvPr/>
          </p:nvSpPr>
          <p:spPr>
            <a:xfrm>
              <a:off x="9589713" y="600087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488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Kernel selection code by an engineer</a:t>
            </a:r>
          </a:p>
        </p:txBody>
      </p:sp>
      <p:sp>
        <p:nvSpPr>
          <p:cNvPr id="2" name="文本框 8">
            <a:extLst>
              <a:ext uri="{FF2B5EF4-FFF2-40B4-BE49-F238E27FC236}">
                <a16:creationId xmlns:a16="http://schemas.microsoft.com/office/drawing/2014/main" id="{999AFCD1-D7DD-1B24-CA48-736975752DFE}"/>
              </a:ext>
            </a:extLst>
          </p:cNvPr>
          <p:cNvSpPr txBox="1"/>
          <p:nvPr/>
        </p:nvSpPr>
        <p:spPr>
          <a:xfrm>
            <a:off x="243509" y="1905850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Load the data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3">
            <a:extLst>
              <a:ext uri="{FF2B5EF4-FFF2-40B4-BE49-F238E27FC236}">
                <a16:creationId xmlns:a16="http://schemas.microsoft.com/office/drawing/2014/main" id="{FEC6A2D1-F931-9991-D557-59192F888242}"/>
              </a:ext>
            </a:extLst>
          </p:cNvPr>
          <p:cNvSpPr txBox="1"/>
          <p:nvPr/>
        </p:nvSpPr>
        <p:spPr>
          <a:xfrm>
            <a:off x="301975" y="4289556"/>
            <a:ext cx="4054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Set candidate kernels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764B203-9BB6-1D5A-F19C-A6C1FC514B39}"/>
              </a:ext>
            </a:extLst>
          </p:cNvPr>
          <p:cNvSpPr/>
          <p:nvPr/>
        </p:nvSpPr>
        <p:spPr>
          <a:xfrm>
            <a:off x="471409" y="4942113"/>
            <a:ext cx="10253965" cy="830997"/>
          </a:xfrm>
          <a:prstGeom prst="roundRect">
            <a:avLst>
              <a:gd name="adj" fmla="val 10904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kernels = {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'polynomial'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rbf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'gaussian'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Candidate kernels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accuracy_scores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zeros(1, length(kernels));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Accuracy scores of the candidate kernels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k = 20;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k controls the number of cross-validations.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21C419-3147-1703-178F-F12865C50A57}"/>
              </a:ext>
            </a:extLst>
          </p:cNvPr>
          <p:cNvGrpSpPr/>
          <p:nvPr/>
        </p:nvGrpSpPr>
        <p:grpSpPr>
          <a:xfrm>
            <a:off x="471409" y="2704189"/>
            <a:ext cx="10662316" cy="3666020"/>
            <a:chOff x="471409" y="2704189"/>
            <a:chExt cx="10662316" cy="366602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3136080-23BD-D865-599F-4F18BCEEFEA4}"/>
                </a:ext>
              </a:extLst>
            </p:cNvPr>
            <p:cNvSpPr/>
            <p:nvPr/>
          </p:nvSpPr>
          <p:spPr>
            <a:xfrm>
              <a:off x="471409" y="2704189"/>
              <a:ext cx="8745933" cy="1078592"/>
            </a:xfrm>
            <a:prstGeom prst="roundRect">
              <a:avLst>
                <a:gd name="adj" fmla="val 10904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Load data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data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readtable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'raisin_dataset.csv'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 = data{:, 1:7};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Features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 = data{:,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'Class'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};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Labels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10" name="矩形 8">
              <a:extLst>
                <a:ext uri="{FF2B5EF4-FFF2-40B4-BE49-F238E27FC236}">
                  <a16:creationId xmlns:a16="http://schemas.microsoft.com/office/drawing/2014/main" id="{05DFAC1B-3C0E-2954-FC72-FBAFC10DD200}"/>
                </a:ext>
              </a:extLst>
            </p:cNvPr>
            <p:cNvSpPr/>
            <p:nvPr/>
          </p:nvSpPr>
          <p:spPr>
            <a:xfrm>
              <a:off x="9589713" y="600087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980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A836E81-6B87-C7E3-C1BE-34F8832C1B30}"/>
              </a:ext>
            </a:extLst>
          </p:cNvPr>
          <p:cNvGrpSpPr/>
          <p:nvPr/>
        </p:nvGrpSpPr>
        <p:grpSpPr>
          <a:xfrm>
            <a:off x="594018" y="2060107"/>
            <a:ext cx="11400180" cy="4705421"/>
            <a:chOff x="594018" y="2060107"/>
            <a:chExt cx="11400180" cy="470542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22ED6D1-1B10-1104-0142-FB4AED6AA32F}"/>
                </a:ext>
              </a:extLst>
            </p:cNvPr>
            <p:cNvSpPr/>
            <p:nvPr/>
          </p:nvSpPr>
          <p:spPr>
            <a:xfrm>
              <a:off x="594018" y="2060107"/>
              <a:ext cx="10852118" cy="4474448"/>
            </a:xfrm>
            <a:prstGeom prst="roundRect">
              <a:avLst>
                <a:gd name="adj" fmla="val 3391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dirty="0">
                  <a:solidFill>
                    <a:srgbClr val="0E00FF"/>
                  </a:solidFill>
                  <a:latin typeface="Consolas" panose="020B0609020204030204" pitchFamily="49" charset="0"/>
                </a:rPr>
                <a:t>for</a:t>
              </a:r>
              <a:r>
                <a:rPr lang="en-US" sz="1500" dirty="0">
                  <a:latin typeface="Consolas" panose="020B0609020204030204" pitchFamily="49" charset="0"/>
                </a:rPr>
                <a:t>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= 1:k</a:t>
              </a:r>
            </a:p>
            <a:p>
              <a:r>
                <a:rPr lang="en-US" sz="1500" dirty="0">
                  <a:solidFill>
                    <a:srgbClr val="028009"/>
                  </a:solidFill>
                  <a:latin typeface="Consolas" panose="020B0609020204030204" pitchFamily="49" charset="0"/>
                </a:rPr>
                <a:t>    % Split into training and test data by the ratio 75% and 25%, respectively.</a:t>
              </a:r>
            </a:p>
            <a:p>
              <a:r>
                <a:rPr lang="en-US" sz="1500" dirty="0">
                  <a:latin typeface="Consolas" panose="020B0609020204030204" pitchFamily="49" charset="0"/>
                </a:rPr>
                <a:t>   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cvObj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cvpartition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(size(X, 1), '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HoldOut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', 0.75);</a:t>
              </a:r>
            </a:p>
            <a:p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idx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cvObj.test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X_train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= X(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idx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, :);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X_test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= X(~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idx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, :);</a:t>
              </a:r>
            </a:p>
            <a:p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y_train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= y(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idx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, :);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y_test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= y(~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idx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, :);</a:t>
              </a:r>
            </a:p>
            <a:p>
              <a:b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</a:br>
              <a:b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</a:br>
              <a:endParaRPr lang="en-US" sz="1500" dirty="0">
                <a:solidFill>
                  <a:schemeClr val="tx2"/>
                </a:solidFill>
                <a:latin typeface="Consolas" panose="020B0609020204030204" pitchFamily="49" charset="0"/>
              </a:endParaRPr>
            </a:p>
            <a:p>
              <a:r>
                <a:rPr lang="en-US" sz="1500" dirty="0">
                  <a:latin typeface="Consolas" panose="020B0609020204030204" pitchFamily="49" charset="0"/>
                </a:rPr>
                <a:t>    </a:t>
              </a:r>
              <a:r>
                <a:rPr lang="en-US" sz="1500" dirty="0">
                  <a:solidFill>
                    <a:srgbClr val="0E00FF"/>
                  </a:solidFill>
                  <a:latin typeface="Consolas" panose="020B0609020204030204" pitchFamily="49" charset="0"/>
                </a:rPr>
                <a:t>for</a:t>
              </a:r>
              <a:r>
                <a:rPr lang="en-US" sz="1500" dirty="0">
                  <a:latin typeface="Consolas" panose="020B0609020204030204" pitchFamily="49" charset="0"/>
                </a:rPr>
                <a:t> 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j = 1:length(kernels)</a:t>
              </a:r>
            </a:p>
            <a:p>
              <a:r>
                <a:rPr lang="en-US" sz="1500" dirty="0">
                  <a:latin typeface="Consolas" panose="020B0609020204030204" pitchFamily="49" charset="0"/>
                </a:rPr>
                <a:t>        </a:t>
              </a:r>
              <a:r>
                <a:rPr lang="en-US" sz="1500" dirty="0">
                  <a:solidFill>
                    <a:srgbClr val="028009"/>
                  </a:solidFill>
                  <a:latin typeface="Consolas" panose="020B0609020204030204" pitchFamily="49" charset="0"/>
                </a:rPr>
                <a:t>% Train SVM model</a:t>
              </a:r>
            </a:p>
            <a:p>
              <a:r>
                <a:rPr lang="en-US" sz="1500" dirty="0">
                  <a:latin typeface="Consolas" panose="020B0609020204030204" pitchFamily="49" charset="0"/>
                </a:rPr>
                <a:t>       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SVMModel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fitcsvm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X_train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y_train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, '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KernelFunction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', kernels{j},'Standardize', true);</a:t>
              </a:r>
            </a:p>
            <a:p>
              <a:r>
                <a:rPr lang="en-US" sz="1500" dirty="0">
                  <a:latin typeface="Consolas" panose="020B0609020204030204" pitchFamily="49" charset="0"/>
                </a:rPr>
                <a:t>        </a:t>
              </a:r>
              <a:r>
                <a:rPr lang="en-US" sz="1500" dirty="0">
                  <a:solidFill>
                    <a:srgbClr val="028009"/>
                  </a:solidFill>
                  <a:latin typeface="Consolas" panose="020B0609020204030204" pitchFamily="49" charset="0"/>
                </a:rPr>
                <a:t>% Predict on test data</a:t>
              </a:r>
            </a:p>
            <a:p>
              <a:r>
                <a:rPr lang="en-US" sz="1500" dirty="0">
                  <a:latin typeface="Consolas" panose="020B0609020204030204" pitchFamily="49" charset="0"/>
                </a:rPr>
                <a:t>       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y_pred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= predict(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SVMModel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X_test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500" dirty="0">
                  <a:latin typeface="Consolas" panose="020B0609020204030204" pitchFamily="49" charset="0"/>
                </a:rPr>
                <a:t>        </a:t>
              </a:r>
              <a:r>
                <a:rPr lang="en-US" sz="1500" dirty="0">
                  <a:solidFill>
                    <a:srgbClr val="028009"/>
                  </a:solidFill>
                  <a:latin typeface="Consolas" panose="020B0609020204030204" pitchFamily="49" charset="0"/>
                </a:rPr>
                <a:t>% Calculate the accuracy scores of the j-</a:t>
              </a:r>
              <a:r>
                <a:rPr lang="en-US" sz="1500" dirty="0" err="1">
                  <a:solidFill>
                    <a:srgbClr val="028009"/>
                  </a:solidFill>
                  <a:latin typeface="Consolas" panose="020B0609020204030204" pitchFamily="49" charset="0"/>
                </a:rPr>
                <a:t>th</a:t>
              </a:r>
              <a:r>
                <a:rPr lang="en-US" sz="1500" dirty="0">
                  <a:solidFill>
                    <a:srgbClr val="028009"/>
                  </a:solidFill>
                  <a:latin typeface="Consolas" panose="020B0609020204030204" pitchFamily="49" charset="0"/>
                </a:rPr>
                <a:t> kernel</a:t>
              </a:r>
            </a:p>
            <a:p>
              <a:r>
                <a:rPr lang="en-US" sz="1500" dirty="0">
                  <a:latin typeface="Consolas" panose="020B0609020204030204" pitchFamily="49" charset="0"/>
                </a:rPr>
                <a:t>       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accuracy = sum(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y_test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==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y_pred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)/length(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y_test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       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accuracy_scores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(j) = </a:t>
              </a:r>
              <a:r>
                <a:rPr lang="en-US" sz="1500" dirty="0" err="1">
                  <a:solidFill>
                    <a:schemeClr val="tx2"/>
                  </a:solidFill>
                  <a:latin typeface="Consolas" panose="020B0609020204030204" pitchFamily="49" charset="0"/>
                </a:rPr>
                <a:t>accuracy_scores</a:t>
              </a:r>
              <a:r>
                <a:rPr lang="en-US" sz="1500" dirty="0">
                  <a:solidFill>
                    <a:schemeClr val="tx2"/>
                  </a:solidFill>
                  <a:latin typeface="Consolas" panose="020B0609020204030204" pitchFamily="49" charset="0"/>
                </a:rPr>
                <a:t>(j) + accuracy;</a:t>
              </a:r>
            </a:p>
            <a:p>
              <a:r>
                <a:rPr lang="en-US" sz="1500" dirty="0">
                  <a:latin typeface="Consolas" panose="020B0609020204030204" pitchFamily="49" charset="0"/>
                </a:rPr>
                <a:t>    </a:t>
              </a:r>
              <a:r>
                <a:rPr lang="en-US" sz="1500" dirty="0">
                  <a:solidFill>
                    <a:srgbClr val="0E00FF"/>
                  </a:solidFill>
                  <a:latin typeface="Consolas" panose="020B0609020204030204" pitchFamily="49" charset="0"/>
                </a:rPr>
                <a:t>end</a:t>
              </a:r>
            </a:p>
            <a:p>
              <a:r>
                <a:rPr lang="en-US" sz="1500" dirty="0">
                  <a:solidFill>
                    <a:srgbClr val="0E00FF"/>
                  </a:solidFill>
                  <a:latin typeface="Consolas" panose="020B0609020204030204" pitchFamily="49" charset="0"/>
                </a:rPr>
                <a:t>end</a:t>
              </a:r>
            </a:p>
          </p:txBody>
        </p:sp>
        <p:sp>
          <p:nvSpPr>
            <p:cNvPr id="12" name="矩形 8">
              <a:extLst>
                <a:ext uri="{FF2B5EF4-FFF2-40B4-BE49-F238E27FC236}">
                  <a16:creationId xmlns:a16="http://schemas.microsoft.com/office/drawing/2014/main" id="{3A3E1C80-6E8A-2BE6-4945-253355C37FD0}"/>
                </a:ext>
              </a:extLst>
            </p:cNvPr>
            <p:cNvSpPr/>
            <p:nvPr/>
          </p:nvSpPr>
          <p:spPr>
            <a:xfrm>
              <a:off x="10450186" y="6396196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  <p:sp>
        <p:nvSpPr>
          <p:cNvPr id="2" name="文本框 8">
            <a:extLst>
              <a:ext uri="{FF2B5EF4-FFF2-40B4-BE49-F238E27FC236}">
                <a16:creationId xmlns:a16="http://schemas.microsoft.com/office/drawing/2014/main" id="{360823F7-7CDD-9F25-0B53-78AB933F5557}"/>
              </a:ext>
            </a:extLst>
          </p:cNvPr>
          <p:cNvSpPr txBox="1"/>
          <p:nvPr/>
        </p:nvSpPr>
        <p:spPr>
          <a:xfrm>
            <a:off x="416321" y="1498314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 Cross-validation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6">
            <a:extLst>
              <a:ext uri="{FF2B5EF4-FFF2-40B4-BE49-F238E27FC236}">
                <a16:creationId xmlns:a16="http://schemas.microsoft.com/office/drawing/2014/main" id="{5B8AE9C8-70E1-D5EA-84C5-58745549F827}"/>
              </a:ext>
            </a:extLst>
          </p:cNvPr>
          <p:cNvSpPr txBox="1"/>
          <p:nvPr/>
        </p:nvSpPr>
        <p:spPr>
          <a:xfrm>
            <a:off x="1802642" y="6396335"/>
            <a:ext cx="3255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training and prediction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: 圆角 9">
            <a:extLst>
              <a:ext uri="{FF2B5EF4-FFF2-40B4-BE49-F238E27FC236}">
                <a16:creationId xmlns:a16="http://schemas.microsoft.com/office/drawing/2014/main" id="{4A4ED613-6EF7-A5AE-D20F-3DA52C2E205C}"/>
              </a:ext>
            </a:extLst>
          </p:cNvPr>
          <p:cNvSpPr/>
          <p:nvPr/>
        </p:nvSpPr>
        <p:spPr>
          <a:xfrm>
            <a:off x="628156" y="4068809"/>
            <a:ext cx="10344643" cy="227067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右大括号 2">
            <a:extLst>
              <a:ext uri="{FF2B5EF4-FFF2-40B4-BE49-F238E27FC236}">
                <a16:creationId xmlns:a16="http://schemas.microsoft.com/office/drawing/2014/main" id="{EE4483BF-7107-BD81-6D0B-CCE3485D1FD3}"/>
              </a:ext>
            </a:extLst>
          </p:cNvPr>
          <p:cNvSpPr/>
          <p:nvPr/>
        </p:nvSpPr>
        <p:spPr>
          <a:xfrm>
            <a:off x="9122303" y="2409621"/>
            <a:ext cx="365760" cy="1287017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14">
            <a:extLst>
              <a:ext uri="{FF2B5EF4-FFF2-40B4-BE49-F238E27FC236}">
                <a16:creationId xmlns:a16="http://schemas.microsoft.com/office/drawing/2014/main" id="{8A141858-CAC2-AAEE-0E9C-24847448BD2B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5058265" y="6324386"/>
            <a:ext cx="961812" cy="3027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7">
            <a:extLst>
              <a:ext uri="{FF2B5EF4-FFF2-40B4-BE49-F238E27FC236}">
                <a16:creationId xmlns:a16="http://schemas.microsoft.com/office/drawing/2014/main" id="{E89DC656-ECFF-DEA6-3135-76F0123F5251}"/>
              </a:ext>
            </a:extLst>
          </p:cNvPr>
          <p:cNvSpPr txBox="1"/>
          <p:nvPr/>
        </p:nvSpPr>
        <p:spPr>
          <a:xfrm>
            <a:off x="9517648" y="2822298"/>
            <a:ext cx="1533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 split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12F911-97C6-5D64-49BF-B864329FCD65}"/>
              </a:ext>
            </a:extLst>
          </p:cNvPr>
          <p:cNvSpPr txBox="1">
            <a:spLocks/>
          </p:cNvSpPr>
          <p:nvPr/>
        </p:nvSpPr>
        <p:spPr>
          <a:xfrm>
            <a:off x="2701636" y="686014"/>
            <a:ext cx="9210963" cy="88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Kernel selection code by an engineer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5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 animBg="1"/>
      <p:bldP spid="5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8">
            <a:extLst>
              <a:ext uri="{FF2B5EF4-FFF2-40B4-BE49-F238E27FC236}">
                <a16:creationId xmlns:a16="http://schemas.microsoft.com/office/drawing/2014/main" id="{F131846C-3645-9A1C-053A-B2BC002B127C}"/>
              </a:ext>
            </a:extLst>
          </p:cNvPr>
          <p:cNvSpPr txBox="1"/>
          <p:nvPr/>
        </p:nvSpPr>
        <p:spPr>
          <a:xfrm>
            <a:off x="299107" y="1507208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4. Select kernel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3">
            <a:extLst>
              <a:ext uri="{FF2B5EF4-FFF2-40B4-BE49-F238E27FC236}">
                <a16:creationId xmlns:a16="http://schemas.microsoft.com/office/drawing/2014/main" id="{66291157-1ECF-2F2E-F516-9CB96F0171B8}"/>
              </a:ext>
            </a:extLst>
          </p:cNvPr>
          <p:cNvSpPr txBox="1"/>
          <p:nvPr/>
        </p:nvSpPr>
        <p:spPr>
          <a:xfrm>
            <a:off x="299106" y="3624620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5. The result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11">
            <a:extLst>
              <a:ext uri="{FF2B5EF4-FFF2-40B4-BE49-F238E27FC236}">
                <a16:creationId xmlns:a16="http://schemas.microsoft.com/office/drawing/2014/main" id="{C3CF3A75-2009-DE5F-B5D6-F1DC4E851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1" y="4463339"/>
            <a:ext cx="2800560" cy="702158"/>
          </a:xfrm>
          <a:prstGeom prst="rect">
            <a:avLst/>
          </a:prstGeom>
          <a:ln>
            <a:solidFill>
              <a:srgbClr val="00B0F0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F7181C0-37AA-F6B6-3148-48DADB8A7562}"/>
              </a:ext>
            </a:extLst>
          </p:cNvPr>
          <p:cNvGrpSpPr/>
          <p:nvPr/>
        </p:nvGrpSpPr>
        <p:grpSpPr>
          <a:xfrm>
            <a:off x="460651" y="2112023"/>
            <a:ext cx="11533547" cy="4653505"/>
            <a:chOff x="460651" y="2112023"/>
            <a:chExt cx="11533547" cy="465350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A3D0920-5D88-1673-F58D-C72397959D22}"/>
                </a:ext>
              </a:extLst>
            </p:cNvPr>
            <p:cNvSpPr/>
            <p:nvPr/>
          </p:nvSpPr>
          <p:spPr>
            <a:xfrm>
              <a:off x="460651" y="2112023"/>
              <a:ext cx="10253965" cy="1121358"/>
            </a:xfrm>
            <a:prstGeom prst="roundRect">
              <a:avLst>
                <a:gd name="adj" fmla="val 10904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accuracy_scores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accuracy_scores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/k;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The average accuracy scores of these kernels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[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max_acc,max_index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] = max(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accuracy_scores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The max accuracy and the best kernel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disp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([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'Best kernel: 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kernels{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max_index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}]);</a:t>
              </a: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disp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([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'Average accuracy: 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num2str(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max_acc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)]);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9E34812-1110-6AF5-1EE7-B4E8CBF2A05F}"/>
                </a:ext>
              </a:extLst>
            </p:cNvPr>
            <p:cNvSpPr/>
            <p:nvPr/>
          </p:nvSpPr>
          <p:spPr>
            <a:xfrm>
              <a:off x="10450186" y="6396196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B32B0E87-D826-FA33-E43D-2AF7B0A904DD}"/>
              </a:ext>
            </a:extLst>
          </p:cNvPr>
          <p:cNvSpPr txBox="1">
            <a:spLocks/>
          </p:cNvSpPr>
          <p:nvPr/>
        </p:nvSpPr>
        <p:spPr>
          <a:xfrm>
            <a:off x="2701636" y="686014"/>
            <a:ext cx="9210963" cy="88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Kernel selection code by an engineer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2">
            <a:extLst>
              <a:ext uri="{FF2B5EF4-FFF2-40B4-BE49-F238E27FC236}">
                <a16:creationId xmlns:a16="http://schemas.microsoft.com/office/drawing/2014/main" id="{59134E86-F790-8BB8-9722-E81FE02A965B}"/>
              </a:ext>
            </a:extLst>
          </p:cNvPr>
          <p:cNvSpPr txBox="1"/>
          <p:nvPr/>
        </p:nvSpPr>
        <p:spPr>
          <a:xfrm>
            <a:off x="327647" y="1838095"/>
            <a:ext cx="107703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What is the difference between this cross-validation and the standard k-fold cross-validation? Which one is better? </a:t>
            </a:r>
          </a:p>
          <a:p>
            <a:endParaRPr lang="en-GB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accuracy of using the Gaussian kernel this time is smaller than that of the previous experiment. Which one do you believe more? </a:t>
            </a:r>
          </a:p>
          <a:p>
            <a:endParaRPr lang="en-GB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Can the size of the </a:t>
            </a:r>
            <a:r>
              <a:rPr lang="en-GB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BoxConstraint</a:t>
            </a:r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hyperparameter be used to improve the result? How? 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32B0E87-D826-FA33-E43D-2AF7B0A904DD}"/>
              </a:ext>
            </a:extLst>
          </p:cNvPr>
          <p:cNvSpPr txBox="1">
            <a:spLocks/>
          </p:cNvSpPr>
          <p:nvPr/>
        </p:nvSpPr>
        <p:spPr>
          <a:xfrm>
            <a:off x="2701636" y="686014"/>
            <a:ext cx="9210963" cy="88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Questions </a:t>
            </a:r>
          </a:p>
        </p:txBody>
      </p:sp>
    </p:spTree>
    <p:extLst>
      <p:ext uri="{BB962C8B-B14F-4D97-AF65-F5344CB8AC3E}">
        <p14:creationId xmlns:p14="http://schemas.microsoft.com/office/powerpoint/2010/main" val="119274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E97959-1D73-4CCF-85A6-A526C88E36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C0CFCF-A5D5-4C39-8949-A3FAB955EFFC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C54DBAD0-0965-47F4-A7C8-641CA5E882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1990</TotalTime>
  <Words>848</Words>
  <Application>Microsoft Office PowerPoint</Application>
  <PresentationFormat>Widescreen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Times New Roman</vt:lpstr>
      <vt:lpstr>Office Theme</vt:lpstr>
      <vt:lpstr>Case Study 2: Raisin Classification (Nonlinear SVM)</vt:lpstr>
      <vt:lpstr>Nonlinear SVM – raisin classification</vt:lpstr>
      <vt:lpstr>Nonlinear SVM – raisin classification</vt:lpstr>
      <vt:lpstr>Nonlinear SVM – raisin classification</vt:lpstr>
      <vt:lpstr>Nonlinear SVM – raisin classification</vt:lpstr>
      <vt:lpstr>Nonlinear SVM – raisin classification</vt:lpstr>
      <vt:lpstr>Kernel selection code by an engineer</vt:lpstr>
      <vt:lpstr>PowerPoint Presentation</vt:lpstr>
      <vt:lpstr>PowerPoint Presentation</vt:lpstr>
      <vt:lpstr>PowerPoint Presentation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74</cp:revision>
  <dcterms:created xsi:type="dcterms:W3CDTF">2021-01-06T14:22:07Z</dcterms:created>
  <dcterms:modified xsi:type="dcterms:W3CDTF">2024-07-16T15:15:16Z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