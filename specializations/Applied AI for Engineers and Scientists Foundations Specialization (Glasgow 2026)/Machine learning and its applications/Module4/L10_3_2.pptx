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sldIdLst>
    <p:sldId id="256" r:id="rId5"/>
    <p:sldId id="494" r:id="rId6"/>
    <p:sldId id="496" r:id="rId7"/>
    <p:sldId id="497" r:id="rId8"/>
    <p:sldId id="498" r:id="rId9"/>
    <p:sldId id="499" r:id="rId10"/>
    <p:sldId id="500" r:id="rId11"/>
    <p:sldId id="501" r:id="rId12"/>
    <p:sldId id="502" r:id="rId13"/>
    <p:sldId id="27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91" autoAdjust="0"/>
    <p:restoredTop sz="96327"/>
  </p:normalViewPr>
  <p:slideViewPr>
    <p:cSldViewPr snapToGrid="0">
      <p:cViewPr varScale="1">
        <p:scale>
          <a:sx n="154" d="100"/>
          <a:sy n="154" d="100"/>
        </p:scale>
        <p:origin x="80" y="80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8/16/2024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2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4589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0192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0655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003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4358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5676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8234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16/08/2024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8210986" cy="78970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Iris Flower Example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C54586-8882-6804-A250-091EB793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418" y="2576945"/>
            <a:ext cx="5680364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Professor Bo Liu</a:t>
            </a:r>
          </a:p>
          <a:p>
            <a:r>
              <a:rPr lang="en-GB" dirty="0">
                <a:solidFill>
                  <a:schemeClr val="tx1"/>
                </a:solidFill>
              </a:rPr>
              <a:t>James Watt 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7" y="533614"/>
            <a:ext cx="8050340" cy="888786"/>
          </a:xfrm>
        </p:spPr>
        <p:txBody>
          <a:bodyPr/>
          <a:lstStyle/>
          <a:p>
            <a:r>
              <a:rPr lang="en-US" dirty="0"/>
              <a:t>Iris flower classification with hard margin classifier</a:t>
            </a:r>
          </a:p>
        </p:txBody>
      </p:sp>
      <p:sp>
        <p:nvSpPr>
          <p:cNvPr id="2" name="文本框 7">
            <a:extLst>
              <a:ext uri="{FF2B5EF4-FFF2-40B4-BE49-F238E27FC236}">
                <a16:creationId xmlns:a16="http://schemas.microsoft.com/office/drawing/2014/main" id="{9EAF74BC-67C9-FF62-0636-99D39AC19B9C}"/>
              </a:ext>
            </a:extLst>
          </p:cNvPr>
          <p:cNvSpPr txBox="1"/>
          <p:nvPr/>
        </p:nvSpPr>
        <p:spPr>
          <a:xfrm>
            <a:off x="170158" y="1523731"/>
            <a:ext cx="2971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1. Load the data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矩形 11">
            <a:extLst>
              <a:ext uri="{FF2B5EF4-FFF2-40B4-BE49-F238E27FC236}">
                <a16:creationId xmlns:a16="http://schemas.microsoft.com/office/drawing/2014/main" id="{B74F20F8-E8E5-0A82-AB5B-EE1CC47D3D88}"/>
              </a:ext>
            </a:extLst>
          </p:cNvPr>
          <p:cNvSpPr/>
          <p:nvPr/>
        </p:nvSpPr>
        <p:spPr>
          <a:xfrm>
            <a:off x="170158" y="4822151"/>
            <a:ext cx="115371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2. Exact two features and two species so that the dataset is linearly separable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图片 1">
            <a:extLst>
              <a:ext uri="{FF2B5EF4-FFF2-40B4-BE49-F238E27FC236}">
                <a16:creationId xmlns:a16="http://schemas.microsoft.com/office/drawing/2014/main" id="{95A8C3E0-D685-84D7-474E-EDF27C8D9D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5728" y="1988926"/>
            <a:ext cx="2400221" cy="2807686"/>
          </a:xfrm>
          <a:prstGeom prst="rect">
            <a:avLst/>
          </a:prstGeom>
        </p:spPr>
      </p:pic>
      <p:pic>
        <p:nvPicPr>
          <p:cNvPr id="6" name="图片 10">
            <a:extLst>
              <a:ext uri="{FF2B5EF4-FFF2-40B4-BE49-F238E27FC236}">
                <a16:creationId xmlns:a16="http://schemas.microsoft.com/office/drawing/2014/main" id="{0783D50C-B221-50FA-B058-8B174F5856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5939" y="1971090"/>
            <a:ext cx="1417824" cy="2842565"/>
          </a:xfrm>
          <a:prstGeom prst="rect">
            <a:avLst/>
          </a:prstGeom>
        </p:spPr>
      </p:pic>
      <p:sp>
        <p:nvSpPr>
          <p:cNvPr id="7" name="文本框 16">
            <a:extLst>
              <a:ext uri="{FF2B5EF4-FFF2-40B4-BE49-F238E27FC236}">
                <a16:creationId xmlns:a16="http://schemas.microsoft.com/office/drawing/2014/main" id="{DE163B94-7DF1-BFD7-7DB0-BFBAF7625B2C}"/>
              </a:ext>
            </a:extLst>
          </p:cNvPr>
          <p:cNvSpPr txBox="1"/>
          <p:nvPr/>
        </p:nvSpPr>
        <p:spPr>
          <a:xfrm>
            <a:off x="675940" y="2976873"/>
            <a:ext cx="2660876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measurements of the 4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features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" name="直接箭头连接符 18">
            <a:extLst>
              <a:ext uri="{FF2B5EF4-FFF2-40B4-BE49-F238E27FC236}">
                <a16:creationId xmlns:a16="http://schemas.microsoft.com/office/drawing/2014/main" id="{9521FFA2-FA47-21DB-1540-2681FD50604B}"/>
              </a:ext>
            </a:extLst>
          </p:cNvPr>
          <p:cNvCxnSpPr>
            <a:cxnSpLocks/>
            <a:stCxn id="5" idx="1"/>
            <a:endCxn id="7" idx="3"/>
          </p:cNvCxnSpPr>
          <p:nvPr/>
        </p:nvCxnSpPr>
        <p:spPr>
          <a:xfrm flipH="1" flipV="1">
            <a:off x="3336816" y="3392372"/>
            <a:ext cx="708912" cy="3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22">
            <a:extLst>
              <a:ext uri="{FF2B5EF4-FFF2-40B4-BE49-F238E27FC236}">
                <a16:creationId xmlns:a16="http://schemas.microsoft.com/office/drawing/2014/main" id="{E2EA8B99-25AB-83F6-19B4-92238F4845E4}"/>
              </a:ext>
            </a:extLst>
          </p:cNvPr>
          <p:cNvSpPr txBox="1"/>
          <p:nvPr/>
        </p:nvSpPr>
        <p:spPr>
          <a:xfrm>
            <a:off x="9180987" y="3161539"/>
            <a:ext cx="1129685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labels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" name="直接箭头连接符 23">
            <a:extLst>
              <a:ext uri="{FF2B5EF4-FFF2-40B4-BE49-F238E27FC236}">
                <a16:creationId xmlns:a16="http://schemas.microsoft.com/office/drawing/2014/main" id="{83FEA267-6327-3068-BAC9-EEEF0D6356A8}"/>
              </a:ext>
            </a:extLst>
          </p:cNvPr>
          <p:cNvCxnSpPr>
            <a:cxnSpLocks/>
            <a:stCxn id="6" idx="3"/>
            <a:endCxn id="10" idx="1"/>
          </p:cNvCxnSpPr>
          <p:nvPr/>
        </p:nvCxnSpPr>
        <p:spPr>
          <a:xfrm flipV="1">
            <a:off x="8243763" y="3392372"/>
            <a:ext cx="93722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5AF9184-72EE-4D04-8125-7FBE618816FA}"/>
              </a:ext>
            </a:extLst>
          </p:cNvPr>
          <p:cNvSpPr/>
          <p:nvPr/>
        </p:nvSpPr>
        <p:spPr>
          <a:xfrm>
            <a:off x="282017" y="5343971"/>
            <a:ext cx="10851708" cy="796185"/>
          </a:xfrm>
          <a:prstGeom prst="roundRect">
            <a:avLst>
              <a:gd name="adj" fmla="val 8217"/>
            </a:avLst>
          </a:prstGeom>
          <a:solidFill>
            <a:srgbClr val="F2F2F2"/>
          </a:solidFill>
          <a:ln>
            <a:solidFill>
              <a:schemeClr val="tx2">
                <a:lumMod val="95000"/>
                <a:lumOff val="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>
                <a:solidFill>
                  <a:srgbClr val="02800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% Extract two features and two species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X_train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=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meas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(1:80, 1:2);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y_train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= species(1:80); </a:t>
            </a:r>
            <a:r>
              <a:rPr lang="en-US" altLang="zh-CN" sz="1600" dirty="0">
                <a:solidFill>
                  <a:srgbClr val="02800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% The first 80 samples are training set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X_test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=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meas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(81:100, 1:2);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y_test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= species(81:100); </a:t>
            </a:r>
            <a:r>
              <a:rPr lang="en-US" altLang="zh-CN" sz="1600" dirty="0">
                <a:solidFill>
                  <a:srgbClr val="02800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% The subsequent 20 samples are test set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67CA8E9-FB22-5369-84A5-43704D6AAD8A}"/>
              </a:ext>
            </a:extLst>
          </p:cNvPr>
          <p:cNvGrpSpPr/>
          <p:nvPr/>
        </p:nvGrpSpPr>
        <p:grpSpPr>
          <a:xfrm>
            <a:off x="721397" y="2020606"/>
            <a:ext cx="10985894" cy="4660783"/>
            <a:chOff x="721397" y="2020606"/>
            <a:chExt cx="10985894" cy="4660783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7E314F32-3992-081C-7CBC-6572DAC6549F}"/>
                </a:ext>
              </a:extLst>
            </p:cNvPr>
            <p:cNvSpPr/>
            <p:nvPr/>
          </p:nvSpPr>
          <p:spPr>
            <a:xfrm>
              <a:off x="721397" y="2020606"/>
              <a:ext cx="2685590" cy="600319"/>
            </a:xfrm>
            <a:prstGeom prst="roundRect">
              <a:avLst>
                <a:gd name="adj" fmla="val 8217"/>
              </a:avLst>
            </a:prstGeom>
            <a:solidFill>
              <a:srgbClr val="F2F2F2"/>
            </a:solidFill>
            <a:ln>
              <a:solidFill>
                <a:schemeClr val="tx2">
                  <a:lumMod val="95000"/>
                  <a:lumOff val="5000"/>
                </a:schemeClr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600" dirty="0">
                  <a:solidFill>
                    <a:srgbClr val="02800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% Load the iris dataset</a:t>
              </a:r>
              <a:endParaRPr lang="en-US" altLang="zh-CN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load </a:t>
              </a:r>
              <a:r>
                <a:rPr lang="en-US" altLang="zh-CN" sz="1600" dirty="0" err="1">
                  <a:solidFill>
                    <a:srgbClr val="AA04F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fisheriris</a:t>
              </a:r>
              <a:endParaRPr lang="en-US" altLang="zh-CN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矩形 8">
              <a:extLst>
                <a:ext uri="{FF2B5EF4-FFF2-40B4-BE49-F238E27FC236}">
                  <a16:creationId xmlns:a16="http://schemas.microsoft.com/office/drawing/2014/main" id="{EBB30C0E-4BE3-ADD8-F313-23D0879B50FA}"/>
                </a:ext>
              </a:extLst>
            </p:cNvPr>
            <p:cNvSpPr/>
            <p:nvPr/>
          </p:nvSpPr>
          <p:spPr>
            <a:xfrm>
              <a:off x="10163279" y="6312057"/>
              <a:ext cx="1544012" cy="369332"/>
            </a:xfrm>
            <a:prstGeom prst="rect">
              <a:avLst/>
            </a:prstGeom>
            <a:solidFill>
              <a:srgbClr val="E7E6E6"/>
            </a:solidFill>
            <a:ln w="19050">
              <a:solidFill>
                <a:srgbClr val="FF0000"/>
              </a:solidFill>
            </a:ln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cs typeface="Times New Roman" pitchFamily="18" charset="0"/>
                </a:rPr>
                <a:t>See live script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76015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7" y="533614"/>
            <a:ext cx="8245144" cy="888786"/>
          </a:xfrm>
        </p:spPr>
        <p:txBody>
          <a:bodyPr/>
          <a:lstStyle/>
          <a:p>
            <a:r>
              <a:rPr lang="en-US" dirty="0"/>
              <a:t>Iris flower classification with hard margin classifier</a:t>
            </a:r>
          </a:p>
        </p:txBody>
      </p:sp>
      <p:sp>
        <p:nvSpPr>
          <p:cNvPr id="13" name="矩形 13">
            <a:extLst>
              <a:ext uri="{FF2B5EF4-FFF2-40B4-BE49-F238E27FC236}">
                <a16:creationId xmlns:a16="http://schemas.microsoft.com/office/drawing/2014/main" id="{AE4FAE46-5D6F-9684-6DD8-BF9B78A3A9D3}"/>
              </a:ext>
            </a:extLst>
          </p:cNvPr>
          <p:cNvSpPr/>
          <p:nvPr/>
        </p:nvSpPr>
        <p:spPr>
          <a:xfrm>
            <a:off x="168836" y="1533211"/>
            <a:ext cx="573971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3. Train an SVM hard margin classifier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矩形 2">
            <a:extLst>
              <a:ext uri="{FF2B5EF4-FFF2-40B4-BE49-F238E27FC236}">
                <a16:creationId xmlns:a16="http://schemas.microsoft.com/office/drawing/2014/main" id="{2DC75DC3-172F-2EB7-E4C0-F746DC4B5ACC}"/>
              </a:ext>
            </a:extLst>
          </p:cNvPr>
          <p:cNvSpPr/>
          <p:nvPr/>
        </p:nvSpPr>
        <p:spPr>
          <a:xfrm>
            <a:off x="362192" y="5194504"/>
            <a:ext cx="1043218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BoxConstraint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controls the tradeoff between margin violation and margins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Large 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BoxConstraint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, prefer a small margin violation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Small 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BoxConstraint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, prefer large margins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Setting 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BoxConstraint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= Inf means we train a hard margin classifier.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1E9A9440-90C0-3EEB-0FED-3C8FA619C014}"/>
                  </a:ext>
                </a:extLst>
              </p:cNvPr>
              <p:cNvSpPr txBox="1"/>
              <p:nvPr/>
            </p:nvSpPr>
            <p:spPr>
              <a:xfrm>
                <a:off x="523747" y="2834710"/>
                <a:ext cx="5910506" cy="2249270"/>
              </a:xfrm>
              <a:prstGeom prst="rect">
                <a:avLst/>
              </a:prstGeom>
              <a:noFill/>
              <a:ln>
                <a:solidFill>
                  <a:srgbClr val="00B0F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CN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𝜶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zh-CN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func>
                      <m:nary>
                        <m:naryPr>
                          <m:chr m:val="∑"/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CN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altLang="zh-CN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sSup>
                                    <m:sSupPr>
                                      <m:ctrlPr>
                                        <a:rPr lang="en-US" altLang="zh-CN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altLang="zh-CN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nary>
                                <m:naryPr>
                                  <m:chr m:val="∑"/>
                                  <m:ctrlP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altLang="zh-CN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p>
                                      <m:r>
                                        <a:rPr lang="en-US" altLang="zh-CN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nary>
                        </m:e>
                      </m:nary>
                    </m:oMath>
                  </m:oMathPara>
                </a14:m>
                <a:endParaRPr lang="en-US" altLang="zh-CN" sz="2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=0,</m:t>
                      </m:r>
                    </m:oMath>
                  </m:oMathPara>
                </a14:m>
                <a:endParaRPr lang="en-US" altLang="zh-CN" sz="2400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0≤</m:t>
                      </m:r>
                      <m:sSup>
                        <m:s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=1,⋯,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1E9A9440-90C0-3EEB-0FED-3C8FA619C0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747" y="2834710"/>
                <a:ext cx="5910506" cy="22492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329CF891-E1B7-8689-AB58-9BB84E6488CD}"/>
              </a:ext>
            </a:extLst>
          </p:cNvPr>
          <p:cNvCxnSpPr>
            <a:cxnSpLocks/>
            <a:stCxn id="17" idx="3"/>
            <a:endCxn id="18" idx="1"/>
          </p:cNvCxnSpPr>
          <p:nvPr/>
        </p:nvCxnSpPr>
        <p:spPr>
          <a:xfrm flipV="1">
            <a:off x="3495781" y="4187939"/>
            <a:ext cx="3866093" cy="6648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15AB60F1-85EE-B87F-7CD2-3D05BB1E6D7D}"/>
              </a:ext>
            </a:extLst>
          </p:cNvPr>
          <p:cNvSpPr/>
          <p:nvPr/>
        </p:nvSpPr>
        <p:spPr>
          <a:xfrm>
            <a:off x="3167775" y="4694949"/>
            <a:ext cx="328006" cy="31577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A213D04F-5CBE-4C5B-F6F7-02E76EE9B3FE}"/>
                  </a:ext>
                </a:extLst>
              </p:cNvPr>
              <p:cNvSpPr txBox="1"/>
              <p:nvPr/>
            </p:nvSpPr>
            <p:spPr>
              <a:xfrm>
                <a:off x="7361874" y="3772440"/>
                <a:ext cx="2172418" cy="83099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BoxConstraint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represents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A213D04F-5CBE-4C5B-F6F7-02E76EE9B3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1874" y="3772440"/>
                <a:ext cx="2172418" cy="830997"/>
              </a:xfrm>
              <a:prstGeom prst="rect">
                <a:avLst/>
              </a:prstGeom>
              <a:blipFill>
                <a:blip r:embed="rId4"/>
                <a:stretch>
                  <a:fillRect l="-4190" t="-4348" r="-838" b="-1594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直接箭头连接符 23">
            <a:extLst>
              <a:ext uri="{FF2B5EF4-FFF2-40B4-BE49-F238E27FC236}">
                <a16:creationId xmlns:a16="http://schemas.microsoft.com/office/drawing/2014/main" id="{23186F4F-6C3E-B6C5-ADAE-DAE2702A6613}"/>
              </a:ext>
            </a:extLst>
          </p:cNvPr>
          <p:cNvCxnSpPr>
            <a:cxnSpLocks/>
            <a:stCxn id="21" idx="2"/>
            <a:endCxn id="18" idx="0"/>
          </p:cNvCxnSpPr>
          <p:nvPr/>
        </p:nvCxnSpPr>
        <p:spPr>
          <a:xfrm>
            <a:off x="7826244" y="2670061"/>
            <a:ext cx="621839" cy="11023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: 圆角 21">
            <a:extLst>
              <a:ext uri="{FF2B5EF4-FFF2-40B4-BE49-F238E27FC236}">
                <a16:creationId xmlns:a16="http://schemas.microsoft.com/office/drawing/2014/main" id="{FC520D57-CBDB-695D-E6B2-161FEDA8F339}"/>
              </a:ext>
            </a:extLst>
          </p:cNvPr>
          <p:cNvSpPr/>
          <p:nvPr/>
        </p:nvSpPr>
        <p:spPr>
          <a:xfrm>
            <a:off x="6965688" y="2377034"/>
            <a:ext cx="1721112" cy="29302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D01B009-3416-35A3-8932-B45054B487EB}"/>
              </a:ext>
            </a:extLst>
          </p:cNvPr>
          <p:cNvGrpSpPr/>
          <p:nvPr/>
        </p:nvGrpSpPr>
        <p:grpSpPr>
          <a:xfrm>
            <a:off x="220768" y="2084009"/>
            <a:ext cx="11698394" cy="4597380"/>
            <a:chOff x="220768" y="2084009"/>
            <a:chExt cx="11698394" cy="4597380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1D165859-F3E2-8726-5C4F-1BA6413F9D8A}"/>
                </a:ext>
              </a:extLst>
            </p:cNvPr>
            <p:cNvSpPr/>
            <p:nvPr/>
          </p:nvSpPr>
          <p:spPr>
            <a:xfrm>
              <a:off x="220768" y="2084009"/>
              <a:ext cx="10851708" cy="586053"/>
            </a:xfrm>
            <a:prstGeom prst="roundRect">
              <a:avLst>
                <a:gd name="adj" fmla="val 8217"/>
              </a:avLst>
            </a:prstGeom>
            <a:solidFill>
              <a:srgbClr val="F2F2F2"/>
            </a:solidFill>
            <a:ln>
              <a:solidFill>
                <a:schemeClr val="tx2">
                  <a:lumMod val="95000"/>
                  <a:lumOff val="5000"/>
                </a:schemeClr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600" dirty="0">
                  <a:solidFill>
                    <a:srgbClr val="02800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% Train a hard margin SVM classifier</a:t>
              </a:r>
              <a:endPara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endParaRPr>
            </a:p>
            <a:p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svm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 =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fitcsvm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(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X_train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,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y_train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, </a:t>
              </a:r>
              <a:r>
                <a:rPr lang="en-US" altLang="zh-CN" sz="1600" dirty="0">
                  <a:solidFill>
                    <a:srgbClr val="AA04F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'</a:t>
              </a:r>
              <a:r>
                <a:rPr lang="en-US" altLang="zh-CN" sz="1600" dirty="0" err="1">
                  <a:solidFill>
                    <a:srgbClr val="AA04F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KernelFunction</a:t>
              </a:r>
              <a:r>
                <a:rPr lang="en-US" altLang="zh-CN" sz="1600" dirty="0">
                  <a:solidFill>
                    <a:srgbClr val="AA04F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'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, </a:t>
              </a:r>
              <a:r>
                <a:rPr lang="en-US" altLang="zh-CN" sz="1600" dirty="0">
                  <a:solidFill>
                    <a:srgbClr val="AA04F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'linear'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, </a:t>
              </a:r>
              <a:r>
                <a:rPr lang="en-US" altLang="zh-CN" sz="1600" dirty="0">
                  <a:solidFill>
                    <a:srgbClr val="AA04F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'</a:t>
              </a:r>
              <a:r>
                <a:rPr lang="en-US" altLang="zh-CN" sz="1600" dirty="0" err="1">
                  <a:solidFill>
                    <a:srgbClr val="AA04F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BoxConstraint</a:t>
              </a:r>
              <a:r>
                <a:rPr lang="en-US" altLang="zh-CN" sz="1600" dirty="0">
                  <a:solidFill>
                    <a:srgbClr val="AA04F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'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, Inf);</a:t>
              </a:r>
            </a:p>
          </p:txBody>
        </p:sp>
        <p:sp>
          <p:nvSpPr>
            <p:cNvPr id="38" name="矩形 8">
              <a:extLst>
                <a:ext uri="{FF2B5EF4-FFF2-40B4-BE49-F238E27FC236}">
                  <a16:creationId xmlns:a16="http://schemas.microsoft.com/office/drawing/2014/main" id="{9455E046-A2CD-E4F6-F752-372BAB4A2918}"/>
                </a:ext>
              </a:extLst>
            </p:cNvPr>
            <p:cNvSpPr/>
            <p:nvPr/>
          </p:nvSpPr>
          <p:spPr>
            <a:xfrm>
              <a:off x="10375150" y="6312057"/>
              <a:ext cx="1544012" cy="369332"/>
            </a:xfrm>
            <a:prstGeom prst="rect">
              <a:avLst/>
            </a:prstGeom>
            <a:solidFill>
              <a:srgbClr val="E7E6E6"/>
            </a:solidFill>
            <a:ln w="19050">
              <a:solidFill>
                <a:srgbClr val="FF0000"/>
              </a:solidFill>
            </a:ln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cs typeface="Times New Roman" pitchFamily="18" charset="0"/>
                </a:rPr>
                <a:t>See live script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19003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 animBg="1"/>
      <p:bldP spid="17" grpId="0" animBg="1"/>
      <p:bldP spid="18" grpId="0" animBg="1"/>
      <p:bldP spid="2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7" y="533614"/>
            <a:ext cx="8144784" cy="888786"/>
          </a:xfrm>
        </p:spPr>
        <p:txBody>
          <a:bodyPr/>
          <a:lstStyle/>
          <a:p>
            <a:r>
              <a:rPr lang="en-US" dirty="0"/>
              <a:t>Iris flower classification with hard margin classifier</a:t>
            </a:r>
          </a:p>
        </p:txBody>
      </p:sp>
      <p:sp>
        <p:nvSpPr>
          <p:cNvPr id="2" name="文本框 7">
            <a:extLst>
              <a:ext uri="{FF2B5EF4-FFF2-40B4-BE49-F238E27FC236}">
                <a16:creationId xmlns:a16="http://schemas.microsoft.com/office/drawing/2014/main" id="{FE3FF4FD-B0FB-1390-F198-06C6FECD656C}"/>
              </a:ext>
            </a:extLst>
          </p:cNvPr>
          <p:cNvSpPr txBox="1"/>
          <p:nvPr/>
        </p:nvSpPr>
        <p:spPr>
          <a:xfrm>
            <a:off x="242765" y="1528043"/>
            <a:ext cx="6069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4. Predict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矩形 11">
            <a:extLst>
              <a:ext uri="{FF2B5EF4-FFF2-40B4-BE49-F238E27FC236}">
                <a16:creationId xmlns:a16="http://schemas.microsoft.com/office/drawing/2014/main" id="{DAAE77A2-C72D-ECB8-F6A2-035362A97E9A}"/>
              </a:ext>
            </a:extLst>
          </p:cNvPr>
          <p:cNvSpPr/>
          <p:nvPr/>
        </p:nvSpPr>
        <p:spPr>
          <a:xfrm>
            <a:off x="242765" y="2765652"/>
            <a:ext cx="54345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5. Calculate the prediction accuracy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56771050-9E40-ACCF-6C11-E9172C88E3A5}"/>
              </a:ext>
            </a:extLst>
          </p:cNvPr>
          <p:cNvSpPr txBox="1"/>
          <p:nvPr/>
        </p:nvSpPr>
        <p:spPr>
          <a:xfrm>
            <a:off x="500799" y="5975129"/>
            <a:ext cx="61208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We will get ‘Accuracy=100’ in this example.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0E2E3ED-952B-4422-5BE2-D33138AC7AFA}"/>
              </a:ext>
            </a:extLst>
          </p:cNvPr>
          <p:cNvSpPr/>
          <p:nvPr/>
        </p:nvSpPr>
        <p:spPr>
          <a:xfrm>
            <a:off x="504698" y="3344607"/>
            <a:ext cx="7799096" cy="1317307"/>
          </a:xfrm>
          <a:prstGeom prst="roundRect">
            <a:avLst>
              <a:gd name="adj" fmla="val 8217"/>
            </a:avLst>
          </a:prstGeom>
          <a:solidFill>
            <a:srgbClr val="F2F2F2"/>
          </a:solidFill>
          <a:ln>
            <a:solidFill>
              <a:schemeClr val="tx2">
                <a:lumMod val="95000"/>
                <a:lumOff val="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>
                <a:solidFill>
                  <a:srgbClr val="02800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% Count the number of correct classified samples.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num_correct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= 0;</a:t>
            </a:r>
          </a:p>
          <a:p>
            <a:r>
              <a:rPr lang="en-US" altLang="zh-CN" sz="1600" dirty="0">
                <a:solidFill>
                  <a:srgbClr val="0E00FF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for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= 1: length(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y_test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)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    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num_correct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=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num_correct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+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strcmp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y_pred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),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y_test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));</a:t>
            </a:r>
          </a:p>
          <a:p>
            <a:r>
              <a:rPr lang="en-US" altLang="zh-CN" sz="1600" dirty="0">
                <a:solidFill>
                  <a:srgbClr val="0E00FF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end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D89DCB3-599E-556F-BD2A-1346E98F8EF6}"/>
              </a:ext>
            </a:extLst>
          </p:cNvPr>
          <p:cNvSpPr/>
          <p:nvPr/>
        </p:nvSpPr>
        <p:spPr>
          <a:xfrm>
            <a:off x="504698" y="4903023"/>
            <a:ext cx="7799096" cy="830997"/>
          </a:xfrm>
          <a:prstGeom prst="roundRect">
            <a:avLst>
              <a:gd name="adj" fmla="val 8217"/>
            </a:avLst>
          </a:prstGeom>
          <a:solidFill>
            <a:srgbClr val="F2F2F2"/>
          </a:solidFill>
          <a:ln>
            <a:solidFill>
              <a:schemeClr val="tx2">
                <a:lumMod val="95000"/>
                <a:lumOff val="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>
                <a:solidFill>
                  <a:srgbClr val="02800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% Calculate the prediction accuracy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accuracy =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num_correct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/length(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y_test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)*100;</a:t>
            </a:r>
          </a:p>
          <a:p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disp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([</a:t>
            </a:r>
            <a:r>
              <a:rPr lang="en-US" altLang="zh-CN" sz="1600" dirty="0">
                <a:solidFill>
                  <a:srgbClr val="AA04F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'Accuracy= '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, num2str(accuracy)]);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9A4E60D-E8E5-4F2F-5985-F052BC8D57E1}"/>
              </a:ext>
            </a:extLst>
          </p:cNvPr>
          <p:cNvGrpSpPr/>
          <p:nvPr/>
        </p:nvGrpSpPr>
        <p:grpSpPr>
          <a:xfrm>
            <a:off x="504698" y="2052559"/>
            <a:ext cx="11414464" cy="4628830"/>
            <a:chOff x="504698" y="2052559"/>
            <a:chExt cx="11414464" cy="4628830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DB74B696-F1EC-B8DB-8CC5-0BD47AFBA260}"/>
                </a:ext>
              </a:extLst>
            </p:cNvPr>
            <p:cNvSpPr/>
            <p:nvPr/>
          </p:nvSpPr>
          <p:spPr>
            <a:xfrm>
              <a:off x="504698" y="2052559"/>
              <a:ext cx="6649092" cy="586053"/>
            </a:xfrm>
            <a:prstGeom prst="roundRect">
              <a:avLst>
                <a:gd name="adj" fmla="val 8217"/>
              </a:avLst>
            </a:prstGeom>
            <a:solidFill>
              <a:srgbClr val="F2F2F2"/>
            </a:solidFill>
            <a:ln>
              <a:solidFill>
                <a:schemeClr val="tx2">
                  <a:lumMod val="95000"/>
                  <a:lumOff val="5000"/>
                </a:schemeClr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600" dirty="0">
                  <a:solidFill>
                    <a:srgbClr val="02800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% Predict</a:t>
              </a:r>
              <a:endPara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endParaRPr>
            </a:p>
            <a:p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y_pred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 = predict(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svm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,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X_test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);</a:t>
              </a:r>
            </a:p>
          </p:txBody>
        </p:sp>
        <p:sp>
          <p:nvSpPr>
            <p:cNvPr id="12" name="矩形 8">
              <a:extLst>
                <a:ext uri="{FF2B5EF4-FFF2-40B4-BE49-F238E27FC236}">
                  <a16:creationId xmlns:a16="http://schemas.microsoft.com/office/drawing/2014/main" id="{2024E5B4-9E41-29DB-BED2-26D972658BBA}"/>
                </a:ext>
              </a:extLst>
            </p:cNvPr>
            <p:cNvSpPr/>
            <p:nvPr/>
          </p:nvSpPr>
          <p:spPr>
            <a:xfrm>
              <a:off x="10375150" y="6312057"/>
              <a:ext cx="1544012" cy="369332"/>
            </a:xfrm>
            <a:prstGeom prst="rect">
              <a:avLst/>
            </a:prstGeom>
            <a:solidFill>
              <a:srgbClr val="E7E6E6"/>
            </a:solidFill>
            <a:ln w="19050">
              <a:solidFill>
                <a:srgbClr val="FF0000"/>
              </a:solidFill>
            </a:ln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cs typeface="Times New Roman" pitchFamily="18" charset="0"/>
                </a:rPr>
                <a:t>See live script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25470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10" grpId="0" animBg="1"/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8345505" cy="888786"/>
          </a:xfrm>
        </p:spPr>
        <p:txBody>
          <a:bodyPr/>
          <a:lstStyle/>
          <a:p>
            <a:r>
              <a:rPr lang="en-US" dirty="0"/>
              <a:t>Iris flower classification with hard margin classifier</a:t>
            </a:r>
          </a:p>
        </p:txBody>
      </p:sp>
      <p:sp>
        <p:nvSpPr>
          <p:cNvPr id="2" name="文本框 7">
            <a:extLst>
              <a:ext uri="{FF2B5EF4-FFF2-40B4-BE49-F238E27FC236}">
                <a16:creationId xmlns:a16="http://schemas.microsoft.com/office/drawing/2014/main" id="{818D992D-0635-2946-D8B8-5647ED04D40B}"/>
              </a:ext>
            </a:extLst>
          </p:cNvPr>
          <p:cNvSpPr txBox="1"/>
          <p:nvPr/>
        </p:nvSpPr>
        <p:spPr>
          <a:xfrm>
            <a:off x="224245" y="1529136"/>
            <a:ext cx="6069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Plot and visualize the results (</a:t>
            </a:r>
            <a:r>
              <a:rPr lang="en-US" altLang="zh-CN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optional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矩形 13">
            <a:extLst>
              <a:ext uri="{FF2B5EF4-FFF2-40B4-BE49-F238E27FC236}">
                <a16:creationId xmlns:a16="http://schemas.microsoft.com/office/drawing/2014/main" id="{C1381EEC-BCD6-36F0-396C-09F35FADB64C}"/>
              </a:ext>
            </a:extLst>
          </p:cNvPr>
          <p:cNvSpPr/>
          <p:nvPr/>
        </p:nvSpPr>
        <p:spPr>
          <a:xfrm>
            <a:off x="228478" y="3460501"/>
            <a:ext cx="58592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2. Plot the dataset and support vectors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矩形 14">
            <a:extLst>
              <a:ext uri="{FF2B5EF4-FFF2-40B4-BE49-F238E27FC236}">
                <a16:creationId xmlns:a16="http://schemas.microsoft.com/office/drawing/2014/main" id="{DA7CFDC9-0B2A-6EB0-7BC4-AA89F76D94B9}"/>
              </a:ext>
            </a:extLst>
          </p:cNvPr>
          <p:cNvSpPr/>
          <p:nvPr/>
        </p:nvSpPr>
        <p:spPr>
          <a:xfrm>
            <a:off x="224245" y="1990801"/>
            <a:ext cx="78438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1. Get the support vectors and classifier coefficients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15">
            <a:extLst>
              <a:ext uri="{FF2B5EF4-FFF2-40B4-BE49-F238E27FC236}">
                <a16:creationId xmlns:a16="http://schemas.microsoft.com/office/drawing/2014/main" id="{D046F641-2A7E-9E80-4AE3-D6207F808FFB}"/>
              </a:ext>
            </a:extLst>
          </p:cNvPr>
          <p:cNvSpPr/>
          <p:nvPr/>
        </p:nvSpPr>
        <p:spPr>
          <a:xfrm>
            <a:off x="224245" y="4740977"/>
            <a:ext cx="56861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3. The equation of the linear classifier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FD967E4-4BF4-D7E6-D470-2C5D26362F37}"/>
              </a:ext>
            </a:extLst>
          </p:cNvPr>
          <p:cNvGrpSpPr/>
          <p:nvPr/>
        </p:nvGrpSpPr>
        <p:grpSpPr>
          <a:xfrm>
            <a:off x="370581" y="2517912"/>
            <a:ext cx="11548581" cy="4163477"/>
            <a:chOff x="370581" y="2517912"/>
            <a:chExt cx="11548581" cy="4163477"/>
          </a:xfrm>
        </p:grpSpPr>
        <p:sp>
          <p:nvSpPr>
            <p:cNvPr id="11" name="矩形 8">
              <a:extLst>
                <a:ext uri="{FF2B5EF4-FFF2-40B4-BE49-F238E27FC236}">
                  <a16:creationId xmlns:a16="http://schemas.microsoft.com/office/drawing/2014/main" id="{FB9D3C94-8002-0191-2FF6-211E822B608C}"/>
                </a:ext>
              </a:extLst>
            </p:cNvPr>
            <p:cNvSpPr/>
            <p:nvPr/>
          </p:nvSpPr>
          <p:spPr>
            <a:xfrm>
              <a:off x="10375150" y="6312057"/>
              <a:ext cx="1544012" cy="369332"/>
            </a:xfrm>
            <a:prstGeom prst="rect">
              <a:avLst/>
            </a:prstGeom>
            <a:solidFill>
              <a:srgbClr val="E7E6E6"/>
            </a:solidFill>
            <a:ln w="19050">
              <a:solidFill>
                <a:srgbClr val="FF0000"/>
              </a:solidFill>
            </a:ln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cs typeface="Times New Roman" pitchFamily="18" charset="0"/>
                </a:rPr>
                <a:t>See live script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</a:endParaRP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B1B93B70-A7D6-6EF3-0FBC-8145BF181A89}"/>
                </a:ext>
              </a:extLst>
            </p:cNvPr>
            <p:cNvSpPr/>
            <p:nvPr/>
          </p:nvSpPr>
          <p:spPr>
            <a:xfrm>
              <a:off x="370581" y="2517912"/>
              <a:ext cx="7799096" cy="877143"/>
            </a:xfrm>
            <a:prstGeom prst="roundRect">
              <a:avLst>
                <a:gd name="adj" fmla="val 8217"/>
              </a:avLst>
            </a:prstGeom>
            <a:solidFill>
              <a:srgbClr val="F2F2F2"/>
            </a:solidFill>
            <a:ln>
              <a:solidFill>
                <a:schemeClr val="tx2">
                  <a:lumMod val="95000"/>
                  <a:lumOff val="5000"/>
                </a:schemeClr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60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sv = svm.SupportVectors; </a:t>
              </a:r>
              <a:r>
                <a:rPr lang="en-US" altLang="zh-CN" sz="1600">
                  <a:solidFill>
                    <a:srgbClr val="02800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% Get the support vectors</a:t>
              </a:r>
              <a:endParaRPr lang="en-US" altLang="zh-CN" sz="160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endParaRPr>
            </a:p>
            <a:p>
              <a:r>
                <a:rPr lang="en-US" altLang="zh-CN" sz="160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beta = svm.Beta; </a:t>
              </a:r>
              <a:r>
                <a:rPr lang="en-US" altLang="zh-CN" sz="1600">
                  <a:solidFill>
                    <a:srgbClr val="02800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% Get the coefficients of the linear classifier</a:t>
              </a:r>
              <a:endParaRPr lang="en-US" altLang="zh-CN" sz="160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endParaRPr>
            </a:p>
            <a:p>
              <a:r>
                <a:rPr lang="en-US" altLang="zh-CN" sz="160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b = svm.Bias; </a:t>
              </a:r>
              <a:r>
                <a:rPr lang="en-US" altLang="zh-CN" sz="1600">
                  <a:solidFill>
                    <a:srgbClr val="02800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% Get the bias term of the linear classifier</a:t>
              </a:r>
              <a:endPara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endParaRPr>
            </a:p>
          </p:txBody>
        </p:sp>
      </p:grp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AC31BB6-6CE4-AF57-8B57-F3DB11AD5A9A}"/>
              </a:ext>
            </a:extLst>
          </p:cNvPr>
          <p:cNvSpPr/>
          <p:nvPr/>
        </p:nvSpPr>
        <p:spPr>
          <a:xfrm>
            <a:off x="370581" y="3987612"/>
            <a:ext cx="9654365" cy="616073"/>
          </a:xfrm>
          <a:prstGeom prst="roundRect">
            <a:avLst>
              <a:gd name="adj" fmla="val 8217"/>
            </a:avLst>
          </a:prstGeom>
          <a:solidFill>
            <a:srgbClr val="F2F2F2"/>
          </a:solidFill>
          <a:ln>
            <a:solidFill>
              <a:schemeClr val="tx2">
                <a:lumMod val="95000"/>
                <a:lumOff val="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gscatter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(X(:,1), X(:,2), y, </a:t>
            </a:r>
            <a:r>
              <a:rPr lang="en-US" altLang="zh-CN" sz="1600" dirty="0">
                <a:solidFill>
                  <a:srgbClr val="AA04F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'</a:t>
            </a:r>
            <a:r>
              <a:rPr lang="en-US" altLang="zh-CN" sz="1600" dirty="0" err="1">
                <a:solidFill>
                  <a:srgbClr val="AA04F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rb</a:t>
            </a:r>
            <a:r>
              <a:rPr lang="en-US" altLang="zh-CN" sz="1600" dirty="0">
                <a:solidFill>
                  <a:srgbClr val="AA04F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'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, </a:t>
            </a:r>
            <a:r>
              <a:rPr lang="en-US" altLang="zh-CN" sz="1600" dirty="0">
                <a:solidFill>
                  <a:srgbClr val="AA04F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'so'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); hold </a:t>
            </a:r>
            <a:r>
              <a:rPr lang="en-US" altLang="zh-CN" sz="1600" dirty="0">
                <a:solidFill>
                  <a:srgbClr val="AA04F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on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; </a:t>
            </a:r>
            <a:r>
              <a:rPr lang="en-US" altLang="zh-CN" sz="1600" dirty="0">
                <a:solidFill>
                  <a:srgbClr val="02800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% Plot the dataset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plot(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sv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(:,1),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sv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(:,2), </a:t>
            </a:r>
            <a:r>
              <a:rPr lang="en-US" altLang="zh-CN" sz="1600" dirty="0">
                <a:solidFill>
                  <a:srgbClr val="AA04F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'ko'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, </a:t>
            </a:r>
            <a:r>
              <a:rPr lang="en-US" altLang="zh-CN" sz="1600" dirty="0">
                <a:solidFill>
                  <a:srgbClr val="AA04F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'</a:t>
            </a:r>
            <a:r>
              <a:rPr lang="en-US" altLang="zh-CN" sz="1600" dirty="0" err="1">
                <a:solidFill>
                  <a:srgbClr val="AA04F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MarkerSize</a:t>
            </a:r>
            <a:r>
              <a:rPr lang="en-US" altLang="zh-CN" sz="1600" dirty="0">
                <a:solidFill>
                  <a:srgbClr val="AA04F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'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, 10); hold </a:t>
            </a:r>
            <a:r>
              <a:rPr lang="en-US" altLang="zh-CN" sz="1600" dirty="0">
                <a:solidFill>
                  <a:srgbClr val="AA04F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on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; </a:t>
            </a:r>
            <a:r>
              <a:rPr lang="en-US" altLang="zh-CN" sz="1600" dirty="0">
                <a:solidFill>
                  <a:srgbClr val="02800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% Plot the support vectors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0F24AE7-07EA-185C-DF0F-E98EB099AAB9}"/>
              </a:ext>
            </a:extLst>
          </p:cNvPr>
          <p:cNvSpPr/>
          <p:nvPr/>
        </p:nvSpPr>
        <p:spPr>
          <a:xfrm>
            <a:off x="370581" y="5237875"/>
            <a:ext cx="9319829" cy="1033758"/>
          </a:xfrm>
          <a:prstGeom prst="roundRect">
            <a:avLst>
              <a:gd name="adj" fmla="val 8217"/>
            </a:avLst>
          </a:prstGeom>
          <a:solidFill>
            <a:srgbClr val="F2F2F2"/>
          </a:solidFill>
          <a:ln>
            <a:solidFill>
              <a:schemeClr val="tx2">
                <a:lumMod val="95000"/>
                <a:lumOff val="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>
                <a:solidFill>
                  <a:srgbClr val="02800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% The classifier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X1 =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linspace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(min(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X_train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(:,1)),max(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X_train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(:,1)),100); </a:t>
            </a:r>
            <a:r>
              <a:rPr lang="en-US" altLang="zh-CN" sz="1600" dirty="0">
                <a:solidFill>
                  <a:srgbClr val="02800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% Data points of x-axis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X2 = -(beta(1)/beta(2)*X1)-b/beta(2); </a:t>
            </a:r>
            <a:r>
              <a:rPr lang="en-US" altLang="zh-CN" sz="1600" dirty="0">
                <a:solidFill>
                  <a:srgbClr val="02800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% The equation of the classifier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plot(X1,X2,</a:t>
            </a:r>
            <a:r>
              <a:rPr lang="en-US" altLang="zh-CN" sz="1600" dirty="0">
                <a:solidFill>
                  <a:srgbClr val="AA04F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'-'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); hold </a:t>
            </a:r>
            <a:r>
              <a:rPr lang="en-US" altLang="zh-CN" sz="1600" dirty="0">
                <a:solidFill>
                  <a:srgbClr val="AA04F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on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; </a:t>
            </a:r>
            <a:r>
              <a:rPr lang="en-US" altLang="zh-CN" sz="1600" dirty="0">
                <a:solidFill>
                  <a:srgbClr val="02800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% Plot the classifier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1207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13" grpId="0" animBg="1"/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7" y="533614"/>
            <a:ext cx="7966364" cy="888786"/>
          </a:xfrm>
        </p:spPr>
        <p:txBody>
          <a:bodyPr/>
          <a:lstStyle/>
          <a:p>
            <a:r>
              <a:rPr lang="en-US" dirty="0"/>
              <a:t>Iris flower classification with hard margin classifier</a:t>
            </a:r>
          </a:p>
        </p:txBody>
      </p:sp>
      <p:sp>
        <p:nvSpPr>
          <p:cNvPr id="2" name="文本框 7">
            <a:extLst>
              <a:ext uri="{FF2B5EF4-FFF2-40B4-BE49-F238E27FC236}">
                <a16:creationId xmlns:a16="http://schemas.microsoft.com/office/drawing/2014/main" id="{FD152A0C-D429-2220-AC26-C0419EECACBE}"/>
              </a:ext>
            </a:extLst>
          </p:cNvPr>
          <p:cNvSpPr txBox="1"/>
          <p:nvPr/>
        </p:nvSpPr>
        <p:spPr>
          <a:xfrm>
            <a:off x="646041" y="4627272"/>
            <a:ext cx="6069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6. Add the labels and legend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矩形 9">
            <a:extLst>
              <a:ext uri="{FF2B5EF4-FFF2-40B4-BE49-F238E27FC236}">
                <a16:creationId xmlns:a16="http://schemas.microsoft.com/office/drawing/2014/main" id="{C57C9E8F-4466-2C80-1916-CF2FB5E93413}"/>
              </a:ext>
            </a:extLst>
          </p:cNvPr>
          <p:cNvSpPr/>
          <p:nvPr/>
        </p:nvSpPr>
        <p:spPr>
          <a:xfrm>
            <a:off x="646041" y="1551532"/>
            <a:ext cx="638508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4. The equations of the margin boundaries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矩形 11">
            <a:extLst>
              <a:ext uri="{FF2B5EF4-FFF2-40B4-BE49-F238E27FC236}">
                <a16:creationId xmlns:a16="http://schemas.microsoft.com/office/drawing/2014/main" id="{2EE140E3-86D4-990A-4209-4C7617419624}"/>
              </a:ext>
            </a:extLst>
          </p:cNvPr>
          <p:cNvSpPr/>
          <p:nvPr/>
        </p:nvSpPr>
        <p:spPr>
          <a:xfrm>
            <a:off x="646041" y="3077158"/>
            <a:ext cx="450636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5. Plot the margin boundaries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68C56DE-9083-BC83-9138-6BD37E288E5C}"/>
              </a:ext>
            </a:extLst>
          </p:cNvPr>
          <p:cNvSpPr/>
          <p:nvPr/>
        </p:nvSpPr>
        <p:spPr>
          <a:xfrm>
            <a:off x="850450" y="3611846"/>
            <a:ext cx="7799096" cy="828281"/>
          </a:xfrm>
          <a:prstGeom prst="roundRect">
            <a:avLst>
              <a:gd name="adj" fmla="val 8217"/>
            </a:avLst>
          </a:prstGeom>
          <a:solidFill>
            <a:srgbClr val="F2F2F2"/>
          </a:solidFill>
          <a:ln>
            <a:solidFill>
              <a:schemeClr val="tx2">
                <a:lumMod val="95000"/>
                <a:lumOff val="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>
                <a:solidFill>
                  <a:srgbClr val="02800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% Plot the two margin boundaries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plot(X1,bnd1,</a:t>
            </a:r>
            <a:r>
              <a:rPr lang="en-US" altLang="zh-CN" sz="1600" dirty="0">
                <a:solidFill>
                  <a:srgbClr val="AA04F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'k-.'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); hold </a:t>
            </a:r>
            <a:r>
              <a:rPr lang="en-US" altLang="zh-CN" sz="1600" dirty="0">
                <a:solidFill>
                  <a:srgbClr val="AA04F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on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plot(X1,bnd2,</a:t>
            </a:r>
            <a:r>
              <a:rPr lang="en-US" altLang="zh-CN" sz="1600" dirty="0">
                <a:solidFill>
                  <a:srgbClr val="AA04F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'k-.'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); hold </a:t>
            </a:r>
            <a:r>
              <a:rPr lang="en-US" altLang="zh-CN" sz="1600" dirty="0">
                <a:solidFill>
                  <a:srgbClr val="AA04F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on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;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1DE3FD4-85FF-EB2F-252A-E5339F29BAF0}"/>
              </a:ext>
            </a:extLst>
          </p:cNvPr>
          <p:cNvSpPr/>
          <p:nvPr/>
        </p:nvSpPr>
        <p:spPr>
          <a:xfrm>
            <a:off x="850450" y="5088937"/>
            <a:ext cx="9903042" cy="1579492"/>
          </a:xfrm>
          <a:prstGeom prst="roundRect">
            <a:avLst>
              <a:gd name="adj" fmla="val 8217"/>
            </a:avLst>
          </a:prstGeom>
          <a:solidFill>
            <a:srgbClr val="F2F2F2"/>
          </a:solidFill>
          <a:ln>
            <a:solidFill>
              <a:schemeClr val="tx2">
                <a:lumMod val="95000"/>
                <a:lumOff val="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>
                <a:solidFill>
                  <a:srgbClr val="02800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% axes labels and legend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xlabel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</a:t>
            </a:r>
            <a:r>
              <a:rPr lang="en-US" altLang="zh-CN" sz="1600" dirty="0">
                <a:solidFill>
                  <a:srgbClr val="AA04F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'Sepal Length'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, </a:t>
            </a:r>
            <a:r>
              <a:rPr lang="en-US" altLang="zh-CN" sz="1600" dirty="0">
                <a:solidFill>
                  <a:srgbClr val="AA04F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'</a:t>
            </a:r>
            <a:r>
              <a:rPr lang="en-US" altLang="zh-CN" sz="1600" dirty="0" err="1">
                <a:solidFill>
                  <a:srgbClr val="AA04F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Fontsize</a:t>
            </a:r>
            <a:r>
              <a:rPr lang="en-US" altLang="zh-CN" sz="1600" dirty="0">
                <a:solidFill>
                  <a:srgbClr val="AA04F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'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, 14);</a:t>
            </a:r>
          </a:p>
          <a:p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ylabel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</a:t>
            </a:r>
            <a:r>
              <a:rPr lang="en-US" altLang="zh-CN" sz="1600" dirty="0">
                <a:solidFill>
                  <a:srgbClr val="AA04F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'Sepal Width'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, </a:t>
            </a:r>
            <a:r>
              <a:rPr lang="en-US" altLang="zh-CN" sz="1600" dirty="0">
                <a:solidFill>
                  <a:srgbClr val="AA04F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'</a:t>
            </a:r>
            <a:r>
              <a:rPr lang="en-US" altLang="zh-CN" sz="1600" dirty="0" err="1">
                <a:solidFill>
                  <a:srgbClr val="AA04F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Fontsize</a:t>
            </a:r>
            <a:r>
              <a:rPr lang="en-US" altLang="zh-CN" sz="1600" dirty="0">
                <a:solidFill>
                  <a:srgbClr val="AA04F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'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, 14);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legend(</a:t>
            </a:r>
            <a:r>
              <a:rPr lang="en-US" altLang="zh-CN" sz="1600" dirty="0">
                <a:solidFill>
                  <a:srgbClr val="AA04F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'</a:t>
            </a:r>
            <a:r>
              <a:rPr lang="en-US" altLang="zh-CN" sz="1600" dirty="0" err="1">
                <a:solidFill>
                  <a:srgbClr val="AA04F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setosa</a:t>
            </a:r>
            <a:r>
              <a:rPr lang="en-US" altLang="zh-CN" sz="1600" dirty="0">
                <a:solidFill>
                  <a:srgbClr val="AA04F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'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, </a:t>
            </a:r>
            <a:r>
              <a:rPr lang="en-US" altLang="zh-CN" sz="1600" dirty="0">
                <a:solidFill>
                  <a:srgbClr val="AA04F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'virginica'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, </a:t>
            </a:r>
            <a:r>
              <a:rPr lang="en-US" altLang="zh-CN" sz="1600" dirty="0">
                <a:solidFill>
                  <a:srgbClr val="AA04F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'Support Vector'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, </a:t>
            </a:r>
            <a:r>
              <a:rPr lang="en-US" altLang="zh-CN" sz="1600" dirty="0">
                <a:solidFill>
                  <a:srgbClr val="AA04F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'Separating Hyperplane'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, </a:t>
            </a:r>
            <a:r>
              <a:rPr lang="en-US" altLang="zh-CN" sz="1600" dirty="0">
                <a:solidFill>
                  <a:srgbClr val="AA04F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'Margin Boundaries'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, </a:t>
            </a:r>
            <a:r>
              <a:rPr lang="en-US" altLang="zh-CN" sz="1600" dirty="0">
                <a:solidFill>
                  <a:srgbClr val="AA04F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'</a:t>
            </a:r>
            <a:r>
              <a:rPr lang="en-US" altLang="zh-CN" sz="1600" dirty="0" err="1">
                <a:solidFill>
                  <a:srgbClr val="AA04F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Fontsize</a:t>
            </a:r>
            <a:r>
              <a:rPr lang="en-US" altLang="zh-CN" sz="1600" dirty="0">
                <a:solidFill>
                  <a:srgbClr val="AA04F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'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, 14)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hold </a:t>
            </a:r>
            <a:r>
              <a:rPr lang="en-US" altLang="zh-CN" sz="1600" dirty="0">
                <a:solidFill>
                  <a:srgbClr val="AA04F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off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;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F6CCAE1-3667-FF75-E815-29C8392137E4}"/>
              </a:ext>
            </a:extLst>
          </p:cNvPr>
          <p:cNvGrpSpPr/>
          <p:nvPr/>
        </p:nvGrpSpPr>
        <p:grpSpPr>
          <a:xfrm>
            <a:off x="998063" y="2130147"/>
            <a:ext cx="11068712" cy="4619960"/>
            <a:chOff x="850450" y="2061429"/>
            <a:chExt cx="11068712" cy="4619960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9C58FB0B-2A51-9FCE-1B40-F05B00B4A27D}"/>
                </a:ext>
              </a:extLst>
            </p:cNvPr>
            <p:cNvSpPr/>
            <p:nvPr/>
          </p:nvSpPr>
          <p:spPr>
            <a:xfrm>
              <a:off x="850450" y="2061429"/>
              <a:ext cx="7799096" cy="877143"/>
            </a:xfrm>
            <a:prstGeom prst="roundRect">
              <a:avLst>
                <a:gd name="adj" fmla="val 8217"/>
              </a:avLst>
            </a:prstGeom>
            <a:solidFill>
              <a:srgbClr val="F2F2F2"/>
            </a:solidFill>
            <a:ln>
              <a:solidFill>
                <a:schemeClr val="tx2">
                  <a:lumMod val="95000"/>
                  <a:lumOff val="5000"/>
                </a:schemeClr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sv-SE" altLang="zh-CN" sz="1600" dirty="0">
                  <a:solidFill>
                    <a:srgbClr val="02800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% The equations two margin boundaries</a:t>
              </a:r>
              <a:endParaRPr lang="sv-SE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endParaRPr>
            </a:p>
            <a:p>
              <a:r>
                <a:rPr lang="sv-SE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bnd1 = -(beta(1)/beta(2)*X1)-b/beta(2) + 1/beta(2);</a:t>
              </a:r>
            </a:p>
            <a:p>
              <a:r>
                <a:rPr lang="sv-SE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bnd2 = -(beta(1)/beta(2)*X1)-b/beta(2) - 1/beta(2);</a:t>
              </a:r>
            </a:p>
          </p:txBody>
        </p:sp>
        <p:sp>
          <p:nvSpPr>
            <p:cNvPr id="12" name="矩形 8">
              <a:extLst>
                <a:ext uri="{FF2B5EF4-FFF2-40B4-BE49-F238E27FC236}">
                  <a16:creationId xmlns:a16="http://schemas.microsoft.com/office/drawing/2014/main" id="{432068A4-EEDA-5877-BC12-B4EDBBB9BB6B}"/>
                </a:ext>
              </a:extLst>
            </p:cNvPr>
            <p:cNvSpPr/>
            <p:nvPr/>
          </p:nvSpPr>
          <p:spPr>
            <a:xfrm>
              <a:off x="10375150" y="6312057"/>
              <a:ext cx="1544012" cy="369332"/>
            </a:xfrm>
            <a:prstGeom prst="rect">
              <a:avLst/>
            </a:prstGeom>
            <a:solidFill>
              <a:srgbClr val="E7E6E6"/>
            </a:solidFill>
            <a:ln w="19050">
              <a:solidFill>
                <a:srgbClr val="FF0000"/>
              </a:solidFill>
            </a:ln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cs typeface="Times New Roman" pitchFamily="18" charset="0"/>
                </a:rPr>
                <a:t>See live script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60084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10" grpId="0" animBg="1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7" y="533614"/>
            <a:ext cx="8590832" cy="888786"/>
          </a:xfrm>
        </p:spPr>
        <p:txBody>
          <a:bodyPr/>
          <a:lstStyle/>
          <a:p>
            <a:r>
              <a:rPr lang="en-US" dirty="0"/>
              <a:t>Iris flower classification with hard margin classifier</a:t>
            </a:r>
          </a:p>
        </p:txBody>
      </p:sp>
      <p:sp>
        <p:nvSpPr>
          <p:cNvPr id="2" name="文本框 7">
            <a:extLst>
              <a:ext uri="{FF2B5EF4-FFF2-40B4-BE49-F238E27FC236}">
                <a16:creationId xmlns:a16="http://schemas.microsoft.com/office/drawing/2014/main" id="{2F68A821-F593-9E5E-D3A4-47B72539BC91}"/>
              </a:ext>
            </a:extLst>
          </p:cNvPr>
          <p:cNvSpPr txBox="1"/>
          <p:nvPr/>
        </p:nvSpPr>
        <p:spPr>
          <a:xfrm>
            <a:off x="774753" y="1678200"/>
            <a:ext cx="6069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The results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1">
            <a:extLst>
              <a:ext uri="{FF2B5EF4-FFF2-40B4-BE49-F238E27FC236}">
                <a16:creationId xmlns:a16="http://schemas.microsoft.com/office/drawing/2014/main" id="{6E87F91C-61F9-67CE-6731-9E96E468D5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1959" y="2139865"/>
            <a:ext cx="4595552" cy="4184521"/>
          </a:xfrm>
          <a:prstGeom prst="rect">
            <a:avLst/>
          </a:prstGeom>
        </p:spPr>
      </p:pic>
      <p:sp>
        <p:nvSpPr>
          <p:cNvPr id="4" name="矩形 8">
            <a:extLst>
              <a:ext uri="{FF2B5EF4-FFF2-40B4-BE49-F238E27FC236}">
                <a16:creationId xmlns:a16="http://schemas.microsoft.com/office/drawing/2014/main" id="{9797C0EE-1968-A2CF-2521-D0C2D90FD13D}"/>
              </a:ext>
            </a:extLst>
          </p:cNvPr>
          <p:cNvSpPr/>
          <p:nvPr/>
        </p:nvSpPr>
        <p:spPr>
          <a:xfrm>
            <a:off x="10375150" y="6312057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206435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7" y="533614"/>
            <a:ext cx="7743340" cy="888786"/>
          </a:xfrm>
        </p:spPr>
        <p:txBody>
          <a:bodyPr/>
          <a:lstStyle/>
          <a:p>
            <a:r>
              <a:rPr lang="en-US" dirty="0"/>
              <a:t>Iris flower classification with soft margin classifier</a:t>
            </a:r>
          </a:p>
        </p:txBody>
      </p:sp>
      <p:sp>
        <p:nvSpPr>
          <p:cNvPr id="2" name="文本框 7">
            <a:extLst>
              <a:ext uri="{FF2B5EF4-FFF2-40B4-BE49-F238E27FC236}">
                <a16:creationId xmlns:a16="http://schemas.microsoft.com/office/drawing/2014/main" id="{B80E2E15-5815-9A3F-DAD4-9543A2CEDC42}"/>
              </a:ext>
            </a:extLst>
          </p:cNvPr>
          <p:cNvSpPr txBox="1"/>
          <p:nvPr/>
        </p:nvSpPr>
        <p:spPr>
          <a:xfrm>
            <a:off x="322895" y="1676861"/>
            <a:ext cx="1137473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 margin of the hard margin classifier is small, which may lead to low generalization.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For better generalization, we can train a soft margin classifier even through the dataset is linear separable.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10">
            <a:extLst>
              <a:ext uri="{FF2B5EF4-FFF2-40B4-BE49-F238E27FC236}">
                <a16:creationId xmlns:a16="http://schemas.microsoft.com/office/drawing/2014/main" id="{B7A593EB-BD4B-FCF7-ADAA-174F7C60240B}"/>
              </a:ext>
            </a:extLst>
          </p:cNvPr>
          <p:cNvSpPr txBox="1"/>
          <p:nvPr/>
        </p:nvSpPr>
        <p:spPr>
          <a:xfrm>
            <a:off x="322894" y="3366546"/>
            <a:ext cx="114750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To train a soft margin SVM, just modify the parameter ‘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BoxConstraint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’</a:t>
            </a:r>
            <a:r>
              <a:rPr lang="en-US" altLang="zh-CN" sz="2400" dirty="0">
                <a:solidFill>
                  <a:srgbClr val="AA04F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to a smaller value (e.g., 1):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30A0BD5-39DD-B420-4495-9BD32853063B}"/>
              </a:ext>
            </a:extLst>
          </p:cNvPr>
          <p:cNvGrpSpPr/>
          <p:nvPr/>
        </p:nvGrpSpPr>
        <p:grpSpPr>
          <a:xfrm>
            <a:off x="322895" y="4660061"/>
            <a:ext cx="10810830" cy="1710148"/>
            <a:chOff x="322895" y="4660061"/>
            <a:chExt cx="10810830" cy="1710148"/>
          </a:xfrm>
        </p:grpSpPr>
        <p:sp>
          <p:nvSpPr>
            <p:cNvPr id="10" name="矩形 8">
              <a:extLst>
                <a:ext uri="{FF2B5EF4-FFF2-40B4-BE49-F238E27FC236}">
                  <a16:creationId xmlns:a16="http://schemas.microsoft.com/office/drawing/2014/main" id="{363E0196-56D0-E115-3D84-0D7937144BBA}"/>
                </a:ext>
              </a:extLst>
            </p:cNvPr>
            <p:cNvSpPr/>
            <p:nvPr/>
          </p:nvSpPr>
          <p:spPr>
            <a:xfrm>
              <a:off x="9589713" y="6000877"/>
              <a:ext cx="1544012" cy="369332"/>
            </a:xfrm>
            <a:prstGeom prst="rect">
              <a:avLst/>
            </a:prstGeom>
            <a:solidFill>
              <a:srgbClr val="E7E6E6"/>
            </a:solidFill>
            <a:ln w="19050">
              <a:solidFill>
                <a:srgbClr val="FF0000"/>
              </a:solidFill>
            </a:ln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cs typeface="Times New Roman" pitchFamily="18" charset="0"/>
                </a:rPr>
                <a:t>See live script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</a:endParaRP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19E74055-3876-2200-C040-9842E3027EFC}"/>
                </a:ext>
              </a:extLst>
            </p:cNvPr>
            <p:cNvSpPr/>
            <p:nvPr/>
          </p:nvSpPr>
          <p:spPr>
            <a:xfrm>
              <a:off x="322895" y="4660061"/>
              <a:ext cx="9955082" cy="599137"/>
            </a:xfrm>
            <a:prstGeom prst="roundRect">
              <a:avLst>
                <a:gd name="adj" fmla="val 8217"/>
              </a:avLst>
            </a:prstGeom>
            <a:solidFill>
              <a:srgbClr val="F2F2F2"/>
            </a:solidFill>
            <a:ln>
              <a:solidFill>
                <a:schemeClr val="tx2">
                  <a:lumMod val="95000"/>
                  <a:lumOff val="5000"/>
                </a:schemeClr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600" dirty="0">
                  <a:solidFill>
                    <a:srgbClr val="02800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% Train an SVM classifier</a:t>
              </a:r>
              <a:endPara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endParaRPr>
            </a:p>
            <a:p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svm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 =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fitcsvm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(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X_train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,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y_train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, </a:t>
              </a:r>
              <a:r>
                <a:rPr lang="en-US" altLang="zh-CN" sz="1600" dirty="0">
                  <a:solidFill>
                    <a:srgbClr val="AA04F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'</a:t>
              </a:r>
              <a:r>
                <a:rPr lang="en-US" altLang="zh-CN" sz="1600" dirty="0" err="1">
                  <a:solidFill>
                    <a:srgbClr val="AA04F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KernelFunction</a:t>
              </a:r>
              <a:r>
                <a:rPr lang="en-US" altLang="zh-CN" sz="1600" dirty="0">
                  <a:solidFill>
                    <a:srgbClr val="AA04F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'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, </a:t>
              </a:r>
              <a:r>
                <a:rPr lang="en-US" altLang="zh-CN" sz="1600" dirty="0">
                  <a:solidFill>
                    <a:srgbClr val="AA04F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'linear'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, </a:t>
              </a:r>
              <a:r>
                <a:rPr lang="en-US" altLang="zh-CN" sz="1600" dirty="0">
                  <a:solidFill>
                    <a:srgbClr val="AA04F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'</a:t>
              </a:r>
              <a:r>
                <a:rPr lang="en-US" altLang="zh-CN" sz="1600" dirty="0" err="1">
                  <a:solidFill>
                    <a:srgbClr val="AA04F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BoxConstraint</a:t>
              </a:r>
              <a:r>
                <a:rPr lang="en-US" altLang="zh-CN" sz="1600" dirty="0">
                  <a:solidFill>
                    <a:srgbClr val="AA04F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’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, 1);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54282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8122481" cy="888786"/>
          </a:xfrm>
        </p:spPr>
        <p:txBody>
          <a:bodyPr/>
          <a:lstStyle/>
          <a:p>
            <a:r>
              <a:rPr lang="en-US" dirty="0"/>
              <a:t>Iris flower classification with soft margin classifier</a:t>
            </a:r>
          </a:p>
        </p:txBody>
      </p:sp>
      <p:pic>
        <p:nvPicPr>
          <p:cNvPr id="2" name="图片 2">
            <a:extLst>
              <a:ext uri="{FF2B5EF4-FFF2-40B4-BE49-F238E27FC236}">
                <a16:creationId xmlns:a16="http://schemas.microsoft.com/office/drawing/2014/main" id="{F9D4FF39-F881-8937-BB42-E8591B9C07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5551" y="1422400"/>
            <a:ext cx="2754312" cy="2517921"/>
          </a:xfrm>
          <a:prstGeom prst="rect">
            <a:avLst/>
          </a:prstGeom>
        </p:spPr>
      </p:pic>
      <p:pic>
        <p:nvPicPr>
          <p:cNvPr id="3" name="图片 4">
            <a:extLst>
              <a:ext uri="{FF2B5EF4-FFF2-40B4-BE49-F238E27FC236}">
                <a16:creationId xmlns:a16="http://schemas.microsoft.com/office/drawing/2014/main" id="{52BC3F23-3A50-BCF2-E369-5C038439BB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435518"/>
            <a:ext cx="2754313" cy="2577893"/>
          </a:xfrm>
          <a:prstGeom prst="rect">
            <a:avLst/>
          </a:prstGeom>
        </p:spPr>
      </p:pic>
      <p:pic>
        <p:nvPicPr>
          <p:cNvPr id="4" name="图片 9">
            <a:extLst>
              <a:ext uri="{FF2B5EF4-FFF2-40B4-BE49-F238E27FC236}">
                <a16:creationId xmlns:a16="http://schemas.microsoft.com/office/drawing/2014/main" id="{0A09B1F9-4E89-BFE2-E02C-14433BB833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7708" y="4032088"/>
            <a:ext cx="2886825" cy="2673571"/>
          </a:xfrm>
          <a:prstGeom prst="rect">
            <a:avLst/>
          </a:prstGeom>
        </p:spPr>
      </p:pic>
      <p:pic>
        <p:nvPicPr>
          <p:cNvPr id="5" name="图片 10">
            <a:extLst>
              <a:ext uri="{FF2B5EF4-FFF2-40B4-BE49-F238E27FC236}">
                <a16:creationId xmlns:a16="http://schemas.microsoft.com/office/drawing/2014/main" id="{245A46DF-72AC-CB8F-B422-85700BA224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1" y="4123227"/>
            <a:ext cx="2754312" cy="2573842"/>
          </a:xfrm>
          <a:prstGeom prst="rect">
            <a:avLst/>
          </a:prstGeom>
        </p:spPr>
      </p:pic>
      <p:sp>
        <p:nvSpPr>
          <p:cNvPr id="6" name="矩形 8">
            <a:extLst>
              <a:ext uri="{FF2B5EF4-FFF2-40B4-BE49-F238E27FC236}">
                <a16:creationId xmlns:a16="http://schemas.microsoft.com/office/drawing/2014/main" id="{9FE1A310-F79D-2818-46CB-1CD7243FD94A}"/>
              </a:ext>
            </a:extLst>
          </p:cNvPr>
          <p:cNvSpPr/>
          <p:nvPr/>
        </p:nvSpPr>
        <p:spPr>
          <a:xfrm>
            <a:off x="9589713" y="6000877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98937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Thanks!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DDD16490E0A48848881CB6EECDF92" ma:contentTypeVersion="14" ma:contentTypeDescription="Create a new document." ma:contentTypeScope="" ma:versionID="7257862a4d6c3825659cc59ecdb78f01">
  <xsd:schema xmlns:xsd="http://www.w3.org/2001/XMLSchema" xmlns:xs="http://www.w3.org/2001/XMLSchema" xmlns:p="http://schemas.microsoft.com/office/2006/metadata/properties" xmlns:ns2="1cc9bed8-8410-44eb-bf25-ca1ea4636418" xmlns:ns3="dfc159fb-6789-415c-9027-b0bc58ba83c2" targetNamespace="http://schemas.microsoft.com/office/2006/metadata/properties" ma:root="true" ma:fieldsID="e75013956d80933023b8c9f213f858d3" ns2:_="" ns3:_="">
    <xsd:import namespace="1cc9bed8-8410-44eb-bf25-ca1ea4636418"/>
    <xsd:import namespace="dfc159fb-6789-415c-9027-b0bc58ba8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9bed8-8410-44eb-bf25-ca1ea4636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59fb-6789-415c-9027-b0bc58ba83c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9eadc21-23c5-47b9-90bf-40474c6df852}" ma:internalName="TaxCatchAll" ma:showField="CatchAllData" ma:web="dfc159fb-6789-415c-9027-b0bc58ba8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c9bed8-8410-44eb-bf25-ca1ea4636418">
      <Terms xmlns="http://schemas.microsoft.com/office/infopath/2007/PartnerControls"/>
    </lcf76f155ced4ddcb4097134ff3c332f>
    <TaxCatchAll xmlns="dfc159fb-6789-415c-9027-b0bc58ba83c2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79D6346-1CC7-43CE-BAE6-ADD78FB2325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c9bed8-8410-44eb-bf25-ca1ea4636418"/>
    <ds:schemaRef ds:uri="dfc159fb-6789-415c-9027-b0bc58ba83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A416264-3B86-4949-8EC6-A20246EFD818}">
  <ds:schemaRefs>
    <ds:schemaRef ds:uri="http://schemas.microsoft.com/office/2006/metadata/properties"/>
    <ds:schemaRef ds:uri="http://schemas.microsoft.com/office/infopath/2007/PartnerControls"/>
    <ds:schemaRef ds:uri="1cc9bed8-8410-44eb-bf25-ca1ea4636418"/>
    <ds:schemaRef ds:uri="dfc159fb-6789-415c-9027-b0bc58ba83c2"/>
  </ds:schemaRefs>
</ds:datastoreItem>
</file>

<file path=customXml/itemProps3.xml><?xml version="1.0" encoding="utf-8"?>
<ds:datastoreItem xmlns:ds="http://schemas.openxmlformats.org/officeDocument/2006/customXml" ds:itemID="{44AEF799-063C-4575-99D3-F26E8BDFA95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1939</TotalTime>
  <Words>837</Words>
  <Application>Microsoft Office PowerPoint</Application>
  <PresentationFormat>Widescreen</PresentationFormat>
  <Paragraphs>98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Cambria Math</vt:lpstr>
      <vt:lpstr>Consolas</vt:lpstr>
      <vt:lpstr>Times New Roman</vt:lpstr>
      <vt:lpstr>Office Theme</vt:lpstr>
      <vt:lpstr>Iris Flower Example</vt:lpstr>
      <vt:lpstr>Iris flower classification with hard margin classifier</vt:lpstr>
      <vt:lpstr>Iris flower classification with hard margin classifier</vt:lpstr>
      <vt:lpstr>Iris flower classification with hard margin classifier</vt:lpstr>
      <vt:lpstr>Iris flower classification with hard margin classifier</vt:lpstr>
      <vt:lpstr>Iris flower classification with hard margin classifier</vt:lpstr>
      <vt:lpstr>Iris flower classification with hard margin classifier</vt:lpstr>
      <vt:lpstr>Iris flower classification with soft margin classifier</vt:lpstr>
      <vt:lpstr>Iris flower classification with soft margin classifier</vt:lpstr>
      <vt:lpstr>Thanks!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cp:lastModifiedBy>Bo Liu</cp:lastModifiedBy>
  <cp:revision>73</cp:revision>
  <dcterms:created xsi:type="dcterms:W3CDTF">2021-01-06T14:22:07Z</dcterms:created>
  <dcterms:modified xsi:type="dcterms:W3CDTF">2024-08-16T17:27:19Z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0x0101009C3DDD16490E0A48848881CB6EECDF92</vt:lpwstr>
  </property>
</Properties>
</file>