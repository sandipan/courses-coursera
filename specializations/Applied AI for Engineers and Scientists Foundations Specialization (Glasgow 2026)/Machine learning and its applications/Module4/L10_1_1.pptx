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4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2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7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40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65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98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64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00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15/07/2024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Support Vector Machine: Fundamental Concepts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Classification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C51E0535-F97B-B519-C0A2-158F671391CD}"/>
              </a:ext>
            </a:extLst>
          </p:cNvPr>
          <p:cNvSpPr txBox="1"/>
          <p:nvPr/>
        </p:nvSpPr>
        <p:spPr>
          <a:xfrm>
            <a:off x="378071" y="1545193"/>
            <a:ext cx="6252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An example of classification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9B4ADE0F-2B53-765D-EDCB-0BD0A1F22013}"/>
              </a:ext>
            </a:extLst>
          </p:cNvPr>
          <p:cNvSpPr txBox="1"/>
          <p:nvPr/>
        </p:nvSpPr>
        <p:spPr>
          <a:xfrm>
            <a:off x="859175" y="2035073"/>
            <a:ext cx="411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Learn to recognize apple or orange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2C1D689E-F31A-9EB7-34E4-9BC16306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296" y="2973463"/>
            <a:ext cx="581656" cy="549342"/>
          </a:xfrm>
          <a:prstGeom prst="rect">
            <a:avLst/>
          </a:prstGeom>
        </p:spPr>
      </p:pic>
      <p:pic>
        <p:nvPicPr>
          <p:cNvPr id="5" name="图片 9">
            <a:extLst>
              <a:ext uri="{FF2B5EF4-FFF2-40B4-BE49-F238E27FC236}">
                <a16:creationId xmlns:a16="http://schemas.microsoft.com/office/drawing/2014/main" id="{A89A91D2-6174-5026-091D-38C30072C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834" y="4971169"/>
            <a:ext cx="564050" cy="576259"/>
          </a:xfrm>
          <a:prstGeom prst="rect">
            <a:avLst/>
          </a:prstGeom>
        </p:spPr>
      </p:pic>
      <p:pic>
        <p:nvPicPr>
          <p:cNvPr id="6" name="图片 10">
            <a:extLst>
              <a:ext uri="{FF2B5EF4-FFF2-40B4-BE49-F238E27FC236}">
                <a16:creationId xmlns:a16="http://schemas.microsoft.com/office/drawing/2014/main" id="{B7BAB912-1E95-5571-DA98-F56ACC3D1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252" y="4323645"/>
            <a:ext cx="700632" cy="619309"/>
          </a:xfrm>
          <a:prstGeom prst="rect">
            <a:avLst/>
          </a:prstGeom>
        </p:spPr>
      </p:pic>
      <p:pic>
        <p:nvPicPr>
          <p:cNvPr id="7" name="图片 11">
            <a:extLst>
              <a:ext uri="{FF2B5EF4-FFF2-40B4-BE49-F238E27FC236}">
                <a16:creationId xmlns:a16="http://schemas.microsoft.com/office/drawing/2014/main" id="{4145A06E-CA3D-B41E-8736-57A8D70BC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4408" y="6201545"/>
            <a:ext cx="599846" cy="584775"/>
          </a:xfrm>
          <a:prstGeom prst="rect">
            <a:avLst/>
          </a:prstGeom>
        </p:spPr>
      </p:pic>
      <p:sp>
        <p:nvSpPr>
          <p:cNvPr id="9" name="文本框 14">
            <a:extLst>
              <a:ext uri="{FF2B5EF4-FFF2-40B4-BE49-F238E27FC236}">
                <a16:creationId xmlns:a16="http://schemas.microsoft.com/office/drawing/2014/main" id="{5B879962-09FC-1C3A-B0D1-54E1F8F7430D}"/>
              </a:ext>
            </a:extLst>
          </p:cNvPr>
          <p:cNvSpPr txBox="1"/>
          <p:nvPr/>
        </p:nvSpPr>
        <p:spPr>
          <a:xfrm>
            <a:off x="2817171" y="3089897"/>
            <a:ext cx="759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16">
            <a:extLst>
              <a:ext uri="{FF2B5EF4-FFF2-40B4-BE49-F238E27FC236}">
                <a16:creationId xmlns:a16="http://schemas.microsoft.com/office/drawing/2014/main" id="{7B25CF0D-E3D3-19EE-2982-B0C66DD70B2A}"/>
              </a:ext>
            </a:extLst>
          </p:cNvPr>
          <p:cNvSpPr txBox="1"/>
          <p:nvPr/>
        </p:nvSpPr>
        <p:spPr>
          <a:xfrm>
            <a:off x="2842600" y="3820472"/>
            <a:ext cx="759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CDE018D6-E418-144F-B9B1-719DD59E4B3B}"/>
              </a:ext>
            </a:extLst>
          </p:cNvPr>
          <p:cNvSpPr txBox="1"/>
          <p:nvPr/>
        </p:nvSpPr>
        <p:spPr>
          <a:xfrm>
            <a:off x="2817171" y="4529776"/>
            <a:ext cx="94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orange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8">
            <a:extLst>
              <a:ext uri="{FF2B5EF4-FFF2-40B4-BE49-F238E27FC236}">
                <a16:creationId xmlns:a16="http://schemas.microsoft.com/office/drawing/2014/main" id="{F1D3810A-EF31-2BD2-A0E0-AA061B5413FA}"/>
              </a:ext>
            </a:extLst>
          </p:cNvPr>
          <p:cNvSpPr txBox="1"/>
          <p:nvPr/>
        </p:nvSpPr>
        <p:spPr>
          <a:xfrm>
            <a:off x="2818068" y="5097292"/>
            <a:ext cx="91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orange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9">
            <a:extLst>
              <a:ext uri="{FF2B5EF4-FFF2-40B4-BE49-F238E27FC236}">
                <a16:creationId xmlns:a16="http://schemas.microsoft.com/office/drawing/2014/main" id="{2DFF3ECC-C455-FD85-94F7-FF41C621346F}"/>
              </a:ext>
            </a:extLst>
          </p:cNvPr>
          <p:cNvSpPr txBox="1"/>
          <p:nvPr/>
        </p:nvSpPr>
        <p:spPr>
          <a:xfrm>
            <a:off x="2047786" y="5543849"/>
            <a:ext cx="8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20">
            <a:extLst>
              <a:ext uri="{FF2B5EF4-FFF2-40B4-BE49-F238E27FC236}">
                <a16:creationId xmlns:a16="http://schemas.microsoft.com/office/drawing/2014/main" id="{A0A4D71E-0C46-B73A-898B-1EB66624BE22}"/>
              </a:ext>
            </a:extLst>
          </p:cNvPr>
          <p:cNvSpPr txBox="1"/>
          <p:nvPr/>
        </p:nvSpPr>
        <p:spPr>
          <a:xfrm>
            <a:off x="2872150" y="5541025"/>
            <a:ext cx="8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5">
            <a:extLst>
              <a:ext uri="{FF2B5EF4-FFF2-40B4-BE49-F238E27FC236}">
                <a16:creationId xmlns:a16="http://schemas.microsoft.com/office/drawing/2014/main" id="{0A752E93-778D-52AC-06C9-E949A2B1B8EF}"/>
              </a:ext>
            </a:extLst>
          </p:cNvPr>
          <p:cNvSpPr/>
          <p:nvPr/>
        </p:nvSpPr>
        <p:spPr>
          <a:xfrm>
            <a:off x="1995616" y="2593911"/>
            <a:ext cx="1754660" cy="34080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22">
            <a:extLst>
              <a:ext uri="{FF2B5EF4-FFF2-40B4-BE49-F238E27FC236}">
                <a16:creationId xmlns:a16="http://schemas.microsoft.com/office/drawing/2014/main" id="{130E9FE2-5671-C24E-CC3E-389A9E17CFF7}"/>
              </a:ext>
            </a:extLst>
          </p:cNvPr>
          <p:cNvSpPr txBox="1"/>
          <p:nvPr/>
        </p:nvSpPr>
        <p:spPr>
          <a:xfrm>
            <a:off x="2906631" y="2677683"/>
            <a:ext cx="84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endParaRPr lang="zh-CN" alt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23">
            <a:extLst>
              <a:ext uri="{FF2B5EF4-FFF2-40B4-BE49-F238E27FC236}">
                <a16:creationId xmlns:a16="http://schemas.microsoft.com/office/drawing/2014/main" id="{014D40BA-5B7A-31AE-F17C-970139722DA2}"/>
              </a:ext>
            </a:extLst>
          </p:cNvPr>
          <p:cNvSpPr txBox="1"/>
          <p:nvPr/>
        </p:nvSpPr>
        <p:spPr>
          <a:xfrm>
            <a:off x="461877" y="3824491"/>
            <a:ext cx="157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Training data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24">
            <a:extLst>
              <a:ext uri="{FF2B5EF4-FFF2-40B4-BE49-F238E27FC236}">
                <a16:creationId xmlns:a16="http://schemas.microsoft.com/office/drawing/2014/main" id="{59FD91F8-8899-36CB-AEAD-4CB40780F977}"/>
              </a:ext>
            </a:extLst>
          </p:cNvPr>
          <p:cNvSpPr txBox="1"/>
          <p:nvPr/>
        </p:nvSpPr>
        <p:spPr>
          <a:xfrm>
            <a:off x="859175" y="6309266"/>
            <a:ext cx="114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Test data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箭头: 右 25">
            <a:extLst>
              <a:ext uri="{FF2B5EF4-FFF2-40B4-BE49-F238E27FC236}">
                <a16:creationId xmlns:a16="http://schemas.microsoft.com/office/drawing/2014/main" id="{F5A4EF4C-B7D7-1985-3DEE-A10F2B88044C}"/>
              </a:ext>
            </a:extLst>
          </p:cNvPr>
          <p:cNvSpPr/>
          <p:nvPr/>
        </p:nvSpPr>
        <p:spPr>
          <a:xfrm>
            <a:off x="3861161" y="4144722"/>
            <a:ext cx="1897087" cy="111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26">
            <a:extLst>
              <a:ext uri="{FF2B5EF4-FFF2-40B4-BE49-F238E27FC236}">
                <a16:creationId xmlns:a16="http://schemas.microsoft.com/office/drawing/2014/main" id="{9F081542-BAA5-40F1-5941-967716FE1A84}"/>
              </a:ext>
            </a:extLst>
          </p:cNvPr>
          <p:cNvSpPr txBox="1"/>
          <p:nvPr/>
        </p:nvSpPr>
        <p:spPr>
          <a:xfrm>
            <a:off x="3985149" y="3782369"/>
            <a:ext cx="137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ML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接箭头连接符 29">
            <a:extLst>
              <a:ext uri="{FF2B5EF4-FFF2-40B4-BE49-F238E27FC236}">
                <a16:creationId xmlns:a16="http://schemas.microsoft.com/office/drawing/2014/main" id="{24771868-B3D0-6136-BEB1-DD2E14DBFF25}"/>
              </a:ext>
            </a:extLst>
          </p:cNvPr>
          <p:cNvCxnSpPr/>
          <p:nvPr/>
        </p:nvCxnSpPr>
        <p:spPr>
          <a:xfrm>
            <a:off x="6326659" y="5454967"/>
            <a:ext cx="341046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31">
            <a:extLst>
              <a:ext uri="{FF2B5EF4-FFF2-40B4-BE49-F238E27FC236}">
                <a16:creationId xmlns:a16="http://schemas.microsoft.com/office/drawing/2014/main" id="{E26173FE-7911-6527-EC8E-6A3B01CBB291}"/>
              </a:ext>
            </a:extLst>
          </p:cNvPr>
          <p:cNvCxnSpPr/>
          <p:nvPr/>
        </p:nvCxnSpPr>
        <p:spPr>
          <a:xfrm flipV="1">
            <a:off x="6579973" y="3248134"/>
            <a:ext cx="0" cy="24775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32">
            <a:extLst>
              <a:ext uri="{FF2B5EF4-FFF2-40B4-BE49-F238E27FC236}">
                <a16:creationId xmlns:a16="http://schemas.microsoft.com/office/drawing/2014/main" id="{DBA75F0D-FBA1-B237-D489-9615FDF0BB6D}"/>
              </a:ext>
            </a:extLst>
          </p:cNvPr>
          <p:cNvSpPr txBox="1"/>
          <p:nvPr/>
        </p:nvSpPr>
        <p:spPr>
          <a:xfrm>
            <a:off x="7784132" y="5527119"/>
            <a:ext cx="89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33">
            <a:extLst>
              <a:ext uri="{FF2B5EF4-FFF2-40B4-BE49-F238E27FC236}">
                <a16:creationId xmlns:a16="http://schemas.microsoft.com/office/drawing/2014/main" id="{8ABD0ED3-3173-B973-C253-3C0EBD7579EC}"/>
              </a:ext>
            </a:extLst>
          </p:cNvPr>
          <p:cNvSpPr txBox="1"/>
          <p:nvPr/>
        </p:nvSpPr>
        <p:spPr>
          <a:xfrm>
            <a:off x="6208944" y="3912596"/>
            <a:ext cx="461665" cy="64221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椭圆 36">
            <a:extLst>
              <a:ext uri="{FF2B5EF4-FFF2-40B4-BE49-F238E27FC236}">
                <a16:creationId xmlns:a16="http://schemas.microsoft.com/office/drawing/2014/main" id="{A8376496-C2FD-3538-27D7-F886C99DF113}"/>
              </a:ext>
            </a:extLst>
          </p:cNvPr>
          <p:cNvSpPr/>
          <p:nvPr/>
        </p:nvSpPr>
        <p:spPr>
          <a:xfrm>
            <a:off x="7002804" y="4141580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椭圆 37">
            <a:extLst>
              <a:ext uri="{FF2B5EF4-FFF2-40B4-BE49-F238E27FC236}">
                <a16:creationId xmlns:a16="http://schemas.microsoft.com/office/drawing/2014/main" id="{E0BA7070-6915-B544-4A98-A72013D8C382}"/>
              </a:ext>
            </a:extLst>
          </p:cNvPr>
          <p:cNvSpPr/>
          <p:nvPr/>
        </p:nvSpPr>
        <p:spPr>
          <a:xfrm>
            <a:off x="7126529" y="4365459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椭圆 38">
            <a:extLst>
              <a:ext uri="{FF2B5EF4-FFF2-40B4-BE49-F238E27FC236}">
                <a16:creationId xmlns:a16="http://schemas.microsoft.com/office/drawing/2014/main" id="{7DFCC4F9-D564-0B62-3E11-2B6081CCAC8C}"/>
              </a:ext>
            </a:extLst>
          </p:cNvPr>
          <p:cNvSpPr/>
          <p:nvPr/>
        </p:nvSpPr>
        <p:spPr>
          <a:xfrm>
            <a:off x="7278929" y="4517859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40">
            <a:extLst>
              <a:ext uri="{FF2B5EF4-FFF2-40B4-BE49-F238E27FC236}">
                <a16:creationId xmlns:a16="http://schemas.microsoft.com/office/drawing/2014/main" id="{5830E6A3-3E76-840F-0100-A249DBB64A78}"/>
              </a:ext>
            </a:extLst>
          </p:cNvPr>
          <p:cNvSpPr/>
          <p:nvPr/>
        </p:nvSpPr>
        <p:spPr>
          <a:xfrm>
            <a:off x="6810960" y="4211514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椭圆 41">
            <a:extLst>
              <a:ext uri="{FF2B5EF4-FFF2-40B4-BE49-F238E27FC236}">
                <a16:creationId xmlns:a16="http://schemas.microsoft.com/office/drawing/2014/main" id="{37AB3334-3DF9-9401-AA79-E8BAF62F563E}"/>
              </a:ext>
            </a:extLst>
          </p:cNvPr>
          <p:cNvSpPr/>
          <p:nvPr/>
        </p:nvSpPr>
        <p:spPr>
          <a:xfrm>
            <a:off x="6963360" y="4363914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椭圆 42">
            <a:extLst>
              <a:ext uri="{FF2B5EF4-FFF2-40B4-BE49-F238E27FC236}">
                <a16:creationId xmlns:a16="http://schemas.microsoft.com/office/drawing/2014/main" id="{06FF09CE-079D-B74B-0EC7-828328027547}"/>
              </a:ext>
            </a:extLst>
          </p:cNvPr>
          <p:cNvSpPr/>
          <p:nvPr/>
        </p:nvSpPr>
        <p:spPr>
          <a:xfrm>
            <a:off x="7087085" y="4587793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椭圆 43">
            <a:extLst>
              <a:ext uri="{FF2B5EF4-FFF2-40B4-BE49-F238E27FC236}">
                <a16:creationId xmlns:a16="http://schemas.microsoft.com/office/drawing/2014/main" id="{0438DA52-5BA4-0C89-7F4F-3F47DAE68D1C}"/>
              </a:ext>
            </a:extLst>
          </p:cNvPr>
          <p:cNvSpPr/>
          <p:nvPr/>
        </p:nvSpPr>
        <p:spPr>
          <a:xfrm>
            <a:off x="6878293" y="4499204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椭圆 46">
            <a:extLst>
              <a:ext uri="{FF2B5EF4-FFF2-40B4-BE49-F238E27FC236}">
                <a16:creationId xmlns:a16="http://schemas.microsoft.com/office/drawing/2014/main" id="{5F8F0A0A-177C-A4EF-4CFF-8E5C6CA3E13A}"/>
              </a:ext>
            </a:extLst>
          </p:cNvPr>
          <p:cNvSpPr/>
          <p:nvPr/>
        </p:nvSpPr>
        <p:spPr>
          <a:xfrm>
            <a:off x="7215715" y="3949534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椭圆 47">
            <a:extLst>
              <a:ext uri="{FF2B5EF4-FFF2-40B4-BE49-F238E27FC236}">
                <a16:creationId xmlns:a16="http://schemas.microsoft.com/office/drawing/2014/main" id="{0C1F750D-5D5F-B12D-C149-31369892EDDA}"/>
              </a:ext>
            </a:extLst>
          </p:cNvPr>
          <p:cNvSpPr/>
          <p:nvPr/>
        </p:nvSpPr>
        <p:spPr>
          <a:xfrm>
            <a:off x="7368115" y="4101934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椭圆 48">
            <a:extLst>
              <a:ext uri="{FF2B5EF4-FFF2-40B4-BE49-F238E27FC236}">
                <a16:creationId xmlns:a16="http://schemas.microsoft.com/office/drawing/2014/main" id="{173E3800-925A-DC97-369F-68925242FFB8}"/>
              </a:ext>
            </a:extLst>
          </p:cNvPr>
          <p:cNvSpPr/>
          <p:nvPr/>
        </p:nvSpPr>
        <p:spPr>
          <a:xfrm>
            <a:off x="7480910" y="4339805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椭圆 51">
            <a:extLst>
              <a:ext uri="{FF2B5EF4-FFF2-40B4-BE49-F238E27FC236}">
                <a16:creationId xmlns:a16="http://schemas.microsoft.com/office/drawing/2014/main" id="{82C6117F-EB69-C556-C168-05F51D112E7C}"/>
              </a:ext>
            </a:extLst>
          </p:cNvPr>
          <p:cNvSpPr/>
          <p:nvPr/>
        </p:nvSpPr>
        <p:spPr>
          <a:xfrm>
            <a:off x="7176271" y="4171868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椭圆 52">
            <a:extLst>
              <a:ext uri="{FF2B5EF4-FFF2-40B4-BE49-F238E27FC236}">
                <a16:creationId xmlns:a16="http://schemas.microsoft.com/office/drawing/2014/main" id="{C8A8305F-A3D5-2FD7-28D8-D74B40E8B54A}"/>
              </a:ext>
            </a:extLst>
          </p:cNvPr>
          <p:cNvSpPr/>
          <p:nvPr/>
        </p:nvSpPr>
        <p:spPr>
          <a:xfrm>
            <a:off x="7328671" y="4324268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椭圆 53">
            <a:extLst>
              <a:ext uri="{FF2B5EF4-FFF2-40B4-BE49-F238E27FC236}">
                <a16:creationId xmlns:a16="http://schemas.microsoft.com/office/drawing/2014/main" id="{9AF33EE4-D761-3461-6DDB-8D54F8385305}"/>
              </a:ext>
            </a:extLst>
          </p:cNvPr>
          <p:cNvSpPr/>
          <p:nvPr/>
        </p:nvSpPr>
        <p:spPr>
          <a:xfrm>
            <a:off x="7619675" y="4168176"/>
            <a:ext cx="111209" cy="111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" name="组合 121">
            <a:extLst>
              <a:ext uri="{FF2B5EF4-FFF2-40B4-BE49-F238E27FC236}">
                <a16:creationId xmlns:a16="http://schemas.microsoft.com/office/drawing/2014/main" id="{092D7C37-FF89-AF08-590B-9FF9F2EC16B7}"/>
              </a:ext>
            </a:extLst>
          </p:cNvPr>
          <p:cNvGrpSpPr/>
          <p:nvPr/>
        </p:nvGrpSpPr>
        <p:grpSpPr>
          <a:xfrm>
            <a:off x="7394824" y="4646969"/>
            <a:ext cx="972044" cy="661207"/>
            <a:chOff x="6480424" y="4087132"/>
            <a:chExt cx="972044" cy="661207"/>
          </a:xfrm>
          <a:solidFill>
            <a:srgbClr val="FF0000"/>
          </a:solidFill>
        </p:grpSpPr>
        <p:sp>
          <p:nvSpPr>
            <p:cNvPr id="39" name="矩形 54">
              <a:extLst>
                <a:ext uri="{FF2B5EF4-FFF2-40B4-BE49-F238E27FC236}">
                  <a16:creationId xmlns:a16="http://schemas.microsoft.com/office/drawing/2014/main" id="{BA7718B4-45F9-CAF3-11F5-854C14D450FF}"/>
                </a:ext>
              </a:extLst>
            </p:cNvPr>
            <p:cNvSpPr/>
            <p:nvPr/>
          </p:nvSpPr>
          <p:spPr>
            <a:xfrm>
              <a:off x="6958664" y="4105891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55">
              <a:extLst>
                <a:ext uri="{FF2B5EF4-FFF2-40B4-BE49-F238E27FC236}">
                  <a16:creationId xmlns:a16="http://schemas.microsoft.com/office/drawing/2014/main" id="{6288E7D1-2A41-6320-A7E9-5FD9F441B447}"/>
                </a:ext>
              </a:extLst>
            </p:cNvPr>
            <p:cNvSpPr/>
            <p:nvPr/>
          </p:nvSpPr>
          <p:spPr>
            <a:xfrm>
              <a:off x="7111064" y="4258291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56">
              <a:extLst>
                <a:ext uri="{FF2B5EF4-FFF2-40B4-BE49-F238E27FC236}">
                  <a16:creationId xmlns:a16="http://schemas.microsoft.com/office/drawing/2014/main" id="{6CBA8B33-5750-868C-57D2-F92A130E15DB}"/>
                </a:ext>
              </a:extLst>
            </p:cNvPr>
            <p:cNvSpPr/>
            <p:nvPr/>
          </p:nvSpPr>
          <p:spPr>
            <a:xfrm>
              <a:off x="7317521" y="4325764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57">
              <a:extLst>
                <a:ext uri="{FF2B5EF4-FFF2-40B4-BE49-F238E27FC236}">
                  <a16:creationId xmlns:a16="http://schemas.microsoft.com/office/drawing/2014/main" id="{D72E2695-E5C9-01B2-7E48-B0929FA387A4}"/>
                </a:ext>
              </a:extLst>
            </p:cNvPr>
            <p:cNvSpPr/>
            <p:nvPr/>
          </p:nvSpPr>
          <p:spPr>
            <a:xfrm>
              <a:off x="7067548" y="4523857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58">
              <a:extLst>
                <a:ext uri="{FF2B5EF4-FFF2-40B4-BE49-F238E27FC236}">
                  <a16:creationId xmlns:a16="http://schemas.microsoft.com/office/drawing/2014/main" id="{E4110EE4-229F-54DC-36F4-88A11385B902}"/>
                </a:ext>
              </a:extLst>
            </p:cNvPr>
            <p:cNvSpPr/>
            <p:nvPr/>
          </p:nvSpPr>
          <p:spPr>
            <a:xfrm>
              <a:off x="6912657" y="433465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59">
              <a:extLst>
                <a:ext uri="{FF2B5EF4-FFF2-40B4-BE49-F238E27FC236}">
                  <a16:creationId xmlns:a16="http://schemas.microsoft.com/office/drawing/2014/main" id="{62B41455-4578-6E3D-C49D-F93245AB8AE8}"/>
                </a:ext>
              </a:extLst>
            </p:cNvPr>
            <p:cNvSpPr/>
            <p:nvPr/>
          </p:nvSpPr>
          <p:spPr>
            <a:xfrm>
              <a:off x="6866650" y="449440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矩形 60">
              <a:extLst>
                <a:ext uri="{FF2B5EF4-FFF2-40B4-BE49-F238E27FC236}">
                  <a16:creationId xmlns:a16="http://schemas.microsoft.com/office/drawing/2014/main" id="{75F1C16D-4610-199D-68BF-5BE631426AB6}"/>
                </a:ext>
              </a:extLst>
            </p:cNvPr>
            <p:cNvSpPr/>
            <p:nvPr/>
          </p:nvSpPr>
          <p:spPr>
            <a:xfrm>
              <a:off x="6701022" y="4613392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矩形 61">
              <a:extLst>
                <a:ext uri="{FF2B5EF4-FFF2-40B4-BE49-F238E27FC236}">
                  <a16:creationId xmlns:a16="http://schemas.microsoft.com/office/drawing/2014/main" id="{F76C0AC4-535E-E226-E390-9930F959AC21}"/>
                </a:ext>
              </a:extLst>
            </p:cNvPr>
            <p:cNvSpPr/>
            <p:nvPr/>
          </p:nvSpPr>
          <p:spPr>
            <a:xfrm>
              <a:off x="6480424" y="451402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62">
              <a:extLst>
                <a:ext uri="{FF2B5EF4-FFF2-40B4-BE49-F238E27FC236}">
                  <a16:creationId xmlns:a16="http://schemas.microsoft.com/office/drawing/2014/main" id="{F3E5AFF0-8EEF-095B-A98F-35C040489C45}"/>
                </a:ext>
              </a:extLst>
            </p:cNvPr>
            <p:cNvSpPr/>
            <p:nvPr/>
          </p:nvSpPr>
          <p:spPr>
            <a:xfrm>
              <a:off x="6669780" y="433465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63">
              <a:extLst>
                <a:ext uri="{FF2B5EF4-FFF2-40B4-BE49-F238E27FC236}">
                  <a16:creationId xmlns:a16="http://schemas.microsoft.com/office/drawing/2014/main" id="{302B6B68-46E4-A957-B664-7D190E215C1E}"/>
                </a:ext>
              </a:extLst>
            </p:cNvPr>
            <p:cNvSpPr/>
            <p:nvPr/>
          </p:nvSpPr>
          <p:spPr>
            <a:xfrm>
              <a:off x="7256377" y="4087132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9" name="图片 70">
            <a:extLst>
              <a:ext uri="{FF2B5EF4-FFF2-40B4-BE49-F238E27FC236}">
                <a16:creationId xmlns:a16="http://schemas.microsoft.com/office/drawing/2014/main" id="{79FF984A-E721-36DD-F94B-8FE2E7A12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161" y="3568351"/>
            <a:ext cx="313279" cy="295875"/>
          </a:xfrm>
          <a:prstGeom prst="rect">
            <a:avLst/>
          </a:prstGeom>
        </p:spPr>
      </p:pic>
      <p:pic>
        <p:nvPicPr>
          <p:cNvPr id="50" name="图片 72">
            <a:extLst>
              <a:ext uri="{FF2B5EF4-FFF2-40B4-BE49-F238E27FC236}">
                <a16:creationId xmlns:a16="http://schemas.microsoft.com/office/drawing/2014/main" id="{3DE72538-120D-1128-E8DA-2DA2FA41E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202" y="4816270"/>
            <a:ext cx="284937" cy="291105"/>
          </a:xfrm>
          <a:prstGeom prst="rect">
            <a:avLst/>
          </a:prstGeom>
        </p:spPr>
      </p:pic>
      <p:pic>
        <p:nvPicPr>
          <p:cNvPr id="51" name="图片 73">
            <a:extLst>
              <a:ext uri="{FF2B5EF4-FFF2-40B4-BE49-F238E27FC236}">
                <a16:creationId xmlns:a16="http://schemas.microsoft.com/office/drawing/2014/main" id="{550DA626-10C8-E87D-510A-F8B29B031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336" y="4295047"/>
            <a:ext cx="353933" cy="312852"/>
          </a:xfrm>
          <a:prstGeom prst="rect">
            <a:avLst/>
          </a:prstGeom>
        </p:spPr>
      </p:pic>
      <p:sp>
        <p:nvSpPr>
          <p:cNvPr id="52" name="文本框 74">
            <a:extLst>
              <a:ext uri="{FF2B5EF4-FFF2-40B4-BE49-F238E27FC236}">
                <a16:creationId xmlns:a16="http://schemas.microsoft.com/office/drawing/2014/main" id="{2EE7E4C1-F6B6-71BD-5341-59167044BD67}"/>
              </a:ext>
            </a:extLst>
          </p:cNvPr>
          <p:cNvSpPr txBox="1"/>
          <p:nvPr/>
        </p:nvSpPr>
        <p:spPr>
          <a:xfrm>
            <a:off x="2971799" y="6311957"/>
            <a:ext cx="335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predict it is apple or orange.</a:t>
            </a:r>
            <a:endParaRPr lang="zh-CN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图片 75">
            <a:extLst>
              <a:ext uri="{FF2B5EF4-FFF2-40B4-BE49-F238E27FC236}">
                <a16:creationId xmlns:a16="http://schemas.microsoft.com/office/drawing/2014/main" id="{C04B975F-F1B3-A2AE-6F8C-DDB766C0F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563" y="5503338"/>
            <a:ext cx="488393" cy="476122"/>
          </a:xfrm>
          <a:prstGeom prst="rect">
            <a:avLst/>
          </a:prstGeom>
        </p:spPr>
      </p:pic>
      <p:cxnSp>
        <p:nvCxnSpPr>
          <p:cNvPr id="54" name="直接箭头连接符 77">
            <a:extLst>
              <a:ext uri="{FF2B5EF4-FFF2-40B4-BE49-F238E27FC236}">
                <a16:creationId xmlns:a16="http://schemas.microsoft.com/office/drawing/2014/main" id="{A38624FA-AE6E-14A0-755F-7AF4AD56B8B4}"/>
              </a:ext>
            </a:extLst>
          </p:cNvPr>
          <p:cNvCxnSpPr>
            <a:cxnSpLocks/>
            <a:stCxn id="49" idx="3"/>
            <a:endCxn id="25" idx="1"/>
          </p:cNvCxnSpPr>
          <p:nvPr/>
        </p:nvCxnSpPr>
        <p:spPr>
          <a:xfrm>
            <a:off x="6242440" y="3716289"/>
            <a:ext cx="776650" cy="441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78">
            <a:extLst>
              <a:ext uri="{FF2B5EF4-FFF2-40B4-BE49-F238E27FC236}">
                <a16:creationId xmlns:a16="http://schemas.microsoft.com/office/drawing/2014/main" id="{010A2048-E740-3C03-4455-BDDC1C6EB156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6243604" y="4594127"/>
            <a:ext cx="650975" cy="124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83">
            <a:extLst>
              <a:ext uri="{FF2B5EF4-FFF2-40B4-BE49-F238E27FC236}">
                <a16:creationId xmlns:a16="http://schemas.microsoft.com/office/drawing/2014/main" id="{27858370-472B-B5B0-845D-305076461C9A}"/>
              </a:ext>
            </a:extLst>
          </p:cNvPr>
          <p:cNvCxnSpPr>
            <a:stCxn id="51" idx="1"/>
            <a:endCxn id="48" idx="3"/>
          </p:cNvCxnSpPr>
          <p:nvPr/>
        </p:nvCxnSpPr>
        <p:spPr>
          <a:xfrm flipH="1">
            <a:off x="8305724" y="4451473"/>
            <a:ext cx="883612" cy="262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84">
            <a:extLst>
              <a:ext uri="{FF2B5EF4-FFF2-40B4-BE49-F238E27FC236}">
                <a16:creationId xmlns:a16="http://schemas.microsoft.com/office/drawing/2014/main" id="{6BD2D2FC-66DA-D187-6FD5-15C47CABA791}"/>
              </a:ext>
            </a:extLst>
          </p:cNvPr>
          <p:cNvCxnSpPr>
            <a:cxnSpLocks/>
            <a:stCxn id="50" idx="1"/>
            <a:endCxn id="41" idx="3"/>
          </p:cNvCxnSpPr>
          <p:nvPr/>
        </p:nvCxnSpPr>
        <p:spPr>
          <a:xfrm flipH="1" flipV="1">
            <a:off x="8366868" y="4953075"/>
            <a:ext cx="900334" cy="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87">
            <a:extLst>
              <a:ext uri="{FF2B5EF4-FFF2-40B4-BE49-F238E27FC236}">
                <a16:creationId xmlns:a16="http://schemas.microsoft.com/office/drawing/2014/main" id="{D3312153-A839-662A-A8A6-8278A0323BE3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6306285" y="4876896"/>
            <a:ext cx="560279" cy="696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等腰三角形 91">
            <a:extLst>
              <a:ext uri="{FF2B5EF4-FFF2-40B4-BE49-F238E27FC236}">
                <a16:creationId xmlns:a16="http://schemas.microsoft.com/office/drawing/2014/main" id="{867045DB-D1FA-C663-3029-EE17F1647716}"/>
              </a:ext>
            </a:extLst>
          </p:cNvPr>
          <p:cNvSpPr/>
          <p:nvPr/>
        </p:nvSpPr>
        <p:spPr>
          <a:xfrm>
            <a:off x="6866564" y="4741949"/>
            <a:ext cx="152521" cy="13494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104">
            <a:extLst>
              <a:ext uri="{FF2B5EF4-FFF2-40B4-BE49-F238E27FC236}">
                <a16:creationId xmlns:a16="http://schemas.microsoft.com/office/drawing/2014/main" id="{9C15569B-3376-B963-5EF4-97000DF59C61}"/>
              </a:ext>
            </a:extLst>
          </p:cNvPr>
          <p:cNvSpPr txBox="1"/>
          <p:nvPr/>
        </p:nvSpPr>
        <p:spPr>
          <a:xfrm>
            <a:off x="5875671" y="2244025"/>
            <a:ext cx="4320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Classification: to learn a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that can best separate the training data.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122">
            <a:extLst>
              <a:ext uri="{FF2B5EF4-FFF2-40B4-BE49-F238E27FC236}">
                <a16:creationId xmlns:a16="http://schemas.microsoft.com/office/drawing/2014/main" id="{AA972335-F41C-5C24-64E5-8EE4788ED0CD}"/>
              </a:ext>
            </a:extLst>
          </p:cNvPr>
          <p:cNvSpPr txBox="1"/>
          <p:nvPr/>
        </p:nvSpPr>
        <p:spPr>
          <a:xfrm>
            <a:off x="6520058" y="5922027"/>
            <a:ext cx="376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test data is predicted as apple.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任意多边形: 形状 123">
            <a:extLst>
              <a:ext uri="{FF2B5EF4-FFF2-40B4-BE49-F238E27FC236}">
                <a16:creationId xmlns:a16="http://schemas.microsoft.com/office/drawing/2014/main" id="{B45B4425-6E4B-2E74-DCE1-968CFA25815A}"/>
              </a:ext>
            </a:extLst>
          </p:cNvPr>
          <p:cNvSpPr/>
          <p:nvPr/>
        </p:nvSpPr>
        <p:spPr>
          <a:xfrm>
            <a:off x="6696363" y="3624313"/>
            <a:ext cx="1650626" cy="1684692"/>
          </a:xfrm>
          <a:custGeom>
            <a:avLst/>
            <a:gdLst>
              <a:gd name="connsiteX0" fmla="*/ 1650626 w 1650626"/>
              <a:gd name="connsiteY0" fmla="*/ 0 h 1684692"/>
              <a:gd name="connsiteX1" fmla="*/ 1230496 w 1650626"/>
              <a:gd name="connsiteY1" fmla="*/ 240956 h 1684692"/>
              <a:gd name="connsiteX2" fmla="*/ 1113107 w 1650626"/>
              <a:gd name="connsiteY2" fmla="*/ 710513 h 1684692"/>
              <a:gd name="connsiteX3" fmla="*/ 816545 w 1650626"/>
              <a:gd name="connsiteY3" fmla="*/ 1229497 h 1684692"/>
              <a:gd name="connsiteX4" fmla="*/ 291383 w 1650626"/>
              <a:gd name="connsiteY4" fmla="*/ 1464275 h 1684692"/>
              <a:gd name="connsiteX5" fmla="*/ 31891 w 1650626"/>
              <a:gd name="connsiteY5" fmla="*/ 1655805 h 1684692"/>
              <a:gd name="connsiteX6" fmla="*/ 13356 w 1650626"/>
              <a:gd name="connsiteY6" fmla="*/ 1680519 h 168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0626" h="1684692">
                <a:moveTo>
                  <a:pt x="1650626" y="0"/>
                </a:moveTo>
                <a:cubicBezTo>
                  <a:pt x="1485354" y="61268"/>
                  <a:pt x="1320082" y="122537"/>
                  <a:pt x="1230496" y="240956"/>
                </a:cubicBezTo>
                <a:cubicBezTo>
                  <a:pt x="1140909" y="359375"/>
                  <a:pt x="1182099" y="545756"/>
                  <a:pt x="1113107" y="710513"/>
                </a:cubicBezTo>
                <a:cubicBezTo>
                  <a:pt x="1044115" y="875270"/>
                  <a:pt x="953499" y="1103870"/>
                  <a:pt x="816545" y="1229497"/>
                </a:cubicBezTo>
                <a:cubicBezTo>
                  <a:pt x="679591" y="1355124"/>
                  <a:pt x="422159" y="1393224"/>
                  <a:pt x="291383" y="1464275"/>
                </a:cubicBezTo>
                <a:cubicBezTo>
                  <a:pt x="160607" y="1535326"/>
                  <a:pt x="78229" y="1619764"/>
                  <a:pt x="31891" y="1655805"/>
                </a:cubicBezTo>
                <a:cubicBezTo>
                  <a:pt x="-14447" y="1691846"/>
                  <a:pt x="-546" y="1686182"/>
                  <a:pt x="13356" y="1680519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图片 2">
            <a:extLst>
              <a:ext uri="{FF2B5EF4-FFF2-40B4-BE49-F238E27FC236}">
                <a16:creationId xmlns:a16="http://schemas.microsoft.com/office/drawing/2014/main" id="{40A77360-2D0D-B8CB-3FE3-1EA69F1EBE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331" y="3589594"/>
            <a:ext cx="700632" cy="693497"/>
          </a:xfrm>
          <a:prstGeom prst="rect">
            <a:avLst/>
          </a:prstGeom>
        </p:spPr>
      </p:pic>
      <p:pic>
        <p:nvPicPr>
          <p:cNvPr id="64" name="图片 68">
            <a:extLst>
              <a:ext uri="{FF2B5EF4-FFF2-40B4-BE49-F238E27FC236}">
                <a16:creationId xmlns:a16="http://schemas.microsoft.com/office/drawing/2014/main" id="{602807B5-1110-2A23-8481-44A1A1F0E6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5010" y="4478447"/>
            <a:ext cx="419876" cy="4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52" grpId="0"/>
      <p:bldP spid="59" grpId="0" animBg="1"/>
      <p:bldP spid="60" grpId="0"/>
      <p:bldP spid="61" grpId="0"/>
      <p:bldP spid="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SVM: an overview</a:t>
            </a: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DA322F9C-9EA1-0F3C-E222-04CD5AD272D8}"/>
              </a:ext>
            </a:extLst>
          </p:cNvPr>
          <p:cNvSpPr txBox="1"/>
          <p:nvPr/>
        </p:nvSpPr>
        <p:spPr>
          <a:xfrm>
            <a:off x="199053" y="1708219"/>
            <a:ext cx="741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 of SVM</a:t>
            </a:r>
            <a:endParaRPr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AAB5696-BCC3-57A2-82B6-8BA0F8CAC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774264"/>
              </p:ext>
            </p:extLst>
          </p:nvPr>
        </p:nvGraphicFramePr>
        <p:xfrm>
          <a:off x="199053" y="2455704"/>
          <a:ext cx="117938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298">
                  <a:extLst>
                    <a:ext uri="{9D8B030D-6E8A-4147-A177-3AD203B41FA5}">
                      <a16:colId xmlns:a16="http://schemas.microsoft.com/office/drawing/2014/main" val="210227835"/>
                    </a:ext>
                  </a:extLst>
                </a:gridCol>
                <a:gridCol w="3931298">
                  <a:extLst>
                    <a:ext uri="{9D8B030D-6E8A-4147-A177-3AD203B41FA5}">
                      <a16:colId xmlns:a16="http://schemas.microsoft.com/office/drawing/2014/main" val="3996165765"/>
                    </a:ext>
                  </a:extLst>
                </a:gridCol>
                <a:gridCol w="3931298">
                  <a:extLst>
                    <a:ext uri="{9D8B030D-6E8A-4147-A177-3AD203B41FA5}">
                      <a16:colId xmlns:a16="http://schemas.microsoft.com/office/drawing/2014/main" val="1975147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Applications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09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 System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Ratings, clicks, or likes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Preference score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8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Fraud detection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 transaction history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Money Laundering account?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6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Tumor diagnosis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Medical images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Tumor nor not?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24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Handwriting recognition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Handwriting images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Digits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20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81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48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SVM: an overview</a:t>
            </a:r>
          </a:p>
        </p:txBody>
      </p:sp>
      <p:sp>
        <p:nvSpPr>
          <p:cNvPr id="2" name="文本框 14">
            <a:extLst>
              <a:ext uri="{FF2B5EF4-FFF2-40B4-BE49-F238E27FC236}">
                <a16:creationId xmlns:a16="http://schemas.microsoft.com/office/drawing/2014/main" id="{39DB73AF-0B46-C49C-648D-4AD218DA5F8D}"/>
              </a:ext>
            </a:extLst>
          </p:cNvPr>
          <p:cNvSpPr txBox="1"/>
          <p:nvPr/>
        </p:nvSpPr>
        <p:spPr>
          <a:xfrm>
            <a:off x="418680" y="2346001"/>
            <a:ext cx="91078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very popular/influential classification algorithm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Backed by solid theoretical groundings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hyperplane-based classifier </a:t>
            </a:r>
          </a:p>
        </p:txBody>
      </p:sp>
      <p:sp>
        <p:nvSpPr>
          <p:cNvPr id="3" name="文本框 15">
            <a:extLst>
              <a:ext uri="{FF2B5EF4-FFF2-40B4-BE49-F238E27FC236}">
                <a16:creationId xmlns:a16="http://schemas.microsoft.com/office/drawing/2014/main" id="{B668582E-A367-52BF-34AC-52D097172EB5}"/>
              </a:ext>
            </a:extLst>
          </p:cNvPr>
          <p:cNvSpPr txBox="1"/>
          <p:nvPr/>
        </p:nvSpPr>
        <p:spPr>
          <a:xfrm>
            <a:off x="461335" y="1602407"/>
            <a:ext cx="7413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Support Vector Machine (SVM)</a:t>
            </a:r>
            <a:endParaRPr lang="zh-CN" altLang="en-US" sz="28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cxnSp>
        <p:nvCxnSpPr>
          <p:cNvPr id="4" name="直接连接符 16">
            <a:extLst>
              <a:ext uri="{FF2B5EF4-FFF2-40B4-BE49-F238E27FC236}">
                <a16:creationId xmlns:a16="http://schemas.microsoft.com/office/drawing/2014/main" id="{94AD1B23-26B4-EE72-1B89-A516FE6521F8}"/>
              </a:ext>
            </a:extLst>
          </p:cNvPr>
          <p:cNvCxnSpPr>
            <a:cxnSpLocks/>
          </p:cNvCxnSpPr>
          <p:nvPr/>
        </p:nvCxnSpPr>
        <p:spPr>
          <a:xfrm flipV="1">
            <a:off x="7230085" y="4328368"/>
            <a:ext cx="1061308" cy="185351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9">
            <a:extLst>
              <a:ext uri="{FF2B5EF4-FFF2-40B4-BE49-F238E27FC236}">
                <a16:creationId xmlns:a16="http://schemas.microsoft.com/office/drawing/2014/main" id="{F0E54BB3-541D-418D-52CC-CD974308032A}"/>
              </a:ext>
            </a:extLst>
          </p:cNvPr>
          <p:cNvCxnSpPr>
            <a:cxnSpLocks/>
          </p:cNvCxnSpPr>
          <p:nvPr/>
        </p:nvCxnSpPr>
        <p:spPr>
          <a:xfrm flipV="1">
            <a:off x="7462128" y="4470873"/>
            <a:ext cx="1061308" cy="185351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30">
            <a:extLst>
              <a:ext uri="{FF2B5EF4-FFF2-40B4-BE49-F238E27FC236}">
                <a16:creationId xmlns:a16="http://schemas.microsoft.com/office/drawing/2014/main" id="{A2DD9427-A5C4-AFDA-88DC-3ACA4330E919}"/>
              </a:ext>
            </a:extLst>
          </p:cNvPr>
          <p:cNvCxnSpPr>
            <a:cxnSpLocks/>
          </p:cNvCxnSpPr>
          <p:nvPr/>
        </p:nvCxnSpPr>
        <p:spPr>
          <a:xfrm flipV="1">
            <a:off x="6974253" y="4227523"/>
            <a:ext cx="1061308" cy="185351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43">
            <a:extLst>
              <a:ext uri="{FF2B5EF4-FFF2-40B4-BE49-F238E27FC236}">
                <a16:creationId xmlns:a16="http://schemas.microsoft.com/office/drawing/2014/main" id="{D5BABF00-1EB3-6E36-FCEC-628B96FC286F}"/>
              </a:ext>
            </a:extLst>
          </p:cNvPr>
          <p:cNvGrpSpPr/>
          <p:nvPr/>
        </p:nvGrpSpPr>
        <p:grpSpPr>
          <a:xfrm>
            <a:off x="5754801" y="4763006"/>
            <a:ext cx="1937747" cy="764264"/>
            <a:chOff x="1574335" y="4660649"/>
            <a:chExt cx="1937747" cy="764264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0CFBB11-6B16-7ABE-4A7D-02860B6330BB}"/>
                </a:ext>
              </a:extLst>
            </p:cNvPr>
            <p:cNvSpPr/>
            <p:nvPr/>
          </p:nvSpPr>
          <p:spPr>
            <a:xfrm rot="20082175">
              <a:off x="2907127" y="474113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F76C161-80BE-98ED-FF86-3D88C3F3567D}"/>
                </a:ext>
              </a:extLst>
            </p:cNvPr>
            <p:cNvSpPr/>
            <p:nvPr/>
          </p:nvSpPr>
          <p:spPr>
            <a:xfrm rot="20082175">
              <a:off x="3110035" y="481379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3E6584A-9C22-D0ED-E70D-6178A76C2544}"/>
                </a:ext>
              </a:extLst>
            </p:cNvPr>
            <p:cNvSpPr/>
            <p:nvPr/>
          </p:nvSpPr>
          <p:spPr>
            <a:xfrm rot="20082175">
              <a:off x="2865140" y="509810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4832A1F-5734-BCA6-4DAA-04FF61156DE5}"/>
                </a:ext>
              </a:extLst>
            </p:cNvPr>
            <p:cNvSpPr/>
            <p:nvPr/>
          </p:nvSpPr>
          <p:spPr>
            <a:xfrm rot="20082175">
              <a:off x="3097248" y="5043958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A91FCF1-D1C6-8B2B-79B8-97F6713B69EE}"/>
                </a:ext>
              </a:extLst>
            </p:cNvPr>
            <p:cNvSpPr/>
            <p:nvPr/>
          </p:nvSpPr>
          <p:spPr>
            <a:xfrm rot="20082175">
              <a:off x="3400871" y="466064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A198298-700E-D8DA-AB7C-ECF72CF729EF}"/>
                </a:ext>
              </a:extLst>
            </p:cNvPr>
            <p:cNvSpPr/>
            <p:nvPr/>
          </p:nvSpPr>
          <p:spPr>
            <a:xfrm rot="20082175">
              <a:off x="2905534" y="531370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31">
              <a:extLst>
                <a:ext uri="{FF2B5EF4-FFF2-40B4-BE49-F238E27FC236}">
                  <a16:creationId xmlns:a16="http://schemas.microsoft.com/office/drawing/2014/main" id="{48D1FD8A-FF81-554B-2B6E-B44307832B0D}"/>
                </a:ext>
              </a:extLst>
            </p:cNvPr>
            <p:cNvSpPr txBox="1"/>
            <p:nvPr/>
          </p:nvSpPr>
          <p:spPr>
            <a:xfrm>
              <a:off x="1574335" y="4744469"/>
              <a:ext cx="1367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+1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44">
            <a:extLst>
              <a:ext uri="{FF2B5EF4-FFF2-40B4-BE49-F238E27FC236}">
                <a16:creationId xmlns:a16="http://schemas.microsoft.com/office/drawing/2014/main" id="{3F0365EC-12A0-B8FB-E54F-A7F3A541461F}"/>
              </a:ext>
            </a:extLst>
          </p:cNvPr>
          <p:cNvGrpSpPr/>
          <p:nvPr/>
        </p:nvGrpSpPr>
        <p:grpSpPr>
          <a:xfrm>
            <a:off x="7864071" y="5131631"/>
            <a:ext cx="2070843" cy="666931"/>
            <a:chOff x="3683605" y="5029274"/>
            <a:chExt cx="2070843" cy="666931"/>
          </a:xfrm>
        </p:grpSpPr>
        <p:sp>
          <p:nvSpPr>
            <p:cNvPr id="17" name="矩形 18">
              <a:extLst>
                <a:ext uri="{FF2B5EF4-FFF2-40B4-BE49-F238E27FC236}">
                  <a16:creationId xmlns:a16="http://schemas.microsoft.com/office/drawing/2014/main" id="{85C9A4F2-2345-685B-2062-2A4AF6CB6410}"/>
                </a:ext>
              </a:extLst>
            </p:cNvPr>
            <p:cNvSpPr/>
            <p:nvPr/>
          </p:nvSpPr>
          <p:spPr>
            <a:xfrm rot="20682264">
              <a:off x="3943302" y="526721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9">
              <a:extLst>
                <a:ext uri="{FF2B5EF4-FFF2-40B4-BE49-F238E27FC236}">
                  <a16:creationId xmlns:a16="http://schemas.microsoft.com/office/drawing/2014/main" id="{8A343452-C720-6DA8-1F7F-1090BE97BA49}"/>
                </a:ext>
              </a:extLst>
            </p:cNvPr>
            <p:cNvSpPr/>
            <p:nvPr/>
          </p:nvSpPr>
          <p:spPr>
            <a:xfrm rot="20682264">
              <a:off x="4064592" y="536441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20">
              <a:extLst>
                <a:ext uri="{FF2B5EF4-FFF2-40B4-BE49-F238E27FC236}">
                  <a16:creationId xmlns:a16="http://schemas.microsoft.com/office/drawing/2014/main" id="{BC9E6CE4-E972-4C51-30BD-85DB87AC78EB}"/>
                </a:ext>
              </a:extLst>
            </p:cNvPr>
            <p:cNvSpPr/>
            <p:nvPr/>
          </p:nvSpPr>
          <p:spPr>
            <a:xfrm rot="20682264">
              <a:off x="4256051" y="532674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2">
              <a:extLst>
                <a:ext uri="{FF2B5EF4-FFF2-40B4-BE49-F238E27FC236}">
                  <a16:creationId xmlns:a16="http://schemas.microsoft.com/office/drawing/2014/main" id="{64A83472-8979-AB76-10A8-F0B973F25AD3}"/>
                </a:ext>
              </a:extLst>
            </p:cNvPr>
            <p:cNvSpPr/>
            <p:nvPr/>
          </p:nvSpPr>
          <p:spPr>
            <a:xfrm rot="20682264">
              <a:off x="3683605" y="55422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3">
              <a:extLst>
                <a:ext uri="{FF2B5EF4-FFF2-40B4-BE49-F238E27FC236}">
                  <a16:creationId xmlns:a16="http://schemas.microsoft.com/office/drawing/2014/main" id="{64B9E63F-C7D1-39C9-1FA5-5DE211DAFBB2}"/>
                </a:ext>
              </a:extLst>
            </p:cNvPr>
            <p:cNvSpPr/>
            <p:nvPr/>
          </p:nvSpPr>
          <p:spPr>
            <a:xfrm rot="20682264">
              <a:off x="4324352" y="513538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4">
              <a:extLst>
                <a:ext uri="{FF2B5EF4-FFF2-40B4-BE49-F238E27FC236}">
                  <a16:creationId xmlns:a16="http://schemas.microsoft.com/office/drawing/2014/main" id="{405BF082-E892-0399-FF3C-6E42D52174A3}"/>
                </a:ext>
              </a:extLst>
            </p:cNvPr>
            <p:cNvSpPr/>
            <p:nvPr/>
          </p:nvSpPr>
          <p:spPr>
            <a:xfrm rot="20682264">
              <a:off x="4109859" y="50292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5">
              <a:extLst>
                <a:ext uri="{FF2B5EF4-FFF2-40B4-BE49-F238E27FC236}">
                  <a16:creationId xmlns:a16="http://schemas.microsoft.com/office/drawing/2014/main" id="{47D11B98-E5F7-7FEB-135A-3D82741A0AD2}"/>
                </a:ext>
              </a:extLst>
            </p:cNvPr>
            <p:cNvSpPr/>
            <p:nvPr/>
          </p:nvSpPr>
          <p:spPr>
            <a:xfrm rot="20682264">
              <a:off x="3898098" y="56035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32">
              <a:extLst>
                <a:ext uri="{FF2B5EF4-FFF2-40B4-BE49-F238E27FC236}">
                  <a16:creationId xmlns:a16="http://schemas.microsoft.com/office/drawing/2014/main" id="{676C9BEE-1227-D8E6-EC3D-967A603BBDAA}"/>
                </a:ext>
              </a:extLst>
            </p:cNvPr>
            <p:cNvSpPr txBox="1"/>
            <p:nvPr/>
          </p:nvSpPr>
          <p:spPr>
            <a:xfrm>
              <a:off x="4385958" y="5200030"/>
              <a:ext cx="13684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5" name="直接箭头连接符 34">
            <a:extLst>
              <a:ext uri="{FF2B5EF4-FFF2-40B4-BE49-F238E27FC236}">
                <a16:creationId xmlns:a16="http://schemas.microsoft.com/office/drawing/2014/main" id="{5A7F9A46-2A4C-421D-238A-B3E8E3AE2409}"/>
              </a:ext>
            </a:extLst>
          </p:cNvPr>
          <p:cNvCxnSpPr>
            <a:stCxn id="13" idx="5"/>
          </p:cNvCxnSpPr>
          <p:nvPr/>
        </p:nvCxnSpPr>
        <p:spPr>
          <a:xfrm>
            <a:off x="7689293" y="4837359"/>
            <a:ext cx="236403" cy="134399"/>
          </a:xfrm>
          <a:prstGeom prst="straightConnector1">
            <a:avLst/>
          </a:prstGeom>
          <a:ln>
            <a:headEnd type="stealth" w="med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35">
            <a:extLst>
              <a:ext uri="{FF2B5EF4-FFF2-40B4-BE49-F238E27FC236}">
                <a16:creationId xmlns:a16="http://schemas.microsoft.com/office/drawing/2014/main" id="{EE67844D-83CE-D169-9FE3-7ACB6801AF81}"/>
              </a:ext>
            </a:extLst>
          </p:cNvPr>
          <p:cNvCxnSpPr>
            <a:cxnSpLocks/>
          </p:cNvCxnSpPr>
          <p:nvPr/>
        </p:nvCxnSpPr>
        <p:spPr>
          <a:xfrm>
            <a:off x="7610660" y="5513463"/>
            <a:ext cx="236403" cy="134399"/>
          </a:xfrm>
          <a:prstGeom prst="straightConnector1">
            <a:avLst/>
          </a:prstGeom>
          <a:ln>
            <a:headEnd type="stealth" w="med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37">
            <a:extLst>
              <a:ext uri="{FF2B5EF4-FFF2-40B4-BE49-F238E27FC236}">
                <a16:creationId xmlns:a16="http://schemas.microsoft.com/office/drawing/2014/main" id="{3003B209-9A88-EB41-7C4E-E99337D36B07}"/>
              </a:ext>
            </a:extLst>
          </p:cNvPr>
          <p:cNvCxnSpPr>
            <a:cxnSpLocks/>
          </p:cNvCxnSpPr>
          <p:nvPr/>
        </p:nvCxnSpPr>
        <p:spPr>
          <a:xfrm flipV="1">
            <a:off x="7807494" y="4557517"/>
            <a:ext cx="1000852" cy="3415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38">
            <a:extLst>
              <a:ext uri="{FF2B5EF4-FFF2-40B4-BE49-F238E27FC236}">
                <a16:creationId xmlns:a16="http://schemas.microsoft.com/office/drawing/2014/main" id="{AC3ACF05-EEA6-DD39-E9BA-2385C4F78ACC}"/>
              </a:ext>
            </a:extLst>
          </p:cNvPr>
          <p:cNvCxnSpPr>
            <a:cxnSpLocks/>
          </p:cNvCxnSpPr>
          <p:nvPr/>
        </p:nvCxnSpPr>
        <p:spPr>
          <a:xfrm flipV="1">
            <a:off x="7726543" y="4633897"/>
            <a:ext cx="1024058" cy="96056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42">
            <a:extLst>
              <a:ext uri="{FF2B5EF4-FFF2-40B4-BE49-F238E27FC236}">
                <a16:creationId xmlns:a16="http://schemas.microsoft.com/office/drawing/2014/main" id="{AA1FA8B6-3492-66EF-D292-5D66BCA93321}"/>
              </a:ext>
            </a:extLst>
          </p:cNvPr>
          <p:cNvSpPr txBox="1"/>
          <p:nvPr/>
        </p:nvSpPr>
        <p:spPr>
          <a:xfrm>
            <a:off x="8808345" y="4400037"/>
            <a:ext cx="2787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separation margin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">
            <a:extLst>
              <a:ext uri="{FF2B5EF4-FFF2-40B4-BE49-F238E27FC236}">
                <a16:creationId xmlns:a16="http://schemas.microsoft.com/office/drawing/2014/main" id="{57159850-42E0-B9E6-F3D0-BB88AAE13C61}"/>
              </a:ext>
            </a:extLst>
          </p:cNvPr>
          <p:cNvSpPr txBox="1"/>
          <p:nvPr/>
        </p:nvSpPr>
        <p:spPr>
          <a:xfrm>
            <a:off x="8566424" y="3648556"/>
            <a:ext cx="1920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hyperplane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3">
            <a:extLst>
              <a:ext uri="{FF2B5EF4-FFF2-40B4-BE49-F238E27FC236}">
                <a16:creationId xmlns:a16="http://schemas.microsoft.com/office/drawing/2014/main" id="{CB99DBED-EA76-F489-4F00-E698CA22A88B}"/>
              </a:ext>
            </a:extLst>
          </p:cNvPr>
          <p:cNvSpPr txBox="1"/>
          <p:nvPr/>
        </p:nvSpPr>
        <p:spPr>
          <a:xfrm>
            <a:off x="5266835" y="3564618"/>
            <a:ext cx="3003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margin boundaries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直接箭头连接符 6">
            <a:extLst>
              <a:ext uri="{FF2B5EF4-FFF2-40B4-BE49-F238E27FC236}">
                <a16:creationId xmlns:a16="http://schemas.microsoft.com/office/drawing/2014/main" id="{E2140995-B8E3-ED5B-9FFB-E95A11BA6D12}"/>
              </a:ext>
            </a:extLst>
          </p:cNvPr>
          <p:cNvCxnSpPr>
            <a:cxnSpLocks/>
          </p:cNvCxnSpPr>
          <p:nvPr/>
        </p:nvCxnSpPr>
        <p:spPr>
          <a:xfrm flipV="1">
            <a:off x="8279743" y="3984175"/>
            <a:ext cx="561533" cy="399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26">
            <a:extLst>
              <a:ext uri="{FF2B5EF4-FFF2-40B4-BE49-F238E27FC236}">
                <a16:creationId xmlns:a16="http://schemas.microsoft.com/office/drawing/2014/main" id="{3F040CE4-BA25-A5AF-0B0C-694CF1B048E9}"/>
              </a:ext>
            </a:extLst>
          </p:cNvPr>
          <p:cNvCxnSpPr>
            <a:cxnSpLocks/>
          </p:cNvCxnSpPr>
          <p:nvPr/>
        </p:nvCxnSpPr>
        <p:spPr>
          <a:xfrm flipH="1" flipV="1">
            <a:off x="7462128" y="3932677"/>
            <a:ext cx="391361" cy="62484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28">
            <a:extLst>
              <a:ext uri="{FF2B5EF4-FFF2-40B4-BE49-F238E27FC236}">
                <a16:creationId xmlns:a16="http://schemas.microsoft.com/office/drawing/2014/main" id="{01E2128B-72CE-E078-8167-153E17F3D89F}"/>
              </a:ext>
            </a:extLst>
          </p:cNvPr>
          <p:cNvCxnSpPr>
            <a:cxnSpLocks/>
          </p:cNvCxnSpPr>
          <p:nvPr/>
        </p:nvCxnSpPr>
        <p:spPr>
          <a:xfrm flipH="1" flipV="1">
            <a:off x="7562908" y="3949646"/>
            <a:ext cx="891424" cy="652426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84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Hyperplane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4">
                <a:extLst>
                  <a:ext uri="{FF2B5EF4-FFF2-40B4-BE49-F238E27FC236}">
                    <a16:creationId xmlns:a16="http://schemas.microsoft.com/office/drawing/2014/main" id="{6365A039-9C47-2C9D-3FC3-233F685D7FEA}"/>
                  </a:ext>
                </a:extLst>
              </p:cNvPr>
              <p:cNvSpPr txBox="1"/>
              <p:nvPr/>
            </p:nvSpPr>
            <p:spPr>
              <a:xfrm>
                <a:off x="339964" y="1806832"/>
                <a:ext cx="10764078" cy="233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Hyperplane: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decision boundary that separates the data points into different classes.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It is considered as the set of points that satisfy: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normal vector of the hyperplane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scalar offset</a:t>
                </a:r>
              </a:p>
            </p:txBody>
          </p:sp>
        </mc:Choice>
        <mc:Fallback>
          <p:sp>
            <p:nvSpPr>
              <p:cNvPr id="2" name="文本框 14">
                <a:extLst>
                  <a:ext uri="{FF2B5EF4-FFF2-40B4-BE49-F238E27FC236}">
                    <a16:creationId xmlns:a16="http://schemas.microsoft.com/office/drawing/2014/main" id="{6365A039-9C47-2C9D-3FC3-233F685D7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64" y="1806832"/>
                <a:ext cx="10764078" cy="2339936"/>
              </a:xfrm>
              <a:prstGeom prst="rect">
                <a:avLst/>
              </a:prstGeom>
              <a:blipFill>
                <a:blip r:embed="rId3"/>
                <a:stretch>
                  <a:fillRect l="-793" t="-1823" b="-3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16">
            <a:extLst>
              <a:ext uri="{FF2B5EF4-FFF2-40B4-BE49-F238E27FC236}">
                <a16:creationId xmlns:a16="http://schemas.microsoft.com/office/drawing/2014/main" id="{AAA2F311-A7F8-C3C9-506B-D2EEA1F3598C}"/>
              </a:ext>
            </a:extLst>
          </p:cNvPr>
          <p:cNvCxnSpPr>
            <a:cxnSpLocks/>
          </p:cNvCxnSpPr>
          <p:nvPr/>
        </p:nvCxnSpPr>
        <p:spPr>
          <a:xfrm>
            <a:off x="1923442" y="6315843"/>
            <a:ext cx="28235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18">
            <a:extLst>
              <a:ext uri="{FF2B5EF4-FFF2-40B4-BE49-F238E27FC236}">
                <a16:creationId xmlns:a16="http://schemas.microsoft.com/office/drawing/2014/main" id="{79077867-2AE9-C1BC-9943-6F42B6DBC84A}"/>
              </a:ext>
            </a:extLst>
          </p:cNvPr>
          <p:cNvCxnSpPr>
            <a:cxnSpLocks/>
          </p:cNvCxnSpPr>
          <p:nvPr/>
        </p:nvCxnSpPr>
        <p:spPr>
          <a:xfrm flipV="1">
            <a:off x="2071723" y="4690084"/>
            <a:ext cx="0" cy="18013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0">
            <a:extLst>
              <a:ext uri="{FF2B5EF4-FFF2-40B4-BE49-F238E27FC236}">
                <a16:creationId xmlns:a16="http://schemas.microsoft.com/office/drawing/2014/main" id="{5FA810A5-744D-A682-F97A-5A11285C9865}"/>
              </a:ext>
            </a:extLst>
          </p:cNvPr>
          <p:cNvCxnSpPr>
            <a:cxnSpLocks/>
          </p:cNvCxnSpPr>
          <p:nvPr/>
        </p:nvCxnSpPr>
        <p:spPr>
          <a:xfrm flipV="1">
            <a:off x="2189646" y="4900420"/>
            <a:ext cx="1642915" cy="1570135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23">
            <a:extLst>
              <a:ext uri="{FF2B5EF4-FFF2-40B4-BE49-F238E27FC236}">
                <a16:creationId xmlns:a16="http://schemas.microsoft.com/office/drawing/2014/main" id="{B8B379D3-8529-BE73-BCA5-240769EE8681}"/>
              </a:ext>
            </a:extLst>
          </p:cNvPr>
          <p:cNvCxnSpPr>
            <a:cxnSpLocks/>
          </p:cNvCxnSpPr>
          <p:nvPr/>
        </p:nvCxnSpPr>
        <p:spPr>
          <a:xfrm flipH="1" flipV="1">
            <a:off x="2815961" y="5165287"/>
            <a:ext cx="352168" cy="352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25">
            <a:extLst>
              <a:ext uri="{FF2B5EF4-FFF2-40B4-BE49-F238E27FC236}">
                <a16:creationId xmlns:a16="http://schemas.microsoft.com/office/drawing/2014/main" id="{59161613-EC8F-C3A8-2CBC-AC38346D8374}"/>
              </a:ext>
            </a:extLst>
          </p:cNvPr>
          <p:cNvSpPr/>
          <p:nvPr/>
        </p:nvSpPr>
        <p:spPr>
          <a:xfrm>
            <a:off x="2311553" y="4341537"/>
            <a:ext cx="1341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normal vector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组合 33">
            <a:extLst>
              <a:ext uri="{FF2B5EF4-FFF2-40B4-BE49-F238E27FC236}">
                <a16:creationId xmlns:a16="http://schemas.microsoft.com/office/drawing/2014/main" id="{D3C980E8-1074-1F2C-5E00-9A106B7C3868}"/>
              </a:ext>
            </a:extLst>
          </p:cNvPr>
          <p:cNvGrpSpPr/>
          <p:nvPr/>
        </p:nvGrpSpPr>
        <p:grpSpPr>
          <a:xfrm>
            <a:off x="2261800" y="5312347"/>
            <a:ext cx="521194" cy="527134"/>
            <a:chOff x="6416016" y="4251454"/>
            <a:chExt cx="521194" cy="527134"/>
          </a:xfrm>
        </p:grpSpPr>
        <p:sp>
          <p:nvSpPr>
            <p:cNvPr id="10" name="椭圆 26">
              <a:extLst>
                <a:ext uri="{FF2B5EF4-FFF2-40B4-BE49-F238E27FC236}">
                  <a16:creationId xmlns:a16="http://schemas.microsoft.com/office/drawing/2014/main" id="{04B78814-E99D-5876-62DD-76A0B1AB2D43}"/>
                </a:ext>
              </a:extLst>
            </p:cNvPr>
            <p:cNvSpPr/>
            <p:nvPr/>
          </p:nvSpPr>
          <p:spPr>
            <a:xfrm>
              <a:off x="6416016" y="4667379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7">
              <a:extLst>
                <a:ext uri="{FF2B5EF4-FFF2-40B4-BE49-F238E27FC236}">
                  <a16:creationId xmlns:a16="http://schemas.microsoft.com/office/drawing/2014/main" id="{BFBC7C00-A8A3-5798-3939-BE21383AA128}"/>
                </a:ext>
              </a:extLst>
            </p:cNvPr>
            <p:cNvSpPr/>
            <p:nvPr/>
          </p:nvSpPr>
          <p:spPr>
            <a:xfrm>
              <a:off x="6505202" y="4251454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8">
              <a:extLst>
                <a:ext uri="{FF2B5EF4-FFF2-40B4-BE49-F238E27FC236}">
                  <a16:creationId xmlns:a16="http://schemas.microsoft.com/office/drawing/2014/main" id="{36681FF2-87C8-0E2B-811C-48644A03B247}"/>
                </a:ext>
              </a:extLst>
            </p:cNvPr>
            <p:cNvSpPr/>
            <p:nvPr/>
          </p:nvSpPr>
          <p:spPr>
            <a:xfrm>
              <a:off x="6657602" y="4403854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9">
              <a:extLst>
                <a:ext uri="{FF2B5EF4-FFF2-40B4-BE49-F238E27FC236}">
                  <a16:creationId xmlns:a16="http://schemas.microsoft.com/office/drawing/2014/main" id="{E28738F8-4E9F-1C3B-A4BB-11B34181E37A}"/>
                </a:ext>
              </a:extLst>
            </p:cNvPr>
            <p:cNvSpPr/>
            <p:nvPr/>
          </p:nvSpPr>
          <p:spPr>
            <a:xfrm>
              <a:off x="6770397" y="464172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30">
              <a:extLst>
                <a:ext uri="{FF2B5EF4-FFF2-40B4-BE49-F238E27FC236}">
                  <a16:creationId xmlns:a16="http://schemas.microsoft.com/office/drawing/2014/main" id="{56C9A8A5-BC22-054F-7393-E11693D79ED6}"/>
                </a:ext>
              </a:extLst>
            </p:cNvPr>
            <p:cNvSpPr/>
            <p:nvPr/>
          </p:nvSpPr>
          <p:spPr>
            <a:xfrm>
              <a:off x="6465758" y="447378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31">
              <a:extLst>
                <a:ext uri="{FF2B5EF4-FFF2-40B4-BE49-F238E27FC236}">
                  <a16:creationId xmlns:a16="http://schemas.microsoft.com/office/drawing/2014/main" id="{09CFE5EF-A583-B7FA-6AB6-B6FE88D9C1C3}"/>
                </a:ext>
              </a:extLst>
            </p:cNvPr>
            <p:cNvSpPr/>
            <p:nvPr/>
          </p:nvSpPr>
          <p:spPr>
            <a:xfrm>
              <a:off x="6618158" y="462618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32">
              <a:extLst>
                <a:ext uri="{FF2B5EF4-FFF2-40B4-BE49-F238E27FC236}">
                  <a16:creationId xmlns:a16="http://schemas.microsoft.com/office/drawing/2014/main" id="{6F508443-C2E4-8B9C-4FA7-3CBCFC1C07B3}"/>
                </a:ext>
              </a:extLst>
            </p:cNvPr>
            <p:cNvSpPr/>
            <p:nvPr/>
          </p:nvSpPr>
          <p:spPr>
            <a:xfrm>
              <a:off x="6826001" y="445945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34">
            <a:extLst>
              <a:ext uri="{FF2B5EF4-FFF2-40B4-BE49-F238E27FC236}">
                <a16:creationId xmlns:a16="http://schemas.microsoft.com/office/drawing/2014/main" id="{530AB365-C552-4B7D-97BE-CD713FB302B0}"/>
              </a:ext>
            </a:extLst>
          </p:cNvPr>
          <p:cNvGrpSpPr/>
          <p:nvPr/>
        </p:nvGrpSpPr>
        <p:grpSpPr>
          <a:xfrm>
            <a:off x="2982103" y="5523729"/>
            <a:ext cx="972044" cy="661207"/>
            <a:chOff x="6480424" y="4087132"/>
            <a:chExt cx="972044" cy="661207"/>
          </a:xfrm>
          <a:solidFill>
            <a:srgbClr val="FF0000"/>
          </a:solidFill>
        </p:grpSpPr>
        <p:sp>
          <p:nvSpPr>
            <p:cNvPr id="18" name="矩形 35">
              <a:extLst>
                <a:ext uri="{FF2B5EF4-FFF2-40B4-BE49-F238E27FC236}">
                  <a16:creationId xmlns:a16="http://schemas.microsoft.com/office/drawing/2014/main" id="{E361FE3C-89FE-77E6-6614-BA2B0E7AD102}"/>
                </a:ext>
              </a:extLst>
            </p:cNvPr>
            <p:cNvSpPr/>
            <p:nvPr/>
          </p:nvSpPr>
          <p:spPr>
            <a:xfrm>
              <a:off x="6958664" y="4105891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36">
              <a:extLst>
                <a:ext uri="{FF2B5EF4-FFF2-40B4-BE49-F238E27FC236}">
                  <a16:creationId xmlns:a16="http://schemas.microsoft.com/office/drawing/2014/main" id="{07CA5D8B-65E6-8BA4-9BAB-E7A32E27C613}"/>
                </a:ext>
              </a:extLst>
            </p:cNvPr>
            <p:cNvSpPr/>
            <p:nvPr/>
          </p:nvSpPr>
          <p:spPr>
            <a:xfrm>
              <a:off x="7111064" y="4258291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37">
              <a:extLst>
                <a:ext uri="{FF2B5EF4-FFF2-40B4-BE49-F238E27FC236}">
                  <a16:creationId xmlns:a16="http://schemas.microsoft.com/office/drawing/2014/main" id="{FCDCFC37-8B4A-436B-CCF6-6D3302442B88}"/>
                </a:ext>
              </a:extLst>
            </p:cNvPr>
            <p:cNvSpPr/>
            <p:nvPr/>
          </p:nvSpPr>
          <p:spPr>
            <a:xfrm>
              <a:off x="7317521" y="4325764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38">
              <a:extLst>
                <a:ext uri="{FF2B5EF4-FFF2-40B4-BE49-F238E27FC236}">
                  <a16:creationId xmlns:a16="http://schemas.microsoft.com/office/drawing/2014/main" id="{75B8C99C-DF50-21E2-E593-1CB775E01017}"/>
                </a:ext>
              </a:extLst>
            </p:cNvPr>
            <p:cNvSpPr/>
            <p:nvPr/>
          </p:nvSpPr>
          <p:spPr>
            <a:xfrm>
              <a:off x="7067548" y="4523857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39">
              <a:extLst>
                <a:ext uri="{FF2B5EF4-FFF2-40B4-BE49-F238E27FC236}">
                  <a16:creationId xmlns:a16="http://schemas.microsoft.com/office/drawing/2014/main" id="{392A3D35-B548-13E9-0993-26D72733299D}"/>
                </a:ext>
              </a:extLst>
            </p:cNvPr>
            <p:cNvSpPr/>
            <p:nvPr/>
          </p:nvSpPr>
          <p:spPr>
            <a:xfrm>
              <a:off x="6912657" y="433465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40">
              <a:extLst>
                <a:ext uri="{FF2B5EF4-FFF2-40B4-BE49-F238E27FC236}">
                  <a16:creationId xmlns:a16="http://schemas.microsoft.com/office/drawing/2014/main" id="{6C1D21B5-BE7D-7D56-42BF-CEFECF3828F9}"/>
                </a:ext>
              </a:extLst>
            </p:cNvPr>
            <p:cNvSpPr/>
            <p:nvPr/>
          </p:nvSpPr>
          <p:spPr>
            <a:xfrm>
              <a:off x="6866650" y="449440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41">
              <a:extLst>
                <a:ext uri="{FF2B5EF4-FFF2-40B4-BE49-F238E27FC236}">
                  <a16:creationId xmlns:a16="http://schemas.microsoft.com/office/drawing/2014/main" id="{D3DFB0AF-D45C-A1BA-96CD-643275E9AEA4}"/>
                </a:ext>
              </a:extLst>
            </p:cNvPr>
            <p:cNvSpPr/>
            <p:nvPr/>
          </p:nvSpPr>
          <p:spPr>
            <a:xfrm>
              <a:off x="6701022" y="4613392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42">
              <a:extLst>
                <a:ext uri="{FF2B5EF4-FFF2-40B4-BE49-F238E27FC236}">
                  <a16:creationId xmlns:a16="http://schemas.microsoft.com/office/drawing/2014/main" id="{7A3BE1D2-614F-A401-F3FE-038AA7BB5248}"/>
                </a:ext>
              </a:extLst>
            </p:cNvPr>
            <p:cNvSpPr/>
            <p:nvPr/>
          </p:nvSpPr>
          <p:spPr>
            <a:xfrm>
              <a:off x="6480424" y="451402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矩形 43">
              <a:extLst>
                <a:ext uri="{FF2B5EF4-FFF2-40B4-BE49-F238E27FC236}">
                  <a16:creationId xmlns:a16="http://schemas.microsoft.com/office/drawing/2014/main" id="{EE3C63FD-BF15-1105-F1F7-FAC460DCB21E}"/>
                </a:ext>
              </a:extLst>
            </p:cNvPr>
            <p:cNvSpPr/>
            <p:nvPr/>
          </p:nvSpPr>
          <p:spPr>
            <a:xfrm>
              <a:off x="6669780" y="4334659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44">
              <a:extLst>
                <a:ext uri="{FF2B5EF4-FFF2-40B4-BE49-F238E27FC236}">
                  <a16:creationId xmlns:a16="http://schemas.microsoft.com/office/drawing/2014/main" id="{425D9EC2-D25A-CF69-15B1-EE608CF0D2EF}"/>
                </a:ext>
              </a:extLst>
            </p:cNvPr>
            <p:cNvSpPr/>
            <p:nvPr/>
          </p:nvSpPr>
          <p:spPr>
            <a:xfrm>
              <a:off x="7256377" y="4087132"/>
              <a:ext cx="134947" cy="13494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46">
                <a:extLst>
                  <a:ext uri="{FF2B5EF4-FFF2-40B4-BE49-F238E27FC236}">
                    <a16:creationId xmlns:a16="http://schemas.microsoft.com/office/drawing/2014/main" id="{B74CA73F-8A22-29C3-C586-E9EA81AB636C}"/>
                  </a:ext>
                </a:extLst>
              </p:cNvPr>
              <p:cNvSpPr/>
              <p:nvPr/>
            </p:nvSpPr>
            <p:spPr>
              <a:xfrm>
                <a:off x="127721" y="5511852"/>
                <a:ext cx="201277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altLang="zh-CN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矩形 46">
                <a:extLst>
                  <a:ext uri="{FF2B5EF4-FFF2-40B4-BE49-F238E27FC236}">
                    <a16:creationId xmlns:a16="http://schemas.microsoft.com/office/drawing/2014/main" id="{B74CA73F-8A22-29C3-C586-E9EA81AB63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21" y="5511852"/>
                <a:ext cx="201277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47">
                <a:extLst>
                  <a:ext uri="{FF2B5EF4-FFF2-40B4-BE49-F238E27FC236}">
                    <a16:creationId xmlns:a16="http://schemas.microsoft.com/office/drawing/2014/main" id="{C5ADE2BC-EE6A-95EB-9C97-1CFF7CC28EAE}"/>
                  </a:ext>
                </a:extLst>
              </p:cNvPr>
              <p:cNvSpPr/>
              <p:nvPr/>
            </p:nvSpPr>
            <p:spPr>
              <a:xfrm>
                <a:off x="4191759" y="5742685"/>
                <a:ext cx="209529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altLang="zh-CN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9" name="矩形 47">
                <a:extLst>
                  <a:ext uri="{FF2B5EF4-FFF2-40B4-BE49-F238E27FC236}">
                    <a16:creationId xmlns:a16="http://schemas.microsoft.com/office/drawing/2014/main" id="{C5ADE2BC-EE6A-95EB-9C97-1CFF7CC28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759" y="5742685"/>
                <a:ext cx="209529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48">
                <a:extLst>
                  <a:ext uri="{FF2B5EF4-FFF2-40B4-BE49-F238E27FC236}">
                    <a16:creationId xmlns:a16="http://schemas.microsoft.com/office/drawing/2014/main" id="{8BAF0645-E019-E5E7-263A-AEA9A8AFA1E2}"/>
                  </a:ext>
                </a:extLst>
              </p:cNvPr>
              <p:cNvSpPr/>
              <p:nvPr/>
            </p:nvSpPr>
            <p:spPr>
              <a:xfrm>
                <a:off x="3763775" y="4482925"/>
                <a:ext cx="19566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矩形 48">
                <a:extLst>
                  <a:ext uri="{FF2B5EF4-FFF2-40B4-BE49-F238E27FC236}">
                    <a16:creationId xmlns:a16="http://schemas.microsoft.com/office/drawing/2014/main" id="{8BAF0645-E019-E5E7-263A-AEA9A8AFA1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775" y="4482925"/>
                <a:ext cx="19566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51">
            <a:extLst>
              <a:ext uri="{FF2B5EF4-FFF2-40B4-BE49-F238E27FC236}">
                <a16:creationId xmlns:a16="http://schemas.microsoft.com/office/drawing/2014/main" id="{03217D69-2539-14F7-07B6-84F4109104A1}"/>
              </a:ext>
            </a:extLst>
          </p:cNvPr>
          <p:cNvSpPr/>
          <p:nvPr/>
        </p:nvSpPr>
        <p:spPr>
          <a:xfrm>
            <a:off x="763629" y="5130452"/>
            <a:ext cx="1407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 +1 </a:t>
            </a:r>
          </a:p>
        </p:txBody>
      </p:sp>
      <p:sp>
        <p:nvSpPr>
          <p:cNvPr id="32" name="矩形 52">
            <a:extLst>
              <a:ext uri="{FF2B5EF4-FFF2-40B4-BE49-F238E27FC236}">
                <a16:creationId xmlns:a16="http://schemas.microsoft.com/office/drawing/2014/main" id="{5DFE8645-4FC3-3676-AA7D-FF2DD4D3484E}"/>
              </a:ext>
            </a:extLst>
          </p:cNvPr>
          <p:cNvSpPr/>
          <p:nvPr/>
        </p:nvSpPr>
        <p:spPr>
          <a:xfrm>
            <a:off x="4252201" y="5355812"/>
            <a:ext cx="1330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 -1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53">
                <a:extLst>
                  <a:ext uri="{FF2B5EF4-FFF2-40B4-BE49-F238E27FC236}">
                    <a16:creationId xmlns:a16="http://schemas.microsoft.com/office/drawing/2014/main" id="{7018C9A7-5A8B-CF6B-2CFF-9EF0823FA079}"/>
                  </a:ext>
                </a:extLst>
              </p:cNvPr>
              <p:cNvSpPr txBox="1"/>
              <p:nvPr/>
            </p:nvSpPr>
            <p:spPr>
              <a:xfrm>
                <a:off x="6495891" y="4712976"/>
                <a:ext cx="5310383" cy="1601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any point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lies on the hyperplane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falls to one side of the hyperplane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" name="文本框 53">
                <a:extLst>
                  <a:ext uri="{FF2B5EF4-FFF2-40B4-BE49-F238E27FC236}">
                    <a16:creationId xmlns:a16="http://schemas.microsoft.com/office/drawing/2014/main" id="{7018C9A7-5A8B-CF6B-2CFF-9EF0823FA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891" y="4712976"/>
                <a:ext cx="5310383" cy="1601272"/>
              </a:xfrm>
              <a:prstGeom prst="rect">
                <a:avLst/>
              </a:prstGeom>
              <a:blipFill>
                <a:blip r:embed="rId7"/>
                <a:stretch>
                  <a:fillRect l="-1837" t="-2662" r="-1952" b="-60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15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Separating hyperplane</a:t>
            </a:r>
          </a:p>
        </p:txBody>
      </p:sp>
      <p:sp>
        <p:nvSpPr>
          <p:cNvPr id="2" name="矩形 50">
            <a:extLst>
              <a:ext uri="{FF2B5EF4-FFF2-40B4-BE49-F238E27FC236}">
                <a16:creationId xmlns:a16="http://schemas.microsoft.com/office/drawing/2014/main" id="{67BFBAD1-7907-C51C-6DDD-0038D91CB6C3}"/>
              </a:ext>
            </a:extLst>
          </p:cNvPr>
          <p:cNvSpPr/>
          <p:nvPr/>
        </p:nvSpPr>
        <p:spPr>
          <a:xfrm>
            <a:off x="479392" y="2469540"/>
            <a:ext cx="843792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hyperplane splits the original space into two half-spaces.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2-dimensional space: a line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3-dimensional space: a plane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6B672E-E5E0-FB2F-7B63-2F053EE69F60}"/>
              </a:ext>
            </a:extLst>
          </p:cNvPr>
          <p:cNvSpPr/>
          <p:nvPr/>
        </p:nvSpPr>
        <p:spPr>
          <a:xfrm>
            <a:off x="348240" y="1662426"/>
            <a:ext cx="95320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Separating hyperplane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in SVM, we use hyperplanes to separate datasets </a:t>
            </a:r>
          </a:p>
        </p:txBody>
      </p:sp>
      <p:sp>
        <p:nvSpPr>
          <p:cNvPr id="4" name="立方体 4">
            <a:extLst>
              <a:ext uri="{FF2B5EF4-FFF2-40B4-BE49-F238E27FC236}">
                <a16:creationId xmlns:a16="http://schemas.microsoft.com/office/drawing/2014/main" id="{BBC90858-6752-CF64-C005-093A6727F94A}"/>
              </a:ext>
            </a:extLst>
          </p:cNvPr>
          <p:cNvSpPr/>
          <p:nvPr/>
        </p:nvSpPr>
        <p:spPr>
          <a:xfrm>
            <a:off x="8347558" y="4098863"/>
            <a:ext cx="2142490" cy="1965416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平行四边形 19">
            <a:extLst>
              <a:ext uri="{FF2B5EF4-FFF2-40B4-BE49-F238E27FC236}">
                <a16:creationId xmlns:a16="http://schemas.microsoft.com/office/drawing/2014/main" id="{94C4459E-F762-F3F1-0DAB-84792D37AF8D}"/>
              </a:ext>
            </a:extLst>
          </p:cNvPr>
          <p:cNvSpPr/>
          <p:nvPr/>
        </p:nvSpPr>
        <p:spPr>
          <a:xfrm rot="20781617">
            <a:off x="8284473" y="4799400"/>
            <a:ext cx="2292243" cy="460910"/>
          </a:xfrm>
          <a:prstGeom prst="parallelogram">
            <a:avLst>
              <a:gd name="adj" fmla="val 137810"/>
            </a:avLst>
          </a:prstGeom>
          <a:solidFill>
            <a:srgbClr val="92D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24">
            <a:extLst>
              <a:ext uri="{FF2B5EF4-FFF2-40B4-BE49-F238E27FC236}">
                <a16:creationId xmlns:a16="http://schemas.microsoft.com/office/drawing/2014/main" id="{9C520D29-8873-1971-74AD-FB9E927875CE}"/>
              </a:ext>
            </a:extLst>
          </p:cNvPr>
          <p:cNvCxnSpPr>
            <a:cxnSpLocks/>
          </p:cNvCxnSpPr>
          <p:nvPr/>
        </p:nvCxnSpPr>
        <p:spPr>
          <a:xfrm>
            <a:off x="8846940" y="4093440"/>
            <a:ext cx="36735" cy="1491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49">
            <a:extLst>
              <a:ext uri="{FF2B5EF4-FFF2-40B4-BE49-F238E27FC236}">
                <a16:creationId xmlns:a16="http://schemas.microsoft.com/office/drawing/2014/main" id="{8C18532D-A15E-35DB-4788-49E9D25E5147}"/>
              </a:ext>
            </a:extLst>
          </p:cNvPr>
          <p:cNvCxnSpPr>
            <a:cxnSpLocks/>
          </p:cNvCxnSpPr>
          <p:nvPr/>
        </p:nvCxnSpPr>
        <p:spPr>
          <a:xfrm flipH="1" flipV="1">
            <a:off x="8880208" y="5575461"/>
            <a:ext cx="1609840" cy="3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54">
            <a:extLst>
              <a:ext uri="{FF2B5EF4-FFF2-40B4-BE49-F238E27FC236}">
                <a16:creationId xmlns:a16="http://schemas.microsoft.com/office/drawing/2014/main" id="{ED59AC9F-9DAB-8FCD-7911-862F95DC2692}"/>
              </a:ext>
            </a:extLst>
          </p:cNvPr>
          <p:cNvCxnSpPr>
            <a:cxnSpLocks/>
          </p:cNvCxnSpPr>
          <p:nvPr/>
        </p:nvCxnSpPr>
        <p:spPr>
          <a:xfrm flipH="1">
            <a:off x="8347559" y="5585146"/>
            <a:ext cx="531073" cy="479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56">
            <a:extLst>
              <a:ext uri="{FF2B5EF4-FFF2-40B4-BE49-F238E27FC236}">
                <a16:creationId xmlns:a16="http://schemas.microsoft.com/office/drawing/2014/main" id="{925416CF-E66C-2C37-1432-EFFB2F3913F1}"/>
              </a:ext>
            </a:extLst>
          </p:cNvPr>
          <p:cNvCxnSpPr>
            <a:cxnSpLocks/>
          </p:cNvCxnSpPr>
          <p:nvPr/>
        </p:nvCxnSpPr>
        <p:spPr>
          <a:xfrm>
            <a:off x="4164562" y="5987246"/>
            <a:ext cx="209447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57">
            <a:extLst>
              <a:ext uri="{FF2B5EF4-FFF2-40B4-BE49-F238E27FC236}">
                <a16:creationId xmlns:a16="http://schemas.microsoft.com/office/drawing/2014/main" id="{CD4E31E7-06F0-F788-243E-B92FB8305412}"/>
              </a:ext>
            </a:extLst>
          </p:cNvPr>
          <p:cNvCxnSpPr>
            <a:cxnSpLocks/>
          </p:cNvCxnSpPr>
          <p:nvPr/>
        </p:nvCxnSpPr>
        <p:spPr>
          <a:xfrm flipV="1">
            <a:off x="4312843" y="4502318"/>
            <a:ext cx="0" cy="16605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58">
            <a:extLst>
              <a:ext uri="{FF2B5EF4-FFF2-40B4-BE49-F238E27FC236}">
                <a16:creationId xmlns:a16="http://schemas.microsoft.com/office/drawing/2014/main" id="{90735C22-FC48-B704-D606-A65567D75A3C}"/>
              </a:ext>
            </a:extLst>
          </p:cNvPr>
          <p:cNvGrpSpPr/>
          <p:nvPr/>
        </p:nvGrpSpPr>
        <p:grpSpPr>
          <a:xfrm>
            <a:off x="4641326" y="4780345"/>
            <a:ext cx="786715" cy="628193"/>
            <a:chOff x="5048764" y="1896762"/>
            <a:chExt cx="786715" cy="628193"/>
          </a:xfrm>
        </p:grpSpPr>
        <p:sp>
          <p:nvSpPr>
            <p:cNvPr id="13" name="椭圆 59">
              <a:extLst>
                <a:ext uri="{FF2B5EF4-FFF2-40B4-BE49-F238E27FC236}">
                  <a16:creationId xmlns:a16="http://schemas.microsoft.com/office/drawing/2014/main" id="{D8CEB388-ACD6-EDEC-1B7F-D6F3B0F300C1}"/>
                </a:ext>
              </a:extLst>
            </p:cNvPr>
            <p:cNvSpPr/>
            <p:nvPr/>
          </p:nvSpPr>
          <p:spPr>
            <a:xfrm>
              <a:off x="5294870" y="18967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60">
              <a:extLst>
                <a:ext uri="{FF2B5EF4-FFF2-40B4-BE49-F238E27FC236}">
                  <a16:creationId xmlns:a16="http://schemas.microsoft.com/office/drawing/2014/main" id="{D1DB1C22-349D-629B-DF06-3A6016929E3F}"/>
                </a:ext>
              </a:extLst>
            </p:cNvPr>
            <p:cNvSpPr/>
            <p:nvPr/>
          </p:nvSpPr>
          <p:spPr>
            <a:xfrm>
              <a:off x="5447270" y="20491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61">
              <a:extLst>
                <a:ext uri="{FF2B5EF4-FFF2-40B4-BE49-F238E27FC236}">
                  <a16:creationId xmlns:a16="http://schemas.microsoft.com/office/drawing/2014/main" id="{0BA094A1-7731-0CB8-3A9F-423B929CE62C}"/>
                </a:ext>
              </a:extLst>
            </p:cNvPr>
            <p:cNvSpPr/>
            <p:nvPr/>
          </p:nvSpPr>
          <p:spPr>
            <a:xfrm>
              <a:off x="5104370" y="22015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62">
              <a:extLst>
                <a:ext uri="{FF2B5EF4-FFF2-40B4-BE49-F238E27FC236}">
                  <a16:creationId xmlns:a16="http://schemas.microsoft.com/office/drawing/2014/main" id="{A9CA424B-D46E-C6E6-1DEE-066AA63447DD}"/>
                </a:ext>
              </a:extLst>
            </p:cNvPr>
            <p:cNvSpPr/>
            <p:nvPr/>
          </p:nvSpPr>
          <p:spPr>
            <a:xfrm>
              <a:off x="5334000" y="230559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63">
              <a:extLst>
                <a:ext uri="{FF2B5EF4-FFF2-40B4-BE49-F238E27FC236}">
                  <a16:creationId xmlns:a16="http://schemas.microsoft.com/office/drawing/2014/main" id="{456C9490-5921-35F2-BF07-1380188770F1}"/>
                </a:ext>
              </a:extLst>
            </p:cNvPr>
            <p:cNvSpPr/>
            <p:nvPr/>
          </p:nvSpPr>
          <p:spPr>
            <a:xfrm>
              <a:off x="5724268" y="20079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64">
              <a:extLst>
                <a:ext uri="{FF2B5EF4-FFF2-40B4-BE49-F238E27FC236}">
                  <a16:creationId xmlns:a16="http://schemas.microsoft.com/office/drawing/2014/main" id="{3725F9FB-9670-503E-FB20-06275653E989}"/>
                </a:ext>
              </a:extLst>
            </p:cNvPr>
            <p:cNvSpPr/>
            <p:nvPr/>
          </p:nvSpPr>
          <p:spPr>
            <a:xfrm>
              <a:off x="5048764" y="241374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9" name="直接连接符 65">
            <a:extLst>
              <a:ext uri="{FF2B5EF4-FFF2-40B4-BE49-F238E27FC236}">
                <a16:creationId xmlns:a16="http://schemas.microsoft.com/office/drawing/2014/main" id="{18A7BC98-8C0B-5607-653A-2360D4902198}"/>
              </a:ext>
            </a:extLst>
          </p:cNvPr>
          <p:cNvCxnSpPr/>
          <p:nvPr/>
        </p:nvCxnSpPr>
        <p:spPr>
          <a:xfrm flipV="1">
            <a:off x="4399340" y="4891556"/>
            <a:ext cx="1470454" cy="95147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66">
            <a:extLst>
              <a:ext uri="{FF2B5EF4-FFF2-40B4-BE49-F238E27FC236}">
                <a16:creationId xmlns:a16="http://schemas.microsoft.com/office/drawing/2014/main" id="{DB436913-E2E4-2A1D-14F7-214EDD183252}"/>
              </a:ext>
            </a:extLst>
          </p:cNvPr>
          <p:cNvGrpSpPr/>
          <p:nvPr/>
        </p:nvGrpSpPr>
        <p:grpSpPr>
          <a:xfrm>
            <a:off x="4994523" y="5287418"/>
            <a:ext cx="818059" cy="623326"/>
            <a:chOff x="5401961" y="2403835"/>
            <a:chExt cx="818059" cy="623326"/>
          </a:xfrm>
        </p:grpSpPr>
        <p:sp>
          <p:nvSpPr>
            <p:cNvPr id="21" name="矩形 67">
              <a:extLst>
                <a:ext uri="{FF2B5EF4-FFF2-40B4-BE49-F238E27FC236}">
                  <a16:creationId xmlns:a16="http://schemas.microsoft.com/office/drawing/2014/main" id="{52305CDF-E014-5F59-6C87-898BDAF752B5}"/>
                </a:ext>
              </a:extLst>
            </p:cNvPr>
            <p:cNvSpPr/>
            <p:nvPr/>
          </p:nvSpPr>
          <p:spPr>
            <a:xfrm>
              <a:off x="5663972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68">
              <a:extLst>
                <a:ext uri="{FF2B5EF4-FFF2-40B4-BE49-F238E27FC236}">
                  <a16:creationId xmlns:a16="http://schemas.microsoft.com/office/drawing/2014/main" id="{E797FC4A-3D33-42BC-336A-CACE95D57F1B}"/>
                </a:ext>
              </a:extLst>
            </p:cNvPr>
            <p:cNvSpPr/>
            <p:nvPr/>
          </p:nvSpPr>
          <p:spPr>
            <a:xfrm>
              <a:off x="5816372" y="27477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69">
              <a:extLst>
                <a:ext uri="{FF2B5EF4-FFF2-40B4-BE49-F238E27FC236}">
                  <a16:creationId xmlns:a16="http://schemas.microsoft.com/office/drawing/2014/main" id="{7167086C-F35B-B045-B10C-430CC2E2BD05}"/>
                </a:ext>
              </a:extLst>
            </p:cNvPr>
            <p:cNvSpPr/>
            <p:nvPr/>
          </p:nvSpPr>
          <p:spPr>
            <a:xfrm>
              <a:off x="6010988" y="27619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70">
              <a:extLst>
                <a:ext uri="{FF2B5EF4-FFF2-40B4-BE49-F238E27FC236}">
                  <a16:creationId xmlns:a16="http://schemas.microsoft.com/office/drawing/2014/main" id="{8D253C94-49E7-3A31-F535-0DCFFBCA7668}"/>
                </a:ext>
              </a:extLst>
            </p:cNvPr>
            <p:cNvSpPr/>
            <p:nvPr/>
          </p:nvSpPr>
          <p:spPr>
            <a:xfrm>
              <a:off x="5401961" y="2818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71">
              <a:extLst>
                <a:ext uri="{FF2B5EF4-FFF2-40B4-BE49-F238E27FC236}">
                  <a16:creationId xmlns:a16="http://schemas.microsoft.com/office/drawing/2014/main" id="{DB956B56-4B8F-61CE-7DE2-CE12FD15EBE6}"/>
                </a:ext>
              </a:extLst>
            </p:cNvPr>
            <p:cNvSpPr/>
            <p:nvPr/>
          </p:nvSpPr>
          <p:spPr>
            <a:xfrm>
              <a:off x="6127350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矩形 72">
              <a:extLst>
                <a:ext uri="{FF2B5EF4-FFF2-40B4-BE49-F238E27FC236}">
                  <a16:creationId xmlns:a16="http://schemas.microsoft.com/office/drawing/2014/main" id="{C1090D36-EC3F-DDF4-498F-02A49C05E3AD}"/>
                </a:ext>
              </a:extLst>
            </p:cNvPr>
            <p:cNvSpPr/>
            <p:nvPr/>
          </p:nvSpPr>
          <p:spPr>
            <a:xfrm>
              <a:off x="5882274" y="24038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73">
              <a:extLst>
                <a:ext uri="{FF2B5EF4-FFF2-40B4-BE49-F238E27FC236}">
                  <a16:creationId xmlns:a16="http://schemas.microsoft.com/office/drawing/2014/main" id="{7C042DA6-8238-1BCA-1702-95DDD88282EE}"/>
                </a:ext>
              </a:extLst>
            </p:cNvPr>
            <p:cNvSpPr/>
            <p:nvPr/>
          </p:nvSpPr>
          <p:spPr>
            <a:xfrm>
              <a:off x="5592697" y="293449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75">
            <a:extLst>
              <a:ext uri="{FF2B5EF4-FFF2-40B4-BE49-F238E27FC236}">
                <a16:creationId xmlns:a16="http://schemas.microsoft.com/office/drawing/2014/main" id="{639E41BF-F2B4-4397-CB35-B5E4CC720D6D}"/>
              </a:ext>
            </a:extLst>
          </p:cNvPr>
          <p:cNvGrpSpPr/>
          <p:nvPr/>
        </p:nvGrpSpPr>
        <p:grpSpPr>
          <a:xfrm>
            <a:off x="8702086" y="4297239"/>
            <a:ext cx="786715" cy="628193"/>
            <a:chOff x="5048764" y="1896762"/>
            <a:chExt cx="786715" cy="628193"/>
          </a:xfrm>
        </p:grpSpPr>
        <p:sp>
          <p:nvSpPr>
            <p:cNvPr id="29" name="椭圆 76">
              <a:extLst>
                <a:ext uri="{FF2B5EF4-FFF2-40B4-BE49-F238E27FC236}">
                  <a16:creationId xmlns:a16="http://schemas.microsoft.com/office/drawing/2014/main" id="{F6C5FE9D-2E7D-41B5-8208-346EEFA1DBA0}"/>
                </a:ext>
              </a:extLst>
            </p:cNvPr>
            <p:cNvSpPr/>
            <p:nvPr/>
          </p:nvSpPr>
          <p:spPr>
            <a:xfrm>
              <a:off x="5294870" y="18967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77">
              <a:extLst>
                <a:ext uri="{FF2B5EF4-FFF2-40B4-BE49-F238E27FC236}">
                  <a16:creationId xmlns:a16="http://schemas.microsoft.com/office/drawing/2014/main" id="{780B81E7-B9CD-9C1C-678B-E39E8FD74D5F}"/>
                </a:ext>
              </a:extLst>
            </p:cNvPr>
            <p:cNvSpPr/>
            <p:nvPr/>
          </p:nvSpPr>
          <p:spPr>
            <a:xfrm>
              <a:off x="5447270" y="20491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78">
              <a:extLst>
                <a:ext uri="{FF2B5EF4-FFF2-40B4-BE49-F238E27FC236}">
                  <a16:creationId xmlns:a16="http://schemas.microsoft.com/office/drawing/2014/main" id="{DBE9F8B5-15A8-1663-B46F-AEFE51FC0AEF}"/>
                </a:ext>
              </a:extLst>
            </p:cNvPr>
            <p:cNvSpPr/>
            <p:nvPr/>
          </p:nvSpPr>
          <p:spPr>
            <a:xfrm>
              <a:off x="5104370" y="22015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79">
              <a:extLst>
                <a:ext uri="{FF2B5EF4-FFF2-40B4-BE49-F238E27FC236}">
                  <a16:creationId xmlns:a16="http://schemas.microsoft.com/office/drawing/2014/main" id="{EF17094E-25DE-C50D-8E65-A2628C4F4067}"/>
                </a:ext>
              </a:extLst>
            </p:cNvPr>
            <p:cNvSpPr/>
            <p:nvPr/>
          </p:nvSpPr>
          <p:spPr>
            <a:xfrm>
              <a:off x="5334000" y="230559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80">
              <a:extLst>
                <a:ext uri="{FF2B5EF4-FFF2-40B4-BE49-F238E27FC236}">
                  <a16:creationId xmlns:a16="http://schemas.microsoft.com/office/drawing/2014/main" id="{8036DFE4-DF30-D54E-ABFA-5523BDB3EDFE}"/>
                </a:ext>
              </a:extLst>
            </p:cNvPr>
            <p:cNvSpPr/>
            <p:nvPr/>
          </p:nvSpPr>
          <p:spPr>
            <a:xfrm>
              <a:off x="5724268" y="20079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81">
              <a:extLst>
                <a:ext uri="{FF2B5EF4-FFF2-40B4-BE49-F238E27FC236}">
                  <a16:creationId xmlns:a16="http://schemas.microsoft.com/office/drawing/2014/main" id="{E57F09BD-F993-BB25-25CA-94CB0A679FE4}"/>
                </a:ext>
              </a:extLst>
            </p:cNvPr>
            <p:cNvSpPr/>
            <p:nvPr/>
          </p:nvSpPr>
          <p:spPr>
            <a:xfrm>
              <a:off x="5048764" y="241374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矩形 83">
            <a:extLst>
              <a:ext uri="{FF2B5EF4-FFF2-40B4-BE49-F238E27FC236}">
                <a16:creationId xmlns:a16="http://schemas.microsoft.com/office/drawing/2014/main" id="{0E76A886-DAB5-8FD7-F374-EEA78208C14D}"/>
              </a:ext>
            </a:extLst>
          </p:cNvPr>
          <p:cNvSpPr/>
          <p:nvPr/>
        </p:nvSpPr>
        <p:spPr>
          <a:xfrm>
            <a:off x="9416957" y="5552606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84">
            <a:extLst>
              <a:ext uri="{FF2B5EF4-FFF2-40B4-BE49-F238E27FC236}">
                <a16:creationId xmlns:a16="http://schemas.microsoft.com/office/drawing/2014/main" id="{7683AE8F-F220-C8EA-556F-60040FCCCA72}"/>
              </a:ext>
            </a:extLst>
          </p:cNvPr>
          <p:cNvSpPr/>
          <p:nvPr/>
        </p:nvSpPr>
        <p:spPr>
          <a:xfrm>
            <a:off x="9282977" y="5742110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85">
            <a:extLst>
              <a:ext uri="{FF2B5EF4-FFF2-40B4-BE49-F238E27FC236}">
                <a16:creationId xmlns:a16="http://schemas.microsoft.com/office/drawing/2014/main" id="{11EF24AB-C21F-B64F-1967-96F7E206ED81}"/>
              </a:ext>
            </a:extLst>
          </p:cNvPr>
          <p:cNvSpPr/>
          <p:nvPr/>
        </p:nvSpPr>
        <p:spPr>
          <a:xfrm>
            <a:off x="9597492" y="5526666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86">
            <a:extLst>
              <a:ext uri="{FF2B5EF4-FFF2-40B4-BE49-F238E27FC236}">
                <a16:creationId xmlns:a16="http://schemas.microsoft.com/office/drawing/2014/main" id="{3CBB3C91-7147-6F22-C05C-A35812A7DF67}"/>
              </a:ext>
            </a:extLst>
          </p:cNvPr>
          <p:cNvSpPr/>
          <p:nvPr/>
        </p:nvSpPr>
        <p:spPr>
          <a:xfrm>
            <a:off x="8987322" y="5714804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87">
            <a:extLst>
              <a:ext uri="{FF2B5EF4-FFF2-40B4-BE49-F238E27FC236}">
                <a16:creationId xmlns:a16="http://schemas.microsoft.com/office/drawing/2014/main" id="{AC1C51D6-50B7-7728-9FA1-A58CC11E29BF}"/>
              </a:ext>
            </a:extLst>
          </p:cNvPr>
          <p:cNvSpPr/>
          <p:nvPr/>
        </p:nvSpPr>
        <p:spPr>
          <a:xfrm>
            <a:off x="9880335" y="5552606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88">
            <a:extLst>
              <a:ext uri="{FF2B5EF4-FFF2-40B4-BE49-F238E27FC236}">
                <a16:creationId xmlns:a16="http://schemas.microsoft.com/office/drawing/2014/main" id="{BEE919AA-12DB-104C-83C7-AF9C85D4126B}"/>
              </a:ext>
            </a:extLst>
          </p:cNvPr>
          <p:cNvSpPr/>
          <p:nvPr/>
        </p:nvSpPr>
        <p:spPr>
          <a:xfrm>
            <a:off x="9635259" y="5361076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89">
            <a:extLst>
              <a:ext uri="{FF2B5EF4-FFF2-40B4-BE49-F238E27FC236}">
                <a16:creationId xmlns:a16="http://schemas.microsoft.com/office/drawing/2014/main" id="{43CE1181-1459-3798-04D6-63BEA5538C77}"/>
              </a:ext>
            </a:extLst>
          </p:cNvPr>
          <p:cNvSpPr/>
          <p:nvPr/>
        </p:nvSpPr>
        <p:spPr>
          <a:xfrm>
            <a:off x="9180449" y="5503153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91">
            <a:extLst>
              <a:ext uri="{FF2B5EF4-FFF2-40B4-BE49-F238E27FC236}">
                <a16:creationId xmlns:a16="http://schemas.microsoft.com/office/drawing/2014/main" id="{8F0690BB-763C-FB15-37D4-7D838748B928}"/>
              </a:ext>
            </a:extLst>
          </p:cNvPr>
          <p:cNvSpPr txBox="1"/>
          <p:nvPr/>
        </p:nvSpPr>
        <p:spPr>
          <a:xfrm>
            <a:off x="3293378" y="6238888"/>
            <a:ext cx="4231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separating hyperplane in 2D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92">
            <a:extLst>
              <a:ext uri="{FF2B5EF4-FFF2-40B4-BE49-F238E27FC236}">
                <a16:creationId xmlns:a16="http://schemas.microsoft.com/office/drawing/2014/main" id="{8514F072-DD1B-6B6F-CD41-BE44A93AE086}"/>
              </a:ext>
            </a:extLst>
          </p:cNvPr>
          <p:cNvSpPr txBox="1"/>
          <p:nvPr/>
        </p:nvSpPr>
        <p:spPr>
          <a:xfrm>
            <a:off x="7524489" y="6200466"/>
            <a:ext cx="40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separating hyperplane in 3D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直接箭头连接符 46">
            <a:extLst>
              <a:ext uri="{FF2B5EF4-FFF2-40B4-BE49-F238E27FC236}">
                <a16:creationId xmlns:a16="http://schemas.microsoft.com/office/drawing/2014/main" id="{E231BCF8-15CC-BA57-42F1-5EFF36397997}"/>
              </a:ext>
            </a:extLst>
          </p:cNvPr>
          <p:cNvCxnSpPr>
            <a:cxnSpLocks/>
          </p:cNvCxnSpPr>
          <p:nvPr/>
        </p:nvCxnSpPr>
        <p:spPr>
          <a:xfrm>
            <a:off x="783666" y="6024861"/>
            <a:ext cx="209447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7">
            <a:extLst>
              <a:ext uri="{FF2B5EF4-FFF2-40B4-BE49-F238E27FC236}">
                <a16:creationId xmlns:a16="http://schemas.microsoft.com/office/drawing/2014/main" id="{8AAB8858-E8CF-F868-9250-442856880966}"/>
              </a:ext>
            </a:extLst>
          </p:cNvPr>
          <p:cNvCxnSpPr>
            <a:cxnSpLocks/>
          </p:cNvCxnSpPr>
          <p:nvPr/>
        </p:nvCxnSpPr>
        <p:spPr>
          <a:xfrm flipV="1">
            <a:off x="931947" y="4539933"/>
            <a:ext cx="0" cy="16605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8">
            <a:extLst>
              <a:ext uri="{FF2B5EF4-FFF2-40B4-BE49-F238E27FC236}">
                <a16:creationId xmlns:a16="http://schemas.microsoft.com/office/drawing/2014/main" id="{41758D20-3447-FF3B-4F6F-F34C3F28A150}"/>
              </a:ext>
            </a:extLst>
          </p:cNvPr>
          <p:cNvGrpSpPr/>
          <p:nvPr/>
        </p:nvGrpSpPr>
        <p:grpSpPr>
          <a:xfrm>
            <a:off x="1260430" y="4817960"/>
            <a:ext cx="786715" cy="628193"/>
            <a:chOff x="5048764" y="1896762"/>
            <a:chExt cx="786715" cy="628193"/>
          </a:xfrm>
        </p:grpSpPr>
        <p:sp>
          <p:nvSpPr>
            <p:cNvPr id="47" name="椭圆 51">
              <a:extLst>
                <a:ext uri="{FF2B5EF4-FFF2-40B4-BE49-F238E27FC236}">
                  <a16:creationId xmlns:a16="http://schemas.microsoft.com/office/drawing/2014/main" id="{CC603C15-07E2-DC1A-A59B-1DEDDCBF030D}"/>
                </a:ext>
              </a:extLst>
            </p:cNvPr>
            <p:cNvSpPr/>
            <p:nvPr/>
          </p:nvSpPr>
          <p:spPr>
            <a:xfrm>
              <a:off x="5294870" y="18967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52">
              <a:extLst>
                <a:ext uri="{FF2B5EF4-FFF2-40B4-BE49-F238E27FC236}">
                  <a16:creationId xmlns:a16="http://schemas.microsoft.com/office/drawing/2014/main" id="{23228E45-2632-78AB-AC32-AD4E336334B1}"/>
                </a:ext>
              </a:extLst>
            </p:cNvPr>
            <p:cNvSpPr/>
            <p:nvPr/>
          </p:nvSpPr>
          <p:spPr>
            <a:xfrm>
              <a:off x="5447270" y="20491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53">
              <a:extLst>
                <a:ext uri="{FF2B5EF4-FFF2-40B4-BE49-F238E27FC236}">
                  <a16:creationId xmlns:a16="http://schemas.microsoft.com/office/drawing/2014/main" id="{D39D1F1D-1C7A-42B1-4014-B261D4C31AA8}"/>
                </a:ext>
              </a:extLst>
            </p:cNvPr>
            <p:cNvSpPr/>
            <p:nvPr/>
          </p:nvSpPr>
          <p:spPr>
            <a:xfrm>
              <a:off x="5104370" y="22015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55">
              <a:extLst>
                <a:ext uri="{FF2B5EF4-FFF2-40B4-BE49-F238E27FC236}">
                  <a16:creationId xmlns:a16="http://schemas.microsoft.com/office/drawing/2014/main" id="{E8B171E4-2686-0D77-2FA2-55B3A8EFE4B3}"/>
                </a:ext>
              </a:extLst>
            </p:cNvPr>
            <p:cNvSpPr/>
            <p:nvPr/>
          </p:nvSpPr>
          <p:spPr>
            <a:xfrm>
              <a:off x="5334000" y="230559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椭圆 74">
              <a:extLst>
                <a:ext uri="{FF2B5EF4-FFF2-40B4-BE49-F238E27FC236}">
                  <a16:creationId xmlns:a16="http://schemas.microsoft.com/office/drawing/2014/main" id="{6D8D54F8-F97B-EEFF-F545-83A2FE27FF8D}"/>
                </a:ext>
              </a:extLst>
            </p:cNvPr>
            <p:cNvSpPr/>
            <p:nvPr/>
          </p:nvSpPr>
          <p:spPr>
            <a:xfrm>
              <a:off x="5724268" y="20079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椭圆 82">
              <a:extLst>
                <a:ext uri="{FF2B5EF4-FFF2-40B4-BE49-F238E27FC236}">
                  <a16:creationId xmlns:a16="http://schemas.microsoft.com/office/drawing/2014/main" id="{8AD36664-7480-308C-0704-D6FED5D1870C}"/>
                </a:ext>
              </a:extLst>
            </p:cNvPr>
            <p:cNvSpPr/>
            <p:nvPr/>
          </p:nvSpPr>
          <p:spPr>
            <a:xfrm>
              <a:off x="5048764" y="241374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93">
            <a:extLst>
              <a:ext uri="{FF2B5EF4-FFF2-40B4-BE49-F238E27FC236}">
                <a16:creationId xmlns:a16="http://schemas.microsoft.com/office/drawing/2014/main" id="{09D7F864-C955-BA67-7D47-529961C4BD5D}"/>
              </a:ext>
            </a:extLst>
          </p:cNvPr>
          <p:cNvGrpSpPr/>
          <p:nvPr/>
        </p:nvGrpSpPr>
        <p:grpSpPr>
          <a:xfrm>
            <a:off x="1613627" y="5325033"/>
            <a:ext cx="818059" cy="623326"/>
            <a:chOff x="5401961" y="2403835"/>
            <a:chExt cx="818059" cy="623326"/>
          </a:xfrm>
        </p:grpSpPr>
        <p:sp>
          <p:nvSpPr>
            <p:cNvPr id="54" name="矩形 94">
              <a:extLst>
                <a:ext uri="{FF2B5EF4-FFF2-40B4-BE49-F238E27FC236}">
                  <a16:creationId xmlns:a16="http://schemas.microsoft.com/office/drawing/2014/main" id="{FE9C184B-2B66-A0AC-C9E0-1DA62C9C9BDE}"/>
                </a:ext>
              </a:extLst>
            </p:cNvPr>
            <p:cNvSpPr/>
            <p:nvPr/>
          </p:nvSpPr>
          <p:spPr>
            <a:xfrm>
              <a:off x="5663972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95">
              <a:extLst>
                <a:ext uri="{FF2B5EF4-FFF2-40B4-BE49-F238E27FC236}">
                  <a16:creationId xmlns:a16="http://schemas.microsoft.com/office/drawing/2014/main" id="{4B657D69-8A34-ED7E-BF0F-BC615E72C11C}"/>
                </a:ext>
              </a:extLst>
            </p:cNvPr>
            <p:cNvSpPr/>
            <p:nvPr/>
          </p:nvSpPr>
          <p:spPr>
            <a:xfrm>
              <a:off x="5816372" y="27477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96">
              <a:extLst>
                <a:ext uri="{FF2B5EF4-FFF2-40B4-BE49-F238E27FC236}">
                  <a16:creationId xmlns:a16="http://schemas.microsoft.com/office/drawing/2014/main" id="{7E242E84-B2DB-ECF9-9FCE-FA0DB821CBAB}"/>
                </a:ext>
              </a:extLst>
            </p:cNvPr>
            <p:cNvSpPr/>
            <p:nvPr/>
          </p:nvSpPr>
          <p:spPr>
            <a:xfrm>
              <a:off x="6010988" y="27619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97">
              <a:extLst>
                <a:ext uri="{FF2B5EF4-FFF2-40B4-BE49-F238E27FC236}">
                  <a16:creationId xmlns:a16="http://schemas.microsoft.com/office/drawing/2014/main" id="{BA2F84F7-D540-83C4-7BF4-233B37D14210}"/>
                </a:ext>
              </a:extLst>
            </p:cNvPr>
            <p:cNvSpPr/>
            <p:nvPr/>
          </p:nvSpPr>
          <p:spPr>
            <a:xfrm>
              <a:off x="5401961" y="2818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98">
              <a:extLst>
                <a:ext uri="{FF2B5EF4-FFF2-40B4-BE49-F238E27FC236}">
                  <a16:creationId xmlns:a16="http://schemas.microsoft.com/office/drawing/2014/main" id="{D3F7E727-7CA9-47AE-503A-A130E992F3B3}"/>
                </a:ext>
              </a:extLst>
            </p:cNvPr>
            <p:cNvSpPr/>
            <p:nvPr/>
          </p:nvSpPr>
          <p:spPr>
            <a:xfrm>
              <a:off x="6127350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矩形 99">
              <a:extLst>
                <a:ext uri="{FF2B5EF4-FFF2-40B4-BE49-F238E27FC236}">
                  <a16:creationId xmlns:a16="http://schemas.microsoft.com/office/drawing/2014/main" id="{31D799F4-2624-FCED-A311-145CE0A306D5}"/>
                </a:ext>
              </a:extLst>
            </p:cNvPr>
            <p:cNvSpPr/>
            <p:nvPr/>
          </p:nvSpPr>
          <p:spPr>
            <a:xfrm>
              <a:off x="5882274" y="24038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00">
              <a:extLst>
                <a:ext uri="{FF2B5EF4-FFF2-40B4-BE49-F238E27FC236}">
                  <a16:creationId xmlns:a16="http://schemas.microsoft.com/office/drawing/2014/main" id="{B7476D1D-C607-CDAB-6E54-ED94C81170AC}"/>
                </a:ext>
              </a:extLst>
            </p:cNvPr>
            <p:cNvSpPr/>
            <p:nvPr/>
          </p:nvSpPr>
          <p:spPr>
            <a:xfrm>
              <a:off x="5592697" y="293449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1" name="文本框 101">
            <a:extLst>
              <a:ext uri="{FF2B5EF4-FFF2-40B4-BE49-F238E27FC236}">
                <a16:creationId xmlns:a16="http://schemas.microsoft.com/office/drawing/2014/main" id="{7C3D95C9-075E-6728-3272-153BD77E2601}"/>
              </a:ext>
            </a:extLst>
          </p:cNvPr>
          <p:cNvSpPr txBox="1"/>
          <p:nvPr/>
        </p:nvSpPr>
        <p:spPr>
          <a:xfrm>
            <a:off x="962943" y="6243288"/>
            <a:ext cx="2205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not hyperplane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任意多边形: 形状 6">
            <a:extLst>
              <a:ext uri="{FF2B5EF4-FFF2-40B4-BE49-F238E27FC236}">
                <a16:creationId xmlns:a16="http://schemas.microsoft.com/office/drawing/2014/main" id="{652B0A3D-AAAE-3A27-61BA-EEAA02286FBF}"/>
              </a:ext>
            </a:extLst>
          </p:cNvPr>
          <p:cNvSpPr/>
          <p:nvPr/>
        </p:nvSpPr>
        <p:spPr>
          <a:xfrm>
            <a:off x="1109590" y="4872723"/>
            <a:ext cx="1340708" cy="932935"/>
          </a:xfrm>
          <a:custGeom>
            <a:avLst/>
            <a:gdLst>
              <a:gd name="connsiteX0" fmla="*/ 0 w 1340708"/>
              <a:gd name="connsiteY0" fmla="*/ 932935 h 932935"/>
              <a:gd name="connsiteX1" fmla="*/ 407773 w 1340708"/>
              <a:gd name="connsiteY1" fmla="*/ 753762 h 932935"/>
              <a:gd name="connsiteX2" fmla="*/ 691979 w 1340708"/>
              <a:gd name="connsiteY2" fmla="*/ 395416 h 932935"/>
              <a:gd name="connsiteX3" fmla="*/ 1093573 w 1340708"/>
              <a:gd name="connsiteY3" fmla="*/ 265670 h 932935"/>
              <a:gd name="connsiteX4" fmla="*/ 1340708 w 1340708"/>
              <a:gd name="connsiteY4" fmla="*/ 0 h 93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0708" h="932935">
                <a:moveTo>
                  <a:pt x="0" y="932935"/>
                </a:moveTo>
                <a:cubicBezTo>
                  <a:pt x="146221" y="888142"/>
                  <a:pt x="292443" y="843349"/>
                  <a:pt x="407773" y="753762"/>
                </a:cubicBezTo>
                <a:cubicBezTo>
                  <a:pt x="523103" y="664175"/>
                  <a:pt x="577679" y="476765"/>
                  <a:pt x="691979" y="395416"/>
                </a:cubicBezTo>
                <a:cubicBezTo>
                  <a:pt x="806279" y="314067"/>
                  <a:pt x="985452" y="331573"/>
                  <a:pt x="1093573" y="265670"/>
                </a:cubicBezTo>
                <a:cubicBezTo>
                  <a:pt x="1201695" y="199767"/>
                  <a:pt x="1271201" y="99883"/>
                  <a:pt x="1340708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93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61" grpId="0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best separating hyperplane</a:t>
            </a:r>
          </a:p>
        </p:txBody>
      </p:sp>
      <p:sp>
        <p:nvSpPr>
          <p:cNvPr id="2" name="文本框 14">
            <a:extLst>
              <a:ext uri="{FF2B5EF4-FFF2-40B4-BE49-F238E27FC236}">
                <a16:creationId xmlns:a16="http://schemas.microsoft.com/office/drawing/2014/main" id="{CB6EEB55-5D33-648C-780F-8766E5E54797}"/>
              </a:ext>
            </a:extLst>
          </p:cNvPr>
          <p:cNvSpPr txBox="1"/>
          <p:nvPr/>
        </p:nvSpPr>
        <p:spPr>
          <a:xfrm>
            <a:off x="454036" y="2522471"/>
            <a:ext cx="10942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linearly separable dataset, there exist many other separating hyperplanes (indeed, infinitely many) can separate it, which one is the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文本框 15">
            <a:extLst>
              <a:ext uri="{FF2B5EF4-FFF2-40B4-BE49-F238E27FC236}">
                <a16:creationId xmlns:a16="http://schemas.microsoft.com/office/drawing/2014/main" id="{485E1B48-808D-DB77-26EA-65CC572F45E8}"/>
              </a:ext>
            </a:extLst>
          </p:cNvPr>
          <p:cNvSpPr txBox="1"/>
          <p:nvPr/>
        </p:nvSpPr>
        <p:spPr>
          <a:xfrm>
            <a:off x="517319" y="1563595"/>
            <a:ext cx="741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best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separating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hyperplane?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51">
            <a:extLst>
              <a:ext uri="{FF2B5EF4-FFF2-40B4-BE49-F238E27FC236}">
                <a16:creationId xmlns:a16="http://schemas.microsoft.com/office/drawing/2014/main" id="{BCD33AAE-B5DD-71D5-9985-D55A351BD681}"/>
              </a:ext>
            </a:extLst>
          </p:cNvPr>
          <p:cNvGrpSpPr/>
          <p:nvPr/>
        </p:nvGrpSpPr>
        <p:grpSpPr>
          <a:xfrm>
            <a:off x="3634235" y="3939797"/>
            <a:ext cx="759702" cy="733506"/>
            <a:chOff x="3111721" y="3634358"/>
            <a:chExt cx="759702" cy="733506"/>
          </a:xfrm>
        </p:grpSpPr>
        <p:sp>
          <p:nvSpPr>
            <p:cNvPr id="5" name="椭圆 34">
              <a:extLst>
                <a:ext uri="{FF2B5EF4-FFF2-40B4-BE49-F238E27FC236}">
                  <a16:creationId xmlns:a16="http://schemas.microsoft.com/office/drawing/2014/main" id="{E776B7EE-6BFC-939E-87EA-3B9B5E792829}"/>
                </a:ext>
              </a:extLst>
            </p:cNvPr>
            <p:cNvSpPr/>
            <p:nvPr/>
          </p:nvSpPr>
          <p:spPr>
            <a:xfrm rot="21158000">
              <a:off x="3293014" y="385211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37">
              <a:extLst>
                <a:ext uri="{FF2B5EF4-FFF2-40B4-BE49-F238E27FC236}">
                  <a16:creationId xmlns:a16="http://schemas.microsoft.com/office/drawing/2014/main" id="{7EC513ED-B400-4A82-D829-9153A03FEFC5}"/>
                </a:ext>
              </a:extLst>
            </p:cNvPr>
            <p:cNvSpPr/>
            <p:nvPr/>
          </p:nvSpPr>
          <p:spPr>
            <a:xfrm rot="21158000">
              <a:off x="3111721" y="3946073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39">
              <a:extLst>
                <a:ext uri="{FF2B5EF4-FFF2-40B4-BE49-F238E27FC236}">
                  <a16:creationId xmlns:a16="http://schemas.microsoft.com/office/drawing/2014/main" id="{AE87EEF0-2016-D5F5-23D5-A77567AD2E49}"/>
                </a:ext>
              </a:extLst>
            </p:cNvPr>
            <p:cNvSpPr/>
            <p:nvPr/>
          </p:nvSpPr>
          <p:spPr>
            <a:xfrm rot="21158000">
              <a:off x="3412868" y="425665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40">
              <a:extLst>
                <a:ext uri="{FF2B5EF4-FFF2-40B4-BE49-F238E27FC236}">
                  <a16:creationId xmlns:a16="http://schemas.microsoft.com/office/drawing/2014/main" id="{8ED0B0DF-3949-C2ED-5A94-E6D4E5573D6B}"/>
                </a:ext>
              </a:extLst>
            </p:cNvPr>
            <p:cNvSpPr/>
            <p:nvPr/>
          </p:nvSpPr>
          <p:spPr>
            <a:xfrm rot="21158000">
              <a:off x="3215385" y="422275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41">
              <a:extLst>
                <a:ext uri="{FF2B5EF4-FFF2-40B4-BE49-F238E27FC236}">
                  <a16:creationId xmlns:a16="http://schemas.microsoft.com/office/drawing/2014/main" id="{9FADD0DB-B0FE-6B85-2232-DF8CA6712C63}"/>
                </a:ext>
              </a:extLst>
            </p:cNvPr>
            <p:cNvSpPr/>
            <p:nvPr/>
          </p:nvSpPr>
          <p:spPr>
            <a:xfrm rot="21158000">
              <a:off x="3479544" y="363435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42">
              <a:extLst>
                <a:ext uri="{FF2B5EF4-FFF2-40B4-BE49-F238E27FC236}">
                  <a16:creationId xmlns:a16="http://schemas.microsoft.com/office/drawing/2014/main" id="{F66521D2-85ED-F1DE-775A-FFC4BC40777E}"/>
                </a:ext>
              </a:extLst>
            </p:cNvPr>
            <p:cNvSpPr/>
            <p:nvPr/>
          </p:nvSpPr>
          <p:spPr>
            <a:xfrm rot="21158000">
              <a:off x="3760214" y="372430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45">
              <a:extLst>
                <a:ext uri="{FF2B5EF4-FFF2-40B4-BE49-F238E27FC236}">
                  <a16:creationId xmlns:a16="http://schemas.microsoft.com/office/drawing/2014/main" id="{8C497C23-E7AA-1206-06A9-4F9BE0AB78DF}"/>
                </a:ext>
              </a:extLst>
            </p:cNvPr>
            <p:cNvSpPr/>
            <p:nvPr/>
          </p:nvSpPr>
          <p:spPr>
            <a:xfrm rot="21158000">
              <a:off x="3555326" y="3976669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" name="直接连接符 7">
            <a:extLst>
              <a:ext uri="{FF2B5EF4-FFF2-40B4-BE49-F238E27FC236}">
                <a16:creationId xmlns:a16="http://schemas.microsoft.com/office/drawing/2014/main" id="{78E1EA6F-E5BE-5D20-15FB-97CCE4931A04}"/>
              </a:ext>
            </a:extLst>
          </p:cNvPr>
          <p:cNvCxnSpPr>
            <a:cxnSpLocks/>
          </p:cNvCxnSpPr>
          <p:nvPr/>
        </p:nvCxnSpPr>
        <p:spPr>
          <a:xfrm rot="21158000" flipH="1">
            <a:off x="3808158" y="3942851"/>
            <a:ext cx="1465638" cy="1340708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50">
            <a:extLst>
              <a:ext uri="{FF2B5EF4-FFF2-40B4-BE49-F238E27FC236}">
                <a16:creationId xmlns:a16="http://schemas.microsoft.com/office/drawing/2014/main" id="{8BF63D19-A4E5-F98D-69B5-55A12F8CE611}"/>
              </a:ext>
            </a:extLst>
          </p:cNvPr>
          <p:cNvCxnSpPr>
            <a:cxnSpLocks/>
          </p:cNvCxnSpPr>
          <p:nvPr/>
        </p:nvCxnSpPr>
        <p:spPr>
          <a:xfrm flipH="1">
            <a:off x="3528218" y="4091216"/>
            <a:ext cx="2031465" cy="9043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53">
            <a:extLst>
              <a:ext uri="{FF2B5EF4-FFF2-40B4-BE49-F238E27FC236}">
                <a16:creationId xmlns:a16="http://schemas.microsoft.com/office/drawing/2014/main" id="{56736AF0-E00A-C111-CC8C-D4F4A06E16B3}"/>
              </a:ext>
            </a:extLst>
          </p:cNvPr>
          <p:cNvSpPr/>
          <p:nvPr/>
        </p:nvSpPr>
        <p:spPr>
          <a:xfrm>
            <a:off x="454036" y="2027267"/>
            <a:ext cx="11545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Linearly separable: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exists a hyperplane that can separate the dataset</a:t>
            </a:r>
          </a:p>
        </p:txBody>
      </p:sp>
      <p:sp>
        <p:nvSpPr>
          <p:cNvPr id="16" name="矩形 54">
            <a:extLst>
              <a:ext uri="{FF2B5EF4-FFF2-40B4-BE49-F238E27FC236}">
                <a16:creationId xmlns:a16="http://schemas.microsoft.com/office/drawing/2014/main" id="{58B0862C-AE53-A8A7-1541-8904CF402DEC}"/>
              </a:ext>
            </a:extLst>
          </p:cNvPr>
          <p:cNvSpPr/>
          <p:nvPr/>
        </p:nvSpPr>
        <p:spPr>
          <a:xfrm>
            <a:off x="454036" y="5553593"/>
            <a:ext cx="108240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Intuitively, we want the hyperplane with the maximum margin</a:t>
            </a:r>
          </a:p>
        </p:txBody>
      </p:sp>
      <p:cxnSp>
        <p:nvCxnSpPr>
          <p:cNvPr id="17" name="直接连接符 12">
            <a:extLst>
              <a:ext uri="{FF2B5EF4-FFF2-40B4-BE49-F238E27FC236}">
                <a16:creationId xmlns:a16="http://schemas.microsoft.com/office/drawing/2014/main" id="{8D547C97-5562-EA44-8F83-B7E7D3AB5D08}"/>
              </a:ext>
            </a:extLst>
          </p:cNvPr>
          <p:cNvCxnSpPr>
            <a:cxnSpLocks/>
          </p:cNvCxnSpPr>
          <p:nvPr/>
        </p:nvCxnSpPr>
        <p:spPr>
          <a:xfrm>
            <a:off x="4865763" y="4418328"/>
            <a:ext cx="37999" cy="105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52">
            <a:extLst>
              <a:ext uri="{FF2B5EF4-FFF2-40B4-BE49-F238E27FC236}">
                <a16:creationId xmlns:a16="http://schemas.microsoft.com/office/drawing/2014/main" id="{6EC7D940-82E2-B63E-F2EC-02BFB5A02DAC}"/>
              </a:ext>
            </a:extLst>
          </p:cNvPr>
          <p:cNvGrpSpPr/>
          <p:nvPr/>
        </p:nvGrpSpPr>
        <p:grpSpPr>
          <a:xfrm>
            <a:off x="4661456" y="4434262"/>
            <a:ext cx="794792" cy="978162"/>
            <a:chOff x="4138942" y="4128823"/>
            <a:chExt cx="794792" cy="978162"/>
          </a:xfrm>
        </p:grpSpPr>
        <p:sp>
          <p:nvSpPr>
            <p:cNvPr id="19" name="矩形 22">
              <a:extLst>
                <a:ext uri="{FF2B5EF4-FFF2-40B4-BE49-F238E27FC236}">
                  <a16:creationId xmlns:a16="http://schemas.microsoft.com/office/drawing/2014/main" id="{B22837DF-7A33-5D9C-DC4B-BC8379E79900}"/>
                </a:ext>
              </a:extLst>
            </p:cNvPr>
            <p:cNvSpPr/>
            <p:nvPr/>
          </p:nvSpPr>
          <p:spPr>
            <a:xfrm rot="21158000">
              <a:off x="4398838" y="4210950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4">
              <a:extLst>
                <a:ext uri="{FF2B5EF4-FFF2-40B4-BE49-F238E27FC236}">
                  <a16:creationId xmlns:a16="http://schemas.microsoft.com/office/drawing/2014/main" id="{379C03A0-07A9-E295-2623-702BBF8600F6}"/>
                </a:ext>
              </a:extLst>
            </p:cNvPr>
            <p:cNvSpPr/>
            <p:nvPr/>
          </p:nvSpPr>
          <p:spPr>
            <a:xfrm rot="21158000">
              <a:off x="4798787" y="4357646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5">
              <a:extLst>
                <a:ext uri="{FF2B5EF4-FFF2-40B4-BE49-F238E27FC236}">
                  <a16:creationId xmlns:a16="http://schemas.microsoft.com/office/drawing/2014/main" id="{C12EA798-442E-1F4F-1BA1-FAA840ADBC2B}"/>
                </a:ext>
              </a:extLst>
            </p:cNvPr>
            <p:cNvSpPr/>
            <p:nvPr/>
          </p:nvSpPr>
          <p:spPr>
            <a:xfrm rot="21158000">
              <a:off x="4576277" y="4586155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7">
              <a:extLst>
                <a:ext uri="{FF2B5EF4-FFF2-40B4-BE49-F238E27FC236}">
                  <a16:creationId xmlns:a16="http://schemas.microsoft.com/office/drawing/2014/main" id="{0D3AEB7D-F2A7-3F15-9881-05F9AE74460F}"/>
                </a:ext>
              </a:extLst>
            </p:cNvPr>
            <p:cNvSpPr/>
            <p:nvPr/>
          </p:nvSpPr>
          <p:spPr>
            <a:xfrm rot="21158000">
              <a:off x="4373261" y="4582709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8">
              <a:extLst>
                <a:ext uri="{FF2B5EF4-FFF2-40B4-BE49-F238E27FC236}">
                  <a16:creationId xmlns:a16="http://schemas.microsoft.com/office/drawing/2014/main" id="{28545CF9-0496-184B-4D29-EC99F2779ECC}"/>
                </a:ext>
              </a:extLst>
            </p:cNvPr>
            <p:cNvSpPr/>
            <p:nvPr/>
          </p:nvSpPr>
          <p:spPr>
            <a:xfrm rot="21158000">
              <a:off x="4224256" y="4721946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31">
              <a:extLst>
                <a:ext uri="{FF2B5EF4-FFF2-40B4-BE49-F238E27FC236}">
                  <a16:creationId xmlns:a16="http://schemas.microsoft.com/office/drawing/2014/main" id="{9F2FB40C-2200-5EDA-1CCB-3951854ECB44}"/>
                </a:ext>
              </a:extLst>
            </p:cNvPr>
            <p:cNvSpPr/>
            <p:nvPr/>
          </p:nvSpPr>
          <p:spPr>
            <a:xfrm rot="21158000">
              <a:off x="4707551" y="4128823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49">
              <a:extLst>
                <a:ext uri="{FF2B5EF4-FFF2-40B4-BE49-F238E27FC236}">
                  <a16:creationId xmlns:a16="http://schemas.microsoft.com/office/drawing/2014/main" id="{A72C9449-FFDF-7A90-1EB3-7E22C4E8B4E5}"/>
                </a:ext>
              </a:extLst>
            </p:cNvPr>
            <p:cNvSpPr/>
            <p:nvPr/>
          </p:nvSpPr>
          <p:spPr>
            <a:xfrm rot="21158000">
              <a:off x="4138942" y="4972038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6" name="直接连接符 33">
            <a:extLst>
              <a:ext uri="{FF2B5EF4-FFF2-40B4-BE49-F238E27FC236}">
                <a16:creationId xmlns:a16="http://schemas.microsoft.com/office/drawing/2014/main" id="{8B4C1A5C-CF7E-1873-061F-EC5E96597DC0}"/>
              </a:ext>
            </a:extLst>
          </p:cNvPr>
          <p:cNvCxnSpPr>
            <a:stCxn id="7" idx="5"/>
          </p:cNvCxnSpPr>
          <p:nvPr/>
        </p:nvCxnSpPr>
        <p:spPr>
          <a:xfrm>
            <a:off x="4035022" y="4651651"/>
            <a:ext cx="261932" cy="2284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47">
            <a:extLst>
              <a:ext uri="{FF2B5EF4-FFF2-40B4-BE49-F238E27FC236}">
                <a16:creationId xmlns:a16="http://schemas.microsoft.com/office/drawing/2014/main" id="{8A9BACBB-E066-FA4E-3BD8-FE6283DA131F}"/>
              </a:ext>
            </a:extLst>
          </p:cNvPr>
          <p:cNvSpPr txBox="1"/>
          <p:nvPr/>
        </p:nvSpPr>
        <p:spPr>
          <a:xfrm>
            <a:off x="5382602" y="4187495"/>
            <a:ext cx="203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small margin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55">
            <a:extLst>
              <a:ext uri="{FF2B5EF4-FFF2-40B4-BE49-F238E27FC236}">
                <a16:creationId xmlns:a16="http://schemas.microsoft.com/office/drawing/2014/main" id="{D84D26F7-100E-78CB-5308-2CE53EE971F0}"/>
              </a:ext>
            </a:extLst>
          </p:cNvPr>
          <p:cNvSpPr txBox="1"/>
          <p:nvPr/>
        </p:nvSpPr>
        <p:spPr>
          <a:xfrm>
            <a:off x="1933001" y="4458224"/>
            <a:ext cx="2031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large margin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56">
            <a:extLst>
              <a:ext uri="{FF2B5EF4-FFF2-40B4-BE49-F238E27FC236}">
                <a16:creationId xmlns:a16="http://schemas.microsoft.com/office/drawing/2014/main" id="{BD631CCF-CC4E-AB56-0B5B-F3276CF0C3C5}"/>
              </a:ext>
            </a:extLst>
          </p:cNvPr>
          <p:cNvSpPr txBox="1"/>
          <p:nvPr/>
        </p:nvSpPr>
        <p:spPr>
          <a:xfrm>
            <a:off x="4400608" y="3429000"/>
            <a:ext cx="253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best hyperplane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best separating hyperplane</a:t>
            </a:r>
          </a:p>
        </p:txBody>
      </p:sp>
      <p:sp>
        <p:nvSpPr>
          <p:cNvPr id="2" name="文本框 14">
            <a:extLst>
              <a:ext uri="{FF2B5EF4-FFF2-40B4-BE49-F238E27FC236}">
                <a16:creationId xmlns:a16="http://schemas.microsoft.com/office/drawing/2014/main" id="{CB6EEB55-5D33-648C-780F-8766E5E54797}"/>
              </a:ext>
            </a:extLst>
          </p:cNvPr>
          <p:cNvSpPr txBox="1"/>
          <p:nvPr/>
        </p:nvSpPr>
        <p:spPr>
          <a:xfrm>
            <a:off x="454036" y="2522471"/>
            <a:ext cx="10942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linearly separable dataset, to separate the data, there exist many other separating hyperplanes. Which one is the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文本框 15">
            <a:extLst>
              <a:ext uri="{FF2B5EF4-FFF2-40B4-BE49-F238E27FC236}">
                <a16:creationId xmlns:a16="http://schemas.microsoft.com/office/drawing/2014/main" id="{485E1B48-808D-DB77-26EA-65CC572F45E8}"/>
              </a:ext>
            </a:extLst>
          </p:cNvPr>
          <p:cNvSpPr txBox="1"/>
          <p:nvPr/>
        </p:nvSpPr>
        <p:spPr>
          <a:xfrm>
            <a:off x="517319" y="1563595"/>
            <a:ext cx="741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best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separating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hyperplane?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51">
            <a:extLst>
              <a:ext uri="{FF2B5EF4-FFF2-40B4-BE49-F238E27FC236}">
                <a16:creationId xmlns:a16="http://schemas.microsoft.com/office/drawing/2014/main" id="{BCD33AAE-B5DD-71D5-9985-D55A351BD681}"/>
              </a:ext>
            </a:extLst>
          </p:cNvPr>
          <p:cNvGrpSpPr/>
          <p:nvPr/>
        </p:nvGrpSpPr>
        <p:grpSpPr>
          <a:xfrm>
            <a:off x="3634235" y="3939797"/>
            <a:ext cx="759702" cy="733506"/>
            <a:chOff x="3111721" y="3634358"/>
            <a:chExt cx="759702" cy="733506"/>
          </a:xfrm>
        </p:grpSpPr>
        <p:sp>
          <p:nvSpPr>
            <p:cNvPr id="5" name="椭圆 34">
              <a:extLst>
                <a:ext uri="{FF2B5EF4-FFF2-40B4-BE49-F238E27FC236}">
                  <a16:creationId xmlns:a16="http://schemas.microsoft.com/office/drawing/2014/main" id="{E776B7EE-6BFC-939E-87EA-3B9B5E792829}"/>
                </a:ext>
              </a:extLst>
            </p:cNvPr>
            <p:cNvSpPr/>
            <p:nvPr/>
          </p:nvSpPr>
          <p:spPr>
            <a:xfrm rot="21158000">
              <a:off x="3293014" y="385211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37">
              <a:extLst>
                <a:ext uri="{FF2B5EF4-FFF2-40B4-BE49-F238E27FC236}">
                  <a16:creationId xmlns:a16="http://schemas.microsoft.com/office/drawing/2014/main" id="{7EC513ED-B400-4A82-D829-9153A03FEFC5}"/>
                </a:ext>
              </a:extLst>
            </p:cNvPr>
            <p:cNvSpPr/>
            <p:nvPr/>
          </p:nvSpPr>
          <p:spPr>
            <a:xfrm rot="21158000">
              <a:off x="3111721" y="3946073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39">
              <a:extLst>
                <a:ext uri="{FF2B5EF4-FFF2-40B4-BE49-F238E27FC236}">
                  <a16:creationId xmlns:a16="http://schemas.microsoft.com/office/drawing/2014/main" id="{AE87EEF0-2016-D5F5-23D5-A77567AD2E49}"/>
                </a:ext>
              </a:extLst>
            </p:cNvPr>
            <p:cNvSpPr/>
            <p:nvPr/>
          </p:nvSpPr>
          <p:spPr>
            <a:xfrm rot="21158000">
              <a:off x="3412868" y="425665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40">
              <a:extLst>
                <a:ext uri="{FF2B5EF4-FFF2-40B4-BE49-F238E27FC236}">
                  <a16:creationId xmlns:a16="http://schemas.microsoft.com/office/drawing/2014/main" id="{8ED0B0DF-3949-C2ED-5A94-E6D4E5573D6B}"/>
                </a:ext>
              </a:extLst>
            </p:cNvPr>
            <p:cNvSpPr/>
            <p:nvPr/>
          </p:nvSpPr>
          <p:spPr>
            <a:xfrm rot="21158000">
              <a:off x="3215385" y="422275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41">
              <a:extLst>
                <a:ext uri="{FF2B5EF4-FFF2-40B4-BE49-F238E27FC236}">
                  <a16:creationId xmlns:a16="http://schemas.microsoft.com/office/drawing/2014/main" id="{9FADD0DB-B0FE-6B85-2232-DF8CA6712C63}"/>
                </a:ext>
              </a:extLst>
            </p:cNvPr>
            <p:cNvSpPr/>
            <p:nvPr/>
          </p:nvSpPr>
          <p:spPr>
            <a:xfrm rot="21158000">
              <a:off x="3479544" y="3634358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42">
              <a:extLst>
                <a:ext uri="{FF2B5EF4-FFF2-40B4-BE49-F238E27FC236}">
                  <a16:creationId xmlns:a16="http://schemas.microsoft.com/office/drawing/2014/main" id="{F66521D2-85ED-F1DE-775A-FFC4BC40777E}"/>
                </a:ext>
              </a:extLst>
            </p:cNvPr>
            <p:cNvSpPr/>
            <p:nvPr/>
          </p:nvSpPr>
          <p:spPr>
            <a:xfrm rot="21158000">
              <a:off x="3760214" y="3724305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45">
              <a:extLst>
                <a:ext uri="{FF2B5EF4-FFF2-40B4-BE49-F238E27FC236}">
                  <a16:creationId xmlns:a16="http://schemas.microsoft.com/office/drawing/2014/main" id="{8C497C23-E7AA-1206-06A9-4F9BE0AB78DF}"/>
                </a:ext>
              </a:extLst>
            </p:cNvPr>
            <p:cNvSpPr/>
            <p:nvPr/>
          </p:nvSpPr>
          <p:spPr>
            <a:xfrm rot="21158000">
              <a:off x="3555326" y="3976669"/>
              <a:ext cx="111209" cy="111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" name="直接连接符 7">
            <a:extLst>
              <a:ext uri="{FF2B5EF4-FFF2-40B4-BE49-F238E27FC236}">
                <a16:creationId xmlns:a16="http://schemas.microsoft.com/office/drawing/2014/main" id="{78E1EA6F-E5BE-5D20-15FB-97CCE4931A04}"/>
              </a:ext>
            </a:extLst>
          </p:cNvPr>
          <p:cNvCxnSpPr>
            <a:cxnSpLocks/>
          </p:cNvCxnSpPr>
          <p:nvPr/>
        </p:nvCxnSpPr>
        <p:spPr>
          <a:xfrm rot="21158000" flipH="1">
            <a:off x="3808158" y="3942851"/>
            <a:ext cx="1465638" cy="1340708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50">
            <a:extLst>
              <a:ext uri="{FF2B5EF4-FFF2-40B4-BE49-F238E27FC236}">
                <a16:creationId xmlns:a16="http://schemas.microsoft.com/office/drawing/2014/main" id="{8BF63D19-A4E5-F98D-69B5-55A12F8CE611}"/>
              </a:ext>
            </a:extLst>
          </p:cNvPr>
          <p:cNvCxnSpPr>
            <a:cxnSpLocks/>
          </p:cNvCxnSpPr>
          <p:nvPr/>
        </p:nvCxnSpPr>
        <p:spPr>
          <a:xfrm flipH="1">
            <a:off x="3528218" y="4091216"/>
            <a:ext cx="2031465" cy="9043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53">
            <a:extLst>
              <a:ext uri="{FF2B5EF4-FFF2-40B4-BE49-F238E27FC236}">
                <a16:creationId xmlns:a16="http://schemas.microsoft.com/office/drawing/2014/main" id="{56736AF0-E00A-C111-CC8C-D4F4A06E16B3}"/>
              </a:ext>
            </a:extLst>
          </p:cNvPr>
          <p:cNvSpPr/>
          <p:nvPr/>
        </p:nvSpPr>
        <p:spPr>
          <a:xfrm>
            <a:off x="454036" y="2027267"/>
            <a:ext cx="11545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Linearly separable: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exists a hyperplane that can separate the dataset</a:t>
            </a:r>
          </a:p>
        </p:txBody>
      </p:sp>
      <p:cxnSp>
        <p:nvCxnSpPr>
          <p:cNvPr id="17" name="直接连接符 12">
            <a:extLst>
              <a:ext uri="{FF2B5EF4-FFF2-40B4-BE49-F238E27FC236}">
                <a16:creationId xmlns:a16="http://schemas.microsoft.com/office/drawing/2014/main" id="{8D547C97-5562-EA44-8F83-B7E7D3AB5D08}"/>
              </a:ext>
            </a:extLst>
          </p:cNvPr>
          <p:cNvCxnSpPr>
            <a:cxnSpLocks/>
          </p:cNvCxnSpPr>
          <p:nvPr/>
        </p:nvCxnSpPr>
        <p:spPr>
          <a:xfrm>
            <a:off x="4865763" y="4418328"/>
            <a:ext cx="37999" cy="105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52">
            <a:extLst>
              <a:ext uri="{FF2B5EF4-FFF2-40B4-BE49-F238E27FC236}">
                <a16:creationId xmlns:a16="http://schemas.microsoft.com/office/drawing/2014/main" id="{6EC7D940-82E2-B63E-F2EC-02BFB5A02DAC}"/>
              </a:ext>
            </a:extLst>
          </p:cNvPr>
          <p:cNvGrpSpPr/>
          <p:nvPr/>
        </p:nvGrpSpPr>
        <p:grpSpPr>
          <a:xfrm>
            <a:off x="4661456" y="4434262"/>
            <a:ext cx="794792" cy="978162"/>
            <a:chOff x="4138942" y="4128823"/>
            <a:chExt cx="794792" cy="978162"/>
          </a:xfrm>
        </p:grpSpPr>
        <p:sp>
          <p:nvSpPr>
            <p:cNvPr id="19" name="矩形 22">
              <a:extLst>
                <a:ext uri="{FF2B5EF4-FFF2-40B4-BE49-F238E27FC236}">
                  <a16:creationId xmlns:a16="http://schemas.microsoft.com/office/drawing/2014/main" id="{B22837DF-7A33-5D9C-DC4B-BC8379E79900}"/>
                </a:ext>
              </a:extLst>
            </p:cNvPr>
            <p:cNvSpPr/>
            <p:nvPr/>
          </p:nvSpPr>
          <p:spPr>
            <a:xfrm rot="21158000">
              <a:off x="4398838" y="4210950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4">
              <a:extLst>
                <a:ext uri="{FF2B5EF4-FFF2-40B4-BE49-F238E27FC236}">
                  <a16:creationId xmlns:a16="http://schemas.microsoft.com/office/drawing/2014/main" id="{379C03A0-07A9-E295-2623-702BBF8600F6}"/>
                </a:ext>
              </a:extLst>
            </p:cNvPr>
            <p:cNvSpPr/>
            <p:nvPr/>
          </p:nvSpPr>
          <p:spPr>
            <a:xfrm rot="21158000">
              <a:off x="4798787" y="4357646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5">
              <a:extLst>
                <a:ext uri="{FF2B5EF4-FFF2-40B4-BE49-F238E27FC236}">
                  <a16:creationId xmlns:a16="http://schemas.microsoft.com/office/drawing/2014/main" id="{C12EA798-442E-1F4F-1BA1-FAA840ADBC2B}"/>
                </a:ext>
              </a:extLst>
            </p:cNvPr>
            <p:cNvSpPr/>
            <p:nvPr/>
          </p:nvSpPr>
          <p:spPr>
            <a:xfrm rot="21158000">
              <a:off x="4576277" y="4586155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7">
              <a:extLst>
                <a:ext uri="{FF2B5EF4-FFF2-40B4-BE49-F238E27FC236}">
                  <a16:creationId xmlns:a16="http://schemas.microsoft.com/office/drawing/2014/main" id="{0D3AEB7D-F2A7-3F15-9881-05F9AE74460F}"/>
                </a:ext>
              </a:extLst>
            </p:cNvPr>
            <p:cNvSpPr/>
            <p:nvPr/>
          </p:nvSpPr>
          <p:spPr>
            <a:xfrm rot="21158000">
              <a:off x="4373261" y="4582709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8">
              <a:extLst>
                <a:ext uri="{FF2B5EF4-FFF2-40B4-BE49-F238E27FC236}">
                  <a16:creationId xmlns:a16="http://schemas.microsoft.com/office/drawing/2014/main" id="{28545CF9-0496-184B-4D29-EC99F2779ECC}"/>
                </a:ext>
              </a:extLst>
            </p:cNvPr>
            <p:cNvSpPr/>
            <p:nvPr/>
          </p:nvSpPr>
          <p:spPr>
            <a:xfrm rot="21158000">
              <a:off x="4224256" y="4721946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31">
              <a:extLst>
                <a:ext uri="{FF2B5EF4-FFF2-40B4-BE49-F238E27FC236}">
                  <a16:creationId xmlns:a16="http://schemas.microsoft.com/office/drawing/2014/main" id="{9F2FB40C-2200-5EDA-1CCB-3951854ECB44}"/>
                </a:ext>
              </a:extLst>
            </p:cNvPr>
            <p:cNvSpPr/>
            <p:nvPr/>
          </p:nvSpPr>
          <p:spPr>
            <a:xfrm rot="21158000">
              <a:off x="4707551" y="4128823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49">
              <a:extLst>
                <a:ext uri="{FF2B5EF4-FFF2-40B4-BE49-F238E27FC236}">
                  <a16:creationId xmlns:a16="http://schemas.microsoft.com/office/drawing/2014/main" id="{A72C9449-FFDF-7A90-1EB3-7E22C4E8B4E5}"/>
                </a:ext>
              </a:extLst>
            </p:cNvPr>
            <p:cNvSpPr/>
            <p:nvPr/>
          </p:nvSpPr>
          <p:spPr>
            <a:xfrm rot="21158000">
              <a:off x="4138942" y="4972038"/>
              <a:ext cx="134947" cy="1349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6" name="直接连接符 33">
            <a:extLst>
              <a:ext uri="{FF2B5EF4-FFF2-40B4-BE49-F238E27FC236}">
                <a16:creationId xmlns:a16="http://schemas.microsoft.com/office/drawing/2014/main" id="{8B4C1A5C-CF7E-1873-061F-EC5E96597DC0}"/>
              </a:ext>
            </a:extLst>
          </p:cNvPr>
          <p:cNvCxnSpPr>
            <a:stCxn id="7" idx="5"/>
          </p:cNvCxnSpPr>
          <p:nvPr/>
        </p:nvCxnSpPr>
        <p:spPr>
          <a:xfrm>
            <a:off x="4035022" y="4651651"/>
            <a:ext cx="261932" cy="2284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47">
            <a:extLst>
              <a:ext uri="{FF2B5EF4-FFF2-40B4-BE49-F238E27FC236}">
                <a16:creationId xmlns:a16="http://schemas.microsoft.com/office/drawing/2014/main" id="{8A9BACBB-E066-FA4E-3BD8-FE6283DA131F}"/>
              </a:ext>
            </a:extLst>
          </p:cNvPr>
          <p:cNvSpPr txBox="1"/>
          <p:nvPr/>
        </p:nvSpPr>
        <p:spPr>
          <a:xfrm>
            <a:off x="5454390" y="4193325"/>
            <a:ext cx="203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small margin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55">
            <a:extLst>
              <a:ext uri="{FF2B5EF4-FFF2-40B4-BE49-F238E27FC236}">
                <a16:creationId xmlns:a16="http://schemas.microsoft.com/office/drawing/2014/main" id="{D84D26F7-100E-78CB-5308-2CE53EE971F0}"/>
              </a:ext>
            </a:extLst>
          </p:cNvPr>
          <p:cNvSpPr txBox="1"/>
          <p:nvPr/>
        </p:nvSpPr>
        <p:spPr>
          <a:xfrm>
            <a:off x="1705512" y="4543499"/>
            <a:ext cx="2031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large margin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56">
            <a:extLst>
              <a:ext uri="{FF2B5EF4-FFF2-40B4-BE49-F238E27FC236}">
                <a16:creationId xmlns:a16="http://schemas.microsoft.com/office/drawing/2014/main" id="{BD631CCF-CC4E-AB56-0B5B-F3276CF0C3C5}"/>
              </a:ext>
            </a:extLst>
          </p:cNvPr>
          <p:cNvSpPr txBox="1"/>
          <p:nvPr/>
        </p:nvSpPr>
        <p:spPr>
          <a:xfrm>
            <a:off x="4400608" y="3429000"/>
            <a:ext cx="253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best hyperplane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54">
            <a:extLst>
              <a:ext uri="{FF2B5EF4-FFF2-40B4-BE49-F238E27FC236}">
                <a16:creationId xmlns:a16="http://schemas.microsoft.com/office/drawing/2014/main" id="{6362DEDE-03F7-8517-3FE9-C3B21D3ABEF4}"/>
              </a:ext>
            </a:extLst>
          </p:cNvPr>
          <p:cNvSpPr/>
          <p:nvPr/>
        </p:nvSpPr>
        <p:spPr>
          <a:xfrm>
            <a:off x="454036" y="5548777"/>
            <a:ext cx="113693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SVMs use the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margin principle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 Finds the hyperplane with maximum separation margin on the training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Large margin leads to good generalization on the test data</a:t>
            </a:r>
          </a:p>
        </p:txBody>
      </p:sp>
    </p:spTree>
    <p:extLst>
      <p:ext uri="{BB962C8B-B14F-4D97-AF65-F5344CB8AC3E}">
        <p14:creationId xmlns:p14="http://schemas.microsoft.com/office/powerpoint/2010/main" val="178124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Support vectors</a:t>
            </a:r>
          </a:p>
        </p:txBody>
      </p:sp>
      <p:cxnSp>
        <p:nvCxnSpPr>
          <p:cNvPr id="2" name="直接连接符 7">
            <a:extLst>
              <a:ext uri="{FF2B5EF4-FFF2-40B4-BE49-F238E27FC236}">
                <a16:creationId xmlns:a16="http://schemas.microsoft.com/office/drawing/2014/main" id="{911BC728-BFD8-CDB6-168B-41349F06796B}"/>
              </a:ext>
            </a:extLst>
          </p:cNvPr>
          <p:cNvCxnSpPr>
            <a:cxnSpLocks/>
          </p:cNvCxnSpPr>
          <p:nvPr/>
        </p:nvCxnSpPr>
        <p:spPr>
          <a:xfrm flipV="1">
            <a:off x="3051882" y="3669857"/>
            <a:ext cx="1337639" cy="1718242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8">
            <a:extLst>
              <a:ext uri="{FF2B5EF4-FFF2-40B4-BE49-F238E27FC236}">
                <a16:creationId xmlns:a16="http://schemas.microsoft.com/office/drawing/2014/main" id="{2F4AC311-841F-9F27-B8F5-9191337B1D00}"/>
              </a:ext>
            </a:extLst>
          </p:cNvPr>
          <p:cNvCxnSpPr>
            <a:cxnSpLocks/>
          </p:cNvCxnSpPr>
          <p:nvPr/>
        </p:nvCxnSpPr>
        <p:spPr>
          <a:xfrm flipV="1">
            <a:off x="3305456" y="3867977"/>
            <a:ext cx="1325709" cy="167221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9">
            <a:extLst>
              <a:ext uri="{FF2B5EF4-FFF2-40B4-BE49-F238E27FC236}">
                <a16:creationId xmlns:a16="http://schemas.microsoft.com/office/drawing/2014/main" id="{04E55392-1470-F085-77B0-2C5B2C89CBE3}"/>
              </a:ext>
            </a:extLst>
          </p:cNvPr>
          <p:cNvCxnSpPr>
            <a:cxnSpLocks/>
          </p:cNvCxnSpPr>
          <p:nvPr/>
        </p:nvCxnSpPr>
        <p:spPr>
          <a:xfrm flipV="1">
            <a:off x="2800077" y="3451706"/>
            <a:ext cx="1341083" cy="17681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72">
            <a:extLst>
              <a:ext uri="{FF2B5EF4-FFF2-40B4-BE49-F238E27FC236}">
                <a16:creationId xmlns:a16="http://schemas.microsoft.com/office/drawing/2014/main" id="{FF99578F-7168-DD44-BB9D-CBF5807D6738}"/>
              </a:ext>
            </a:extLst>
          </p:cNvPr>
          <p:cNvGrpSpPr/>
          <p:nvPr/>
        </p:nvGrpSpPr>
        <p:grpSpPr>
          <a:xfrm>
            <a:off x="2605216" y="3516862"/>
            <a:ext cx="1341082" cy="1229083"/>
            <a:chOff x="2316616" y="3400233"/>
            <a:chExt cx="1341082" cy="1229083"/>
          </a:xfrm>
        </p:grpSpPr>
        <p:sp>
          <p:nvSpPr>
            <p:cNvPr id="6" name="椭圆 11">
              <a:extLst>
                <a:ext uri="{FF2B5EF4-FFF2-40B4-BE49-F238E27FC236}">
                  <a16:creationId xmlns:a16="http://schemas.microsoft.com/office/drawing/2014/main" id="{EEDBE4EF-0017-4F12-91E4-588B463F1E1A}"/>
                </a:ext>
              </a:extLst>
            </p:cNvPr>
            <p:cNvSpPr/>
            <p:nvPr/>
          </p:nvSpPr>
          <p:spPr>
            <a:xfrm rot="20082175">
              <a:off x="2739694" y="3983048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12">
              <a:extLst>
                <a:ext uri="{FF2B5EF4-FFF2-40B4-BE49-F238E27FC236}">
                  <a16:creationId xmlns:a16="http://schemas.microsoft.com/office/drawing/2014/main" id="{17F4AB21-24AB-3614-79E1-4CB8D0275C08}"/>
                </a:ext>
              </a:extLst>
            </p:cNvPr>
            <p:cNvSpPr/>
            <p:nvPr/>
          </p:nvSpPr>
          <p:spPr>
            <a:xfrm rot="20082175">
              <a:off x="2942602" y="405571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3">
              <a:extLst>
                <a:ext uri="{FF2B5EF4-FFF2-40B4-BE49-F238E27FC236}">
                  <a16:creationId xmlns:a16="http://schemas.microsoft.com/office/drawing/2014/main" id="{B1A92B96-EE9C-1851-57CF-90C8D3A4FF00}"/>
                </a:ext>
              </a:extLst>
            </p:cNvPr>
            <p:cNvSpPr/>
            <p:nvPr/>
          </p:nvSpPr>
          <p:spPr>
            <a:xfrm rot="20082175">
              <a:off x="2697707" y="434002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6">
              <a:extLst>
                <a:ext uri="{FF2B5EF4-FFF2-40B4-BE49-F238E27FC236}">
                  <a16:creationId xmlns:a16="http://schemas.microsoft.com/office/drawing/2014/main" id="{927E6506-D0BA-8E80-576C-CBE1D6D59C9F}"/>
                </a:ext>
              </a:extLst>
            </p:cNvPr>
            <p:cNvSpPr/>
            <p:nvPr/>
          </p:nvSpPr>
          <p:spPr>
            <a:xfrm rot="20082175">
              <a:off x="2892303" y="425773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7">
              <a:extLst>
                <a:ext uri="{FF2B5EF4-FFF2-40B4-BE49-F238E27FC236}">
                  <a16:creationId xmlns:a16="http://schemas.microsoft.com/office/drawing/2014/main" id="{3B17D891-FE41-DA38-13AE-5B9AFDD1713A}"/>
                </a:ext>
              </a:extLst>
            </p:cNvPr>
            <p:cNvSpPr/>
            <p:nvPr/>
          </p:nvSpPr>
          <p:spPr>
            <a:xfrm rot="20082175">
              <a:off x="3233438" y="390256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8">
              <a:extLst>
                <a:ext uri="{FF2B5EF4-FFF2-40B4-BE49-F238E27FC236}">
                  <a16:creationId xmlns:a16="http://schemas.microsoft.com/office/drawing/2014/main" id="{304F6AD0-B097-89B2-1363-03BEDDD12DE4}"/>
                </a:ext>
              </a:extLst>
            </p:cNvPr>
            <p:cNvSpPr/>
            <p:nvPr/>
          </p:nvSpPr>
          <p:spPr>
            <a:xfrm rot="20082175">
              <a:off x="2695900" y="4518105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本框 19">
              <a:extLst>
                <a:ext uri="{FF2B5EF4-FFF2-40B4-BE49-F238E27FC236}">
                  <a16:creationId xmlns:a16="http://schemas.microsoft.com/office/drawing/2014/main" id="{9C7723B3-2DAA-4959-0516-245A792A716E}"/>
                </a:ext>
              </a:extLst>
            </p:cNvPr>
            <p:cNvSpPr txBox="1"/>
            <p:nvPr/>
          </p:nvSpPr>
          <p:spPr>
            <a:xfrm>
              <a:off x="2316616" y="3400233"/>
              <a:ext cx="1341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+1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20">
            <a:extLst>
              <a:ext uri="{FF2B5EF4-FFF2-40B4-BE49-F238E27FC236}">
                <a16:creationId xmlns:a16="http://schemas.microsoft.com/office/drawing/2014/main" id="{BF79849B-232C-F6C9-2890-30A2B21E1DEB}"/>
              </a:ext>
            </a:extLst>
          </p:cNvPr>
          <p:cNvGrpSpPr/>
          <p:nvPr/>
        </p:nvGrpSpPr>
        <p:grpSpPr>
          <a:xfrm>
            <a:off x="3809527" y="4398403"/>
            <a:ext cx="2028062" cy="666931"/>
            <a:chOff x="3683605" y="5029274"/>
            <a:chExt cx="2028062" cy="666931"/>
          </a:xfrm>
        </p:grpSpPr>
        <p:sp>
          <p:nvSpPr>
            <p:cNvPr id="15" name="矩形 22">
              <a:extLst>
                <a:ext uri="{FF2B5EF4-FFF2-40B4-BE49-F238E27FC236}">
                  <a16:creationId xmlns:a16="http://schemas.microsoft.com/office/drawing/2014/main" id="{D753F306-5136-F05A-E7E8-DD765246F023}"/>
                </a:ext>
              </a:extLst>
            </p:cNvPr>
            <p:cNvSpPr/>
            <p:nvPr/>
          </p:nvSpPr>
          <p:spPr>
            <a:xfrm rot="20682264">
              <a:off x="3943302" y="534223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23">
              <a:extLst>
                <a:ext uri="{FF2B5EF4-FFF2-40B4-BE49-F238E27FC236}">
                  <a16:creationId xmlns:a16="http://schemas.microsoft.com/office/drawing/2014/main" id="{CB8DC8AC-3D5D-091E-89A2-D6B3C0496E22}"/>
                </a:ext>
              </a:extLst>
            </p:cNvPr>
            <p:cNvSpPr/>
            <p:nvPr/>
          </p:nvSpPr>
          <p:spPr>
            <a:xfrm rot="20682264">
              <a:off x="4064592" y="536441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24">
              <a:extLst>
                <a:ext uri="{FF2B5EF4-FFF2-40B4-BE49-F238E27FC236}">
                  <a16:creationId xmlns:a16="http://schemas.microsoft.com/office/drawing/2014/main" id="{5B8C0EDF-9596-51F3-4E87-A6129177078C}"/>
                </a:ext>
              </a:extLst>
            </p:cNvPr>
            <p:cNvSpPr/>
            <p:nvPr/>
          </p:nvSpPr>
          <p:spPr>
            <a:xfrm rot="20682264">
              <a:off x="4256051" y="532674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25">
              <a:extLst>
                <a:ext uri="{FF2B5EF4-FFF2-40B4-BE49-F238E27FC236}">
                  <a16:creationId xmlns:a16="http://schemas.microsoft.com/office/drawing/2014/main" id="{928CC606-B67E-2212-5FC2-0E55DF78E034}"/>
                </a:ext>
              </a:extLst>
            </p:cNvPr>
            <p:cNvSpPr/>
            <p:nvPr/>
          </p:nvSpPr>
          <p:spPr>
            <a:xfrm rot="20682264">
              <a:off x="3683605" y="55422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26">
              <a:extLst>
                <a:ext uri="{FF2B5EF4-FFF2-40B4-BE49-F238E27FC236}">
                  <a16:creationId xmlns:a16="http://schemas.microsoft.com/office/drawing/2014/main" id="{A8B722B0-3FCB-68D2-5056-174CF8C42DA7}"/>
                </a:ext>
              </a:extLst>
            </p:cNvPr>
            <p:cNvSpPr/>
            <p:nvPr/>
          </p:nvSpPr>
          <p:spPr>
            <a:xfrm rot="20682264">
              <a:off x="4324352" y="513538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7">
              <a:extLst>
                <a:ext uri="{FF2B5EF4-FFF2-40B4-BE49-F238E27FC236}">
                  <a16:creationId xmlns:a16="http://schemas.microsoft.com/office/drawing/2014/main" id="{0FD134C0-DA5D-0F0B-0286-C0F2C621364F}"/>
                </a:ext>
              </a:extLst>
            </p:cNvPr>
            <p:cNvSpPr/>
            <p:nvPr/>
          </p:nvSpPr>
          <p:spPr>
            <a:xfrm rot="20682264">
              <a:off x="4109859" y="50292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8">
              <a:extLst>
                <a:ext uri="{FF2B5EF4-FFF2-40B4-BE49-F238E27FC236}">
                  <a16:creationId xmlns:a16="http://schemas.microsoft.com/office/drawing/2014/main" id="{BB05C4E2-60BA-669E-BC05-922A7FBC7240}"/>
                </a:ext>
              </a:extLst>
            </p:cNvPr>
            <p:cNvSpPr/>
            <p:nvPr/>
          </p:nvSpPr>
          <p:spPr>
            <a:xfrm rot="20682264">
              <a:off x="3898098" y="56035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文本框 29">
              <a:extLst>
                <a:ext uri="{FF2B5EF4-FFF2-40B4-BE49-F238E27FC236}">
                  <a16:creationId xmlns:a16="http://schemas.microsoft.com/office/drawing/2014/main" id="{D2C243C2-231E-071E-9066-3A919DD15FFD}"/>
                </a:ext>
              </a:extLst>
            </p:cNvPr>
            <p:cNvSpPr txBox="1"/>
            <p:nvPr/>
          </p:nvSpPr>
          <p:spPr>
            <a:xfrm>
              <a:off x="4385958" y="5200030"/>
              <a:ext cx="13257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直接箭头连接符 30">
            <a:extLst>
              <a:ext uri="{FF2B5EF4-FFF2-40B4-BE49-F238E27FC236}">
                <a16:creationId xmlns:a16="http://schemas.microsoft.com/office/drawing/2014/main" id="{A8065511-3E0C-1DC1-36AF-10F2547CF626}"/>
              </a:ext>
            </a:extLst>
          </p:cNvPr>
          <p:cNvCxnSpPr>
            <a:cxnSpLocks/>
          </p:cNvCxnSpPr>
          <p:nvPr/>
        </p:nvCxnSpPr>
        <p:spPr>
          <a:xfrm>
            <a:off x="3638946" y="4111622"/>
            <a:ext cx="253288" cy="167835"/>
          </a:xfrm>
          <a:prstGeom prst="straightConnector1">
            <a:avLst/>
          </a:prstGeom>
          <a:ln>
            <a:headEnd type="stealth" w="med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31">
            <a:extLst>
              <a:ext uri="{FF2B5EF4-FFF2-40B4-BE49-F238E27FC236}">
                <a16:creationId xmlns:a16="http://schemas.microsoft.com/office/drawing/2014/main" id="{EFF1CDF0-1A2B-459B-4B67-D104B150486E}"/>
              </a:ext>
            </a:extLst>
          </p:cNvPr>
          <p:cNvCxnSpPr>
            <a:cxnSpLocks/>
          </p:cNvCxnSpPr>
          <p:nvPr/>
        </p:nvCxnSpPr>
        <p:spPr>
          <a:xfrm>
            <a:off x="3556954" y="4762057"/>
            <a:ext cx="235565" cy="152577"/>
          </a:xfrm>
          <a:prstGeom prst="straightConnector1">
            <a:avLst/>
          </a:prstGeom>
          <a:ln>
            <a:headEnd type="stealth" w="med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34">
                <a:extLst>
                  <a:ext uri="{FF2B5EF4-FFF2-40B4-BE49-F238E27FC236}">
                    <a16:creationId xmlns:a16="http://schemas.microsoft.com/office/drawing/2014/main" id="{96A73076-3ED0-18B2-DAF2-D45182FA5B53}"/>
                  </a:ext>
                </a:extLst>
              </p:cNvPr>
              <p:cNvSpPr txBox="1"/>
              <p:nvPr/>
            </p:nvSpPr>
            <p:spPr>
              <a:xfrm>
                <a:off x="4313590" y="3293182"/>
                <a:ext cx="468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34">
                <a:extLst>
                  <a:ext uri="{FF2B5EF4-FFF2-40B4-BE49-F238E27FC236}">
                    <a16:creationId xmlns:a16="http://schemas.microsoft.com/office/drawing/2014/main" id="{96A73076-3ED0-18B2-DAF2-D45182FA5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590" y="3293182"/>
                <a:ext cx="46837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6">
            <a:extLst>
              <a:ext uri="{FF2B5EF4-FFF2-40B4-BE49-F238E27FC236}">
                <a16:creationId xmlns:a16="http://schemas.microsoft.com/office/drawing/2014/main" id="{2345A384-0B7F-B0C3-5C90-B1EABDDE0E36}"/>
              </a:ext>
            </a:extLst>
          </p:cNvPr>
          <p:cNvGrpSpPr/>
          <p:nvPr/>
        </p:nvGrpSpPr>
        <p:grpSpPr>
          <a:xfrm>
            <a:off x="2435299" y="3277222"/>
            <a:ext cx="2944062" cy="2531010"/>
            <a:chOff x="1232523" y="2827386"/>
            <a:chExt cx="2944062" cy="2531010"/>
          </a:xfrm>
        </p:grpSpPr>
        <p:cxnSp>
          <p:nvCxnSpPr>
            <p:cNvPr id="27" name="直接箭头连接符 56">
              <a:extLst>
                <a:ext uri="{FF2B5EF4-FFF2-40B4-BE49-F238E27FC236}">
                  <a16:creationId xmlns:a16="http://schemas.microsoft.com/office/drawing/2014/main" id="{87F641A3-BF4C-B93E-33F5-897E80DCEB9B}"/>
                </a:ext>
              </a:extLst>
            </p:cNvPr>
            <p:cNvCxnSpPr>
              <a:cxnSpLocks/>
            </p:cNvCxnSpPr>
            <p:nvPr/>
          </p:nvCxnSpPr>
          <p:spPr>
            <a:xfrm>
              <a:off x="1232523" y="5118924"/>
              <a:ext cx="2944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58">
              <a:extLst>
                <a:ext uri="{FF2B5EF4-FFF2-40B4-BE49-F238E27FC236}">
                  <a16:creationId xmlns:a16="http://schemas.microsoft.com/office/drawing/2014/main" id="{B8669E98-3D63-19FB-9BCF-8C08EC046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5518" y="2827386"/>
              <a:ext cx="0" cy="25310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59">
            <a:extLst>
              <a:ext uri="{FF2B5EF4-FFF2-40B4-BE49-F238E27FC236}">
                <a16:creationId xmlns:a16="http://schemas.microsoft.com/office/drawing/2014/main" id="{1BA811C5-D45F-A5F7-C62F-F9148E32E720}"/>
              </a:ext>
            </a:extLst>
          </p:cNvPr>
          <p:cNvCxnSpPr>
            <a:cxnSpLocks/>
          </p:cNvCxnSpPr>
          <p:nvPr/>
        </p:nvCxnSpPr>
        <p:spPr>
          <a:xfrm>
            <a:off x="3976273" y="4233713"/>
            <a:ext cx="235565" cy="152577"/>
          </a:xfrm>
          <a:prstGeom prst="straightConnector1">
            <a:avLst/>
          </a:prstGeom>
          <a:ln>
            <a:headEnd type="stealth" w="med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60">
            <a:extLst>
              <a:ext uri="{FF2B5EF4-FFF2-40B4-BE49-F238E27FC236}">
                <a16:creationId xmlns:a16="http://schemas.microsoft.com/office/drawing/2014/main" id="{3D350CD4-3B86-DAEE-60E8-418BF41DE21D}"/>
              </a:ext>
            </a:extLst>
          </p:cNvPr>
          <p:cNvSpPr/>
          <p:nvPr/>
        </p:nvSpPr>
        <p:spPr>
          <a:xfrm>
            <a:off x="3460744" y="3956291"/>
            <a:ext cx="262753" cy="269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椭圆 61">
            <a:extLst>
              <a:ext uri="{FF2B5EF4-FFF2-40B4-BE49-F238E27FC236}">
                <a16:creationId xmlns:a16="http://schemas.microsoft.com/office/drawing/2014/main" id="{3491D81B-6ABE-2D49-30B8-7AD03278BDE6}"/>
              </a:ext>
            </a:extLst>
          </p:cNvPr>
          <p:cNvSpPr/>
          <p:nvPr/>
        </p:nvSpPr>
        <p:spPr>
          <a:xfrm>
            <a:off x="4150739" y="4310001"/>
            <a:ext cx="262753" cy="269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椭圆 62">
            <a:extLst>
              <a:ext uri="{FF2B5EF4-FFF2-40B4-BE49-F238E27FC236}">
                <a16:creationId xmlns:a16="http://schemas.microsoft.com/office/drawing/2014/main" id="{7D636A74-C7C9-DA37-003E-7FCF920679FC}"/>
              </a:ext>
            </a:extLst>
          </p:cNvPr>
          <p:cNvSpPr/>
          <p:nvPr/>
        </p:nvSpPr>
        <p:spPr>
          <a:xfrm>
            <a:off x="3719369" y="4828190"/>
            <a:ext cx="262753" cy="269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15">
            <a:extLst>
              <a:ext uri="{FF2B5EF4-FFF2-40B4-BE49-F238E27FC236}">
                <a16:creationId xmlns:a16="http://schemas.microsoft.com/office/drawing/2014/main" id="{EC042C38-047A-ADE9-E5A7-4EE7CD510370}"/>
              </a:ext>
            </a:extLst>
          </p:cNvPr>
          <p:cNvSpPr txBox="1"/>
          <p:nvPr/>
        </p:nvSpPr>
        <p:spPr>
          <a:xfrm>
            <a:off x="4990942" y="3910125"/>
            <a:ext cx="22869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support vectors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EB099DA-286A-A0B4-B120-448011E12395}"/>
              </a:ext>
            </a:extLst>
          </p:cNvPr>
          <p:cNvCxnSpPr>
            <a:cxnSpLocks/>
            <a:stCxn id="30" idx="7"/>
            <a:endCxn id="33" idx="1"/>
          </p:cNvCxnSpPr>
          <p:nvPr/>
        </p:nvCxnSpPr>
        <p:spPr>
          <a:xfrm>
            <a:off x="3685018" y="3995694"/>
            <a:ext cx="1305924" cy="145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63">
            <a:extLst>
              <a:ext uri="{FF2B5EF4-FFF2-40B4-BE49-F238E27FC236}">
                <a16:creationId xmlns:a16="http://schemas.microsoft.com/office/drawing/2014/main" id="{2A83692B-ECED-BB21-AEBF-3FF77E3A8699}"/>
              </a:ext>
            </a:extLst>
          </p:cNvPr>
          <p:cNvCxnSpPr>
            <a:cxnSpLocks/>
            <a:stCxn id="32" idx="6"/>
            <a:endCxn id="33" idx="1"/>
          </p:cNvCxnSpPr>
          <p:nvPr/>
        </p:nvCxnSpPr>
        <p:spPr>
          <a:xfrm flipV="1">
            <a:off x="3982122" y="4140958"/>
            <a:ext cx="1008820" cy="82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64">
            <a:extLst>
              <a:ext uri="{FF2B5EF4-FFF2-40B4-BE49-F238E27FC236}">
                <a16:creationId xmlns:a16="http://schemas.microsoft.com/office/drawing/2014/main" id="{33F5C3C6-5B15-E087-3DA7-EAC5A7F56185}"/>
              </a:ext>
            </a:extLst>
          </p:cNvPr>
          <p:cNvCxnSpPr>
            <a:cxnSpLocks/>
            <a:stCxn id="31" idx="7"/>
            <a:endCxn id="33" idx="1"/>
          </p:cNvCxnSpPr>
          <p:nvPr/>
        </p:nvCxnSpPr>
        <p:spPr>
          <a:xfrm flipV="1">
            <a:off x="4375013" y="4140958"/>
            <a:ext cx="615929" cy="208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68">
            <a:extLst>
              <a:ext uri="{FF2B5EF4-FFF2-40B4-BE49-F238E27FC236}">
                <a16:creationId xmlns:a16="http://schemas.microsoft.com/office/drawing/2014/main" id="{DF9AC7BD-03C4-7A2B-5B02-11063F2A1860}"/>
              </a:ext>
            </a:extLst>
          </p:cNvPr>
          <p:cNvSpPr/>
          <p:nvPr/>
        </p:nvSpPr>
        <p:spPr>
          <a:xfrm>
            <a:off x="396647" y="1741460"/>
            <a:ext cx="109960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All the points that have the minimum distance to the hyperplane are called 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SVM, the classifier is only determined by the support vectors.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There’s no impact if other data are removed.</a:t>
            </a:r>
          </a:p>
        </p:txBody>
      </p:sp>
      <p:sp>
        <p:nvSpPr>
          <p:cNvPr id="38" name="矩形 69">
            <a:extLst>
              <a:ext uri="{FF2B5EF4-FFF2-40B4-BE49-F238E27FC236}">
                <a16:creationId xmlns:a16="http://schemas.microsoft.com/office/drawing/2014/main" id="{07AE202D-3F91-FD1A-86B8-868D0FDB3EB5}"/>
              </a:ext>
            </a:extLst>
          </p:cNvPr>
          <p:cNvSpPr/>
          <p:nvPr/>
        </p:nvSpPr>
        <p:spPr>
          <a:xfrm>
            <a:off x="396647" y="6143666"/>
            <a:ext cx="10165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This is the reason why it is named as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Vector Machines (SVMs).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38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827738-CDE7-4FFE-B08A-0FD1C6B244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8EA758-F3B1-4A6F-AF74-376A32E4CB7A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B2111458-4B41-4A5D-9A74-0C3654B303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2030</TotalTime>
  <Words>539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Wingdings</vt:lpstr>
      <vt:lpstr>Office Theme</vt:lpstr>
      <vt:lpstr>Support Vector Machine: Fundamental Concepts</vt:lpstr>
      <vt:lpstr>Classification</vt:lpstr>
      <vt:lpstr>SVM: an overview</vt:lpstr>
      <vt:lpstr>SVM: an overview</vt:lpstr>
      <vt:lpstr>Hyperplane</vt:lpstr>
      <vt:lpstr>Separating hyperplane</vt:lpstr>
      <vt:lpstr>The best separating hyperplane</vt:lpstr>
      <vt:lpstr>The best separating hyperplane</vt:lpstr>
      <vt:lpstr>Support vectors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87</cp:revision>
  <dcterms:created xsi:type="dcterms:W3CDTF">2021-01-06T14:22:07Z</dcterms:created>
  <dcterms:modified xsi:type="dcterms:W3CDTF">2024-07-15T11:16:44Z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