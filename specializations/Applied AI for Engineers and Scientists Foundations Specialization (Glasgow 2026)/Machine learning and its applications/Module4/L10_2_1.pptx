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8" r:id="rId8"/>
    <p:sldId id="499" r:id="rId9"/>
    <p:sldId id="500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56" y="48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10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18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66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15/07/2024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analyticsvidhya.com/blog/2021/10/support-vector-machinessvm-a-complete-guide-for-beginners/" TargetMode="Externa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Linear SVM – Hard Margin Classifier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How does SVM work: distance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72">
                <a:extLst>
                  <a:ext uri="{FF2B5EF4-FFF2-40B4-BE49-F238E27FC236}">
                    <a16:creationId xmlns:a16="http://schemas.microsoft.com/office/drawing/2014/main" id="{649CEB55-EBFF-D23F-945E-E206534DCA48}"/>
                  </a:ext>
                </a:extLst>
              </p:cNvPr>
              <p:cNvSpPr txBox="1"/>
              <p:nvPr/>
            </p:nvSpPr>
            <p:spPr>
              <a:xfrm>
                <a:off x="228756" y="1893258"/>
                <a:ext cx="11734488" cy="1224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length of the perpendicular line segment that connects them.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lies on the hyperplane,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𝑖𝑠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lies outside the hyperplane,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𝑖𝑠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be calculated by the distance formula.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文本框 72">
                <a:extLst>
                  <a:ext uri="{FF2B5EF4-FFF2-40B4-BE49-F238E27FC236}">
                    <a16:creationId xmlns:a16="http://schemas.microsoft.com/office/drawing/2014/main" id="{649CEB55-EBFF-D23F-945E-E206534DC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6" y="1893258"/>
                <a:ext cx="11734488" cy="1224181"/>
              </a:xfrm>
              <a:prstGeom prst="rect">
                <a:avLst/>
              </a:prstGeom>
              <a:blipFill>
                <a:blip r:embed="rId3"/>
                <a:stretch>
                  <a:fillRect l="-728" t="-3500" b="-11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73">
            <a:extLst>
              <a:ext uri="{FF2B5EF4-FFF2-40B4-BE49-F238E27FC236}">
                <a16:creationId xmlns:a16="http://schemas.microsoft.com/office/drawing/2014/main" id="{E61098A8-338D-DEF4-9BE6-A781915B8F47}"/>
              </a:ext>
            </a:extLst>
          </p:cNvPr>
          <p:cNvCxnSpPr>
            <a:cxnSpLocks/>
          </p:cNvCxnSpPr>
          <p:nvPr/>
        </p:nvCxnSpPr>
        <p:spPr>
          <a:xfrm flipV="1">
            <a:off x="2218302" y="3369682"/>
            <a:ext cx="1443133" cy="1580677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74">
                <a:extLst>
                  <a:ext uri="{FF2B5EF4-FFF2-40B4-BE49-F238E27FC236}">
                    <a16:creationId xmlns:a16="http://schemas.microsoft.com/office/drawing/2014/main" id="{70BD0E49-A959-5B62-2290-CE2D560FF8E1}"/>
                  </a:ext>
                </a:extLst>
              </p:cNvPr>
              <p:cNvSpPr txBox="1"/>
              <p:nvPr/>
            </p:nvSpPr>
            <p:spPr>
              <a:xfrm>
                <a:off x="3329665" y="3017641"/>
                <a:ext cx="468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74">
                <a:extLst>
                  <a:ext uri="{FF2B5EF4-FFF2-40B4-BE49-F238E27FC236}">
                    <a16:creationId xmlns:a16="http://schemas.microsoft.com/office/drawing/2014/main" id="{70BD0E49-A959-5B62-2290-CE2D560FF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665" y="3017641"/>
                <a:ext cx="468376" cy="461665"/>
              </a:xfrm>
              <a:prstGeom prst="rect">
                <a:avLst/>
              </a:prstGeom>
              <a:blipFill>
                <a:blip r:embed="rId4"/>
                <a:stretch>
                  <a:fillRect l="-2597" r="-3896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76">
            <a:extLst>
              <a:ext uri="{FF2B5EF4-FFF2-40B4-BE49-F238E27FC236}">
                <a16:creationId xmlns:a16="http://schemas.microsoft.com/office/drawing/2014/main" id="{11A027C5-4D0A-2E40-3A89-90C41617A64F}"/>
              </a:ext>
            </a:extLst>
          </p:cNvPr>
          <p:cNvSpPr/>
          <p:nvPr/>
        </p:nvSpPr>
        <p:spPr>
          <a:xfrm>
            <a:off x="2311981" y="3504098"/>
            <a:ext cx="99860" cy="998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箭头连接符 78">
            <a:extLst>
              <a:ext uri="{FF2B5EF4-FFF2-40B4-BE49-F238E27FC236}">
                <a16:creationId xmlns:a16="http://schemas.microsoft.com/office/drawing/2014/main" id="{2BF1CC13-0CEB-82B6-D346-DE02BF027495}"/>
              </a:ext>
            </a:extLst>
          </p:cNvPr>
          <p:cNvCxnSpPr>
            <a:stCxn id="5" idx="5"/>
          </p:cNvCxnSpPr>
          <p:nvPr/>
        </p:nvCxnSpPr>
        <p:spPr>
          <a:xfrm>
            <a:off x="2397217" y="3589334"/>
            <a:ext cx="542652" cy="542652"/>
          </a:xfrm>
          <a:prstGeom prst="straightConnector1">
            <a:avLst/>
          </a:prstGeom>
          <a:ln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平行四边形 79">
            <a:extLst>
              <a:ext uri="{FF2B5EF4-FFF2-40B4-BE49-F238E27FC236}">
                <a16:creationId xmlns:a16="http://schemas.microsoft.com/office/drawing/2014/main" id="{492BD181-936A-E599-E830-A683743C8AB9}"/>
              </a:ext>
            </a:extLst>
          </p:cNvPr>
          <p:cNvSpPr/>
          <p:nvPr/>
        </p:nvSpPr>
        <p:spPr>
          <a:xfrm rot="19923168">
            <a:off x="4703152" y="4042590"/>
            <a:ext cx="2206890" cy="512268"/>
          </a:xfrm>
          <a:prstGeom prst="parallelogram">
            <a:avLst>
              <a:gd name="adj" fmla="val 137810"/>
            </a:avLst>
          </a:prstGeom>
          <a:solidFill>
            <a:srgbClr val="92D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80">
            <a:extLst>
              <a:ext uri="{FF2B5EF4-FFF2-40B4-BE49-F238E27FC236}">
                <a16:creationId xmlns:a16="http://schemas.microsoft.com/office/drawing/2014/main" id="{76171FC8-2F73-0A5D-5E45-2A2BD81FAB6C}"/>
              </a:ext>
            </a:extLst>
          </p:cNvPr>
          <p:cNvSpPr/>
          <p:nvPr/>
        </p:nvSpPr>
        <p:spPr>
          <a:xfrm>
            <a:off x="5225433" y="3499936"/>
            <a:ext cx="99860" cy="998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接箭头连接符 81">
            <a:extLst>
              <a:ext uri="{FF2B5EF4-FFF2-40B4-BE49-F238E27FC236}">
                <a16:creationId xmlns:a16="http://schemas.microsoft.com/office/drawing/2014/main" id="{E2543EA0-7252-6BEC-E4C1-A6EB7EF37839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5310669" y="3585172"/>
            <a:ext cx="435972" cy="585432"/>
          </a:xfrm>
          <a:prstGeom prst="straightConnector1">
            <a:avLst/>
          </a:prstGeom>
          <a:ln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83">
                <a:extLst>
                  <a:ext uri="{FF2B5EF4-FFF2-40B4-BE49-F238E27FC236}">
                    <a16:creationId xmlns:a16="http://schemas.microsoft.com/office/drawing/2014/main" id="{2B375B51-38BE-D443-6489-DC3D9D95625F}"/>
                  </a:ext>
                </a:extLst>
              </p:cNvPr>
              <p:cNvSpPr txBox="1"/>
              <p:nvPr/>
            </p:nvSpPr>
            <p:spPr>
              <a:xfrm>
                <a:off x="6433022" y="3204990"/>
                <a:ext cx="468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83">
                <a:extLst>
                  <a:ext uri="{FF2B5EF4-FFF2-40B4-BE49-F238E27FC236}">
                    <a16:creationId xmlns:a16="http://schemas.microsoft.com/office/drawing/2014/main" id="{2B375B51-38BE-D443-6489-DC3D9D956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022" y="3204990"/>
                <a:ext cx="468376" cy="461665"/>
              </a:xfrm>
              <a:prstGeom prst="rect">
                <a:avLst/>
              </a:prstGeom>
              <a:blipFill>
                <a:blip r:embed="rId5"/>
                <a:stretch>
                  <a:fillRect l="-2597" r="-5195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86">
                <a:extLst>
                  <a:ext uri="{FF2B5EF4-FFF2-40B4-BE49-F238E27FC236}">
                    <a16:creationId xmlns:a16="http://schemas.microsoft.com/office/drawing/2014/main" id="{CB428E34-A861-57E0-24D8-047F399CE252}"/>
                  </a:ext>
                </a:extLst>
              </p:cNvPr>
              <p:cNvSpPr txBox="1"/>
              <p:nvPr/>
            </p:nvSpPr>
            <p:spPr>
              <a:xfrm>
                <a:off x="2029368" y="3263774"/>
                <a:ext cx="249936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86">
                <a:extLst>
                  <a:ext uri="{FF2B5EF4-FFF2-40B4-BE49-F238E27FC236}">
                    <a16:creationId xmlns:a16="http://schemas.microsoft.com/office/drawing/2014/main" id="{CB428E34-A861-57E0-24D8-047F399C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368" y="3263774"/>
                <a:ext cx="249936" cy="473591"/>
              </a:xfrm>
              <a:prstGeom prst="rect">
                <a:avLst/>
              </a:prstGeom>
              <a:blipFill>
                <a:blip r:embed="rId6"/>
                <a:stretch>
                  <a:fillRect r="-7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87">
                <a:extLst>
                  <a:ext uri="{FF2B5EF4-FFF2-40B4-BE49-F238E27FC236}">
                    <a16:creationId xmlns:a16="http://schemas.microsoft.com/office/drawing/2014/main" id="{793E15A9-1636-1A36-B060-E694F85E520A}"/>
                  </a:ext>
                </a:extLst>
              </p:cNvPr>
              <p:cNvSpPr txBox="1"/>
              <p:nvPr/>
            </p:nvSpPr>
            <p:spPr>
              <a:xfrm>
                <a:off x="4949632" y="3237768"/>
                <a:ext cx="249936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87">
                <a:extLst>
                  <a:ext uri="{FF2B5EF4-FFF2-40B4-BE49-F238E27FC236}">
                    <a16:creationId xmlns:a16="http://schemas.microsoft.com/office/drawing/2014/main" id="{793E15A9-1636-1A36-B060-E694F85E5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632" y="3237768"/>
                <a:ext cx="249936" cy="473591"/>
              </a:xfrm>
              <a:prstGeom prst="rect">
                <a:avLst/>
              </a:prstGeom>
              <a:blipFill>
                <a:blip r:embed="rId7"/>
                <a:stretch>
                  <a:fillRect r="-70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88">
                <a:extLst>
                  <a:ext uri="{FF2B5EF4-FFF2-40B4-BE49-F238E27FC236}">
                    <a16:creationId xmlns:a16="http://schemas.microsoft.com/office/drawing/2014/main" id="{29D6EFCD-7BEE-2F32-129B-297C2C8EDEB2}"/>
                  </a:ext>
                </a:extLst>
              </p:cNvPr>
              <p:cNvSpPr txBox="1"/>
              <p:nvPr/>
            </p:nvSpPr>
            <p:spPr>
              <a:xfrm>
                <a:off x="2575658" y="3555322"/>
                <a:ext cx="2499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altLang="zh-CN" sz="2400" b="0" i="1" smtClean="0">
                          <a:latin typeface="Cambria Math" panose="02040503050406030204" pitchFamily="18" charset="0"/>
                        </a:rPr>
                        <m:t>𝑖𝑠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88">
                <a:extLst>
                  <a:ext uri="{FF2B5EF4-FFF2-40B4-BE49-F238E27FC236}">
                    <a16:creationId xmlns:a16="http://schemas.microsoft.com/office/drawing/2014/main" id="{29D6EFCD-7BEE-2F32-129B-297C2C8ED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658" y="3555322"/>
                <a:ext cx="249936" cy="461665"/>
              </a:xfrm>
              <a:prstGeom prst="rect">
                <a:avLst/>
              </a:prstGeom>
              <a:blipFill>
                <a:blip r:embed="rId8"/>
                <a:stretch>
                  <a:fillRect l="-7317" r="-1439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89">
                <a:extLst>
                  <a:ext uri="{FF2B5EF4-FFF2-40B4-BE49-F238E27FC236}">
                    <a16:creationId xmlns:a16="http://schemas.microsoft.com/office/drawing/2014/main" id="{78035EA2-92CA-CDD8-495F-B46D9DBFBEB9}"/>
                  </a:ext>
                </a:extLst>
              </p:cNvPr>
              <p:cNvSpPr txBox="1"/>
              <p:nvPr/>
            </p:nvSpPr>
            <p:spPr>
              <a:xfrm>
                <a:off x="5436394" y="3569560"/>
                <a:ext cx="2499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altLang="zh-CN" sz="2400" b="0" i="1" smtClean="0">
                          <a:latin typeface="Cambria Math" panose="02040503050406030204" pitchFamily="18" charset="0"/>
                        </a:rPr>
                        <m:t>𝑖𝑠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本框 89">
                <a:extLst>
                  <a:ext uri="{FF2B5EF4-FFF2-40B4-BE49-F238E27FC236}">
                    <a16:creationId xmlns:a16="http://schemas.microsoft.com/office/drawing/2014/main" id="{78035EA2-92CA-CDD8-495F-B46D9DBFB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394" y="3569560"/>
                <a:ext cx="249936" cy="461665"/>
              </a:xfrm>
              <a:prstGeom prst="rect">
                <a:avLst/>
              </a:prstGeom>
              <a:blipFill>
                <a:blip r:embed="rId9"/>
                <a:stretch>
                  <a:fillRect l="-7317" r="-1439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90">
                <a:extLst>
                  <a:ext uri="{FF2B5EF4-FFF2-40B4-BE49-F238E27FC236}">
                    <a16:creationId xmlns:a16="http://schemas.microsoft.com/office/drawing/2014/main" id="{71E7B256-4C99-AC3F-0B45-04492F72ADF8}"/>
                  </a:ext>
                </a:extLst>
              </p:cNvPr>
              <p:cNvSpPr txBox="1"/>
              <p:nvPr/>
            </p:nvSpPr>
            <p:spPr>
              <a:xfrm>
                <a:off x="222984" y="4985663"/>
                <a:ext cx="9616701" cy="1646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Distance formula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optional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distance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hyperplane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altLang="zh-CN" sz="2400" b="0" i="1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⁡{0,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本框 90">
                <a:extLst>
                  <a:ext uri="{FF2B5EF4-FFF2-40B4-BE49-F238E27FC236}">
                    <a16:creationId xmlns:a16="http://schemas.microsoft.com/office/drawing/2014/main" id="{71E7B256-4C99-AC3F-0B45-04492F72A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84" y="4985663"/>
                <a:ext cx="9616701" cy="1646605"/>
              </a:xfrm>
              <a:prstGeom prst="rect">
                <a:avLst/>
              </a:prstGeom>
              <a:blipFill>
                <a:blip r:embed="rId10"/>
                <a:stretch>
                  <a:fillRect l="-1015" t="-2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91">
            <a:extLst>
              <a:ext uri="{FF2B5EF4-FFF2-40B4-BE49-F238E27FC236}">
                <a16:creationId xmlns:a16="http://schemas.microsoft.com/office/drawing/2014/main" id="{7DD1CE7E-AFB1-10BD-6B29-6FB73A4EBF45}"/>
              </a:ext>
            </a:extLst>
          </p:cNvPr>
          <p:cNvSpPr/>
          <p:nvPr/>
        </p:nvSpPr>
        <p:spPr>
          <a:xfrm>
            <a:off x="222984" y="1465929"/>
            <a:ext cx="6490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Distance between a point and a hyperplane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B4873E-1372-DFB2-970A-835067F1587E}"/>
              </a:ext>
            </a:extLst>
          </p:cNvPr>
          <p:cNvGrpSpPr/>
          <p:nvPr/>
        </p:nvGrpSpPr>
        <p:grpSpPr>
          <a:xfrm>
            <a:off x="2699737" y="4115627"/>
            <a:ext cx="9356460" cy="2311015"/>
            <a:chOff x="2605329" y="3826470"/>
            <a:chExt cx="9356460" cy="23110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4">
                  <a:extLst>
                    <a:ext uri="{FF2B5EF4-FFF2-40B4-BE49-F238E27FC236}">
                      <a16:creationId xmlns:a16="http://schemas.microsoft.com/office/drawing/2014/main" id="{F2FE5946-8A0B-BDD6-20FC-0A640F882DB7}"/>
                    </a:ext>
                  </a:extLst>
                </p:cNvPr>
                <p:cNvSpPr txBox="1"/>
                <p:nvPr/>
              </p:nvSpPr>
              <p:spPr>
                <a:xfrm>
                  <a:off x="7962618" y="4052024"/>
                  <a:ext cx="3999171" cy="908903"/>
                </a:xfrm>
                <a:prstGeom prst="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‖</a:t>
                  </a: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𝒘</a:t>
                  </a:r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‖ is the norm of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zh-CN" altLang="en-US" sz="240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𝒘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GB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GB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" name="文本框 4">
                  <a:extLst>
                    <a:ext uri="{FF2B5EF4-FFF2-40B4-BE49-F238E27FC236}">
                      <a16:creationId xmlns:a16="http://schemas.microsoft.com/office/drawing/2014/main" id="{F2FE5946-8A0B-BDD6-20FC-0A640F882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2618" y="4052024"/>
                  <a:ext cx="3999171" cy="908903"/>
                </a:xfrm>
                <a:prstGeom prst="rect">
                  <a:avLst/>
                </a:prstGeom>
                <a:blipFill>
                  <a:blip r:embed="rId11"/>
                  <a:stretch>
                    <a:fillRect l="-2280" t="-4636"/>
                  </a:stretch>
                </a:blipFill>
                <a:ln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C43557F8-07B9-67EE-88F7-8DA496E3A34C}"/>
                </a:ext>
              </a:extLst>
            </p:cNvPr>
            <p:cNvSpPr/>
            <p:nvPr/>
          </p:nvSpPr>
          <p:spPr>
            <a:xfrm rot="10800000" flipH="1">
              <a:off x="2605329" y="3826470"/>
              <a:ext cx="6027095" cy="2311015"/>
            </a:xfrm>
            <a:prstGeom prst="arc">
              <a:avLst>
                <a:gd name="adj1" fmla="val 16200000"/>
                <a:gd name="adj2" fmla="val 15556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9" grpId="0" animBg="1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How does SVM work: margin</a:t>
            </a:r>
          </a:p>
        </p:txBody>
      </p:sp>
      <p:sp>
        <p:nvSpPr>
          <p:cNvPr id="2" name="文本框 72">
            <a:extLst>
              <a:ext uri="{FF2B5EF4-FFF2-40B4-BE49-F238E27FC236}">
                <a16:creationId xmlns:a16="http://schemas.microsoft.com/office/drawing/2014/main" id="{1F28A90B-6730-9532-D49C-AFECE6512C49}"/>
              </a:ext>
            </a:extLst>
          </p:cNvPr>
          <p:cNvSpPr txBox="1"/>
          <p:nvPr/>
        </p:nvSpPr>
        <p:spPr>
          <a:xfrm>
            <a:off x="223510" y="1462556"/>
            <a:ext cx="4003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590BF6-52AD-A8F2-A715-7795D15AE47A}"/>
              </a:ext>
            </a:extLst>
          </p:cNvPr>
          <p:cNvSpPr txBox="1"/>
          <p:nvPr/>
        </p:nvSpPr>
        <p:spPr>
          <a:xfrm>
            <a:off x="229270" y="3465627"/>
            <a:ext cx="9976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size of the margin defines the confidence of the classifier.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SVM aims at selecting the hyperplane with the largest margin.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接连接符 7">
            <a:extLst>
              <a:ext uri="{FF2B5EF4-FFF2-40B4-BE49-F238E27FC236}">
                <a16:creationId xmlns:a16="http://schemas.microsoft.com/office/drawing/2014/main" id="{A59004E4-A406-1C2D-BC51-7BBEE9BAC71F}"/>
              </a:ext>
            </a:extLst>
          </p:cNvPr>
          <p:cNvCxnSpPr>
            <a:cxnSpLocks/>
          </p:cNvCxnSpPr>
          <p:nvPr/>
        </p:nvCxnSpPr>
        <p:spPr>
          <a:xfrm flipV="1">
            <a:off x="2103264" y="4642101"/>
            <a:ext cx="1337639" cy="1718242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A8F1C7F6-E0CA-C031-9A37-A254EAE68AE5}"/>
              </a:ext>
            </a:extLst>
          </p:cNvPr>
          <p:cNvCxnSpPr>
            <a:cxnSpLocks/>
          </p:cNvCxnSpPr>
          <p:nvPr/>
        </p:nvCxnSpPr>
        <p:spPr>
          <a:xfrm flipV="1">
            <a:off x="2356838" y="4840221"/>
            <a:ext cx="1325709" cy="167221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9">
            <a:extLst>
              <a:ext uri="{FF2B5EF4-FFF2-40B4-BE49-F238E27FC236}">
                <a16:creationId xmlns:a16="http://schemas.microsoft.com/office/drawing/2014/main" id="{0363FAF7-053A-CA3C-3A96-46ED464F9F0A}"/>
              </a:ext>
            </a:extLst>
          </p:cNvPr>
          <p:cNvCxnSpPr>
            <a:cxnSpLocks/>
          </p:cNvCxnSpPr>
          <p:nvPr/>
        </p:nvCxnSpPr>
        <p:spPr>
          <a:xfrm flipV="1">
            <a:off x="1851459" y="4423950"/>
            <a:ext cx="1341083" cy="17681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9">
            <a:extLst>
              <a:ext uri="{FF2B5EF4-FFF2-40B4-BE49-F238E27FC236}">
                <a16:creationId xmlns:a16="http://schemas.microsoft.com/office/drawing/2014/main" id="{ADA0A06C-DD52-B05F-B24C-8587CCCBAA69}"/>
              </a:ext>
            </a:extLst>
          </p:cNvPr>
          <p:cNvGrpSpPr/>
          <p:nvPr/>
        </p:nvGrpSpPr>
        <p:grpSpPr>
          <a:xfrm>
            <a:off x="774373" y="5006682"/>
            <a:ext cx="1916059" cy="755784"/>
            <a:chOff x="230547" y="4575827"/>
            <a:chExt cx="1916059" cy="755784"/>
          </a:xfrm>
        </p:grpSpPr>
        <p:grpSp>
          <p:nvGrpSpPr>
            <p:cNvPr id="9" name="组合 68">
              <a:extLst>
                <a:ext uri="{FF2B5EF4-FFF2-40B4-BE49-F238E27FC236}">
                  <a16:creationId xmlns:a16="http://schemas.microsoft.com/office/drawing/2014/main" id="{455406E6-D35C-2477-DB9E-B634C02EC94A}"/>
                </a:ext>
              </a:extLst>
            </p:cNvPr>
            <p:cNvGrpSpPr/>
            <p:nvPr/>
          </p:nvGrpSpPr>
          <p:grpSpPr>
            <a:xfrm>
              <a:off x="1515641" y="4575827"/>
              <a:ext cx="630965" cy="755784"/>
              <a:chOff x="1515641" y="4575827"/>
              <a:chExt cx="630965" cy="755784"/>
            </a:xfrm>
          </p:grpSpPr>
          <p:sp>
            <p:nvSpPr>
              <p:cNvPr id="11" name="椭圆 11">
                <a:extLst>
                  <a:ext uri="{FF2B5EF4-FFF2-40B4-BE49-F238E27FC236}">
                    <a16:creationId xmlns:a16="http://schemas.microsoft.com/office/drawing/2014/main" id="{0BC3AE3C-B9D6-5E97-4E60-B39E576B2F6E}"/>
                  </a:ext>
                </a:extLst>
              </p:cNvPr>
              <p:cNvSpPr/>
              <p:nvPr/>
            </p:nvSpPr>
            <p:spPr>
              <a:xfrm rot="20082175">
                <a:off x="1557628" y="4656311"/>
                <a:ext cx="95234" cy="1027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椭圆 12">
                <a:extLst>
                  <a:ext uri="{FF2B5EF4-FFF2-40B4-BE49-F238E27FC236}">
                    <a16:creationId xmlns:a16="http://schemas.microsoft.com/office/drawing/2014/main" id="{045ED221-F32F-8E42-73F2-45377D0D1319}"/>
                  </a:ext>
                </a:extLst>
              </p:cNvPr>
              <p:cNvSpPr/>
              <p:nvPr/>
            </p:nvSpPr>
            <p:spPr>
              <a:xfrm rot="20082175">
                <a:off x="1760536" y="4728974"/>
                <a:ext cx="95234" cy="1027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椭圆 13">
                <a:extLst>
                  <a:ext uri="{FF2B5EF4-FFF2-40B4-BE49-F238E27FC236}">
                    <a16:creationId xmlns:a16="http://schemas.microsoft.com/office/drawing/2014/main" id="{465C4250-20DC-41D5-124C-D59CF6BFAE30}"/>
                  </a:ext>
                </a:extLst>
              </p:cNvPr>
              <p:cNvSpPr/>
              <p:nvPr/>
            </p:nvSpPr>
            <p:spPr>
              <a:xfrm rot="20082175">
                <a:off x="1515641" y="5013284"/>
                <a:ext cx="95234" cy="1027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椭圆 14">
                <a:extLst>
                  <a:ext uri="{FF2B5EF4-FFF2-40B4-BE49-F238E27FC236}">
                    <a16:creationId xmlns:a16="http://schemas.microsoft.com/office/drawing/2014/main" id="{C49CB943-FD7C-A8B9-EAA4-FB481E42CB51}"/>
                  </a:ext>
                </a:extLst>
              </p:cNvPr>
              <p:cNvSpPr/>
              <p:nvPr/>
            </p:nvSpPr>
            <p:spPr>
              <a:xfrm rot="20082175">
                <a:off x="1747749" y="4959136"/>
                <a:ext cx="95234" cy="1027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椭圆 15">
                <a:extLst>
                  <a:ext uri="{FF2B5EF4-FFF2-40B4-BE49-F238E27FC236}">
                    <a16:creationId xmlns:a16="http://schemas.microsoft.com/office/drawing/2014/main" id="{41CAF9BE-26BC-AC05-3229-52F648944E7A}"/>
                  </a:ext>
                </a:extLst>
              </p:cNvPr>
              <p:cNvSpPr/>
              <p:nvPr/>
            </p:nvSpPr>
            <p:spPr>
              <a:xfrm rot="20082175">
                <a:off x="2051372" y="4575827"/>
                <a:ext cx="95234" cy="1027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椭圆 16">
                <a:extLst>
                  <a:ext uri="{FF2B5EF4-FFF2-40B4-BE49-F238E27FC236}">
                    <a16:creationId xmlns:a16="http://schemas.microsoft.com/office/drawing/2014/main" id="{EE433FD5-43C5-DE0B-BE87-585E52F86361}"/>
                  </a:ext>
                </a:extLst>
              </p:cNvPr>
              <p:cNvSpPr/>
              <p:nvPr/>
            </p:nvSpPr>
            <p:spPr>
              <a:xfrm rot="20082175">
                <a:off x="1556035" y="5228880"/>
                <a:ext cx="95234" cy="10273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文本框 17">
              <a:extLst>
                <a:ext uri="{FF2B5EF4-FFF2-40B4-BE49-F238E27FC236}">
                  <a16:creationId xmlns:a16="http://schemas.microsoft.com/office/drawing/2014/main" id="{DEA9ADA2-AE4C-E701-1BC4-6A06CDE124D0}"/>
                </a:ext>
              </a:extLst>
            </p:cNvPr>
            <p:cNvSpPr txBox="1"/>
            <p:nvPr/>
          </p:nvSpPr>
          <p:spPr>
            <a:xfrm>
              <a:off x="230547" y="4638411"/>
              <a:ext cx="1341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+1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组合 18">
            <a:extLst>
              <a:ext uri="{FF2B5EF4-FFF2-40B4-BE49-F238E27FC236}">
                <a16:creationId xmlns:a16="http://schemas.microsoft.com/office/drawing/2014/main" id="{1885E0A3-7D32-B5F0-EB62-67BA01D661D0}"/>
              </a:ext>
            </a:extLst>
          </p:cNvPr>
          <p:cNvGrpSpPr/>
          <p:nvPr/>
        </p:nvGrpSpPr>
        <p:grpSpPr>
          <a:xfrm>
            <a:off x="2860909" y="5370647"/>
            <a:ext cx="1971500" cy="666931"/>
            <a:chOff x="3683605" y="5029274"/>
            <a:chExt cx="1971500" cy="666931"/>
          </a:xfrm>
        </p:grpSpPr>
        <p:sp>
          <p:nvSpPr>
            <p:cNvPr id="18" name="矩形 19">
              <a:extLst>
                <a:ext uri="{FF2B5EF4-FFF2-40B4-BE49-F238E27FC236}">
                  <a16:creationId xmlns:a16="http://schemas.microsoft.com/office/drawing/2014/main" id="{07A863DD-80E1-CE52-6EA5-94FFEC689058}"/>
                </a:ext>
              </a:extLst>
            </p:cNvPr>
            <p:cNvSpPr/>
            <p:nvPr/>
          </p:nvSpPr>
          <p:spPr>
            <a:xfrm rot="20682264">
              <a:off x="3943302" y="526721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20">
              <a:extLst>
                <a:ext uri="{FF2B5EF4-FFF2-40B4-BE49-F238E27FC236}">
                  <a16:creationId xmlns:a16="http://schemas.microsoft.com/office/drawing/2014/main" id="{8BD54D4B-61E5-B85E-E959-81C3D44FEEBA}"/>
                </a:ext>
              </a:extLst>
            </p:cNvPr>
            <p:cNvSpPr/>
            <p:nvPr/>
          </p:nvSpPr>
          <p:spPr>
            <a:xfrm rot="20682264">
              <a:off x="4064592" y="536441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矩形 22">
              <a:extLst>
                <a:ext uri="{FF2B5EF4-FFF2-40B4-BE49-F238E27FC236}">
                  <a16:creationId xmlns:a16="http://schemas.microsoft.com/office/drawing/2014/main" id="{860D45E7-18AD-7BBE-813F-5CC8C1A74606}"/>
                </a:ext>
              </a:extLst>
            </p:cNvPr>
            <p:cNvSpPr/>
            <p:nvPr/>
          </p:nvSpPr>
          <p:spPr>
            <a:xfrm rot="20682264">
              <a:off x="4256051" y="532674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矩形 23">
              <a:extLst>
                <a:ext uri="{FF2B5EF4-FFF2-40B4-BE49-F238E27FC236}">
                  <a16:creationId xmlns:a16="http://schemas.microsoft.com/office/drawing/2014/main" id="{2E2BBD9D-C739-BB5A-4662-8B9DF97A2664}"/>
                </a:ext>
              </a:extLst>
            </p:cNvPr>
            <p:cNvSpPr/>
            <p:nvPr/>
          </p:nvSpPr>
          <p:spPr>
            <a:xfrm rot="20682264">
              <a:off x="3683605" y="554227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4">
              <a:extLst>
                <a:ext uri="{FF2B5EF4-FFF2-40B4-BE49-F238E27FC236}">
                  <a16:creationId xmlns:a16="http://schemas.microsoft.com/office/drawing/2014/main" id="{6F59A578-5372-77F6-C696-D79CEDC62FC4}"/>
                </a:ext>
              </a:extLst>
            </p:cNvPr>
            <p:cNvSpPr/>
            <p:nvPr/>
          </p:nvSpPr>
          <p:spPr>
            <a:xfrm rot="20682264">
              <a:off x="4324352" y="513538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5">
              <a:extLst>
                <a:ext uri="{FF2B5EF4-FFF2-40B4-BE49-F238E27FC236}">
                  <a16:creationId xmlns:a16="http://schemas.microsoft.com/office/drawing/2014/main" id="{6007CD2A-AF15-4584-821B-F4EEE73B2850}"/>
                </a:ext>
              </a:extLst>
            </p:cNvPr>
            <p:cNvSpPr/>
            <p:nvPr/>
          </p:nvSpPr>
          <p:spPr>
            <a:xfrm rot="20682264">
              <a:off x="4109859" y="50292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6">
              <a:extLst>
                <a:ext uri="{FF2B5EF4-FFF2-40B4-BE49-F238E27FC236}">
                  <a16:creationId xmlns:a16="http://schemas.microsoft.com/office/drawing/2014/main" id="{58629DC4-E52B-919B-0E6F-2F06E38176CE}"/>
                </a:ext>
              </a:extLst>
            </p:cNvPr>
            <p:cNvSpPr/>
            <p:nvPr/>
          </p:nvSpPr>
          <p:spPr>
            <a:xfrm rot="20682264">
              <a:off x="3898098" y="56035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7">
              <a:extLst>
                <a:ext uri="{FF2B5EF4-FFF2-40B4-BE49-F238E27FC236}">
                  <a16:creationId xmlns:a16="http://schemas.microsoft.com/office/drawing/2014/main" id="{017C9317-EDB5-0A70-B1D8-D27D139BEEFA}"/>
                </a:ext>
              </a:extLst>
            </p:cNvPr>
            <p:cNvSpPr txBox="1"/>
            <p:nvPr/>
          </p:nvSpPr>
          <p:spPr>
            <a:xfrm>
              <a:off x="4385958" y="5200030"/>
              <a:ext cx="12691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-1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30">
                <a:extLst>
                  <a:ext uri="{FF2B5EF4-FFF2-40B4-BE49-F238E27FC236}">
                    <a16:creationId xmlns:a16="http://schemas.microsoft.com/office/drawing/2014/main" id="{289E6F2A-FD33-D918-393F-242B1413520D}"/>
                  </a:ext>
                </a:extLst>
              </p:cNvPr>
              <p:cNvSpPr txBox="1"/>
              <p:nvPr/>
            </p:nvSpPr>
            <p:spPr>
              <a:xfrm>
                <a:off x="3364972" y="4265426"/>
                <a:ext cx="468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文本框 30">
                <a:extLst>
                  <a:ext uri="{FF2B5EF4-FFF2-40B4-BE49-F238E27FC236}">
                    <a16:creationId xmlns:a16="http://schemas.microsoft.com/office/drawing/2014/main" id="{289E6F2A-FD33-D918-393F-242B14135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972" y="4265426"/>
                <a:ext cx="468376" cy="461665"/>
              </a:xfrm>
              <a:prstGeom prst="rect">
                <a:avLst/>
              </a:prstGeom>
              <a:blipFill>
                <a:blip r:embed="rId3"/>
                <a:stretch>
                  <a:fillRect l="-3896" r="-3896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70">
            <a:extLst>
              <a:ext uri="{FF2B5EF4-FFF2-40B4-BE49-F238E27FC236}">
                <a16:creationId xmlns:a16="http://schemas.microsoft.com/office/drawing/2014/main" id="{FCB520F9-E5F3-8B78-90E7-0C58274D76AB}"/>
              </a:ext>
            </a:extLst>
          </p:cNvPr>
          <p:cNvGrpSpPr/>
          <p:nvPr/>
        </p:nvGrpSpPr>
        <p:grpSpPr>
          <a:xfrm>
            <a:off x="5124006" y="4939541"/>
            <a:ext cx="1880834" cy="764264"/>
            <a:chOff x="4082214" y="4442887"/>
            <a:chExt cx="1880834" cy="764264"/>
          </a:xfrm>
        </p:grpSpPr>
        <p:sp>
          <p:nvSpPr>
            <p:cNvPr id="30" name="椭圆 32">
              <a:extLst>
                <a:ext uri="{FF2B5EF4-FFF2-40B4-BE49-F238E27FC236}">
                  <a16:creationId xmlns:a16="http://schemas.microsoft.com/office/drawing/2014/main" id="{F6AA4D62-2E48-F698-FB79-1CB9D69BCBB9}"/>
                </a:ext>
              </a:extLst>
            </p:cNvPr>
            <p:cNvSpPr/>
            <p:nvPr/>
          </p:nvSpPr>
          <p:spPr>
            <a:xfrm rot="20082175">
              <a:off x="5358093" y="452337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椭圆 33">
              <a:extLst>
                <a:ext uri="{FF2B5EF4-FFF2-40B4-BE49-F238E27FC236}">
                  <a16:creationId xmlns:a16="http://schemas.microsoft.com/office/drawing/2014/main" id="{88E7CE7A-E0AD-CD18-ECB7-66D66F72E78B}"/>
                </a:ext>
              </a:extLst>
            </p:cNvPr>
            <p:cNvSpPr/>
            <p:nvPr/>
          </p:nvSpPr>
          <p:spPr>
            <a:xfrm rot="20082175">
              <a:off x="5561001" y="459603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椭圆 34">
              <a:extLst>
                <a:ext uri="{FF2B5EF4-FFF2-40B4-BE49-F238E27FC236}">
                  <a16:creationId xmlns:a16="http://schemas.microsoft.com/office/drawing/2014/main" id="{31DDDBBD-E17F-CEBD-222A-9B6839315891}"/>
                </a:ext>
              </a:extLst>
            </p:cNvPr>
            <p:cNvSpPr/>
            <p:nvPr/>
          </p:nvSpPr>
          <p:spPr>
            <a:xfrm rot="20082175">
              <a:off x="5316106" y="4880344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35">
              <a:extLst>
                <a:ext uri="{FF2B5EF4-FFF2-40B4-BE49-F238E27FC236}">
                  <a16:creationId xmlns:a16="http://schemas.microsoft.com/office/drawing/2014/main" id="{6995E7C9-9EFF-9D0C-75C9-20E67E6D8652}"/>
                </a:ext>
              </a:extLst>
            </p:cNvPr>
            <p:cNvSpPr/>
            <p:nvPr/>
          </p:nvSpPr>
          <p:spPr>
            <a:xfrm rot="20082175">
              <a:off x="5548214" y="482619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36">
              <a:extLst>
                <a:ext uri="{FF2B5EF4-FFF2-40B4-BE49-F238E27FC236}">
                  <a16:creationId xmlns:a16="http://schemas.microsoft.com/office/drawing/2014/main" id="{167B40EF-45F9-C686-9D53-F085A69B33B3}"/>
                </a:ext>
              </a:extLst>
            </p:cNvPr>
            <p:cNvSpPr/>
            <p:nvPr/>
          </p:nvSpPr>
          <p:spPr>
            <a:xfrm rot="20082175">
              <a:off x="5851837" y="444288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37">
              <a:extLst>
                <a:ext uri="{FF2B5EF4-FFF2-40B4-BE49-F238E27FC236}">
                  <a16:creationId xmlns:a16="http://schemas.microsoft.com/office/drawing/2014/main" id="{72238DD2-0F55-B51B-D1BF-3AE28A991344}"/>
                </a:ext>
              </a:extLst>
            </p:cNvPr>
            <p:cNvSpPr/>
            <p:nvPr/>
          </p:nvSpPr>
          <p:spPr>
            <a:xfrm rot="20082175">
              <a:off x="5356500" y="5095940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文本框 38">
              <a:extLst>
                <a:ext uri="{FF2B5EF4-FFF2-40B4-BE49-F238E27FC236}">
                  <a16:creationId xmlns:a16="http://schemas.microsoft.com/office/drawing/2014/main" id="{2D9E3C7A-BD8B-33BB-D88F-FECE09068541}"/>
                </a:ext>
              </a:extLst>
            </p:cNvPr>
            <p:cNvSpPr txBox="1"/>
            <p:nvPr/>
          </p:nvSpPr>
          <p:spPr>
            <a:xfrm>
              <a:off x="4082214" y="4516077"/>
              <a:ext cx="14245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+1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组合 39">
            <a:extLst>
              <a:ext uri="{FF2B5EF4-FFF2-40B4-BE49-F238E27FC236}">
                <a16:creationId xmlns:a16="http://schemas.microsoft.com/office/drawing/2014/main" id="{32274951-B7E0-8AA3-4243-42A0F3336F45}"/>
              </a:ext>
            </a:extLst>
          </p:cNvPr>
          <p:cNvGrpSpPr/>
          <p:nvPr/>
        </p:nvGrpSpPr>
        <p:grpSpPr>
          <a:xfrm>
            <a:off x="7176363" y="5308166"/>
            <a:ext cx="1699355" cy="873350"/>
            <a:chOff x="3683605" y="5029274"/>
            <a:chExt cx="1699355" cy="873350"/>
          </a:xfrm>
        </p:grpSpPr>
        <p:sp>
          <p:nvSpPr>
            <p:cNvPr id="38" name="矩形 40">
              <a:extLst>
                <a:ext uri="{FF2B5EF4-FFF2-40B4-BE49-F238E27FC236}">
                  <a16:creationId xmlns:a16="http://schemas.microsoft.com/office/drawing/2014/main" id="{3805BE25-F63B-98EC-AE84-9ACB922969EB}"/>
                </a:ext>
              </a:extLst>
            </p:cNvPr>
            <p:cNvSpPr/>
            <p:nvPr/>
          </p:nvSpPr>
          <p:spPr>
            <a:xfrm rot="20682264">
              <a:off x="3943302" y="526721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矩形 41">
              <a:extLst>
                <a:ext uri="{FF2B5EF4-FFF2-40B4-BE49-F238E27FC236}">
                  <a16:creationId xmlns:a16="http://schemas.microsoft.com/office/drawing/2014/main" id="{19083A73-25C0-A886-ABD2-F1AA6CDF33A9}"/>
                </a:ext>
              </a:extLst>
            </p:cNvPr>
            <p:cNvSpPr/>
            <p:nvPr/>
          </p:nvSpPr>
          <p:spPr>
            <a:xfrm rot="20682264">
              <a:off x="4064592" y="5364418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42">
              <a:extLst>
                <a:ext uri="{FF2B5EF4-FFF2-40B4-BE49-F238E27FC236}">
                  <a16:creationId xmlns:a16="http://schemas.microsoft.com/office/drawing/2014/main" id="{047F8E54-21C2-9481-DED6-441EEE5C51E2}"/>
                </a:ext>
              </a:extLst>
            </p:cNvPr>
            <p:cNvSpPr/>
            <p:nvPr/>
          </p:nvSpPr>
          <p:spPr>
            <a:xfrm rot="20682264">
              <a:off x="4256051" y="532674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43">
              <a:extLst>
                <a:ext uri="{FF2B5EF4-FFF2-40B4-BE49-F238E27FC236}">
                  <a16:creationId xmlns:a16="http://schemas.microsoft.com/office/drawing/2014/main" id="{B37703CA-0D0D-C39C-89B6-4CD67AEE2274}"/>
                </a:ext>
              </a:extLst>
            </p:cNvPr>
            <p:cNvSpPr/>
            <p:nvPr/>
          </p:nvSpPr>
          <p:spPr>
            <a:xfrm rot="20682264">
              <a:off x="3683605" y="554227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44">
              <a:extLst>
                <a:ext uri="{FF2B5EF4-FFF2-40B4-BE49-F238E27FC236}">
                  <a16:creationId xmlns:a16="http://schemas.microsoft.com/office/drawing/2014/main" id="{0B8EDF83-A1AB-8547-15D2-48050FFEE59A}"/>
                </a:ext>
              </a:extLst>
            </p:cNvPr>
            <p:cNvSpPr/>
            <p:nvPr/>
          </p:nvSpPr>
          <p:spPr>
            <a:xfrm rot="20682264">
              <a:off x="4324352" y="513538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45">
              <a:extLst>
                <a:ext uri="{FF2B5EF4-FFF2-40B4-BE49-F238E27FC236}">
                  <a16:creationId xmlns:a16="http://schemas.microsoft.com/office/drawing/2014/main" id="{49C398A8-3928-8FF5-C13E-11D403AFE819}"/>
                </a:ext>
              </a:extLst>
            </p:cNvPr>
            <p:cNvSpPr/>
            <p:nvPr/>
          </p:nvSpPr>
          <p:spPr>
            <a:xfrm rot="20682264">
              <a:off x="4109859" y="502927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46">
              <a:extLst>
                <a:ext uri="{FF2B5EF4-FFF2-40B4-BE49-F238E27FC236}">
                  <a16:creationId xmlns:a16="http://schemas.microsoft.com/office/drawing/2014/main" id="{1EEB662C-598C-AEB6-D735-3E9695A618C9}"/>
                </a:ext>
              </a:extLst>
            </p:cNvPr>
            <p:cNvSpPr/>
            <p:nvPr/>
          </p:nvSpPr>
          <p:spPr>
            <a:xfrm rot="20682264">
              <a:off x="3898098" y="5603535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文本框 47">
              <a:extLst>
                <a:ext uri="{FF2B5EF4-FFF2-40B4-BE49-F238E27FC236}">
                  <a16:creationId xmlns:a16="http://schemas.microsoft.com/office/drawing/2014/main" id="{61BEC1E1-6577-4DC0-DF00-A9735F69F594}"/>
                </a:ext>
              </a:extLst>
            </p:cNvPr>
            <p:cNvSpPr txBox="1"/>
            <p:nvPr/>
          </p:nvSpPr>
          <p:spPr>
            <a:xfrm>
              <a:off x="4147811" y="5440959"/>
              <a:ext cx="12351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class -1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8">
                <a:extLst>
                  <a:ext uri="{FF2B5EF4-FFF2-40B4-BE49-F238E27FC236}">
                    <a16:creationId xmlns:a16="http://schemas.microsoft.com/office/drawing/2014/main" id="{129AB179-4F4B-B367-9DC9-FAD093AB8EEC}"/>
                  </a:ext>
                </a:extLst>
              </p:cNvPr>
              <p:cNvSpPr txBox="1"/>
              <p:nvPr/>
            </p:nvSpPr>
            <p:spPr>
              <a:xfrm>
                <a:off x="7368751" y="4133814"/>
                <a:ext cx="468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文本框 48">
                <a:extLst>
                  <a:ext uri="{FF2B5EF4-FFF2-40B4-BE49-F238E27FC236}">
                    <a16:creationId xmlns:a16="http://schemas.microsoft.com/office/drawing/2014/main" id="{129AB179-4F4B-B367-9DC9-FAD093AB8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751" y="4133814"/>
                <a:ext cx="468376" cy="461665"/>
              </a:xfrm>
              <a:prstGeom prst="rect">
                <a:avLst/>
              </a:prstGeom>
              <a:blipFill>
                <a:blip r:embed="rId4"/>
                <a:stretch>
                  <a:fillRect l="-3896" r="-5195" b="-3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9">
            <a:extLst>
              <a:ext uri="{FF2B5EF4-FFF2-40B4-BE49-F238E27FC236}">
                <a16:creationId xmlns:a16="http://schemas.microsoft.com/office/drawing/2014/main" id="{E2E26FB6-FA08-ED25-68A4-B1877F1F56A9}"/>
              </a:ext>
            </a:extLst>
          </p:cNvPr>
          <p:cNvCxnSpPr>
            <a:cxnSpLocks/>
          </p:cNvCxnSpPr>
          <p:nvPr/>
        </p:nvCxnSpPr>
        <p:spPr>
          <a:xfrm rot="933449" flipV="1">
            <a:off x="7032035" y="4390545"/>
            <a:ext cx="79256" cy="214012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50">
            <a:extLst>
              <a:ext uri="{FF2B5EF4-FFF2-40B4-BE49-F238E27FC236}">
                <a16:creationId xmlns:a16="http://schemas.microsoft.com/office/drawing/2014/main" id="{7B669B76-5DD6-1908-FEB8-FA443F4A4177}"/>
              </a:ext>
            </a:extLst>
          </p:cNvPr>
          <p:cNvCxnSpPr>
            <a:cxnSpLocks/>
          </p:cNvCxnSpPr>
          <p:nvPr/>
        </p:nvCxnSpPr>
        <p:spPr>
          <a:xfrm flipV="1">
            <a:off x="6574060" y="4418196"/>
            <a:ext cx="622261" cy="1974368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51">
            <a:extLst>
              <a:ext uri="{FF2B5EF4-FFF2-40B4-BE49-F238E27FC236}">
                <a16:creationId xmlns:a16="http://schemas.microsoft.com/office/drawing/2014/main" id="{4515EA2D-C4F6-4E78-E83A-1E34FDA92F5A}"/>
              </a:ext>
            </a:extLst>
          </p:cNvPr>
          <p:cNvCxnSpPr>
            <a:cxnSpLocks/>
          </p:cNvCxnSpPr>
          <p:nvPr/>
        </p:nvCxnSpPr>
        <p:spPr>
          <a:xfrm rot="933449" flipV="1">
            <a:off x="7223303" y="4439059"/>
            <a:ext cx="79256" cy="2140126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6">
            <a:extLst>
              <a:ext uri="{FF2B5EF4-FFF2-40B4-BE49-F238E27FC236}">
                <a16:creationId xmlns:a16="http://schemas.microsoft.com/office/drawing/2014/main" id="{40377E0A-7F4E-44C5-5B09-F00878E5972D}"/>
              </a:ext>
            </a:extLst>
          </p:cNvPr>
          <p:cNvCxnSpPr>
            <a:cxnSpLocks/>
          </p:cNvCxnSpPr>
          <p:nvPr/>
        </p:nvCxnSpPr>
        <p:spPr>
          <a:xfrm>
            <a:off x="1444746" y="6556964"/>
            <a:ext cx="29440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7">
            <a:extLst>
              <a:ext uri="{FF2B5EF4-FFF2-40B4-BE49-F238E27FC236}">
                <a16:creationId xmlns:a16="http://schemas.microsoft.com/office/drawing/2014/main" id="{620A26ED-7312-6AA3-0829-150B573EF79D}"/>
              </a:ext>
            </a:extLst>
          </p:cNvPr>
          <p:cNvCxnSpPr>
            <a:cxnSpLocks/>
          </p:cNvCxnSpPr>
          <p:nvPr/>
        </p:nvCxnSpPr>
        <p:spPr>
          <a:xfrm flipV="1">
            <a:off x="1617741" y="4265426"/>
            <a:ext cx="0" cy="25310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60">
            <a:extLst>
              <a:ext uri="{FF2B5EF4-FFF2-40B4-BE49-F238E27FC236}">
                <a16:creationId xmlns:a16="http://schemas.microsoft.com/office/drawing/2014/main" id="{5D8C48F6-DEE1-674E-CAE8-A11B0F150FDC}"/>
              </a:ext>
            </a:extLst>
          </p:cNvPr>
          <p:cNvCxnSpPr>
            <a:cxnSpLocks/>
          </p:cNvCxnSpPr>
          <p:nvPr/>
        </p:nvCxnSpPr>
        <p:spPr>
          <a:xfrm>
            <a:off x="5769006" y="6612880"/>
            <a:ext cx="29440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61">
            <a:extLst>
              <a:ext uri="{FF2B5EF4-FFF2-40B4-BE49-F238E27FC236}">
                <a16:creationId xmlns:a16="http://schemas.microsoft.com/office/drawing/2014/main" id="{86D33146-38EA-3958-4070-D8C4AD865E9F}"/>
              </a:ext>
            </a:extLst>
          </p:cNvPr>
          <p:cNvCxnSpPr>
            <a:cxnSpLocks/>
          </p:cNvCxnSpPr>
          <p:nvPr/>
        </p:nvCxnSpPr>
        <p:spPr>
          <a:xfrm flipV="1">
            <a:off x="5942001" y="4214923"/>
            <a:ext cx="0" cy="26374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64">
                <a:extLst>
                  <a:ext uri="{FF2B5EF4-FFF2-40B4-BE49-F238E27FC236}">
                    <a16:creationId xmlns:a16="http://schemas.microsoft.com/office/drawing/2014/main" id="{4AC8BADF-89A5-AF9E-0248-A488CDA03859}"/>
                  </a:ext>
                </a:extLst>
              </p:cNvPr>
              <p:cNvSpPr/>
              <p:nvPr/>
            </p:nvSpPr>
            <p:spPr>
              <a:xfrm>
                <a:off x="220366" y="1840237"/>
                <a:ext cx="11019538" cy="17134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Dataset: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 ⋯,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sample,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label.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Margin is the minimum distance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each data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altLang="zh-CN" sz="2400" b="0" i="1" smtClean="0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矩形 64">
                <a:extLst>
                  <a:ext uri="{FF2B5EF4-FFF2-40B4-BE49-F238E27FC236}">
                    <a16:creationId xmlns:a16="http://schemas.microsoft.com/office/drawing/2014/main" id="{4AC8BADF-89A5-AF9E-0248-A488CDA038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66" y="1840237"/>
                <a:ext cx="11019538" cy="1713482"/>
              </a:xfrm>
              <a:prstGeom prst="rect">
                <a:avLst/>
              </a:prstGeom>
              <a:blipFill>
                <a:blip r:embed="rId5"/>
                <a:stretch>
                  <a:fillRect l="-719" t="-2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04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  <p:bldP spid="46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Linear SVM – hard margin classifier</a:t>
            </a:r>
          </a:p>
        </p:txBody>
      </p:sp>
      <p:sp>
        <p:nvSpPr>
          <p:cNvPr id="2" name="文本框 55">
            <a:extLst>
              <a:ext uri="{FF2B5EF4-FFF2-40B4-BE49-F238E27FC236}">
                <a16:creationId xmlns:a16="http://schemas.microsoft.com/office/drawing/2014/main" id="{11E0EC98-7C38-70C6-54C5-E8411AD79ED6}"/>
              </a:ext>
            </a:extLst>
          </p:cNvPr>
          <p:cNvSpPr txBox="1"/>
          <p:nvPr/>
        </p:nvSpPr>
        <p:spPr>
          <a:xfrm>
            <a:off x="119028" y="1443255"/>
            <a:ext cx="5460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Learning as optimization in SVM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73">
                <a:extLst>
                  <a:ext uri="{FF2B5EF4-FFF2-40B4-BE49-F238E27FC236}">
                    <a16:creationId xmlns:a16="http://schemas.microsoft.com/office/drawing/2014/main" id="{F9B247D6-BC31-5AEA-700A-5831C7570BE7}"/>
                  </a:ext>
                </a:extLst>
              </p:cNvPr>
              <p:cNvSpPr txBox="1"/>
              <p:nvPr/>
            </p:nvSpPr>
            <p:spPr>
              <a:xfrm>
                <a:off x="203003" y="2092644"/>
                <a:ext cx="1211091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 given 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calculate the margin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dataset and the hyperplane.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function of the variable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Maximize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w.r.t.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variable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s.t.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all data points are properly classified.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It is equivalent to: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文本框 73">
                <a:extLst>
                  <a:ext uri="{FF2B5EF4-FFF2-40B4-BE49-F238E27FC236}">
                    <a16:creationId xmlns:a16="http://schemas.microsoft.com/office/drawing/2014/main" id="{F9B247D6-BC31-5AEA-700A-5831C7570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03" y="2092644"/>
                <a:ext cx="12110917" cy="1938992"/>
              </a:xfrm>
              <a:prstGeom prst="rect">
                <a:avLst/>
              </a:prstGeom>
              <a:blipFill>
                <a:blip r:embed="rId3"/>
                <a:stretch>
                  <a:fillRect l="-654" t="-2201" r="-755"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74">
            <a:extLst>
              <a:ext uri="{FF2B5EF4-FFF2-40B4-BE49-F238E27FC236}">
                <a16:creationId xmlns:a16="http://schemas.microsoft.com/office/drawing/2014/main" id="{B0170A07-EDF8-43A6-BC48-7EEC2360A3F6}"/>
              </a:ext>
            </a:extLst>
          </p:cNvPr>
          <p:cNvSpPr txBox="1"/>
          <p:nvPr/>
        </p:nvSpPr>
        <p:spPr>
          <a:xfrm>
            <a:off x="203003" y="5269488"/>
            <a:ext cx="9932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translate a learning problem into an optimization problem.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can be solved easily.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75">
                <a:extLst>
                  <a:ext uri="{FF2B5EF4-FFF2-40B4-BE49-F238E27FC236}">
                    <a16:creationId xmlns:a16="http://schemas.microsoft.com/office/drawing/2014/main" id="{4F4CD837-E0FA-82C4-55F3-09B7BE1468E2}"/>
                  </a:ext>
                </a:extLst>
              </p:cNvPr>
              <p:cNvSpPr txBox="1"/>
              <p:nvPr/>
            </p:nvSpPr>
            <p:spPr>
              <a:xfrm>
                <a:off x="1116900" y="4002895"/>
                <a:ext cx="4765169" cy="1211357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.     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≥1,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 ⋯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75">
                <a:extLst>
                  <a:ext uri="{FF2B5EF4-FFF2-40B4-BE49-F238E27FC236}">
                    <a16:creationId xmlns:a16="http://schemas.microsoft.com/office/drawing/2014/main" id="{4F4CD837-E0FA-82C4-55F3-09B7BE146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900" y="4002895"/>
                <a:ext cx="4765169" cy="1211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78">
            <a:extLst>
              <a:ext uri="{FF2B5EF4-FFF2-40B4-BE49-F238E27FC236}">
                <a16:creationId xmlns:a16="http://schemas.microsoft.com/office/drawing/2014/main" id="{D8022873-158C-3394-F1E6-D5CA169EE97B}"/>
              </a:ext>
            </a:extLst>
          </p:cNvPr>
          <p:cNvSpPr txBox="1"/>
          <p:nvPr/>
        </p:nvSpPr>
        <p:spPr>
          <a:xfrm>
            <a:off x="1116900" y="4006707"/>
            <a:ext cx="1492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(optional)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7">
            <a:extLst>
              <a:ext uri="{FF2B5EF4-FFF2-40B4-BE49-F238E27FC236}">
                <a16:creationId xmlns:a16="http://schemas.microsoft.com/office/drawing/2014/main" id="{24257E77-7C25-9872-8624-7EA8BA577FC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5882069" y="4237539"/>
            <a:ext cx="938609" cy="37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2B8FC5D-D449-28B6-0E4D-246C59409378}"/>
              </a:ext>
            </a:extLst>
          </p:cNvPr>
          <p:cNvSpPr txBox="1"/>
          <p:nvPr/>
        </p:nvSpPr>
        <p:spPr>
          <a:xfrm>
            <a:off x="6755363" y="3984983"/>
            <a:ext cx="5316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derivation is here: </a:t>
            </a:r>
            <a:r>
              <a:rPr lang="en-GB" sz="2400" dirty="0">
                <a:hlinkClick r:id="rId5"/>
              </a:rPr>
              <a:t>Support Vector Machine (SVM) Algorithm (analyticsvidhya.com)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4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369205" cy="888786"/>
          </a:xfrm>
        </p:spPr>
        <p:txBody>
          <a:bodyPr/>
          <a:lstStyle/>
          <a:p>
            <a:r>
              <a:rPr lang="en-US" dirty="0"/>
              <a:t>Iris flower classification by SVM using MATLAB</a:t>
            </a:r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784A146D-09DB-BD99-9D6C-994E0660D483}"/>
              </a:ext>
            </a:extLst>
          </p:cNvPr>
          <p:cNvSpPr txBox="1"/>
          <p:nvPr/>
        </p:nvSpPr>
        <p:spPr>
          <a:xfrm>
            <a:off x="158375" y="1437136"/>
            <a:ext cx="6888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Iris flower classification problem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9">
            <a:extLst>
              <a:ext uri="{FF2B5EF4-FFF2-40B4-BE49-F238E27FC236}">
                <a16:creationId xmlns:a16="http://schemas.microsoft.com/office/drawing/2014/main" id="{EAAB73F8-408C-2FC4-88E7-F7DA22D73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58" y="3053762"/>
            <a:ext cx="4636907" cy="3574166"/>
          </a:xfrm>
          <a:prstGeom prst="rect">
            <a:avLst/>
          </a:prstGeom>
        </p:spPr>
      </p:pic>
      <p:sp>
        <p:nvSpPr>
          <p:cNvPr id="4" name="文本框 10">
            <a:extLst>
              <a:ext uri="{FF2B5EF4-FFF2-40B4-BE49-F238E27FC236}">
                <a16:creationId xmlns:a16="http://schemas.microsoft.com/office/drawing/2014/main" id="{76C1EDBE-1059-F015-6B29-CDB22660EBDF}"/>
              </a:ext>
            </a:extLst>
          </p:cNvPr>
          <p:cNvSpPr txBox="1"/>
          <p:nvPr/>
        </p:nvSpPr>
        <p:spPr>
          <a:xfrm>
            <a:off x="158375" y="1853433"/>
            <a:ext cx="9627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Features: 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sepal length, sepal width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petal length, petal width)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Label: categorical, {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versicolor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virginica}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Number of samples: 150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D4EB3CF1-02CC-5B84-C691-B1405526ACCE}"/>
              </a:ext>
            </a:extLst>
          </p:cNvPr>
          <p:cNvSpPr txBox="1"/>
          <p:nvPr/>
        </p:nvSpPr>
        <p:spPr>
          <a:xfrm>
            <a:off x="5823925" y="3851204"/>
            <a:ext cx="56857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make the dataset linearly separable, we only choose: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(sepal length, sepal width)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versicolor)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4">
            <a:extLst>
              <a:ext uri="{FF2B5EF4-FFF2-40B4-BE49-F238E27FC236}">
                <a16:creationId xmlns:a16="http://schemas.microsoft.com/office/drawing/2014/main" id="{42233EC1-EE67-B22D-5905-43973D3562FE}"/>
              </a:ext>
            </a:extLst>
          </p:cNvPr>
          <p:cNvSpPr/>
          <p:nvPr/>
        </p:nvSpPr>
        <p:spPr>
          <a:xfrm>
            <a:off x="682282" y="3052891"/>
            <a:ext cx="876287" cy="3670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17">
            <a:extLst>
              <a:ext uri="{FF2B5EF4-FFF2-40B4-BE49-F238E27FC236}">
                <a16:creationId xmlns:a16="http://schemas.microsoft.com/office/drawing/2014/main" id="{5D3053F8-4A8D-360A-ECD0-847254F13339}"/>
              </a:ext>
            </a:extLst>
          </p:cNvPr>
          <p:cNvSpPr/>
          <p:nvPr/>
        </p:nvSpPr>
        <p:spPr>
          <a:xfrm>
            <a:off x="1672948" y="3052891"/>
            <a:ext cx="876287" cy="3670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18">
            <a:extLst>
              <a:ext uri="{FF2B5EF4-FFF2-40B4-BE49-F238E27FC236}">
                <a16:creationId xmlns:a16="http://schemas.microsoft.com/office/drawing/2014/main" id="{F6C3BFDA-92B3-9BB6-1F6D-F30F3918D969}"/>
              </a:ext>
            </a:extLst>
          </p:cNvPr>
          <p:cNvSpPr/>
          <p:nvPr/>
        </p:nvSpPr>
        <p:spPr>
          <a:xfrm>
            <a:off x="4594289" y="3052890"/>
            <a:ext cx="755310" cy="36702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9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SVM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7E356F34-A646-A29A-5772-1C64A6C5CB04}"/>
              </a:ext>
            </a:extLst>
          </p:cNvPr>
          <p:cNvSpPr txBox="1"/>
          <p:nvPr/>
        </p:nvSpPr>
        <p:spPr>
          <a:xfrm>
            <a:off x="312513" y="1473200"/>
            <a:ext cx="2932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results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76F1A90E-7D79-4091-4F57-48E0A7C1BF2F}"/>
              </a:ext>
            </a:extLst>
          </p:cNvPr>
          <p:cNvSpPr txBox="1"/>
          <p:nvPr/>
        </p:nvSpPr>
        <p:spPr>
          <a:xfrm>
            <a:off x="2986604" y="6208970"/>
            <a:ext cx="6218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Full code is given in the MATLAB live script.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D198A5C8-27E4-2E55-DB2E-F5FD63EA9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373" y="1364692"/>
            <a:ext cx="5807940" cy="4901986"/>
          </a:xfrm>
          <a:prstGeom prst="rect">
            <a:avLst/>
          </a:prstGeom>
        </p:spPr>
      </p:pic>
      <p:sp>
        <p:nvSpPr>
          <p:cNvPr id="5" name="矩形 8">
            <a:extLst>
              <a:ext uri="{FF2B5EF4-FFF2-40B4-BE49-F238E27FC236}">
                <a16:creationId xmlns:a16="http://schemas.microsoft.com/office/drawing/2014/main" id="{13731F86-D8AF-1E57-ED1C-6A3EE6303159}"/>
              </a:ext>
            </a:extLst>
          </p:cNvPr>
          <p:cNvSpPr/>
          <p:nvPr/>
        </p:nvSpPr>
        <p:spPr>
          <a:xfrm>
            <a:off x="10216187" y="6294043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765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EE50DC-FD4D-4DFA-96C8-A154527478D5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24377A3A-A115-4C56-946D-8607EF8505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2E68B9-A595-45FF-9055-6F3A1AAA18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</TotalTime>
  <Words>429</Words>
  <Application>Microsoft Office PowerPoint</Application>
  <PresentationFormat>Widescreen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Linear SVM – Hard Margin Classifier</vt:lpstr>
      <vt:lpstr>How does SVM work: distance </vt:lpstr>
      <vt:lpstr>How does SVM work: margin</vt:lpstr>
      <vt:lpstr>Linear SVM – hard margin classifier</vt:lpstr>
      <vt:lpstr>Iris flower classification by SVM using MATLAB</vt:lpstr>
      <vt:lpstr>SVM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85</cp:revision>
  <dcterms:created xsi:type="dcterms:W3CDTF">2021-01-06T14:22:07Z</dcterms:created>
  <dcterms:modified xsi:type="dcterms:W3CDTF">2024-07-15T11:49:55Z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