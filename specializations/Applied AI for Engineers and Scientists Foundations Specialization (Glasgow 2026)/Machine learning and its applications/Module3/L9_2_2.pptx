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94" r:id="rId6"/>
    <p:sldId id="496" r:id="rId7"/>
    <p:sldId id="497" r:id="rId8"/>
    <p:sldId id="498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GB" sz="2500" dirty="0">
                <a:solidFill>
                  <a:schemeClr val="tx1"/>
                </a:solidFill>
              </a:rPr>
              <a:t>Outlier Removal: the Z-Score and IQR Method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Z-score method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95C4E6-4366-CB4F-7E38-A7A183A019AA}"/>
              </a:ext>
            </a:extLst>
          </p:cNvPr>
          <p:cNvGrpSpPr/>
          <p:nvPr/>
        </p:nvGrpSpPr>
        <p:grpSpPr>
          <a:xfrm>
            <a:off x="5352661" y="2450519"/>
            <a:ext cx="4720934" cy="1569660"/>
            <a:chOff x="1054177" y="1083256"/>
            <a:chExt cx="4720934" cy="15696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7B9906-8688-37D9-0894-EB6119AFA10D}"/>
                </a:ext>
              </a:extLst>
            </p:cNvPr>
            <p:cNvSpPr txBox="1"/>
            <p:nvPr/>
          </p:nvSpPr>
          <p:spPr>
            <a:xfrm>
              <a:off x="2711452" y="1083256"/>
              <a:ext cx="3063659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x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data point</a:t>
              </a:r>
            </a:p>
            <a:p>
              <a:r>
                <a:rPr lang="el-GR" sz="2400" dirty="0">
                  <a:latin typeface="Arial" panose="020B0604020202020204" pitchFamily="34" charset="0"/>
                  <a:cs typeface="Arial" panose="020B0604020202020204" pitchFamily="34" charset="0"/>
                </a:rPr>
                <a:t>μ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mean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σ: standard deviation</a:t>
              </a:r>
            </a:p>
            <a:p>
              <a:r>
                <a:rPr lang="en-US" sz="2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z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z-score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63CE1FF-6321-EE7B-B034-42D111D28CC8}"/>
                    </a:ext>
                  </a:extLst>
                </p:cNvPr>
                <p:cNvSpPr txBox="1"/>
                <p:nvPr/>
              </p:nvSpPr>
              <p:spPr>
                <a:xfrm>
                  <a:off x="1054177" y="1455089"/>
                  <a:ext cx="1338636" cy="6325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sz="2400" b="0" i="1" smtClean="0">
                                <a:latin typeface="Cambria Math" panose="02040503050406030204" pitchFamily="18" charset="0"/>
                              </a:rPr>
                              <m:t>μ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24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63CE1FF-6321-EE7B-B034-42D111D28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177" y="1455089"/>
                  <a:ext cx="1338636" cy="63254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9111DD-8992-88A5-FF04-D4DD28FF4BF4}"/>
              </a:ext>
            </a:extLst>
          </p:cNvPr>
          <p:cNvSpPr txBox="1"/>
          <p:nvPr/>
        </p:nvSpPr>
        <p:spPr>
          <a:xfrm>
            <a:off x="1317734" y="4854849"/>
            <a:ext cx="957886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z-score tells how many standard deviation the data point is away from the mean.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further the data point is away from the mean, the more likely the data point is an outlier.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808ADB-08B7-D424-8EF6-97FDB392D045}"/>
              </a:ext>
            </a:extLst>
          </p:cNvPr>
          <p:cNvGrpSpPr/>
          <p:nvPr/>
        </p:nvGrpSpPr>
        <p:grpSpPr>
          <a:xfrm>
            <a:off x="1052054" y="1578580"/>
            <a:ext cx="4130012" cy="3067319"/>
            <a:chOff x="391654" y="1192570"/>
            <a:chExt cx="4130012" cy="30673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9707E7-226F-4399-7985-02778B506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654" y="1192570"/>
              <a:ext cx="4130012" cy="306731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6C5FBA-F29B-D504-784B-E135EFDDA825}"/>
                </a:ext>
              </a:extLst>
            </p:cNvPr>
            <p:cNvSpPr txBox="1"/>
            <p:nvPr/>
          </p:nvSpPr>
          <p:spPr>
            <a:xfrm>
              <a:off x="3141770" y="282574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outlier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100A07B-745F-43DB-1953-BF42C28B6143}"/>
                </a:ext>
              </a:extLst>
            </p:cNvPr>
            <p:cNvCxnSpPr>
              <a:cxnSpLocks/>
            </p:cNvCxnSpPr>
            <p:nvPr/>
          </p:nvCxnSpPr>
          <p:spPr>
            <a:xfrm>
              <a:off x="3869065" y="3260238"/>
              <a:ext cx="0" cy="384175"/>
            </a:xfrm>
            <a:prstGeom prst="straightConnector1">
              <a:avLst/>
            </a:prstGeom>
            <a:ln w="19050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8">
            <a:extLst>
              <a:ext uri="{FF2B5EF4-FFF2-40B4-BE49-F238E27FC236}">
                <a16:creationId xmlns:a16="http://schemas.microsoft.com/office/drawing/2014/main" id="{151153AF-06EA-D28E-CD39-26320C48AD3D}"/>
              </a:ext>
            </a:extLst>
          </p:cNvPr>
          <p:cNvSpPr/>
          <p:nvPr/>
        </p:nvSpPr>
        <p:spPr>
          <a:xfrm>
            <a:off x="9949488" y="6316788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A72C-60DE-A05F-9620-2024CFAF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Z-score method</a:t>
            </a:r>
            <a:br>
              <a:rPr lang="en-GB" dirty="0"/>
            </a:b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A85E3A-A250-F533-15F3-A3123DECE4ED}"/>
              </a:ext>
            </a:extLst>
          </p:cNvPr>
          <p:cNvGrpSpPr/>
          <p:nvPr/>
        </p:nvGrpSpPr>
        <p:grpSpPr>
          <a:xfrm>
            <a:off x="573180" y="1352118"/>
            <a:ext cx="4942487" cy="3298220"/>
            <a:chOff x="328013" y="1192570"/>
            <a:chExt cx="4130012" cy="30673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D4F1027-48B9-1326-292A-C5B069958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8013" y="1192570"/>
              <a:ext cx="4130012" cy="306731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6F7FFE-43D8-1644-0280-7247615684F4}"/>
                </a:ext>
              </a:extLst>
            </p:cNvPr>
            <p:cNvSpPr txBox="1"/>
            <p:nvPr/>
          </p:nvSpPr>
          <p:spPr>
            <a:xfrm>
              <a:off x="3250622" y="275520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outlier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BA34F88-D363-525A-BDCA-B8D06E27DDC3}"/>
                </a:ext>
              </a:extLst>
            </p:cNvPr>
            <p:cNvCxnSpPr>
              <a:cxnSpLocks/>
            </p:cNvCxnSpPr>
            <p:nvPr/>
          </p:nvCxnSpPr>
          <p:spPr>
            <a:xfrm>
              <a:off x="3762942" y="3216870"/>
              <a:ext cx="0" cy="384175"/>
            </a:xfrm>
            <a:prstGeom prst="straightConnector1">
              <a:avLst/>
            </a:prstGeom>
            <a:ln w="19050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E7C7D7A-5B4B-D33B-7588-09E435312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225" y="1314510"/>
            <a:ext cx="4166590" cy="333582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3F66F9-432E-71CD-8183-3F4DB814C438}"/>
              </a:ext>
            </a:extLst>
          </p:cNvPr>
          <p:cNvCxnSpPr>
            <a:cxnSpLocks/>
          </p:cNvCxnSpPr>
          <p:nvPr/>
        </p:nvCxnSpPr>
        <p:spPr>
          <a:xfrm>
            <a:off x="5295637" y="2734528"/>
            <a:ext cx="559319" cy="0"/>
          </a:xfrm>
          <a:prstGeom prst="straightConnector1">
            <a:avLst/>
          </a:prstGeom>
          <a:ln w="38100">
            <a:solidFill>
              <a:srgbClr val="0035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1">
            <a:extLst>
              <a:ext uri="{FF2B5EF4-FFF2-40B4-BE49-F238E27FC236}">
                <a16:creationId xmlns:a16="http://schemas.microsoft.com/office/drawing/2014/main" id="{00287CF9-667E-7DFA-28D2-205DC8B790C8}"/>
              </a:ext>
            </a:extLst>
          </p:cNvPr>
          <p:cNvSpPr txBox="1"/>
          <p:nvPr/>
        </p:nvSpPr>
        <p:spPr>
          <a:xfrm>
            <a:off x="913760" y="4650338"/>
            <a:ext cx="5525140" cy="2153603"/>
          </a:xfrm>
          <a:prstGeom prst="roundRect">
            <a:avLst>
              <a:gd name="adj" fmla="val 497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Filtering out those samples having large z-scores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[];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the indexes of which will be removed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1:size(z,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z(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&gt;= 1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the threshold could also be 2, depends on different situations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[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X(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= [];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Removing outliers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histogram(X)</a:t>
            </a:r>
          </a:p>
        </p:txBody>
      </p:sp>
      <p:sp>
        <p:nvSpPr>
          <p:cNvPr id="28" name="矩形 8">
            <a:extLst>
              <a:ext uri="{FF2B5EF4-FFF2-40B4-BE49-F238E27FC236}">
                <a16:creationId xmlns:a16="http://schemas.microsoft.com/office/drawing/2014/main" id="{5AF84B53-42EB-2041-8BB1-31BD831BF5A1}"/>
              </a:ext>
            </a:extLst>
          </p:cNvPr>
          <p:cNvSpPr/>
          <p:nvPr/>
        </p:nvSpPr>
        <p:spPr>
          <a:xfrm>
            <a:off x="9746288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73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F06E-55C6-6C43-C861-301F0631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interquartile range (IQR) method</a:t>
            </a:r>
            <a:br>
              <a:rPr lang="en-GB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2C6D5-723E-034C-98B7-F69024221E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3" t="19082" r="10036" b="19447"/>
          <a:stretch/>
        </p:blipFill>
        <p:spPr>
          <a:xfrm>
            <a:off x="1248984" y="1463557"/>
            <a:ext cx="5905733" cy="370968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9C8FAA1-6A2E-657C-FAE9-339893FFC2FF}"/>
              </a:ext>
            </a:extLst>
          </p:cNvPr>
          <p:cNvGrpSpPr/>
          <p:nvPr/>
        </p:nvGrpSpPr>
        <p:grpSpPr>
          <a:xfrm>
            <a:off x="7709947" y="2595670"/>
            <a:ext cx="2816605" cy="1330933"/>
            <a:chOff x="5974753" y="1956915"/>
            <a:chExt cx="2816605" cy="13309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0816427-81E5-260A-CFD8-840B89D9B044}"/>
                    </a:ext>
                  </a:extLst>
                </p:cNvPr>
                <p:cNvSpPr txBox="1"/>
                <p:nvPr/>
              </p:nvSpPr>
              <p:spPr>
                <a:xfrm>
                  <a:off x="6075336" y="1956915"/>
                  <a:ext cx="20565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𝐼𝑄𝑅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0816427-81E5-260A-CFD8-840B89D9B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336" y="1956915"/>
                  <a:ext cx="205658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142" b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6FA8869-205B-A5C7-6B7E-AE0FC812412E}"/>
                </a:ext>
              </a:extLst>
            </p:cNvPr>
            <p:cNvGrpSpPr/>
            <p:nvPr/>
          </p:nvGrpSpPr>
          <p:grpSpPr>
            <a:xfrm>
              <a:off x="5974753" y="2426004"/>
              <a:ext cx="2816605" cy="861844"/>
              <a:chOff x="6059994" y="3107021"/>
              <a:chExt cx="2816605" cy="8618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8A2696E2-25D6-93A7-4A15-D8282637672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9994" y="3507200"/>
                    <a:ext cx="281660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a14:m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75-th percentile</a:t>
                    </a: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8A2696E2-25D6-93A7-4A15-D828263767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9994" y="3507200"/>
                    <a:ext cx="2816605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15" t="-9211" r="-3030" b="-3026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381E6A1-BA63-FBBB-1DD3-FF487B6AB96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9994" y="3107021"/>
                    <a:ext cx="2812693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: 25-th percentile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381E6A1-BA63-FBBB-1DD3-FF487B6AB9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9994" y="3107021"/>
                    <a:ext cx="2812693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518" t="-9333" r="-282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4D5D71-0E4A-F6F3-2D06-6D56869A5F4E}"/>
                  </a:ext>
                </a:extLst>
              </p:cNvPr>
              <p:cNvSpPr txBox="1"/>
              <p:nvPr/>
            </p:nvSpPr>
            <p:spPr>
              <a:xfrm>
                <a:off x="695701" y="5349342"/>
                <a:ext cx="10800597" cy="1277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Any data point that is outside the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1.5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IQR,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1.5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IQR] range is considered far enough from the median, so an outlier.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Works in non-Gaussian distributed data samples.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4D5D71-0E4A-F6F3-2D06-6D56869A5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01" y="5349342"/>
                <a:ext cx="10800597" cy="1277273"/>
              </a:xfrm>
              <a:prstGeom prst="rect">
                <a:avLst/>
              </a:prstGeom>
              <a:blipFill>
                <a:blip r:embed="rId6"/>
                <a:stretch>
                  <a:fillRect l="-734" t="-3349"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8">
            <a:extLst>
              <a:ext uri="{FF2B5EF4-FFF2-40B4-BE49-F238E27FC236}">
                <a16:creationId xmlns:a16="http://schemas.microsoft.com/office/drawing/2014/main" id="{F3D7A5B9-D5B4-9DEC-3B04-48C614C1577F}"/>
              </a:ext>
            </a:extLst>
          </p:cNvPr>
          <p:cNvSpPr/>
          <p:nvPr/>
        </p:nvSpPr>
        <p:spPr>
          <a:xfrm>
            <a:off x="10023826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246D-A5F5-CEBA-39D7-4D608DBF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interquartile range (IQR) method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0B4589-9B24-E6FC-5F62-3C0CA6FB677B}"/>
              </a:ext>
            </a:extLst>
          </p:cNvPr>
          <p:cNvGrpSpPr/>
          <p:nvPr/>
        </p:nvGrpSpPr>
        <p:grpSpPr>
          <a:xfrm>
            <a:off x="532842" y="1270000"/>
            <a:ext cx="4032787" cy="2971552"/>
            <a:chOff x="391654" y="1192570"/>
            <a:chExt cx="4130012" cy="30673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BE4A57-6900-52C3-4681-6F3F78BB1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654" y="1192570"/>
              <a:ext cx="4130012" cy="306731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686530-EC74-64BD-C068-60592BEC55B7}"/>
                </a:ext>
              </a:extLst>
            </p:cNvPr>
            <p:cNvSpPr txBox="1"/>
            <p:nvPr/>
          </p:nvSpPr>
          <p:spPr>
            <a:xfrm>
              <a:off x="3209163" y="2783695"/>
              <a:ext cx="1049342" cy="4765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outlier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C90F72F-60C6-C0C0-AD52-409EA1DE2317}"/>
                </a:ext>
              </a:extLst>
            </p:cNvPr>
            <p:cNvCxnSpPr>
              <a:cxnSpLocks/>
            </p:cNvCxnSpPr>
            <p:nvPr/>
          </p:nvCxnSpPr>
          <p:spPr>
            <a:xfrm>
              <a:off x="3869065" y="3260238"/>
              <a:ext cx="0" cy="384175"/>
            </a:xfrm>
            <a:prstGeom prst="straightConnector1">
              <a:avLst/>
            </a:prstGeom>
            <a:ln w="19050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B3BF4A-FB25-855E-3490-3406D02A10A4}"/>
              </a:ext>
            </a:extLst>
          </p:cNvPr>
          <p:cNvCxnSpPr>
            <a:cxnSpLocks/>
          </p:cNvCxnSpPr>
          <p:nvPr/>
        </p:nvCxnSpPr>
        <p:spPr>
          <a:xfrm>
            <a:off x="4517017" y="2616448"/>
            <a:ext cx="559319" cy="0"/>
          </a:xfrm>
          <a:prstGeom prst="straightConnector1">
            <a:avLst/>
          </a:prstGeom>
          <a:ln w="28575">
            <a:solidFill>
              <a:srgbClr val="0035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72BE32C-9856-3C17-6A58-774FF2D8B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577" y="1281368"/>
            <a:ext cx="3607323" cy="29168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03DAA0-194B-7CEC-6E11-23EFFB9CA3DA}"/>
              </a:ext>
            </a:extLst>
          </p:cNvPr>
          <p:cNvSpPr txBox="1"/>
          <p:nvPr/>
        </p:nvSpPr>
        <p:spPr>
          <a:xfrm>
            <a:off x="979065" y="4247951"/>
            <a:ext cx="5189471" cy="2375297"/>
          </a:xfrm>
          <a:prstGeom prst="roundRect">
            <a:avLst>
              <a:gd name="adj" fmla="val 497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Filtering out those samples lies outside the IQR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Q1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prctile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(X,25);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Q3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prctile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(X,75);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IQR = Q3 - Q1;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[];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the indexes of which will be removed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1:size(X,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&gt;= Q3 + 1.5*IQR || X(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&lt;= Q1 - 1.5*IQR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[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end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i_mem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= [];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Removing outliers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histogram(X)</a:t>
            </a:r>
          </a:p>
        </p:txBody>
      </p:sp>
      <p:sp>
        <p:nvSpPr>
          <p:cNvPr id="15" name="矩形 8">
            <a:extLst>
              <a:ext uri="{FF2B5EF4-FFF2-40B4-BE49-F238E27FC236}">
                <a16:creationId xmlns:a16="http://schemas.microsoft.com/office/drawing/2014/main" id="{44589794-84B0-7CEA-B742-BD63004E9E7E}"/>
              </a:ext>
            </a:extLst>
          </p:cNvPr>
          <p:cNvSpPr/>
          <p:nvPr/>
        </p:nvSpPr>
        <p:spPr>
          <a:xfrm>
            <a:off x="10023826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2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C2465C08-F4DC-4E79-B18A-3EEBFE8B81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6C1BC1-D162-4E38-9D9A-926E02ECA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58FC31-2E2C-49F6-A915-C5D7BF6EF746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1860</TotalTime>
  <Words>359</Words>
  <Application>Microsoft Office PowerPoint</Application>
  <PresentationFormat>Widescreen</PresentationFormat>
  <Paragraphs>53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Consolas</vt:lpstr>
      <vt:lpstr>Times New Roman</vt:lpstr>
      <vt:lpstr>Office Theme</vt:lpstr>
      <vt:lpstr>Outlier Removal: the Z-Score and IQR Method </vt:lpstr>
      <vt:lpstr>The Z-score method</vt:lpstr>
      <vt:lpstr>The Z-score method </vt:lpstr>
      <vt:lpstr>The interquartile range (IQR) method </vt:lpstr>
      <vt:lpstr>The interquartile range (IQR) method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59</cp:revision>
  <dcterms:created xsi:type="dcterms:W3CDTF">2021-01-06T14:22:07Z</dcterms:created>
  <dcterms:modified xsi:type="dcterms:W3CDTF">2024-07-10T11:17:00Z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