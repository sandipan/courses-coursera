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F0CF7-B7C3-42AB-912A-38A9EB3FD4CF}" v="21" dt="2024-07-08T09:19:12.760"/>
    <p1510:client id="{BC1CCA76-3006-47FE-9C3A-D3F0943BD84F}" v="8" dt="2024-07-08T09:14:20.973"/>
    <p1510:client id="{FD462E22-BDE8-4FBD-A425-C8C384E7D7DD}" v="1" dt="2024-07-08T09:15:46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yue Yu (PGR)" userId="S::2522553y@student.gla.ac.uk::6b5e3eec-90ec-4566-b7ba-930254322436" providerId="AD" clId="Web-{FD462E22-BDE8-4FBD-A425-C8C384E7D7DD}"/>
    <pc:docChg chg="modSld">
      <pc:chgData name="Liangyue Yu (PGR)" userId="S::2522553y@student.gla.ac.uk::6b5e3eec-90ec-4566-b7ba-930254322436" providerId="AD" clId="Web-{FD462E22-BDE8-4FBD-A425-C8C384E7D7DD}" dt="2024-07-08T09:15:46.379" v="0"/>
      <pc:docMkLst>
        <pc:docMk/>
      </pc:docMkLst>
      <pc:sldChg chg="addAnim">
        <pc:chgData name="Liangyue Yu (PGR)" userId="S::2522553y@student.gla.ac.uk::6b5e3eec-90ec-4566-b7ba-930254322436" providerId="AD" clId="Web-{FD462E22-BDE8-4FBD-A425-C8C384E7D7DD}" dt="2024-07-08T09:15:46.379" v="0"/>
        <pc:sldMkLst>
          <pc:docMk/>
          <pc:sldMk cId="733831321" sldId="500"/>
        </pc:sldMkLst>
      </pc:sldChg>
    </pc:docChg>
  </pc:docChgLst>
  <pc:docChgLst>
    <pc:chgData name="Liangyue Yu (PGR)" userId="S::2522553y@student.gla.ac.uk::6b5e3eec-90ec-4566-b7ba-930254322436" providerId="AD" clId="Web-{07DF0CF7-B7C3-42AB-912A-38A9EB3FD4CF}"/>
    <pc:docChg chg="modSld">
      <pc:chgData name="Liangyue Yu (PGR)" userId="S::2522553y@student.gla.ac.uk::6b5e3eec-90ec-4566-b7ba-930254322436" providerId="AD" clId="Web-{07DF0CF7-B7C3-42AB-912A-38A9EB3FD4CF}" dt="2024-07-08T09:19:12.760" v="20"/>
      <pc:docMkLst>
        <pc:docMk/>
      </pc:docMkLst>
      <pc:sldChg chg="addSp delSp modSp addAnim delAnim modAnim">
        <pc:chgData name="Liangyue Yu (PGR)" userId="S::2522553y@student.gla.ac.uk::6b5e3eec-90ec-4566-b7ba-930254322436" providerId="AD" clId="Web-{07DF0CF7-B7C3-42AB-912A-38A9EB3FD4CF}" dt="2024-07-08T09:19:12.760" v="20"/>
        <pc:sldMkLst>
          <pc:docMk/>
          <pc:sldMk cId="733831321" sldId="500"/>
        </pc:sldMkLst>
        <pc:spChg chg="add del mod">
          <ac:chgData name="Liangyue Yu (PGR)" userId="S::2522553y@student.gla.ac.uk::6b5e3eec-90ec-4566-b7ba-930254322436" providerId="AD" clId="Web-{07DF0CF7-B7C3-42AB-912A-38A9EB3FD4CF}" dt="2024-07-08T09:18:14.428" v="13"/>
          <ac:spMkLst>
            <pc:docMk/>
            <pc:sldMk cId="733831321" sldId="500"/>
            <ac:spMk id="3" creationId="{208E5442-D9B5-AA44-36A5-91946E907DD5}"/>
          </ac:spMkLst>
        </pc:spChg>
        <pc:spChg chg="add del mod">
          <ac:chgData name="Liangyue Yu (PGR)" userId="S::2522553y@student.gla.ac.uk::6b5e3eec-90ec-4566-b7ba-930254322436" providerId="AD" clId="Web-{07DF0CF7-B7C3-42AB-912A-38A9EB3FD4CF}" dt="2024-07-08T09:18:07.599" v="11"/>
          <ac:spMkLst>
            <pc:docMk/>
            <pc:sldMk cId="733831321" sldId="500"/>
            <ac:spMk id="4" creationId="{208E5442-D9B5-AA44-36A5-91946E907DD5}"/>
          </ac:spMkLst>
        </pc:spChg>
        <pc:spChg chg="add del">
          <ac:chgData name="Liangyue Yu (PGR)" userId="S::2522553y@student.gla.ac.uk::6b5e3eec-90ec-4566-b7ba-930254322436" providerId="AD" clId="Web-{07DF0CF7-B7C3-42AB-912A-38A9EB3FD4CF}" dt="2024-07-08T09:18:18.647" v="14"/>
          <ac:spMkLst>
            <pc:docMk/>
            <pc:sldMk cId="733831321" sldId="500"/>
            <ac:spMk id="13" creationId="{A7C43A5D-BE59-5C7D-F51A-AA20B6EF7030}"/>
          </ac:spMkLst>
        </pc:spChg>
        <pc:picChg chg="mod">
          <ac:chgData name="Liangyue Yu (PGR)" userId="S::2522553y@student.gla.ac.uk::6b5e3eec-90ec-4566-b7ba-930254322436" providerId="AD" clId="Web-{07DF0CF7-B7C3-42AB-912A-38A9EB3FD4CF}" dt="2024-07-08T09:17:58.630" v="9" actId="1076"/>
          <ac:picMkLst>
            <pc:docMk/>
            <pc:sldMk cId="733831321" sldId="500"/>
            <ac:picMk id="24" creationId="{DE64091A-9B79-A705-5AC5-97399FBB34DF}"/>
          </ac:picMkLst>
        </pc:picChg>
      </pc:sldChg>
    </pc:docChg>
  </pc:docChgLst>
  <pc:docChgLst>
    <pc:chgData name="Liangyue Yu (PGR)" userId="S::2522553y@student.gla.ac.uk::6b5e3eec-90ec-4566-b7ba-930254322436" providerId="AD" clId="Web-{BC1CCA76-3006-47FE-9C3A-D3F0943BD84F}"/>
    <pc:docChg chg="modSld">
      <pc:chgData name="Liangyue Yu (PGR)" userId="S::2522553y@student.gla.ac.uk::6b5e3eec-90ec-4566-b7ba-930254322436" providerId="AD" clId="Web-{BC1CCA76-3006-47FE-9C3A-D3F0943BD84F}" dt="2024-07-08T09:14:20.973" v="7" actId="1076"/>
      <pc:docMkLst>
        <pc:docMk/>
      </pc:docMkLst>
      <pc:sldChg chg="addSp delSp modSp addAnim delAnim">
        <pc:chgData name="Liangyue Yu (PGR)" userId="S::2522553y@student.gla.ac.uk::6b5e3eec-90ec-4566-b7ba-930254322436" providerId="AD" clId="Web-{BC1CCA76-3006-47FE-9C3A-D3F0943BD84F}" dt="2024-07-08T09:14:20.973" v="7" actId="1076"/>
        <pc:sldMkLst>
          <pc:docMk/>
          <pc:sldMk cId="733831321" sldId="500"/>
        </pc:sldMkLst>
        <pc:spChg chg="add mod">
          <ac:chgData name="Liangyue Yu (PGR)" userId="S::2522553y@student.gla.ac.uk::6b5e3eec-90ec-4566-b7ba-930254322436" providerId="AD" clId="Web-{BC1CCA76-3006-47FE-9C3A-D3F0943BD84F}" dt="2024-07-08T09:14:15.988" v="6" actId="14100"/>
          <ac:spMkLst>
            <pc:docMk/>
            <pc:sldMk cId="733831321" sldId="500"/>
            <ac:spMk id="13" creationId="{A7C43A5D-BE59-5C7D-F51A-AA20B6EF7030}"/>
          </ac:spMkLst>
        </pc:spChg>
        <pc:spChg chg="mod">
          <ac:chgData name="Liangyue Yu (PGR)" userId="S::2522553y@student.gla.ac.uk::6b5e3eec-90ec-4566-b7ba-930254322436" providerId="AD" clId="Web-{BC1CCA76-3006-47FE-9C3A-D3F0943BD84F}" dt="2024-07-08T09:14:20.973" v="7" actId="1076"/>
          <ac:spMkLst>
            <pc:docMk/>
            <pc:sldMk cId="733831321" sldId="500"/>
            <ac:spMk id="21" creationId="{208E5442-D9B5-AA44-36A5-91946E907DD5}"/>
          </ac:spMkLst>
        </pc:spChg>
        <pc:grpChg chg="add del">
          <ac:chgData name="Liangyue Yu (PGR)" userId="S::2522553y@student.gla.ac.uk::6b5e3eec-90ec-4566-b7ba-930254322436" providerId="AD" clId="Web-{BC1CCA76-3006-47FE-9C3A-D3F0943BD84F}" dt="2024-07-08T09:13:45.972" v="1"/>
          <ac:grpSpMkLst>
            <pc:docMk/>
            <pc:sldMk cId="733831321" sldId="500"/>
            <ac:grpSpMk id="8" creationId="{A8307133-619A-524C-4082-E89A026692D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uk.mathworks.com/help/stats/cvpartition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uk.mathworks.com/help/stats/cvpartition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052887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Construct Training/Test Sets for Model Evaluation: cross-validation</a:t>
            </a:r>
            <a:br>
              <a:rPr lang="en-GB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K-fold cross validation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 descr="A picture containing timeline&#10;&#10;Description automatically generated">
            <a:extLst>
              <a:ext uri="{FF2B5EF4-FFF2-40B4-BE49-F238E27FC236}">
                <a16:creationId xmlns:a16="http://schemas.microsoft.com/office/drawing/2014/main" id="{16E3462A-A93A-3597-C194-52E30C54E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47" y="1515702"/>
            <a:ext cx="6605570" cy="36030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B1F87E-30C5-0FFC-0F97-84F4D5680C3D}"/>
              </a:ext>
            </a:extLst>
          </p:cNvPr>
          <p:cNvSpPr txBox="1"/>
          <p:nvPr/>
        </p:nvSpPr>
        <p:spPr>
          <a:xfrm>
            <a:off x="838200" y="5098382"/>
            <a:ext cx="104902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is divided into multiple subsets or "folds."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model is trained on a combination of these (k-1) folds and tested on the remaining one.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Cycling through each fold as a test set.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8289-FAF2-B124-6B39-0EA57C83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K-fold cross validation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2EA61-240D-901C-D528-291DAF805B24}"/>
              </a:ext>
            </a:extLst>
          </p:cNvPr>
          <p:cNvSpPr txBox="1"/>
          <p:nvPr/>
        </p:nvSpPr>
        <p:spPr>
          <a:xfrm>
            <a:off x="647700" y="1841346"/>
            <a:ext cx="852170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Reduced random error of splitting.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Robust performance evaluation.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Maximized dataset utilization.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Longer training time.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Increased complexity 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99779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362B-10F9-E28B-7740-63C61176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A41F9-994D-EB15-AAFF-FFD6928E2B4A}"/>
              </a:ext>
            </a:extLst>
          </p:cNvPr>
          <p:cNvSpPr txBox="1"/>
          <p:nvPr/>
        </p:nvSpPr>
        <p:spPr>
          <a:xfrm>
            <a:off x="495968" y="1766786"/>
            <a:ext cx="8914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u="sng" dirty="0" err="1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hpartition</a:t>
            </a:r>
            <a:r>
              <a:rPr lang="fr-FR" sz="2400" u="sng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2400" u="sng" dirty="0" err="1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en-US" altLang="en-US" sz="2400" u="sng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(group, '</a:t>
            </a:r>
            <a:r>
              <a:rPr lang="en-US" altLang="en-US" sz="2400" u="sng" dirty="0" err="1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KFold</a:t>
            </a:r>
            <a:r>
              <a:rPr lang="en-US" altLang="en-US" sz="2400" u="sng" dirty="0">
                <a:solidFill>
                  <a:srgbClr val="0563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k, 'Stratify’, stratifyFlag)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5DD77-B717-86D3-CF46-8577E25AC4E7}"/>
              </a:ext>
            </a:extLst>
          </p:cNvPr>
          <p:cNvSpPr txBox="1"/>
          <p:nvPr/>
        </p:nvSpPr>
        <p:spPr>
          <a:xfrm>
            <a:off x="495968" y="2401618"/>
            <a:ext cx="8495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partition randomly divides the samples into a training set and a test set.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3F770-1829-3EB7-FC78-ECDF5579B582}"/>
              </a:ext>
            </a:extLst>
          </p:cNvPr>
          <p:cNvSpPr txBox="1"/>
          <p:nvPr/>
        </p:nvSpPr>
        <p:spPr>
          <a:xfrm>
            <a:off x="495968" y="3405782"/>
            <a:ext cx="98926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array/cell array of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umerical/logical/character/string values,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indicating the class of each sample.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k: number of folds.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stratifyFlag: true/false, true if using stratification, false if not. 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hpartition</a:t>
            </a:r>
            <a:r>
              <a:rPr lang="fr-FR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cvpartition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  <a:r>
              <a:rPr lang="fr-FR" sz="2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defines a partition for k-fold cross-validation.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DB40195B-E02B-18C5-7EC2-2A0355762DAE}"/>
              </a:ext>
            </a:extLst>
          </p:cNvPr>
          <p:cNvSpPr/>
          <p:nvPr/>
        </p:nvSpPr>
        <p:spPr>
          <a:xfrm>
            <a:off x="10025688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5D21B-D27E-C104-57B3-BF3DE6BFB71C}"/>
              </a:ext>
            </a:extLst>
          </p:cNvPr>
          <p:cNvSpPr txBox="1"/>
          <p:nvPr/>
        </p:nvSpPr>
        <p:spPr>
          <a:xfrm>
            <a:off x="8991600" y="2553215"/>
            <a:ext cx="304800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cvpartition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151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4548-6FA0-45A4-AF33-91E35AC7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K-fold cross validation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3E9D9251-5BFE-890E-C695-F111D7024EA0}"/>
              </a:ext>
            </a:extLst>
          </p:cNvPr>
          <p:cNvSpPr txBox="1"/>
          <p:nvPr/>
        </p:nvSpPr>
        <p:spPr>
          <a:xfrm>
            <a:off x="354724" y="1512293"/>
            <a:ext cx="8223264" cy="1788259"/>
          </a:xfrm>
          <a:prstGeom prst="roundRect">
            <a:avLst>
              <a:gd name="adj" fmla="val 3667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Generating labels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 = [ones(200,1); 2*ones(20,1)];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the first 200 belongs to class "1", the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 20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class "2"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Using K-fold CV (stratified)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CV1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cvpartition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(y,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KFold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4,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'Stratify'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,true)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6251E-288C-4D69-64E0-C18EAF9D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72" y="3529100"/>
            <a:ext cx="3200043" cy="12235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B28A0B7-0A9D-9C4C-6759-65FCAE5451C4}"/>
              </a:ext>
            </a:extLst>
          </p:cNvPr>
          <p:cNvGrpSpPr/>
          <p:nvPr/>
        </p:nvGrpSpPr>
        <p:grpSpPr>
          <a:xfrm>
            <a:off x="3965106" y="3429000"/>
            <a:ext cx="3563287" cy="3234375"/>
            <a:chOff x="469698" y="3008330"/>
            <a:chExt cx="3563287" cy="32343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931729-16C7-973A-3312-2F2D9996EB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864"/>
            <a:stretch/>
          </p:blipFill>
          <p:spPr>
            <a:xfrm>
              <a:off x="970948" y="3625161"/>
              <a:ext cx="3062037" cy="261754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580916-8263-C9C4-7FB5-A69D82BEFD58}"/>
                </a:ext>
              </a:extLst>
            </p:cNvPr>
            <p:cNvSpPr txBox="1"/>
            <p:nvPr/>
          </p:nvSpPr>
          <p:spPr>
            <a:xfrm>
              <a:off x="469698" y="3008330"/>
              <a:ext cx="3079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Partition visualization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4F5299-EF36-AC67-2421-56C781A7A3BB}"/>
              </a:ext>
            </a:extLst>
          </p:cNvPr>
          <p:cNvSpPr txBox="1"/>
          <p:nvPr/>
        </p:nvSpPr>
        <p:spPr>
          <a:xfrm>
            <a:off x="8888679" y="2469555"/>
            <a:ext cx="287152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cvpartition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11A67969-A381-876F-912C-F16C34C6E5C5}"/>
              </a:ext>
            </a:extLst>
          </p:cNvPr>
          <p:cNvSpPr/>
          <p:nvPr/>
        </p:nvSpPr>
        <p:spPr>
          <a:xfrm>
            <a:off x="10216187" y="6294043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38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C13A-C7D3-E592-3604-90136595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Leave-one-out cross-validation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CF004-598E-4067-25D5-E854F7C2246C}"/>
              </a:ext>
            </a:extLst>
          </p:cNvPr>
          <p:cNvSpPr txBox="1"/>
          <p:nvPr/>
        </p:nvSpPr>
        <p:spPr>
          <a:xfrm>
            <a:off x="561975" y="1747621"/>
            <a:ext cx="9608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Leave-one-out CV as an extreme case of k-fold CV (k = #samples)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F9A81F-3B11-63A7-62EA-305D6CE6F67B}"/>
              </a:ext>
            </a:extLst>
          </p:cNvPr>
          <p:cNvGrpSpPr/>
          <p:nvPr/>
        </p:nvGrpSpPr>
        <p:grpSpPr>
          <a:xfrm>
            <a:off x="2549236" y="2203369"/>
            <a:ext cx="6810664" cy="2445346"/>
            <a:chOff x="1005840" y="1432560"/>
            <a:chExt cx="6753392" cy="27440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51F270-556C-74C3-D538-6CA3B65E230A}"/>
                </a:ext>
              </a:extLst>
            </p:cNvPr>
            <p:cNvSpPr/>
            <p:nvPr/>
          </p:nvSpPr>
          <p:spPr>
            <a:xfrm>
              <a:off x="1005840" y="1432560"/>
              <a:ext cx="5448300" cy="38862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2C2422-78E1-E9EB-7BEC-ADD6867F36A8}"/>
                </a:ext>
              </a:extLst>
            </p:cNvPr>
            <p:cNvSpPr/>
            <p:nvPr/>
          </p:nvSpPr>
          <p:spPr>
            <a:xfrm>
              <a:off x="1005840" y="1432560"/>
              <a:ext cx="312420" cy="38862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1C9D28-56DD-9CB0-D23A-BE3F313347BA}"/>
                </a:ext>
              </a:extLst>
            </p:cNvPr>
            <p:cNvSpPr/>
            <p:nvPr/>
          </p:nvSpPr>
          <p:spPr>
            <a:xfrm>
              <a:off x="1005840" y="2049780"/>
              <a:ext cx="5448300" cy="38862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7AFB62C-9C60-859B-5AC9-BA6102CC4C36}"/>
                </a:ext>
              </a:extLst>
            </p:cNvPr>
            <p:cNvSpPr/>
            <p:nvPr/>
          </p:nvSpPr>
          <p:spPr>
            <a:xfrm>
              <a:off x="1318260" y="2049780"/>
              <a:ext cx="312420" cy="38862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2FBDFF-C6CB-2871-E4CD-3287FFFD745A}"/>
                </a:ext>
              </a:extLst>
            </p:cNvPr>
            <p:cNvSpPr/>
            <p:nvPr/>
          </p:nvSpPr>
          <p:spPr>
            <a:xfrm>
              <a:off x="1005840" y="2667000"/>
              <a:ext cx="5448300" cy="38862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19C41E-74D5-3F64-A3ED-D607A8D688F9}"/>
                </a:ext>
              </a:extLst>
            </p:cNvPr>
            <p:cNvSpPr/>
            <p:nvPr/>
          </p:nvSpPr>
          <p:spPr>
            <a:xfrm>
              <a:off x="1630680" y="2667000"/>
              <a:ext cx="312420" cy="38862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EB0A5-3001-97F2-BAD5-7878D28EBAE4}"/>
                </a:ext>
              </a:extLst>
            </p:cNvPr>
            <p:cNvSpPr txBox="1"/>
            <p:nvPr/>
          </p:nvSpPr>
          <p:spPr>
            <a:xfrm rot="5400000">
              <a:off x="3656412" y="3244334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 . .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6E97F0-5C01-4E36-0329-43D4B24526BD}"/>
                </a:ext>
              </a:extLst>
            </p:cNvPr>
            <p:cNvSpPr/>
            <p:nvPr/>
          </p:nvSpPr>
          <p:spPr>
            <a:xfrm>
              <a:off x="1005840" y="3787976"/>
              <a:ext cx="5448300" cy="38862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30AE8C-85A0-2444-1688-601DE48167FA}"/>
                </a:ext>
              </a:extLst>
            </p:cNvPr>
            <p:cNvSpPr/>
            <p:nvPr/>
          </p:nvSpPr>
          <p:spPr>
            <a:xfrm>
              <a:off x="6141720" y="3787976"/>
              <a:ext cx="312420" cy="38862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74DA1C-465E-D4DB-A833-01D3FFDB72A9}"/>
                </a:ext>
              </a:extLst>
            </p:cNvPr>
            <p:cNvSpPr/>
            <p:nvPr/>
          </p:nvSpPr>
          <p:spPr>
            <a:xfrm>
              <a:off x="6821185" y="2296136"/>
              <a:ext cx="938047" cy="38862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Train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552CD1-DD24-BD88-F87A-6683EBAFF5DE}"/>
                </a:ext>
              </a:extLst>
            </p:cNvPr>
            <p:cNvSpPr/>
            <p:nvPr/>
          </p:nvSpPr>
          <p:spPr>
            <a:xfrm>
              <a:off x="6821185" y="2936459"/>
              <a:ext cx="937260" cy="38862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2A4D3E6-D628-A6E5-28D2-DE7EE147FC26}"/>
              </a:ext>
            </a:extLst>
          </p:cNvPr>
          <p:cNvSpPr txBox="1"/>
          <p:nvPr/>
        </p:nvSpPr>
        <p:spPr>
          <a:xfrm>
            <a:off x="561975" y="4865269"/>
            <a:ext cx="976630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k samples in dataset are all divided into individuals.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model is trained on a combination of these (k-1) samples and tested on the remaining one sample.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Cycling through each sample as a testing sample.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52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DBA5-614C-4E44-235E-6CA96CE8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Leave-one-out cross-validation</a:t>
            </a:r>
            <a:br>
              <a:rPr lang="en-GB" dirty="0"/>
            </a:br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8924AB-1DCD-D613-9912-15E5A9AB7BCC}"/>
              </a:ext>
            </a:extLst>
          </p:cNvPr>
          <p:cNvGrpSpPr/>
          <p:nvPr/>
        </p:nvGrpSpPr>
        <p:grpSpPr>
          <a:xfrm>
            <a:off x="531029" y="1479815"/>
            <a:ext cx="5079555" cy="2460177"/>
            <a:chOff x="483045" y="908920"/>
            <a:chExt cx="5079555" cy="246017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69CC98B-82EC-681C-C550-396475872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045" y="2116470"/>
              <a:ext cx="4371171" cy="125262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FBAF46C-9BFD-591E-5991-4538F1BD068D}"/>
                </a:ext>
              </a:extLst>
            </p:cNvPr>
            <p:cNvSpPr txBox="1"/>
            <p:nvPr/>
          </p:nvSpPr>
          <p:spPr>
            <a:xfrm>
              <a:off x="483045" y="908920"/>
              <a:ext cx="5079555" cy="1098054"/>
            </a:xfrm>
            <a:prstGeom prst="roundRect">
              <a:avLst>
                <a:gd name="adj" fmla="val 3667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Generating dataset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X = [1 2 3 4 5 6 7 8 9 20]';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Configuring leave-one-out CV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 =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cvpartition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(10,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709F5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'Leaveout'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9C3D86-BC5F-12ED-6290-3DF83C86CA1D}"/>
              </a:ext>
            </a:extLst>
          </p:cNvPr>
          <p:cNvGrpSpPr/>
          <p:nvPr/>
        </p:nvGrpSpPr>
        <p:grpSpPr>
          <a:xfrm>
            <a:off x="442129" y="4036663"/>
            <a:ext cx="7914471" cy="2284498"/>
            <a:chOff x="485417" y="3032700"/>
            <a:chExt cx="7914471" cy="228449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A00F64-64AC-4BDA-6984-AEE39B98DC88}"/>
                </a:ext>
              </a:extLst>
            </p:cNvPr>
            <p:cNvGrpSpPr/>
            <p:nvPr/>
          </p:nvGrpSpPr>
          <p:grpSpPr>
            <a:xfrm>
              <a:off x="505621" y="3698222"/>
              <a:ext cx="5059351" cy="1618976"/>
              <a:chOff x="505621" y="3698222"/>
              <a:chExt cx="5059351" cy="1618976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AA7FDE-540D-4A94-0489-58766AB976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23528"/>
              <a:stretch/>
            </p:blipFill>
            <p:spPr>
              <a:xfrm>
                <a:off x="505621" y="3698222"/>
                <a:ext cx="5059351" cy="1618976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08E5442-D9B5-AA44-36A5-91946E907DD5}"/>
                  </a:ext>
                </a:extLst>
              </p:cNvPr>
              <p:cNvSpPr/>
              <p:nvPr/>
            </p:nvSpPr>
            <p:spPr>
              <a:xfrm>
                <a:off x="898219" y="5028834"/>
                <a:ext cx="306081" cy="283831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86B057C-2C6E-CE63-4941-1C867FB91D60}"/>
                </a:ext>
              </a:extLst>
            </p:cNvPr>
            <p:cNvSpPr txBox="1"/>
            <p:nvPr/>
          </p:nvSpPr>
          <p:spPr>
            <a:xfrm>
              <a:off x="485417" y="3032700"/>
              <a:ext cx="7914471" cy="596086"/>
            </a:xfrm>
            <a:prstGeom prst="roundRect">
              <a:avLst>
                <a:gd name="adj" fmla="val 3667"/>
              </a:avLst>
            </a:prstGeom>
            <a:solidFill>
              <a:sysClr val="window" lastClr="FFFFFF">
                <a:lumMod val="95000"/>
              </a:sysClr>
            </a:solidFill>
            <a:ln>
              <a:solidFill>
                <a:sysClr val="windowText" lastClr="000000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13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% The first training - excluding the last sample to form testing set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c.training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(1)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C75E963-1A86-CFBF-DEE7-AAC26C44F7B4}"/>
              </a:ext>
            </a:extLst>
          </p:cNvPr>
          <p:cNvSpPr txBox="1"/>
          <p:nvPr/>
        </p:nvSpPr>
        <p:spPr>
          <a:xfrm>
            <a:off x="2549236" y="4726694"/>
            <a:ext cx="8264927" cy="596086"/>
          </a:xfrm>
          <a:prstGeom prst="roundRect">
            <a:avLst>
              <a:gd name="adj" fmla="val 3667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The second training - excluding the 9-th sample to form testing set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c.training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(2)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64091A-9B79-A705-5AC5-97399FBB34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769"/>
          <a:stretch/>
        </p:blipFill>
        <p:spPr>
          <a:xfrm>
            <a:off x="2716614" y="5398654"/>
            <a:ext cx="4330597" cy="13857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矩形 8">
            <a:extLst>
              <a:ext uri="{FF2B5EF4-FFF2-40B4-BE49-F238E27FC236}">
                <a16:creationId xmlns:a16="http://schemas.microsoft.com/office/drawing/2014/main" id="{D4255A3F-F1C0-3F9C-D6B4-58EB115A3730}"/>
              </a:ext>
            </a:extLst>
          </p:cNvPr>
          <p:cNvSpPr/>
          <p:nvPr/>
        </p:nvSpPr>
        <p:spPr>
          <a:xfrm>
            <a:off x="10261740" y="6136495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C43A5D-BE59-5C7D-F51A-AA20B6EF7030}"/>
              </a:ext>
            </a:extLst>
          </p:cNvPr>
          <p:cNvSpPr/>
          <p:nvPr/>
        </p:nvSpPr>
        <p:spPr>
          <a:xfrm>
            <a:off x="3019011" y="6337598"/>
            <a:ext cx="353978" cy="379624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83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AC1A8BD7-FBDF-472B-8043-2BF824F66F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8A96EB-5521-4C87-8A7D-E47FF42226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3A1CA-B28E-4317-8585-534B95249E6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400</Words>
  <Application>Microsoft Office PowerPoint</Application>
  <PresentationFormat>Widescreen</PresentationFormat>
  <Paragraphs>60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Construct Training/Test Sets for Model Evaluation: cross-validation </vt:lpstr>
      <vt:lpstr>K-fold cross validation </vt:lpstr>
      <vt:lpstr>K-fold cross validation </vt:lpstr>
      <vt:lpstr>Implementation </vt:lpstr>
      <vt:lpstr>K-fold cross validation </vt:lpstr>
      <vt:lpstr>Leave-one-out cross-validation </vt:lpstr>
      <vt:lpstr>Leave-one-out cross-validation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85</cp:revision>
  <dcterms:created xsi:type="dcterms:W3CDTF">2021-01-06T14:22:07Z</dcterms:created>
  <dcterms:modified xsi:type="dcterms:W3CDTF">2024-07-10T14:38:52Z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