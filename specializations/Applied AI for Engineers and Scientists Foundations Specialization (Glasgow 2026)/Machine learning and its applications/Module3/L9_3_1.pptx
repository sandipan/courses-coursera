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1.svg"/><Relationship Id="rId7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emf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hyperlink" Target="https://uk.mathworks.com/help/finance/boxcox.html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Data Transform: Normalization, Standardization, Power Transform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Data normalization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6BE6C4-ED80-C70F-35BC-C4FB01F77486}"/>
              </a:ext>
            </a:extLst>
          </p:cNvPr>
          <p:cNvSpPr txBox="1"/>
          <p:nvPr/>
        </p:nvSpPr>
        <p:spPr>
          <a:xfrm>
            <a:off x="521676" y="1728957"/>
            <a:ext cx="6074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normalization (when non-Gaussian)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D780A2-7FA1-5A6F-6DCD-D5476AAA300F}"/>
                  </a:ext>
                </a:extLst>
              </p:cNvPr>
              <p:cNvSpPr txBox="1"/>
              <p:nvPr/>
            </p:nvSpPr>
            <p:spPr>
              <a:xfrm>
                <a:off x="900195" y="2497179"/>
                <a:ext cx="3951210" cy="6949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𝑛𝑜𝑟𝑚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∈[0, 1]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D780A2-7FA1-5A6F-6DCD-D5476AAA3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95" y="2497179"/>
                <a:ext cx="3951210" cy="6949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7DCF048C-D19D-9148-6D2A-14FB47C1B6CE}"/>
              </a:ext>
            </a:extLst>
          </p:cNvPr>
          <p:cNvGrpSpPr/>
          <p:nvPr/>
        </p:nvGrpSpPr>
        <p:grpSpPr>
          <a:xfrm>
            <a:off x="2381135" y="3429000"/>
            <a:ext cx="7429730" cy="2235200"/>
            <a:chOff x="1079910" y="1855157"/>
            <a:chExt cx="6502870" cy="1838107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DA795A5-A7E6-7717-B88C-591ACEEA81C6}"/>
                </a:ext>
              </a:extLst>
            </p:cNvPr>
            <p:cNvCxnSpPr>
              <a:cxnSpLocks/>
            </p:cNvCxnSpPr>
            <p:nvPr/>
          </p:nvCxnSpPr>
          <p:spPr>
            <a:xfrm>
              <a:off x="3793607" y="2700737"/>
              <a:ext cx="931704" cy="0"/>
            </a:xfrm>
            <a:prstGeom prst="straightConnector1">
              <a:avLst/>
            </a:prstGeom>
            <a:ln w="28575">
              <a:solidFill>
                <a:srgbClr val="00356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7B33967-B0D4-151A-3AD6-375565FE7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4219" y="1855157"/>
              <a:ext cx="3008561" cy="183810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C4AC54B-46DF-B312-3E26-1A3E4F707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79910" y="1893522"/>
              <a:ext cx="2872158" cy="1761379"/>
            </a:xfrm>
            <a:prstGeom prst="rect">
              <a:avLst/>
            </a:prstGeom>
          </p:spPr>
        </p:pic>
      </p:grpSp>
      <p:sp>
        <p:nvSpPr>
          <p:cNvPr id="10" name="矩形 8">
            <a:extLst>
              <a:ext uri="{FF2B5EF4-FFF2-40B4-BE49-F238E27FC236}">
                <a16:creationId xmlns:a16="http://schemas.microsoft.com/office/drawing/2014/main" id="{C86F1D48-E99B-50D1-206A-6C1BDE4F2EDD}"/>
              </a:ext>
            </a:extLst>
          </p:cNvPr>
          <p:cNvSpPr/>
          <p:nvPr/>
        </p:nvSpPr>
        <p:spPr>
          <a:xfrm>
            <a:off x="9644688" y="5955054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69CFF-454A-3FA6-694B-12781BF4A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standardization 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D82ED77-A3D4-38C5-B4BE-87B406001F5F}"/>
                  </a:ext>
                </a:extLst>
              </p:cNvPr>
              <p:cNvSpPr txBox="1"/>
              <p:nvPr/>
            </p:nvSpPr>
            <p:spPr>
              <a:xfrm>
                <a:off x="1278544" y="2317270"/>
                <a:ext cx="2188556" cy="6324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D82ED77-A3D4-38C5-B4BE-87B406001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544" y="2317270"/>
                <a:ext cx="2188556" cy="6324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F8D05A29-603B-8B8B-C02D-82B9AFE9F4CD}"/>
              </a:ext>
            </a:extLst>
          </p:cNvPr>
          <p:cNvSpPr txBox="1"/>
          <p:nvPr/>
        </p:nvSpPr>
        <p:spPr>
          <a:xfrm>
            <a:off x="699476" y="1741657"/>
            <a:ext cx="5713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standardization (when Gaussian)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0C724A-9723-4EDF-F303-55416E7FCC69}"/>
              </a:ext>
            </a:extLst>
          </p:cNvPr>
          <p:cNvGrpSpPr/>
          <p:nvPr/>
        </p:nvGrpSpPr>
        <p:grpSpPr>
          <a:xfrm>
            <a:off x="1278544" y="3248018"/>
            <a:ext cx="7505582" cy="2593982"/>
            <a:chOff x="1049312" y="4626292"/>
            <a:chExt cx="5327615" cy="1802841"/>
          </a:xfrm>
        </p:grpSpPr>
        <p:pic>
          <p:nvPicPr>
            <p:cNvPr id="17" name="Picture 16" descr="A picture containing text, sky&#10;&#10;Description automatically generated">
              <a:extLst>
                <a:ext uri="{FF2B5EF4-FFF2-40B4-BE49-F238E27FC236}">
                  <a16:creationId xmlns:a16="http://schemas.microsoft.com/office/drawing/2014/main" id="{BFD7C434-135C-8240-AEAA-7FCD2F26D4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543" b="16920"/>
            <a:stretch/>
          </p:blipFill>
          <p:spPr>
            <a:xfrm>
              <a:off x="1049312" y="4626292"/>
              <a:ext cx="2434714" cy="1590527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5B0A245-5BFD-BE5A-B12E-3E7010822CBD}"/>
                </a:ext>
              </a:extLst>
            </p:cNvPr>
            <p:cNvGrpSpPr/>
            <p:nvPr/>
          </p:nvGrpSpPr>
          <p:grpSpPr>
            <a:xfrm>
              <a:off x="2122921" y="4650035"/>
              <a:ext cx="4254006" cy="1779098"/>
              <a:chOff x="2122921" y="4650035"/>
              <a:chExt cx="4254006" cy="1779098"/>
            </a:xfrm>
          </p:grpSpPr>
          <p:pic>
            <p:nvPicPr>
              <p:cNvPr id="19" name="Picture 18" descr="A picture containing text, sky&#10;&#10;Description automatically generated">
                <a:extLst>
                  <a:ext uri="{FF2B5EF4-FFF2-40B4-BE49-F238E27FC236}">
                    <a16:creationId xmlns:a16="http://schemas.microsoft.com/office/drawing/2014/main" id="{D9179166-AD53-254B-48C8-DA8E4D8A83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543" b="16920"/>
              <a:stretch/>
            </p:blipFill>
            <p:spPr>
              <a:xfrm>
                <a:off x="3942215" y="4650035"/>
                <a:ext cx="2434712" cy="159052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DEB39AA-45E3-75A7-6570-850C96B964F9}"/>
                      </a:ext>
                    </a:extLst>
                  </p:cNvPr>
                  <p:cNvSpPr txBox="1"/>
                  <p:nvPr/>
                </p:nvSpPr>
                <p:spPr>
                  <a:xfrm>
                    <a:off x="5349125" y="5459250"/>
                    <a:ext cx="622799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1F5F7B62-56BD-EEF4-6C28-D28B7161CC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49125" y="5459250"/>
                    <a:ext cx="622799" cy="15388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4713B35-250A-F375-0301-45C05B986EEB}"/>
                  </a:ext>
                </a:extLst>
              </p:cNvPr>
              <p:cNvSpPr txBox="1"/>
              <p:nvPr/>
            </p:nvSpPr>
            <p:spPr>
              <a:xfrm>
                <a:off x="5019472" y="6167523"/>
                <a:ext cx="25680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0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EC8D06E-D0A9-23BC-1BBF-EA586E01BC9A}"/>
                  </a:ext>
                </a:extLst>
              </p:cNvPr>
              <p:cNvSpPr txBox="1"/>
              <p:nvPr/>
            </p:nvSpPr>
            <p:spPr>
              <a:xfrm>
                <a:off x="2122921" y="6142332"/>
                <a:ext cx="25840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μ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6B756095-15E1-398D-45D9-12F45A598C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2692" y="5429324"/>
                <a:ext cx="839376" cy="0"/>
              </a:xfrm>
              <a:prstGeom prst="straightConnector1">
                <a:avLst/>
              </a:prstGeom>
              <a:ln w="28575">
                <a:solidFill>
                  <a:srgbClr val="00356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6" name="矩形 8">
            <a:extLst>
              <a:ext uri="{FF2B5EF4-FFF2-40B4-BE49-F238E27FC236}">
                <a16:creationId xmlns:a16="http://schemas.microsoft.com/office/drawing/2014/main" id="{9EF1184A-19B7-148A-2820-F826C572069F}"/>
              </a:ext>
            </a:extLst>
          </p:cNvPr>
          <p:cNvSpPr/>
          <p:nvPr/>
        </p:nvSpPr>
        <p:spPr>
          <a:xfrm>
            <a:off x="9873288" y="6139720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65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12ABF-A643-E863-D56F-60C0F678C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transform: remove skew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D8CC1-E03C-7E42-92B5-111D0FCBA844}"/>
              </a:ext>
            </a:extLst>
          </p:cNvPr>
          <p:cNvSpPr txBox="1"/>
          <p:nvPr/>
        </p:nvSpPr>
        <p:spPr>
          <a:xfrm>
            <a:off x="619495" y="1731404"/>
            <a:ext cx="876580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Power transforms are a family of data transform techniques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 power functions.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function is monotonic.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83584-A1A2-96FF-D502-65D71480E619}"/>
              </a:ext>
            </a:extLst>
          </p:cNvPr>
          <p:cNvSpPr txBox="1"/>
          <p:nvPr/>
        </p:nvSpPr>
        <p:spPr>
          <a:xfrm>
            <a:off x="619495" y="3418437"/>
            <a:ext cx="46079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Power function: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C8982B-FA44-6794-2B27-0E6CF68A38D1}"/>
                  </a:ext>
                </a:extLst>
              </p:cNvPr>
              <p:cNvSpPr txBox="1"/>
              <p:nvPr/>
            </p:nvSpPr>
            <p:spPr>
              <a:xfrm>
                <a:off x="3101680" y="3461333"/>
                <a:ext cx="1589089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C8982B-FA44-6794-2B27-0E6CF68A3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680" y="3461333"/>
                <a:ext cx="1589089" cy="375872"/>
              </a:xfrm>
              <a:prstGeom prst="rect">
                <a:avLst/>
              </a:prstGeom>
              <a:blipFill>
                <a:blip r:embed="rId2"/>
                <a:stretch>
                  <a:fillRect l="-6538" t="-3279" r="-1923" b="-34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BBD835B-9F7B-2B13-16D1-98E9FE9F0505}"/>
              </a:ext>
            </a:extLst>
          </p:cNvPr>
          <p:cNvGrpSpPr/>
          <p:nvPr/>
        </p:nvGrpSpPr>
        <p:grpSpPr>
          <a:xfrm>
            <a:off x="2163826" y="4089643"/>
            <a:ext cx="7864347" cy="2110430"/>
            <a:chOff x="585214" y="3167068"/>
            <a:chExt cx="7864347" cy="211043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6493515-00C9-241A-90E7-8D7E72C384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0744"/>
            <a:stretch/>
          </p:blipFill>
          <p:spPr>
            <a:xfrm>
              <a:off x="585214" y="3167068"/>
              <a:ext cx="2865205" cy="2110430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56DBE06-93EA-4C74-1327-883E4AB29600}"/>
                </a:ext>
              </a:extLst>
            </p:cNvPr>
            <p:cNvCxnSpPr>
              <a:cxnSpLocks/>
            </p:cNvCxnSpPr>
            <p:nvPr/>
          </p:nvCxnSpPr>
          <p:spPr>
            <a:xfrm>
              <a:off x="3450419" y="4362642"/>
              <a:ext cx="2133937" cy="0"/>
            </a:xfrm>
            <a:prstGeom prst="straightConnector1">
              <a:avLst/>
            </a:prstGeom>
            <a:ln w="28575">
              <a:solidFill>
                <a:srgbClr val="00356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D6BF5A4-BB18-7ED8-4BB0-30EE31583D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0744"/>
            <a:stretch/>
          </p:blipFill>
          <p:spPr>
            <a:xfrm>
              <a:off x="5584356" y="3167068"/>
              <a:ext cx="2865205" cy="211043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D9754B9-2819-B920-0A90-D49DF0F7ADAB}"/>
                </a:ext>
              </a:extLst>
            </p:cNvPr>
            <p:cNvSpPr txBox="1"/>
            <p:nvPr/>
          </p:nvSpPr>
          <p:spPr>
            <a:xfrm>
              <a:off x="3295739" y="3796206"/>
              <a:ext cx="24432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Power transform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246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B5A3D-8692-2BD1-7B96-0142BB045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transform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A55303-0865-1BEC-3E83-32CCE562ACBB}"/>
                  </a:ext>
                </a:extLst>
              </p:cNvPr>
              <p:cNvSpPr txBox="1"/>
              <p:nvPr/>
            </p:nvSpPr>
            <p:spPr>
              <a:xfrm>
                <a:off x="553520" y="2309640"/>
                <a:ext cx="9857186" cy="3077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Benefits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 stabilize the variance of the data (remove skew)</a:t>
                </a: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Reduced impact from extreme values.</a:t>
                </a: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Consistent variances across different regions, independent 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 make the distribution more Gaussian-like</a:t>
                </a: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Many machine learning models works well on Gaussian-like data.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A55303-0865-1BEC-3E83-32CCE562A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20" y="2309640"/>
                <a:ext cx="9857186" cy="3077766"/>
              </a:xfrm>
              <a:prstGeom prst="rect">
                <a:avLst/>
              </a:prstGeom>
              <a:blipFill>
                <a:blip r:embed="rId2"/>
                <a:stretch>
                  <a:fillRect l="-989" t="-1386" b="-37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099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2E2F-FDA6-3704-D719-4767CE158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transform: Box-Cox transform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52EE88-ECF5-7061-9707-02DD8916E5FB}"/>
              </a:ext>
            </a:extLst>
          </p:cNvPr>
          <p:cNvSpPr txBox="1"/>
          <p:nvPr/>
        </p:nvSpPr>
        <p:spPr>
          <a:xfrm>
            <a:off x="986827" y="1569462"/>
            <a:ext cx="27510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Box-Cox transform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77CC227-46A9-8275-4DFC-5D9D388FD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367" y="2108714"/>
            <a:ext cx="3251933" cy="106218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A7F4004-E75F-CFCD-8073-B8F4D7491142}"/>
              </a:ext>
            </a:extLst>
          </p:cNvPr>
          <p:cNvGrpSpPr/>
          <p:nvPr/>
        </p:nvGrpSpPr>
        <p:grpSpPr>
          <a:xfrm>
            <a:off x="4468074" y="1193815"/>
            <a:ext cx="4637826" cy="2015615"/>
            <a:chOff x="3691083" y="266999"/>
            <a:chExt cx="4637826" cy="20156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535BF5A-496D-7DE3-2DE2-33503DF2A4A7}"/>
                    </a:ext>
                  </a:extLst>
                </p:cNvPr>
                <p:cNvSpPr txBox="1"/>
                <p:nvPr/>
              </p:nvSpPr>
              <p:spPr>
                <a:xfrm>
                  <a:off x="3691083" y="266999"/>
                  <a:ext cx="4637826" cy="110799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l-GR" sz="2200" i="1" dirty="0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a14:m>
                  <a:r>
                    <a:rPr lang="en-US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: power parameter</a:t>
                  </a:r>
                </a:p>
                <a:p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baseline="-25000" dirty="0" smtClean="0">
                          <a:latin typeface="Cambria Math" panose="02040503050406030204" pitchFamily="18" charset="0"/>
                        </a:rPr>
                        <m:t>𝑜</m:t>
                      </m:r>
                    </m:oMath>
                  </a14:m>
                  <a:r>
                    <a:rPr lang="en-US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: original value</a:t>
                  </a:r>
                </a:p>
                <a:p>
                  <a:pPr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i="1" baseline="-25000" dirty="0" err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US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: transformed value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535BF5A-496D-7DE3-2DE2-33503DF2A4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1083" y="266999"/>
                  <a:ext cx="4637826" cy="1107996"/>
                </a:xfrm>
                <a:prstGeom prst="rect">
                  <a:avLst/>
                </a:prstGeom>
                <a:blipFill>
                  <a:blip r:embed="rId4"/>
                  <a:stretch>
                    <a:fillRect l="-131" t="-2717" b="-978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38BFCC7-1E72-B5AF-321B-BF916CCDFE1E}"/>
                    </a:ext>
                  </a:extLst>
                </p:cNvPr>
                <p:cNvSpPr txBox="1"/>
                <p:nvPr/>
              </p:nvSpPr>
              <p:spPr>
                <a:xfrm>
                  <a:off x="3691083" y="1513173"/>
                  <a:ext cx="4637826" cy="76944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l-GR" sz="22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2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is found such that the log-likelihood function </a:t>
                  </a:r>
                  <a14:m>
                    <m:oMath xmlns:m="http://schemas.openxmlformats.org/officeDocument/2006/math"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i="1" baseline="-25000" dirty="0" err="1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US" sz="2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is maximized.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38BFCC7-1E72-B5AF-321B-BF916CCDFE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1083" y="1513173"/>
                  <a:ext cx="4637826" cy="769441"/>
                </a:xfrm>
                <a:prstGeom prst="rect">
                  <a:avLst/>
                </a:prstGeom>
                <a:blipFill>
                  <a:blip r:embed="rId5"/>
                  <a:stretch>
                    <a:fillRect l="-1573" t="-3125" b="-1562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C7758E-7E63-B358-E365-DC719E451963}"/>
              </a:ext>
            </a:extLst>
          </p:cNvPr>
          <p:cNvGrpSpPr/>
          <p:nvPr/>
        </p:nvGrpSpPr>
        <p:grpSpPr>
          <a:xfrm>
            <a:off x="1316345" y="3248490"/>
            <a:ext cx="7864347" cy="2110430"/>
            <a:chOff x="639826" y="2424409"/>
            <a:chExt cx="7864347" cy="211043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D15C045-CDE6-97AD-4AB1-19EA9931B5F0}"/>
                </a:ext>
              </a:extLst>
            </p:cNvPr>
            <p:cNvGrpSpPr/>
            <p:nvPr/>
          </p:nvGrpSpPr>
          <p:grpSpPr>
            <a:xfrm>
              <a:off x="639826" y="2424409"/>
              <a:ext cx="7864347" cy="2110430"/>
              <a:chOff x="585214" y="3167068"/>
              <a:chExt cx="7864347" cy="211043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8699A4F-E542-B856-77DC-7CCC6A9BF2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r="50744"/>
              <a:stretch/>
            </p:blipFill>
            <p:spPr>
              <a:xfrm>
                <a:off x="585214" y="3167068"/>
                <a:ext cx="2865205" cy="2110430"/>
              </a:xfrm>
              <a:prstGeom prst="rect">
                <a:avLst/>
              </a:prstGeom>
            </p:spPr>
          </p:pic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24C0269-F248-8B60-3A83-DF3BC929D3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50419" y="3869487"/>
                <a:ext cx="2133937" cy="0"/>
              </a:xfrm>
              <a:prstGeom prst="straightConnector1">
                <a:avLst/>
              </a:prstGeom>
              <a:ln w="28575">
                <a:solidFill>
                  <a:srgbClr val="00356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4B4D2459-8FD2-6372-A1DE-33C396B084F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50744"/>
              <a:stretch/>
            </p:blipFill>
            <p:spPr>
              <a:xfrm>
                <a:off x="5584356" y="3167068"/>
                <a:ext cx="2865205" cy="211043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5907CB-3E8F-E69D-033E-5FCCEBEBF537}"/>
                  </a:ext>
                </a:extLst>
              </p:cNvPr>
              <p:cNvSpPr txBox="1"/>
              <p:nvPr/>
            </p:nvSpPr>
            <p:spPr>
              <a:xfrm>
                <a:off x="3319188" y="3434772"/>
                <a:ext cx="2319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Box-Cox transform</a:t>
                </a:r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D80E7DF-C518-BE02-54C7-B0372C05D7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5031" y="3781329"/>
              <a:ext cx="2100432" cy="0"/>
            </a:xfrm>
            <a:prstGeom prst="straightConnector1">
              <a:avLst/>
            </a:prstGeom>
            <a:ln w="28575">
              <a:solidFill>
                <a:srgbClr val="00356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FE51E5-2DAA-0D56-2648-A0D9EE266BA9}"/>
                </a:ext>
              </a:extLst>
            </p:cNvPr>
            <p:cNvSpPr txBox="1"/>
            <p:nvPr/>
          </p:nvSpPr>
          <p:spPr>
            <a:xfrm>
              <a:off x="3505031" y="3760036"/>
              <a:ext cx="275107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Inverse Box-Cox</a:t>
              </a:r>
            </a:p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transform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E542A6E-51F7-FFC3-A404-9621B8155626}"/>
              </a:ext>
            </a:extLst>
          </p:cNvPr>
          <p:cNvGrpSpPr/>
          <p:nvPr/>
        </p:nvGrpSpPr>
        <p:grpSpPr>
          <a:xfrm>
            <a:off x="986827" y="5402027"/>
            <a:ext cx="4130723" cy="1356921"/>
            <a:chOff x="789160" y="4657902"/>
            <a:chExt cx="4130723" cy="13569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F5AEF6B-4F09-AEC1-3330-61DA57A25B0E}"/>
                </a:ext>
              </a:extLst>
            </p:cNvPr>
            <p:cNvSpPr txBox="1"/>
            <p:nvPr/>
          </p:nvSpPr>
          <p:spPr>
            <a:xfrm>
              <a:off x="789160" y="4657902"/>
              <a:ext cx="38459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Inverse Box-Cox transform</a:t>
              </a: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71935C6F-D3E1-A958-C1A0-EA73F3F69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8678" y="5068901"/>
              <a:ext cx="3801205" cy="945922"/>
            </a:xfrm>
            <a:prstGeom prst="rect">
              <a:avLst/>
            </a:prstGeom>
          </p:spPr>
        </p:pic>
      </p:grpSp>
      <p:sp>
        <p:nvSpPr>
          <p:cNvPr id="24" name="矩形 8">
            <a:extLst>
              <a:ext uri="{FF2B5EF4-FFF2-40B4-BE49-F238E27FC236}">
                <a16:creationId xmlns:a16="http://schemas.microsoft.com/office/drawing/2014/main" id="{0DC6DA8E-2A69-2A7B-A207-FD0C801EB17D}"/>
              </a:ext>
            </a:extLst>
          </p:cNvPr>
          <p:cNvSpPr/>
          <p:nvPr/>
        </p:nvSpPr>
        <p:spPr>
          <a:xfrm>
            <a:off x="9898688" y="6101321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34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71F90-6614-4EEA-C819-1A276BFA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transform: Box-Cox transform</a:t>
            </a:r>
            <a:br>
              <a:rPr lang="en-GB" dirty="0"/>
            </a:br>
            <a:endParaRPr lang="en-GB" dirty="0"/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3069F87F-E54E-59CC-A7D6-B8A9D047E21D}"/>
              </a:ext>
            </a:extLst>
          </p:cNvPr>
          <p:cNvSpPr txBox="1"/>
          <p:nvPr/>
        </p:nvSpPr>
        <p:spPr>
          <a:xfrm>
            <a:off x="560227" y="1573249"/>
            <a:ext cx="7712235" cy="1805226"/>
          </a:xfrm>
          <a:prstGeom prst="roundRect">
            <a:avLst>
              <a:gd name="adj" fmla="val 4975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Draw the histogram of the transformed distribution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X: original samples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Xb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transformed samples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lambda: estimated power parameter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Xb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lambda] =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boxcox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(X);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histogram(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Xb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D52E3-BB9E-4A8F-26CE-73B4ED90D179}"/>
              </a:ext>
            </a:extLst>
          </p:cNvPr>
          <p:cNvSpPr txBox="1"/>
          <p:nvPr/>
        </p:nvSpPr>
        <p:spPr>
          <a:xfrm>
            <a:off x="8445055" y="2178146"/>
            <a:ext cx="3315144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Related functions:</a:t>
            </a:r>
          </a:p>
          <a:p>
            <a:pPr algn="r"/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boxcox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r"/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boxcoxinv_mooc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7FB5B30-9133-3E8E-8E02-C044BE0F8B38}"/>
              </a:ext>
            </a:extLst>
          </p:cNvPr>
          <p:cNvGrpSpPr/>
          <p:nvPr/>
        </p:nvGrpSpPr>
        <p:grpSpPr>
          <a:xfrm>
            <a:off x="2163826" y="3479526"/>
            <a:ext cx="7864347" cy="2116048"/>
            <a:chOff x="639826" y="2424409"/>
            <a:chExt cx="7864347" cy="211604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5B6D88C-7A54-A09F-C044-1897A86F286E}"/>
                </a:ext>
              </a:extLst>
            </p:cNvPr>
            <p:cNvGrpSpPr/>
            <p:nvPr/>
          </p:nvGrpSpPr>
          <p:grpSpPr>
            <a:xfrm>
              <a:off x="639826" y="2424409"/>
              <a:ext cx="7864347" cy="2110430"/>
              <a:chOff x="585214" y="3167068"/>
              <a:chExt cx="7864347" cy="211043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0475EFA2-75E2-DA8F-3D57-29169A40552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50744"/>
              <a:stretch/>
            </p:blipFill>
            <p:spPr>
              <a:xfrm>
                <a:off x="585214" y="3167068"/>
                <a:ext cx="2865205" cy="2110430"/>
              </a:xfrm>
              <a:prstGeom prst="rect">
                <a:avLst/>
              </a:prstGeom>
            </p:spPr>
          </p:pic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AA0E4640-958F-3CCF-689A-51AB3D7F0B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50419" y="3869487"/>
                <a:ext cx="2133937" cy="0"/>
              </a:xfrm>
              <a:prstGeom prst="straightConnector1">
                <a:avLst/>
              </a:prstGeom>
              <a:ln w="28575">
                <a:solidFill>
                  <a:srgbClr val="00356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E05028BB-5EA7-BB9B-3075-74BEE78A63F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50744"/>
              <a:stretch/>
            </p:blipFill>
            <p:spPr>
              <a:xfrm>
                <a:off x="5584356" y="3167068"/>
                <a:ext cx="2865205" cy="2110430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B4C3494-B5E3-2CEE-519C-5C5F3C72329C}"/>
                  </a:ext>
                </a:extLst>
              </p:cNvPr>
              <p:cNvSpPr txBox="1"/>
              <p:nvPr/>
            </p:nvSpPr>
            <p:spPr>
              <a:xfrm>
                <a:off x="3300286" y="3427363"/>
                <a:ext cx="253947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Box-Cox transform</a:t>
                </a:r>
              </a:p>
            </p:txBody>
          </p: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9B84D31-DEEA-9B4E-CB84-3882DAD627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5031" y="3781329"/>
              <a:ext cx="2100432" cy="0"/>
            </a:xfrm>
            <a:prstGeom prst="straightConnector1">
              <a:avLst/>
            </a:prstGeom>
            <a:ln w="28575">
              <a:solidFill>
                <a:srgbClr val="00356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5D5A4A-B284-81E3-94A1-2D89EC0C6437}"/>
                </a:ext>
              </a:extLst>
            </p:cNvPr>
            <p:cNvSpPr txBox="1"/>
            <p:nvPr/>
          </p:nvSpPr>
          <p:spPr>
            <a:xfrm>
              <a:off x="3538536" y="3771016"/>
              <a:ext cx="27414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Inverse Box-Cox </a:t>
              </a:r>
            </a:p>
            <a:p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transform</a:t>
              </a:r>
            </a:p>
          </p:txBody>
        </p:sp>
      </p:grpSp>
      <p:sp>
        <p:nvSpPr>
          <p:cNvPr id="17" name="TextBox 11">
            <a:extLst>
              <a:ext uri="{FF2B5EF4-FFF2-40B4-BE49-F238E27FC236}">
                <a16:creationId xmlns:a16="http://schemas.microsoft.com/office/drawing/2014/main" id="{48FC8AAD-7E4B-DA67-3FF5-7F2203D8C63B}"/>
              </a:ext>
            </a:extLst>
          </p:cNvPr>
          <p:cNvSpPr txBox="1"/>
          <p:nvPr/>
        </p:nvSpPr>
        <p:spPr>
          <a:xfrm>
            <a:off x="560227" y="5941186"/>
            <a:ext cx="6858149" cy="665083"/>
          </a:xfrm>
          <a:prstGeom prst="roundRect">
            <a:avLst>
              <a:gd name="adj" fmla="val 4975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% Invert the distribution back to its original form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histogram(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boxcoxinv_mooc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Xb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lambda));</a:t>
            </a:r>
          </a:p>
        </p:txBody>
      </p:sp>
      <p:sp>
        <p:nvSpPr>
          <p:cNvPr id="19" name="矩形 8">
            <a:extLst>
              <a:ext uri="{FF2B5EF4-FFF2-40B4-BE49-F238E27FC236}">
                <a16:creationId xmlns:a16="http://schemas.microsoft.com/office/drawing/2014/main" id="{0CA3E168-2912-6D5F-2BA0-0EFB048F955C}"/>
              </a:ext>
            </a:extLst>
          </p:cNvPr>
          <p:cNvSpPr/>
          <p:nvPr/>
        </p:nvSpPr>
        <p:spPr>
          <a:xfrm>
            <a:off x="10102627" y="6139720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53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7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D55765-AAA9-4ADC-8262-E6AE5A3AD4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B32E59D-8EB6-4999-8CD7-6C796B3DE944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A331B6AD-9E04-4087-90D7-1E14D4D4FE2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2722</TotalTime>
  <Words>269</Words>
  <Application>Microsoft Office PowerPoint</Application>
  <PresentationFormat>Widescreen</PresentationFormat>
  <Paragraphs>61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Consolas</vt:lpstr>
      <vt:lpstr>Office Theme</vt:lpstr>
      <vt:lpstr>Data Transform: Normalization, Standardization, Power Transform</vt:lpstr>
      <vt:lpstr>Data normalization</vt:lpstr>
      <vt:lpstr>Data standardization  </vt:lpstr>
      <vt:lpstr>Power transform: remove skew </vt:lpstr>
      <vt:lpstr>Power transform </vt:lpstr>
      <vt:lpstr>Power transform: Box-Cox transform </vt:lpstr>
      <vt:lpstr>Power transform: Box-Cox transform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60</cp:revision>
  <dcterms:created xsi:type="dcterms:W3CDTF">2021-01-06T14:22:07Z</dcterms:created>
  <dcterms:modified xsi:type="dcterms:W3CDTF">2024-07-10T12:09:06Z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