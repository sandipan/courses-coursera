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1"/>
  </p:notesMasterIdLst>
  <p:sldIdLst>
    <p:sldId id="256" r:id="rId5"/>
    <p:sldId id="494" r:id="rId6"/>
    <p:sldId id="496" r:id="rId7"/>
    <p:sldId id="497" r:id="rId8"/>
    <p:sldId id="498" r:id="rId9"/>
    <p:sldId id="27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D7A3495-7CBB-D254-9E8E-BF146B0306A0}" v="2" dt="2024-07-10T16:05:49.428"/>
    <p1510:client id="{8F9AE595-A040-FF76-82A5-313D882F7907}" v="2" dt="2024-07-10T16:26:28.71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angyue Yu (PGR)" userId="S::2522553y@student.gla.ac.uk::6b5e3eec-90ec-4566-b7ba-930254322436" providerId="AD" clId="Web-{8F9AE595-A040-FF76-82A5-313D882F7907}"/>
    <pc:docChg chg="modSld">
      <pc:chgData name="Liangyue Yu (PGR)" userId="S::2522553y@student.gla.ac.uk::6b5e3eec-90ec-4566-b7ba-930254322436" providerId="AD" clId="Web-{8F9AE595-A040-FF76-82A5-313D882F7907}" dt="2024-07-10T16:26:28.710" v="1"/>
      <pc:docMkLst>
        <pc:docMk/>
      </pc:docMkLst>
      <pc:sldChg chg="addAnim delAnim modAnim">
        <pc:chgData name="Liangyue Yu (PGR)" userId="S::2522553y@student.gla.ac.uk::6b5e3eec-90ec-4566-b7ba-930254322436" providerId="AD" clId="Web-{8F9AE595-A040-FF76-82A5-313D882F7907}" dt="2024-07-10T16:26:28.710" v="1"/>
        <pc:sldMkLst>
          <pc:docMk/>
          <pc:sldMk cId="1808491032" sldId="498"/>
        </pc:sldMkLst>
      </pc:sldChg>
    </pc:docChg>
  </pc:docChgLst>
  <pc:docChgLst>
    <pc:chgData name="Liangyue Yu (PGR)" userId="S::2522553y@student.gla.ac.uk::6b5e3eec-90ec-4566-b7ba-930254322436" providerId="AD" clId="Web-{2D7A3495-7CBB-D254-9E8E-BF146B0306A0}"/>
    <pc:docChg chg="modSld">
      <pc:chgData name="Liangyue Yu (PGR)" userId="S::2522553y@student.gla.ac.uk::6b5e3eec-90ec-4566-b7ba-930254322436" providerId="AD" clId="Web-{2D7A3495-7CBB-D254-9E8E-BF146B0306A0}" dt="2024-07-10T16:05:49.428" v="1" actId="1076"/>
      <pc:docMkLst>
        <pc:docMk/>
      </pc:docMkLst>
      <pc:sldChg chg="modSp">
        <pc:chgData name="Liangyue Yu (PGR)" userId="S::2522553y@student.gla.ac.uk::6b5e3eec-90ec-4566-b7ba-930254322436" providerId="AD" clId="Web-{2D7A3495-7CBB-D254-9E8E-BF146B0306A0}" dt="2024-07-10T16:05:49.428" v="1" actId="1076"/>
        <pc:sldMkLst>
          <pc:docMk/>
          <pc:sldMk cId="2585753036" sldId="496"/>
        </pc:sldMkLst>
        <pc:picChg chg="mod">
          <ac:chgData name="Liangyue Yu (PGR)" userId="S::2522553y@student.gla.ac.uk::6b5e3eec-90ec-4566-b7ba-930254322436" providerId="AD" clId="Web-{2D7A3495-7CBB-D254-9E8E-BF146B0306A0}" dt="2024-07-10T16:05:49.428" v="1" actId="1076"/>
          <ac:picMkLst>
            <pc:docMk/>
            <pc:sldMk cId="2585753036" sldId="496"/>
            <ac:picMk id="10" creationId="{6B1D88F1-B29F-FB06-8B59-992669305595}"/>
          </ac:picMkLst>
        </pc:picChg>
      </pc:sldChg>
    </pc:docChg>
  </pc:docChgLst>
  <pc:docChgLst>
    <pc:chgData name="Liangyue Yu (PGR)" userId="S::2522553y@student.gla.ac.uk::6b5e3eec-90ec-4566-b7ba-930254322436" providerId="AD" clId="Web-{8B7B7C72-ED6B-4F53-860E-8A6AAA8A2D62}"/>
    <pc:docChg chg="modSld">
      <pc:chgData name="Liangyue Yu (PGR)" userId="S::2522553y@student.gla.ac.uk::6b5e3eec-90ec-4566-b7ba-930254322436" providerId="AD" clId="Web-{8B7B7C72-ED6B-4F53-860E-8A6AAA8A2D62}" dt="2024-07-08T09:29:45.698" v="2" actId="1076"/>
      <pc:docMkLst>
        <pc:docMk/>
      </pc:docMkLst>
      <pc:sldChg chg="addSp modSp">
        <pc:chgData name="Liangyue Yu (PGR)" userId="S::2522553y@student.gla.ac.uk::6b5e3eec-90ec-4566-b7ba-930254322436" providerId="AD" clId="Web-{8B7B7C72-ED6B-4F53-860E-8A6AAA8A2D62}" dt="2024-07-08T09:29:45.698" v="2" actId="1076"/>
        <pc:sldMkLst>
          <pc:docMk/>
          <pc:sldMk cId="2585753036" sldId="496"/>
        </pc:sldMkLst>
        <pc:picChg chg="add mod">
          <ac:chgData name="Liangyue Yu (PGR)" userId="S::2522553y@student.gla.ac.uk::6b5e3eec-90ec-4566-b7ba-930254322436" providerId="AD" clId="Web-{8B7B7C72-ED6B-4F53-860E-8A6AAA8A2D62}" dt="2024-07-08T09:29:45.698" v="2" actId="1076"/>
          <ac:picMkLst>
            <pc:docMk/>
            <pc:sldMk cId="2585753036" sldId="496"/>
            <ac:picMk id="10" creationId="{6B1D88F1-B29F-FB06-8B59-992669305595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295AE2-43AC-144B-AE88-DCB376799F11}" type="datetimeFigureOut">
              <a:rPr lang="en-US" smtClean="0"/>
              <a:t>7/10/2024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24E5BB-E6B0-B84A-ABCD-9A3E9C2D78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7427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95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2024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858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4946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83BB4406-02B4-284F-84C5-A21F22E6B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5FEA054A-F191-E34B-8C26-BA11F3F0C0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85750" y="1627188"/>
            <a:ext cx="11474450" cy="46069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92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EE31514-F8EA-5D4E-B45D-65DD78DBE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12524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91D55F9-A3F2-1242-A5F3-5AAACC9DB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49408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0418" y="1657926"/>
            <a:ext cx="6629400" cy="789709"/>
          </a:xfrm>
        </p:spPr>
        <p:txBody>
          <a:bodyPr anchor="t">
            <a:normAutofit/>
          </a:bodyPr>
          <a:lstStyle>
            <a:lvl1pPr algn="l">
              <a:defRPr sz="28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90418" y="3015529"/>
            <a:ext cx="5680364" cy="623598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184273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F97420DD-2415-454D-AA0F-DBDA719CB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01283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1680" y="2123676"/>
            <a:ext cx="4027169" cy="1600200"/>
          </a:xfrm>
        </p:spPr>
        <p:txBody>
          <a:bodyPr anchor="t"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1680" y="3934224"/>
            <a:ext cx="4030345" cy="1934763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280398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A65B24-645B-1746-9651-55C209C5E25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810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511800" y="681037"/>
            <a:ext cx="5842000" cy="100965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624FB1-CB24-4B4C-BFD4-AD276D9A4059}" type="datetimeFigureOut">
              <a:rPr lang="en-GB" smtClean="0"/>
              <a:t>10/07/2024</a:t>
            </a:fld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19F3F6-C255-4AC5-91C2-3F61B6509B36}" type="slidenum">
              <a:rPr lang="en-GB" smtClean="0"/>
              <a:t>‹#›</a:t>
            </a:fld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6262A0F-9E49-6B4D-94F3-647B33A25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699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52" r:id="rId2"/>
    <p:sldLayoutId id="2147483653" r:id="rId3"/>
    <p:sldLayoutId id="2147483649" r:id="rId4"/>
    <p:sldLayoutId id="2147483654" r:id="rId5"/>
    <p:sldLayoutId id="2147483656" r:id="rId6"/>
    <p:sldLayoutId id="2147483684" r:id="rId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The Gilbert Scott Building">
            <a:extLst>
              <a:ext uri="{FF2B5EF4-FFF2-40B4-BE49-F238E27FC236}">
                <a16:creationId xmlns:a16="http://schemas.microsoft.com/office/drawing/2014/main" id="{BAB3C4BD-A67A-4D47-6D5C-637F167E7C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0418" y="1657926"/>
            <a:ext cx="6957291" cy="789709"/>
          </a:xfrm>
        </p:spPr>
        <p:txBody>
          <a:bodyPr>
            <a:normAutofit fontScale="90000"/>
          </a:bodyPr>
          <a:lstStyle/>
          <a:p>
            <a:r>
              <a:rPr lang="en-GB">
                <a:solidFill>
                  <a:schemeClr val="tx1"/>
                </a:solidFill>
              </a:rPr>
              <a:t>Gaussian Distribution, Skewness and Outliers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FFC54586-8882-6804-A250-091EB79369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0418" y="2576945"/>
            <a:ext cx="5680364" cy="1062182"/>
          </a:xfrm>
        </p:spPr>
        <p:txBody>
          <a:bodyPr/>
          <a:lstStyle/>
          <a:p>
            <a:r>
              <a:rPr lang="en-GB">
                <a:solidFill>
                  <a:schemeClr val="tx1"/>
                </a:solidFill>
              </a:rPr>
              <a:t>Professor Bo Liu</a:t>
            </a:r>
          </a:p>
          <a:p>
            <a:r>
              <a:rPr lang="en-GB">
                <a:solidFill>
                  <a:schemeClr val="tx1"/>
                </a:solidFill>
              </a:rPr>
              <a:t>James Watt School of Engineering</a:t>
            </a:r>
          </a:p>
        </p:txBody>
      </p:sp>
    </p:spTree>
    <p:extLst>
      <p:ext uri="{BB962C8B-B14F-4D97-AF65-F5344CB8AC3E}">
        <p14:creationId xmlns:p14="http://schemas.microsoft.com/office/powerpoint/2010/main" val="42441715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fr-FR"/>
              <a:t>Gaussian distribution </a:t>
            </a:r>
            <a:br>
              <a:rPr lang="fr-FR"/>
            </a:br>
            <a:r>
              <a:rPr lang="fr-FR"/>
              <a:t>(a.k.a. normal distribution)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A8D9C71-88B6-BF78-C024-3B5D947C6813}"/>
              </a:ext>
            </a:extLst>
          </p:cNvPr>
          <p:cNvSpPr txBox="1"/>
          <p:nvPr/>
        </p:nvSpPr>
        <p:spPr>
          <a:xfrm>
            <a:off x="274337" y="5644468"/>
            <a:ext cx="11643325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Gaussian distribution observation: 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Data near the mean are more frequent in occurrence than data far from the mean.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EB23214-1928-6EC5-C9D6-6537E345D3EA}"/>
              </a:ext>
            </a:extLst>
          </p:cNvPr>
          <p:cNvGrpSpPr/>
          <p:nvPr/>
        </p:nvGrpSpPr>
        <p:grpSpPr>
          <a:xfrm>
            <a:off x="2243181" y="1761701"/>
            <a:ext cx="7705637" cy="3622396"/>
            <a:chOff x="807907" y="1020386"/>
            <a:chExt cx="6886136" cy="3582277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4C514A1C-803A-A14F-FA57-C2EBE3C0415A}"/>
                </a:ext>
              </a:extLst>
            </p:cNvPr>
            <p:cNvGrpSpPr/>
            <p:nvPr/>
          </p:nvGrpSpPr>
          <p:grpSpPr>
            <a:xfrm>
              <a:off x="1658208" y="4146111"/>
              <a:ext cx="6020779" cy="456552"/>
              <a:chOff x="1867544" y="3979935"/>
              <a:chExt cx="6020779" cy="456552"/>
            </a:xfrm>
          </p:grpSpPr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CA21A87C-8824-4BAB-B44E-DB9BD83B0EF1}"/>
                  </a:ext>
                </a:extLst>
              </p:cNvPr>
              <p:cNvSpPr txBox="1"/>
              <p:nvPr/>
            </p:nvSpPr>
            <p:spPr>
              <a:xfrm>
                <a:off x="1867544" y="3979935"/>
                <a:ext cx="2988528" cy="4565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>
                    <a:latin typeface="Arial" panose="020B0604020202020204" pitchFamily="34" charset="0"/>
                    <a:cs typeface="Arial" panose="020B0604020202020204" pitchFamily="34" charset="0"/>
                  </a:rPr>
                  <a:t>Gaussian distribution</a:t>
                </a:r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758BC759-0EDD-BF57-D01A-BC55E896A9B9}"/>
                  </a:ext>
                </a:extLst>
              </p:cNvPr>
              <p:cNvSpPr txBox="1"/>
              <p:nvPr/>
            </p:nvSpPr>
            <p:spPr>
              <a:xfrm>
                <a:off x="5351039" y="3979935"/>
                <a:ext cx="2537284" cy="4565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>
                    <a:latin typeface="Arial" panose="020B0604020202020204" pitchFamily="34" charset="0"/>
                    <a:cs typeface="Arial" panose="020B0604020202020204" pitchFamily="34" charset="0"/>
                  </a:rPr>
                  <a:t>Uniform distribution</a:t>
                </a: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C6D38EB1-D477-78C7-441D-0A308E064A0C}"/>
                </a:ext>
              </a:extLst>
            </p:cNvPr>
            <p:cNvGrpSpPr/>
            <p:nvPr/>
          </p:nvGrpSpPr>
          <p:grpSpPr>
            <a:xfrm>
              <a:off x="807907" y="1020386"/>
              <a:ext cx="6886136" cy="2959549"/>
              <a:chOff x="1193800" y="2658376"/>
              <a:chExt cx="6886136" cy="2959549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D8E740B0-9B5B-BCAB-BA56-79F137128ED1}"/>
                  </a:ext>
                </a:extLst>
              </p:cNvPr>
              <p:cNvSpPr/>
              <p:nvPr/>
            </p:nvSpPr>
            <p:spPr>
              <a:xfrm>
                <a:off x="5770049" y="3203571"/>
                <a:ext cx="1624749" cy="1571343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D7F41BA0-0AB7-6750-9A2C-A8E8EE3F666F}"/>
                  </a:ext>
                </a:extLst>
              </p:cNvPr>
              <p:cNvGrpSpPr/>
              <p:nvPr/>
            </p:nvGrpSpPr>
            <p:grpSpPr>
              <a:xfrm>
                <a:off x="1193800" y="2790682"/>
                <a:ext cx="3378200" cy="2827243"/>
                <a:chOff x="2362200" y="2985990"/>
                <a:chExt cx="3378200" cy="2827243"/>
              </a:xfrm>
            </p:grpSpPr>
            <p:sp>
              <p:nvSpPr>
                <p:cNvPr id="43" name="Oval 42">
                  <a:extLst>
                    <a:ext uri="{FF2B5EF4-FFF2-40B4-BE49-F238E27FC236}">
                      <a16:creationId xmlns:a16="http://schemas.microsoft.com/office/drawing/2014/main" id="{03602655-732F-18F5-65BE-7324E8480451}"/>
                    </a:ext>
                  </a:extLst>
                </p:cNvPr>
                <p:cNvSpPr/>
                <p:nvPr/>
              </p:nvSpPr>
              <p:spPr>
                <a:xfrm>
                  <a:off x="3283173" y="3245239"/>
                  <a:ext cx="1930400" cy="1879599"/>
                </a:xfrm>
                <a:prstGeom prst="ellipse">
                  <a:avLst/>
                </a:prstGeom>
                <a:solidFill>
                  <a:srgbClr val="FF0000">
                    <a:alpha val="10000"/>
                  </a:srgbClr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44" name="Straight Connector 43">
                  <a:extLst>
                    <a:ext uri="{FF2B5EF4-FFF2-40B4-BE49-F238E27FC236}">
                      <a16:creationId xmlns:a16="http://schemas.microsoft.com/office/drawing/2014/main" id="{295F9503-292D-D1B7-B577-8F388D34942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254723" y="2985990"/>
                  <a:ext cx="0" cy="2398098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  <a:headEnd type="none"/>
                  <a:tailEnd type="arrow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Straight Connector 44">
                  <a:extLst>
                    <a:ext uri="{FF2B5EF4-FFF2-40B4-BE49-F238E27FC236}">
                      <a16:creationId xmlns:a16="http://schemas.microsoft.com/office/drawing/2014/main" id="{C859BA3C-2FE9-3FBE-6518-8D8BE25FD73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793589" y="4185039"/>
                  <a:ext cx="2946811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46" name="Oval 45">
                  <a:extLst>
                    <a:ext uri="{FF2B5EF4-FFF2-40B4-BE49-F238E27FC236}">
                      <a16:creationId xmlns:a16="http://schemas.microsoft.com/office/drawing/2014/main" id="{8F6C17AA-6FAB-677B-EBE7-A347C3A334FB}"/>
                    </a:ext>
                  </a:extLst>
                </p:cNvPr>
                <p:cNvSpPr/>
                <p:nvPr/>
              </p:nvSpPr>
              <p:spPr>
                <a:xfrm>
                  <a:off x="3545166" y="3508472"/>
                  <a:ext cx="1406413" cy="1353132"/>
                </a:xfrm>
                <a:prstGeom prst="ellipse">
                  <a:avLst/>
                </a:prstGeom>
                <a:solidFill>
                  <a:srgbClr val="FF0000">
                    <a:alpha val="10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C3FB55F1-9D4C-A3FA-33D3-2B6E3EFBEF48}"/>
                    </a:ext>
                  </a:extLst>
                </p:cNvPr>
                <p:cNvSpPr/>
                <p:nvPr/>
              </p:nvSpPr>
              <p:spPr>
                <a:xfrm>
                  <a:off x="3810222" y="3754333"/>
                  <a:ext cx="876300" cy="861410"/>
                </a:xfrm>
                <a:prstGeom prst="ellipse">
                  <a:avLst/>
                </a:prstGeom>
                <a:solidFill>
                  <a:srgbClr val="FF0000">
                    <a:alpha val="10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19021E45-C429-F22C-5029-A31E32EA7A71}"/>
                    </a:ext>
                  </a:extLst>
                </p:cNvPr>
                <p:cNvSpPr/>
                <p:nvPr/>
              </p:nvSpPr>
              <p:spPr>
                <a:xfrm>
                  <a:off x="4032104" y="3959628"/>
                  <a:ext cx="431680" cy="450819"/>
                </a:xfrm>
                <a:prstGeom prst="ellipse">
                  <a:avLst/>
                </a:prstGeom>
                <a:solidFill>
                  <a:srgbClr val="FF0000">
                    <a:alpha val="10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B06E2C76-5F6D-7272-9C83-BDA3FEAFD5A9}"/>
                    </a:ext>
                  </a:extLst>
                </p:cNvPr>
                <p:cNvSpPr/>
                <p:nvPr/>
              </p:nvSpPr>
              <p:spPr>
                <a:xfrm>
                  <a:off x="3997517" y="3828667"/>
                  <a:ext cx="62513" cy="64675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936483C6-9646-E81F-2AA0-F410AF5076D2}"/>
                    </a:ext>
                  </a:extLst>
                </p:cNvPr>
                <p:cNvSpPr/>
                <p:nvPr/>
              </p:nvSpPr>
              <p:spPr>
                <a:xfrm>
                  <a:off x="4192210" y="4104488"/>
                  <a:ext cx="62513" cy="64675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1" name="Oval 50">
                  <a:extLst>
                    <a:ext uri="{FF2B5EF4-FFF2-40B4-BE49-F238E27FC236}">
                      <a16:creationId xmlns:a16="http://schemas.microsoft.com/office/drawing/2014/main" id="{D6CF4E8A-A1CA-0E25-B581-009D225A2A6B}"/>
                    </a:ext>
                  </a:extLst>
                </p:cNvPr>
                <p:cNvSpPr/>
                <p:nvPr/>
              </p:nvSpPr>
              <p:spPr>
                <a:xfrm>
                  <a:off x="4149917" y="3981067"/>
                  <a:ext cx="62513" cy="64675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2" name="Oval 51">
                  <a:extLst>
                    <a:ext uri="{FF2B5EF4-FFF2-40B4-BE49-F238E27FC236}">
                      <a16:creationId xmlns:a16="http://schemas.microsoft.com/office/drawing/2014/main" id="{B9520947-2299-69E0-9715-E181B6E9985D}"/>
                    </a:ext>
                  </a:extLst>
                </p:cNvPr>
                <p:cNvSpPr/>
                <p:nvPr/>
              </p:nvSpPr>
              <p:spPr>
                <a:xfrm>
                  <a:off x="4302317" y="4133467"/>
                  <a:ext cx="62513" cy="64675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3" name="Oval 52">
                  <a:extLst>
                    <a:ext uri="{FF2B5EF4-FFF2-40B4-BE49-F238E27FC236}">
                      <a16:creationId xmlns:a16="http://schemas.microsoft.com/office/drawing/2014/main" id="{17293A48-9824-9072-1280-44D743772E90}"/>
                    </a:ext>
                  </a:extLst>
                </p:cNvPr>
                <p:cNvSpPr/>
                <p:nvPr/>
              </p:nvSpPr>
              <p:spPr>
                <a:xfrm>
                  <a:off x="4332629" y="4324337"/>
                  <a:ext cx="62513" cy="64675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Oval 53">
                  <a:extLst>
                    <a:ext uri="{FF2B5EF4-FFF2-40B4-BE49-F238E27FC236}">
                      <a16:creationId xmlns:a16="http://schemas.microsoft.com/office/drawing/2014/main" id="{E353D3DF-270E-5CF5-A08A-4D0A591EFF15}"/>
                    </a:ext>
                  </a:extLst>
                </p:cNvPr>
                <p:cNvSpPr/>
                <p:nvPr/>
              </p:nvSpPr>
              <p:spPr>
                <a:xfrm>
                  <a:off x="3756056" y="4350542"/>
                  <a:ext cx="62513" cy="64675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Oval 54">
                  <a:extLst>
                    <a:ext uri="{FF2B5EF4-FFF2-40B4-BE49-F238E27FC236}">
                      <a16:creationId xmlns:a16="http://schemas.microsoft.com/office/drawing/2014/main" id="{365ACB79-213A-0E91-404B-E4BD8580135D}"/>
                    </a:ext>
                  </a:extLst>
                </p:cNvPr>
                <p:cNvSpPr/>
                <p:nvPr/>
              </p:nvSpPr>
              <p:spPr>
                <a:xfrm>
                  <a:off x="4708711" y="3813701"/>
                  <a:ext cx="62513" cy="64675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Oval 55">
                  <a:extLst>
                    <a:ext uri="{FF2B5EF4-FFF2-40B4-BE49-F238E27FC236}">
                      <a16:creationId xmlns:a16="http://schemas.microsoft.com/office/drawing/2014/main" id="{22A1DD46-2EBE-0042-92E1-1906A223D332}"/>
                    </a:ext>
                  </a:extLst>
                </p:cNvPr>
                <p:cNvSpPr/>
                <p:nvPr/>
              </p:nvSpPr>
              <p:spPr>
                <a:xfrm>
                  <a:off x="4423460" y="3577335"/>
                  <a:ext cx="62513" cy="64675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7" name="Oval 56">
                  <a:extLst>
                    <a:ext uri="{FF2B5EF4-FFF2-40B4-BE49-F238E27FC236}">
                      <a16:creationId xmlns:a16="http://schemas.microsoft.com/office/drawing/2014/main" id="{02D2A4B1-F6C8-405E-ADDA-2E9E54EEFAF8}"/>
                    </a:ext>
                  </a:extLst>
                </p:cNvPr>
                <p:cNvSpPr/>
                <p:nvPr/>
              </p:nvSpPr>
              <p:spPr>
                <a:xfrm>
                  <a:off x="3484338" y="3959628"/>
                  <a:ext cx="62513" cy="64675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8" name="Oval 57">
                  <a:extLst>
                    <a:ext uri="{FF2B5EF4-FFF2-40B4-BE49-F238E27FC236}">
                      <a16:creationId xmlns:a16="http://schemas.microsoft.com/office/drawing/2014/main" id="{693C6FD5-C336-2066-CF24-5B0D3C1896CF}"/>
                    </a:ext>
                  </a:extLst>
                </p:cNvPr>
                <p:cNvSpPr/>
                <p:nvPr/>
              </p:nvSpPr>
              <p:spPr>
                <a:xfrm>
                  <a:off x="4964281" y="4558329"/>
                  <a:ext cx="62513" cy="64675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9" name="Oval 58">
                  <a:extLst>
                    <a:ext uri="{FF2B5EF4-FFF2-40B4-BE49-F238E27FC236}">
                      <a16:creationId xmlns:a16="http://schemas.microsoft.com/office/drawing/2014/main" id="{368BA64C-7D46-5EDD-098E-1CC2B51E9DF7}"/>
                    </a:ext>
                  </a:extLst>
                </p:cNvPr>
                <p:cNvSpPr/>
                <p:nvPr/>
              </p:nvSpPr>
              <p:spPr>
                <a:xfrm>
                  <a:off x="4271060" y="4026711"/>
                  <a:ext cx="62513" cy="64675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0" name="Oval 59">
                  <a:extLst>
                    <a:ext uri="{FF2B5EF4-FFF2-40B4-BE49-F238E27FC236}">
                      <a16:creationId xmlns:a16="http://schemas.microsoft.com/office/drawing/2014/main" id="{C9E77419-3A6D-5E43-8018-751B1403C79A}"/>
                    </a:ext>
                  </a:extLst>
                </p:cNvPr>
                <p:cNvSpPr/>
                <p:nvPr/>
              </p:nvSpPr>
              <p:spPr>
                <a:xfrm>
                  <a:off x="4138764" y="4249348"/>
                  <a:ext cx="62513" cy="64675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1" name="Oval 60">
                  <a:extLst>
                    <a:ext uri="{FF2B5EF4-FFF2-40B4-BE49-F238E27FC236}">
                      <a16:creationId xmlns:a16="http://schemas.microsoft.com/office/drawing/2014/main" id="{1F2A64DE-E58B-F934-31E5-6ACD1F25747F}"/>
                    </a:ext>
                  </a:extLst>
                </p:cNvPr>
                <p:cNvSpPr/>
                <p:nvPr/>
              </p:nvSpPr>
              <p:spPr>
                <a:xfrm>
                  <a:off x="4040980" y="4710729"/>
                  <a:ext cx="62513" cy="64675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62" name="Straight Connector 61">
                  <a:extLst>
                    <a:ext uri="{FF2B5EF4-FFF2-40B4-BE49-F238E27FC236}">
                      <a16:creationId xmlns:a16="http://schemas.microsoft.com/office/drawing/2014/main" id="{6087C724-8789-7639-E3FE-94385D13C10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792554" y="3080592"/>
                  <a:ext cx="0" cy="2303496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3" name="Straight Connector 62">
                  <a:extLst>
                    <a:ext uri="{FF2B5EF4-FFF2-40B4-BE49-F238E27FC236}">
                      <a16:creationId xmlns:a16="http://schemas.microsoft.com/office/drawing/2014/main" id="{D5D2D2FF-4E4E-6307-539A-FEE3A549EAE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775491" y="5370699"/>
                  <a:ext cx="2964909" cy="11295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64" name="Freeform: Shape 68">
                  <a:extLst>
                    <a:ext uri="{FF2B5EF4-FFF2-40B4-BE49-F238E27FC236}">
                      <a16:creationId xmlns:a16="http://schemas.microsoft.com/office/drawing/2014/main" id="{4DFB9464-895D-73B9-8B08-21ADD2416F30}"/>
                    </a:ext>
                  </a:extLst>
                </p:cNvPr>
                <p:cNvSpPr/>
                <p:nvPr/>
              </p:nvSpPr>
              <p:spPr>
                <a:xfrm>
                  <a:off x="2362200" y="3086100"/>
                  <a:ext cx="434340" cy="2263140"/>
                </a:xfrm>
                <a:custGeom>
                  <a:avLst/>
                  <a:gdLst>
                    <a:gd name="connsiteX0" fmla="*/ 419100 w 434340"/>
                    <a:gd name="connsiteY0" fmla="*/ 0 h 2263140"/>
                    <a:gd name="connsiteX1" fmla="*/ 327660 w 434340"/>
                    <a:gd name="connsiteY1" fmla="*/ 541020 h 2263140"/>
                    <a:gd name="connsiteX2" fmla="*/ 0 w 434340"/>
                    <a:gd name="connsiteY2" fmla="*/ 1112520 h 2263140"/>
                    <a:gd name="connsiteX3" fmla="*/ 327660 w 434340"/>
                    <a:gd name="connsiteY3" fmla="*/ 1684020 h 2263140"/>
                    <a:gd name="connsiteX4" fmla="*/ 434340 w 434340"/>
                    <a:gd name="connsiteY4" fmla="*/ 2263140 h 22631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34340" h="2263140">
                      <a:moveTo>
                        <a:pt x="419100" y="0"/>
                      </a:moveTo>
                      <a:cubicBezTo>
                        <a:pt x="408305" y="177800"/>
                        <a:pt x="397510" y="355600"/>
                        <a:pt x="327660" y="541020"/>
                      </a:cubicBezTo>
                      <a:cubicBezTo>
                        <a:pt x="257810" y="726440"/>
                        <a:pt x="0" y="922020"/>
                        <a:pt x="0" y="1112520"/>
                      </a:cubicBezTo>
                      <a:cubicBezTo>
                        <a:pt x="0" y="1303020"/>
                        <a:pt x="255270" y="1492250"/>
                        <a:pt x="327660" y="1684020"/>
                      </a:cubicBezTo>
                      <a:cubicBezTo>
                        <a:pt x="400050" y="1875790"/>
                        <a:pt x="417195" y="2069465"/>
                        <a:pt x="434340" y="2263140"/>
                      </a:cubicBezTo>
                    </a:path>
                  </a:pathLst>
                </a:cu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5" name="Freeform: Shape 69">
                  <a:extLst>
                    <a:ext uri="{FF2B5EF4-FFF2-40B4-BE49-F238E27FC236}">
                      <a16:creationId xmlns:a16="http://schemas.microsoft.com/office/drawing/2014/main" id="{5C20C9CE-DC80-9A34-CD48-3E4057146BD2}"/>
                    </a:ext>
                  </a:extLst>
                </p:cNvPr>
                <p:cNvSpPr/>
                <p:nvPr/>
              </p:nvSpPr>
              <p:spPr>
                <a:xfrm rot="16200000" flipV="1">
                  <a:off x="4046013" y="4122657"/>
                  <a:ext cx="434340" cy="2946811"/>
                </a:xfrm>
                <a:custGeom>
                  <a:avLst/>
                  <a:gdLst>
                    <a:gd name="connsiteX0" fmla="*/ 419100 w 434340"/>
                    <a:gd name="connsiteY0" fmla="*/ 0 h 2263140"/>
                    <a:gd name="connsiteX1" fmla="*/ 327660 w 434340"/>
                    <a:gd name="connsiteY1" fmla="*/ 541020 h 2263140"/>
                    <a:gd name="connsiteX2" fmla="*/ 0 w 434340"/>
                    <a:gd name="connsiteY2" fmla="*/ 1112520 h 2263140"/>
                    <a:gd name="connsiteX3" fmla="*/ 327660 w 434340"/>
                    <a:gd name="connsiteY3" fmla="*/ 1684020 h 2263140"/>
                    <a:gd name="connsiteX4" fmla="*/ 434340 w 434340"/>
                    <a:gd name="connsiteY4" fmla="*/ 2263140 h 22631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34340" h="2263140">
                      <a:moveTo>
                        <a:pt x="419100" y="0"/>
                      </a:moveTo>
                      <a:cubicBezTo>
                        <a:pt x="408305" y="177800"/>
                        <a:pt x="397510" y="355600"/>
                        <a:pt x="327660" y="541020"/>
                      </a:cubicBezTo>
                      <a:cubicBezTo>
                        <a:pt x="257810" y="726440"/>
                        <a:pt x="0" y="922020"/>
                        <a:pt x="0" y="1112520"/>
                      </a:cubicBezTo>
                      <a:cubicBezTo>
                        <a:pt x="0" y="1303020"/>
                        <a:pt x="255270" y="1492250"/>
                        <a:pt x="327660" y="1684020"/>
                      </a:cubicBezTo>
                      <a:cubicBezTo>
                        <a:pt x="400050" y="1875790"/>
                        <a:pt x="417195" y="2069465"/>
                        <a:pt x="434340" y="2263140"/>
                      </a:cubicBezTo>
                    </a:path>
                  </a:pathLst>
                </a:cu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795B12EA-7A52-816D-2880-4EF8E64D3A63}"/>
                  </a:ext>
                </a:extLst>
              </p:cNvPr>
              <p:cNvGrpSpPr/>
              <p:nvPr/>
            </p:nvGrpSpPr>
            <p:grpSpPr>
              <a:xfrm>
                <a:off x="5099293" y="2793401"/>
                <a:ext cx="2964909" cy="2398098"/>
                <a:chOff x="2775491" y="2985990"/>
                <a:chExt cx="2964909" cy="2398098"/>
              </a:xfrm>
            </p:grpSpPr>
            <p:cxnSp>
              <p:nvCxnSpPr>
                <p:cNvPr id="38" name="Straight Connector 37">
                  <a:extLst>
                    <a:ext uri="{FF2B5EF4-FFF2-40B4-BE49-F238E27FC236}">
                      <a16:creationId xmlns:a16="http://schemas.microsoft.com/office/drawing/2014/main" id="{A17A36F5-6005-B1B5-3B16-792525035E6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254723" y="2985990"/>
                  <a:ext cx="0" cy="2398098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  <a:headEnd type="none"/>
                  <a:tailEnd type="arrow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>
                  <a:extLst>
                    <a:ext uri="{FF2B5EF4-FFF2-40B4-BE49-F238E27FC236}">
                      <a16:creationId xmlns:a16="http://schemas.microsoft.com/office/drawing/2014/main" id="{CD5ABD55-B49D-19AC-5195-3DBF6B40263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793589" y="4185039"/>
                  <a:ext cx="2946811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40" name="Oval 39">
                  <a:extLst>
                    <a:ext uri="{FF2B5EF4-FFF2-40B4-BE49-F238E27FC236}">
                      <a16:creationId xmlns:a16="http://schemas.microsoft.com/office/drawing/2014/main" id="{4E36B30F-DECA-5BAD-A5A8-1B5277629C65}"/>
                    </a:ext>
                  </a:extLst>
                </p:cNvPr>
                <p:cNvSpPr/>
                <p:nvPr/>
              </p:nvSpPr>
              <p:spPr>
                <a:xfrm>
                  <a:off x="3756056" y="4350542"/>
                  <a:ext cx="62513" cy="64675"/>
                </a:xfrm>
                <a:prstGeom prst="ellipse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41" name="Straight Connector 40">
                  <a:extLst>
                    <a:ext uri="{FF2B5EF4-FFF2-40B4-BE49-F238E27FC236}">
                      <a16:creationId xmlns:a16="http://schemas.microsoft.com/office/drawing/2014/main" id="{BF456A69-EF1F-EDBD-A802-64C9F0CB977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792554" y="3080592"/>
                  <a:ext cx="0" cy="2303496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>
                  <a:extLst>
                    <a:ext uri="{FF2B5EF4-FFF2-40B4-BE49-F238E27FC236}">
                      <a16:creationId xmlns:a16="http://schemas.microsoft.com/office/drawing/2014/main" id="{49C9CCE1-B5E6-F9A2-99EB-85BFF148241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775491" y="5370699"/>
                  <a:ext cx="2964909" cy="11295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E203607F-7145-4D2B-B55F-939D936146A9}"/>
                  </a:ext>
                </a:extLst>
              </p:cNvPr>
              <p:cNvSpPr/>
              <p:nvPr/>
            </p:nvSpPr>
            <p:spPr>
              <a:xfrm>
                <a:off x="7002562" y="4140639"/>
                <a:ext cx="62513" cy="64675"/>
              </a:xfrm>
              <a:prstGeom prst="ellipse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BBBE2128-7D43-A9DD-595C-E07772020B72}"/>
                  </a:ext>
                </a:extLst>
              </p:cNvPr>
              <p:cNvSpPr/>
              <p:nvPr/>
            </p:nvSpPr>
            <p:spPr>
              <a:xfrm>
                <a:off x="7033819" y="3429000"/>
                <a:ext cx="62513" cy="64675"/>
              </a:xfrm>
              <a:prstGeom prst="ellipse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7F247876-377E-25CE-E0A0-0A0640B96ABC}"/>
                  </a:ext>
                </a:extLst>
              </p:cNvPr>
              <p:cNvSpPr/>
              <p:nvPr/>
            </p:nvSpPr>
            <p:spPr>
              <a:xfrm>
                <a:off x="6537058" y="4615153"/>
                <a:ext cx="62513" cy="64675"/>
              </a:xfrm>
              <a:prstGeom prst="ellipse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42E22C58-30DD-6381-248F-DB90F0765866}"/>
                  </a:ext>
                </a:extLst>
              </p:cNvPr>
              <p:cNvSpPr/>
              <p:nvPr/>
            </p:nvSpPr>
            <p:spPr>
              <a:xfrm>
                <a:off x="6353401" y="3699645"/>
                <a:ext cx="62513" cy="64675"/>
              </a:xfrm>
              <a:prstGeom prst="ellipse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AE2F9E46-FB8C-8761-9A80-AE6ECDF5CA63}"/>
                  </a:ext>
                </a:extLst>
              </p:cNvPr>
              <p:cNvSpPr/>
              <p:nvPr/>
            </p:nvSpPr>
            <p:spPr>
              <a:xfrm>
                <a:off x="6966714" y="4388912"/>
                <a:ext cx="62513" cy="64675"/>
              </a:xfrm>
              <a:prstGeom prst="ellipse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3B40F710-20AC-F2B2-901A-133713AAAC50}"/>
                  </a:ext>
                </a:extLst>
              </p:cNvPr>
              <p:cNvSpPr/>
              <p:nvPr/>
            </p:nvSpPr>
            <p:spPr>
              <a:xfrm>
                <a:off x="7256945" y="4558789"/>
                <a:ext cx="62513" cy="64675"/>
              </a:xfrm>
              <a:prstGeom prst="ellipse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8A34EFB6-7D9C-F4D5-EE20-9E0DEC362A99}"/>
                  </a:ext>
                </a:extLst>
              </p:cNvPr>
              <p:cNvSpPr/>
              <p:nvPr/>
            </p:nvSpPr>
            <p:spPr>
              <a:xfrm>
                <a:off x="7065075" y="3708013"/>
                <a:ext cx="62513" cy="64675"/>
              </a:xfrm>
              <a:prstGeom prst="ellipse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BABE5358-07C3-B958-8CEE-FF1083C653CE}"/>
                  </a:ext>
                </a:extLst>
              </p:cNvPr>
              <p:cNvSpPr/>
              <p:nvPr/>
            </p:nvSpPr>
            <p:spPr>
              <a:xfrm>
                <a:off x="6777997" y="3683068"/>
                <a:ext cx="62513" cy="64675"/>
              </a:xfrm>
              <a:prstGeom prst="ellipse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180DFE1A-1C1B-3758-19A8-B9E30B9EA849}"/>
                  </a:ext>
                </a:extLst>
              </p:cNvPr>
              <p:cNvSpPr/>
              <p:nvPr/>
            </p:nvSpPr>
            <p:spPr>
              <a:xfrm>
                <a:off x="6728030" y="4199772"/>
                <a:ext cx="62513" cy="64675"/>
              </a:xfrm>
              <a:prstGeom prst="ellipse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3D1F1352-54AD-F9F2-1C6C-1B2B02E10CA5}"/>
                  </a:ext>
                </a:extLst>
              </p:cNvPr>
              <p:cNvSpPr/>
              <p:nvPr/>
            </p:nvSpPr>
            <p:spPr>
              <a:xfrm>
                <a:off x="6329192" y="4398000"/>
                <a:ext cx="62513" cy="64675"/>
              </a:xfrm>
              <a:prstGeom prst="ellipse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A128DC7B-9A0E-73E3-29CE-67FB705B20F4}"/>
                  </a:ext>
                </a:extLst>
              </p:cNvPr>
              <p:cNvSpPr/>
              <p:nvPr/>
            </p:nvSpPr>
            <p:spPr>
              <a:xfrm>
                <a:off x="6028237" y="4531491"/>
                <a:ext cx="62513" cy="64675"/>
              </a:xfrm>
              <a:prstGeom prst="ellipse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1BEEDC8E-CA5D-8245-136D-483DE10A88DE}"/>
                  </a:ext>
                </a:extLst>
              </p:cNvPr>
              <p:cNvSpPr/>
              <p:nvPr/>
            </p:nvSpPr>
            <p:spPr>
              <a:xfrm>
                <a:off x="6341842" y="4137531"/>
                <a:ext cx="62513" cy="64675"/>
              </a:xfrm>
              <a:prstGeom prst="ellipse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E54EE26A-DB83-6F9A-4FB8-BB4FC0AD9BE7}"/>
                  </a:ext>
                </a:extLst>
              </p:cNvPr>
              <p:cNvSpPr/>
              <p:nvPr/>
            </p:nvSpPr>
            <p:spPr>
              <a:xfrm>
                <a:off x="6111114" y="3400215"/>
                <a:ext cx="62513" cy="64675"/>
              </a:xfrm>
              <a:prstGeom prst="ellipse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DF82F594-4972-4045-1A5B-07B7DBEBB935}"/>
                  </a:ext>
                </a:extLst>
              </p:cNvPr>
              <p:cNvSpPr/>
              <p:nvPr/>
            </p:nvSpPr>
            <p:spPr>
              <a:xfrm>
                <a:off x="6316541" y="3332015"/>
                <a:ext cx="62513" cy="64675"/>
              </a:xfrm>
              <a:prstGeom prst="ellipse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415934E1-5210-D7D0-ED1B-8F24ECD3843E}"/>
                  </a:ext>
                </a:extLst>
              </p:cNvPr>
              <p:cNvSpPr/>
              <p:nvPr/>
            </p:nvSpPr>
            <p:spPr>
              <a:xfrm>
                <a:off x="6178191" y="3687752"/>
                <a:ext cx="62513" cy="64675"/>
              </a:xfrm>
              <a:prstGeom prst="ellipse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69944A0E-8C40-C6A6-71B8-83259A368FA8}"/>
                  </a:ext>
                </a:extLst>
              </p:cNvPr>
              <p:cNvSpPr/>
              <p:nvPr/>
            </p:nvSpPr>
            <p:spPr>
              <a:xfrm>
                <a:off x="5933620" y="3618392"/>
                <a:ext cx="62513" cy="64675"/>
              </a:xfrm>
              <a:prstGeom prst="ellipse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26" name="Group 25">
                <a:extLst>
                  <a:ext uri="{FF2B5EF4-FFF2-40B4-BE49-F238E27FC236}">
                    <a16:creationId xmlns:a16="http://schemas.microsoft.com/office/drawing/2014/main" id="{05BC2BEA-E325-FE18-057E-125C470DB788}"/>
                  </a:ext>
                </a:extLst>
              </p:cNvPr>
              <p:cNvGrpSpPr/>
              <p:nvPr/>
            </p:nvGrpSpPr>
            <p:grpSpPr>
              <a:xfrm>
                <a:off x="4785304" y="3203571"/>
                <a:ext cx="339227" cy="1571343"/>
                <a:chOff x="8042773" y="1697115"/>
                <a:chExt cx="339227" cy="1571343"/>
              </a:xfrm>
            </p:grpSpPr>
            <p:cxnSp>
              <p:nvCxnSpPr>
                <p:cNvPr id="35" name="Straight Connector 34">
                  <a:extLst>
                    <a:ext uri="{FF2B5EF4-FFF2-40B4-BE49-F238E27FC236}">
                      <a16:creationId xmlns:a16="http://schemas.microsoft.com/office/drawing/2014/main" id="{C55AC3FA-CF0E-AFC9-E562-42679DD1089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045154" y="1702778"/>
                  <a:ext cx="336846" cy="0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" name="Straight Connector 35">
                  <a:extLst>
                    <a:ext uri="{FF2B5EF4-FFF2-40B4-BE49-F238E27FC236}">
                      <a16:creationId xmlns:a16="http://schemas.microsoft.com/office/drawing/2014/main" id="{3A62F632-643D-8548-F231-C1414EE9F44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8049565" y="1697115"/>
                  <a:ext cx="232" cy="1571343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Straight Connector 36">
                  <a:extLst>
                    <a:ext uri="{FF2B5EF4-FFF2-40B4-BE49-F238E27FC236}">
                      <a16:creationId xmlns:a16="http://schemas.microsoft.com/office/drawing/2014/main" id="{AA8ECF65-4420-3913-E023-EF00FA15F92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042773" y="3266077"/>
                  <a:ext cx="336846" cy="0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" name="Group 26">
                <a:extLst>
                  <a:ext uri="{FF2B5EF4-FFF2-40B4-BE49-F238E27FC236}">
                    <a16:creationId xmlns:a16="http://schemas.microsoft.com/office/drawing/2014/main" id="{A66DC496-E30F-4841-AB35-556FBF6DB2F8}"/>
                  </a:ext>
                </a:extLst>
              </p:cNvPr>
              <p:cNvGrpSpPr/>
              <p:nvPr/>
            </p:nvGrpSpPr>
            <p:grpSpPr>
              <a:xfrm rot="16200000">
                <a:off x="6421182" y="4571329"/>
                <a:ext cx="339227" cy="1571343"/>
                <a:chOff x="8042773" y="1697115"/>
                <a:chExt cx="339227" cy="1571343"/>
              </a:xfrm>
            </p:grpSpPr>
            <p:cxnSp>
              <p:nvCxnSpPr>
                <p:cNvPr id="32" name="Straight Connector 31">
                  <a:extLst>
                    <a:ext uri="{FF2B5EF4-FFF2-40B4-BE49-F238E27FC236}">
                      <a16:creationId xmlns:a16="http://schemas.microsoft.com/office/drawing/2014/main" id="{5C872D2D-61D2-77E6-E1DA-D1644E61EB4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045154" y="1702778"/>
                  <a:ext cx="336846" cy="0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Straight Connector 32">
                  <a:extLst>
                    <a:ext uri="{FF2B5EF4-FFF2-40B4-BE49-F238E27FC236}">
                      <a16:creationId xmlns:a16="http://schemas.microsoft.com/office/drawing/2014/main" id="{2846834F-8163-B44E-5DA2-70492BB5B39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8049565" y="1697115"/>
                  <a:ext cx="232" cy="1571343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Straight Connector 33">
                  <a:extLst>
                    <a:ext uri="{FF2B5EF4-FFF2-40B4-BE49-F238E27FC236}">
                      <a16:creationId xmlns:a16="http://schemas.microsoft.com/office/drawing/2014/main" id="{FB344DC9-4596-C74B-6200-23BBEC22312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042773" y="3266077"/>
                  <a:ext cx="336846" cy="0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3F5E963-3454-3E32-2B24-978200090B5B}"/>
                  </a:ext>
                </a:extLst>
              </p:cNvPr>
              <p:cNvSpPr txBox="1"/>
              <p:nvPr/>
            </p:nvSpPr>
            <p:spPr>
              <a:xfrm>
                <a:off x="7779854" y="3964733"/>
                <a:ext cx="3000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endParaRPr 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6885C73D-632C-91CC-4BE5-A7F76AF7E2F4}"/>
                  </a:ext>
                </a:extLst>
              </p:cNvPr>
              <p:cNvSpPr txBox="1"/>
              <p:nvPr/>
            </p:nvSpPr>
            <p:spPr>
              <a:xfrm>
                <a:off x="4211649" y="3964733"/>
                <a:ext cx="3000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endParaRPr 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3F0EEACE-3957-9E55-C3D2-623D2EF0A5FA}"/>
                  </a:ext>
                </a:extLst>
              </p:cNvPr>
              <p:cNvSpPr txBox="1"/>
              <p:nvPr/>
            </p:nvSpPr>
            <p:spPr>
              <a:xfrm>
                <a:off x="6593617" y="2658376"/>
                <a:ext cx="3000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endParaRPr 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DECD1111-A73A-FED5-BFD4-03A018443C45}"/>
                  </a:ext>
                </a:extLst>
              </p:cNvPr>
              <p:cNvSpPr txBox="1"/>
              <p:nvPr/>
            </p:nvSpPr>
            <p:spPr>
              <a:xfrm>
                <a:off x="3101415" y="2671326"/>
                <a:ext cx="3000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endParaRPr 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676015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2441A-03C5-FBD3-2A02-14D8AAD7E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fr-FR"/>
              <a:t>Gaussian distribution </a:t>
            </a:r>
            <a:br>
              <a:rPr lang="fr-FR"/>
            </a:br>
            <a:r>
              <a:rPr lang="fr-FR"/>
              <a:t>(a.k.a. normal distribution)</a:t>
            </a:r>
            <a:br>
              <a:rPr lang="fr-FR"/>
            </a:br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54C6F03-5E46-FBA3-0E0A-02CD6F1585E9}"/>
              </a:ext>
            </a:extLst>
          </p:cNvPr>
          <p:cNvSpPr txBox="1"/>
          <p:nvPr/>
        </p:nvSpPr>
        <p:spPr>
          <a:xfrm>
            <a:off x="299735" y="5041900"/>
            <a:ext cx="11592529" cy="14311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Observation: 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The probability distribution is symmetric about the mean.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Data near the mean are more frequent in occurrence than data far from the mean.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3692974-CB56-0F22-713E-270DEEF6F497}"/>
              </a:ext>
            </a:extLst>
          </p:cNvPr>
          <p:cNvGrpSpPr/>
          <p:nvPr/>
        </p:nvGrpSpPr>
        <p:grpSpPr>
          <a:xfrm>
            <a:off x="505516" y="1389481"/>
            <a:ext cx="7456798" cy="654563"/>
            <a:chOff x="1214957" y="1259511"/>
            <a:chExt cx="4698098" cy="654563"/>
          </a:xfrm>
        </p:grpSpPr>
        <p:pic>
          <p:nvPicPr>
            <p:cNvPr id="5" name="Graphic 4">
              <a:extLst>
                <a:ext uri="{FF2B5EF4-FFF2-40B4-BE49-F238E27FC236}">
                  <a16:creationId xmlns:a16="http://schemas.microsoft.com/office/drawing/2014/main" id="{91C8A382-C3CB-BA70-2C4B-0BF07020797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230944" y="1259511"/>
              <a:ext cx="2682111" cy="654563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FF6745F-A0A0-D5FF-E825-CEFD58C09ABA}"/>
                </a:ext>
              </a:extLst>
            </p:cNvPr>
            <p:cNvSpPr txBox="1"/>
            <p:nvPr/>
          </p:nvSpPr>
          <p:spPr>
            <a:xfrm>
              <a:off x="1214957" y="1358434"/>
              <a:ext cx="393409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>
                  <a:latin typeface="Arial" panose="020B0604020202020204" pitchFamily="34" charset="0"/>
                  <a:cs typeface="Arial" panose="020B0604020202020204" pitchFamily="34" charset="0"/>
                </a:rPr>
                <a:t>Probability density function,</a:t>
              </a: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2BB367D8-7978-B2A8-3B62-BF7335620CF2}"/>
              </a:ext>
            </a:extLst>
          </p:cNvPr>
          <p:cNvSpPr txBox="1"/>
          <p:nvPr/>
        </p:nvSpPr>
        <p:spPr>
          <a:xfrm>
            <a:off x="7154717" y="3013501"/>
            <a:ext cx="305885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2400" i="1">
                <a:latin typeface="Arial" panose="020B0604020202020204" pitchFamily="34" charset="0"/>
                <a:cs typeface="Arial" panose="020B0604020202020204" pitchFamily="34" charset="0"/>
              </a:rPr>
              <a:t>μ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: mean</a:t>
            </a:r>
          </a:p>
          <a:p>
            <a:r>
              <a:rPr lang="en-US" sz="2400" i="1">
                <a:latin typeface="Arial" panose="020B0604020202020204" pitchFamily="34" charset="0"/>
                <a:cs typeface="Arial" panose="020B0604020202020204" pitchFamily="34" charset="0"/>
              </a:rPr>
              <a:t>σ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: standard deviation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B417E18-B15B-9FD4-D1C9-BCFCD49054E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93" t="13509" r="6553" b="12807"/>
          <a:stretch/>
        </p:blipFill>
        <p:spPr>
          <a:xfrm>
            <a:off x="2126737" y="1982988"/>
            <a:ext cx="4464556" cy="305891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B1D88F1-B29F-FB06-8B59-9926693055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9606" y="1475713"/>
            <a:ext cx="2096589" cy="507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5753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C82D3D-F1FB-5D52-C51D-59CECEC5A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>
                <a:latin typeface="Arial" panose="020B0604020202020204" pitchFamily="34" charset="0"/>
                <a:cs typeface="Arial" panose="020B0604020202020204" pitchFamily="34" charset="0"/>
              </a:rPr>
              <a:t>Skewness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5D92B0-4EA1-29DA-5144-1B9B8143C12B}"/>
              </a:ext>
            </a:extLst>
          </p:cNvPr>
          <p:cNvSpPr txBox="1"/>
          <p:nvPr/>
        </p:nvSpPr>
        <p:spPr>
          <a:xfrm>
            <a:off x="635466" y="4295033"/>
            <a:ext cx="10523513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Observation: 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Symmetrical distributions have zero skewness.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Negative skewness: the “tail” is longer on the left side.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Positive skewness: the “tail” is longer on the right side.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034AE9-1A55-00F6-6FE3-618A30256D89}"/>
              </a:ext>
            </a:extLst>
          </p:cNvPr>
          <p:cNvSpPr txBox="1"/>
          <p:nvPr/>
        </p:nvSpPr>
        <p:spPr>
          <a:xfrm>
            <a:off x="635466" y="6298772"/>
            <a:ext cx="75072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Gaussian distribution: symmetrical, zero skewness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0EC0340-200F-3066-EA7C-DD31BE214476}"/>
              </a:ext>
            </a:extLst>
          </p:cNvPr>
          <p:cNvGrpSpPr/>
          <p:nvPr/>
        </p:nvGrpSpPr>
        <p:grpSpPr>
          <a:xfrm>
            <a:off x="1473688" y="1742246"/>
            <a:ext cx="7541223" cy="2533760"/>
            <a:chOff x="1388492" y="3586096"/>
            <a:chExt cx="6583834" cy="2175512"/>
          </a:xfrm>
        </p:grpSpPr>
        <p:sp>
          <p:nvSpPr>
            <p:cNvPr id="8" name="Freeform: Shape 2">
              <a:extLst>
                <a:ext uri="{FF2B5EF4-FFF2-40B4-BE49-F238E27FC236}">
                  <a16:creationId xmlns:a16="http://schemas.microsoft.com/office/drawing/2014/main" id="{4BB32563-35E5-87AE-96C2-A49B22999DB9}"/>
                </a:ext>
              </a:extLst>
            </p:cNvPr>
            <p:cNvSpPr/>
            <p:nvPr/>
          </p:nvSpPr>
          <p:spPr>
            <a:xfrm>
              <a:off x="2112885" y="4476091"/>
              <a:ext cx="4509857" cy="1285517"/>
            </a:xfrm>
            <a:custGeom>
              <a:avLst/>
              <a:gdLst>
                <a:gd name="connsiteX0" fmla="*/ 0 w 4509857"/>
                <a:gd name="connsiteY0" fmla="*/ 1250006 h 1285517"/>
                <a:gd name="connsiteX1" fmla="*/ 727969 w 4509857"/>
                <a:gd name="connsiteY1" fmla="*/ 7132 h 1285517"/>
                <a:gd name="connsiteX2" fmla="*/ 2157274 w 4509857"/>
                <a:gd name="connsiteY2" fmla="*/ 761734 h 1285517"/>
                <a:gd name="connsiteX3" fmla="*/ 3240350 w 4509857"/>
                <a:gd name="connsiteY3" fmla="*/ 1196740 h 1285517"/>
                <a:gd name="connsiteX4" fmla="*/ 4509857 w 4509857"/>
                <a:gd name="connsiteY4" fmla="*/ 1285517 h 1285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09857" h="1285517">
                  <a:moveTo>
                    <a:pt x="0" y="1250006"/>
                  </a:moveTo>
                  <a:cubicBezTo>
                    <a:pt x="184211" y="669258"/>
                    <a:pt x="368423" y="88511"/>
                    <a:pt x="727969" y="7132"/>
                  </a:cubicBezTo>
                  <a:cubicBezTo>
                    <a:pt x="1087515" y="-74247"/>
                    <a:pt x="1738544" y="563466"/>
                    <a:pt x="2157274" y="761734"/>
                  </a:cubicBezTo>
                  <a:cubicBezTo>
                    <a:pt x="2576004" y="960002"/>
                    <a:pt x="2848253" y="1109443"/>
                    <a:pt x="3240350" y="1196740"/>
                  </a:cubicBezTo>
                  <a:cubicBezTo>
                    <a:pt x="3632447" y="1284037"/>
                    <a:pt x="4071152" y="1284777"/>
                    <a:pt x="4509857" y="1285517"/>
                  </a:cubicBezTo>
                </a:path>
              </a:pathLst>
            </a:custGeom>
            <a:noFill/>
            <a:ln w="19050"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" name="Freeform: Shape 9">
              <a:extLst>
                <a:ext uri="{FF2B5EF4-FFF2-40B4-BE49-F238E27FC236}">
                  <a16:creationId xmlns:a16="http://schemas.microsoft.com/office/drawing/2014/main" id="{C9361309-F47E-8C00-3C44-43B6DBC95085}"/>
                </a:ext>
              </a:extLst>
            </p:cNvPr>
            <p:cNvSpPr/>
            <p:nvPr/>
          </p:nvSpPr>
          <p:spPr>
            <a:xfrm flipH="1">
              <a:off x="2024108" y="4458335"/>
              <a:ext cx="4509857" cy="1285517"/>
            </a:xfrm>
            <a:custGeom>
              <a:avLst/>
              <a:gdLst>
                <a:gd name="connsiteX0" fmla="*/ 0 w 4509857"/>
                <a:gd name="connsiteY0" fmla="*/ 1250006 h 1285517"/>
                <a:gd name="connsiteX1" fmla="*/ 727969 w 4509857"/>
                <a:gd name="connsiteY1" fmla="*/ 7132 h 1285517"/>
                <a:gd name="connsiteX2" fmla="*/ 2157274 w 4509857"/>
                <a:gd name="connsiteY2" fmla="*/ 761734 h 1285517"/>
                <a:gd name="connsiteX3" fmla="*/ 3240350 w 4509857"/>
                <a:gd name="connsiteY3" fmla="*/ 1196740 h 1285517"/>
                <a:gd name="connsiteX4" fmla="*/ 4509857 w 4509857"/>
                <a:gd name="connsiteY4" fmla="*/ 1285517 h 1285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09857" h="1285517">
                  <a:moveTo>
                    <a:pt x="0" y="1250006"/>
                  </a:moveTo>
                  <a:cubicBezTo>
                    <a:pt x="184211" y="669258"/>
                    <a:pt x="368423" y="88511"/>
                    <a:pt x="727969" y="7132"/>
                  </a:cubicBezTo>
                  <a:cubicBezTo>
                    <a:pt x="1087515" y="-74247"/>
                    <a:pt x="1738544" y="563466"/>
                    <a:pt x="2157274" y="761734"/>
                  </a:cubicBezTo>
                  <a:cubicBezTo>
                    <a:pt x="2576004" y="960002"/>
                    <a:pt x="2848253" y="1109443"/>
                    <a:pt x="3240350" y="1196740"/>
                  </a:cubicBezTo>
                  <a:cubicBezTo>
                    <a:pt x="3632447" y="1284037"/>
                    <a:pt x="4071152" y="1284777"/>
                    <a:pt x="4509857" y="1285517"/>
                  </a:cubicBezTo>
                </a:path>
              </a:pathLst>
            </a:custGeom>
            <a:noFill/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" name="Freeform: Shape 10">
              <a:extLst>
                <a:ext uri="{FF2B5EF4-FFF2-40B4-BE49-F238E27FC236}">
                  <a16:creationId xmlns:a16="http://schemas.microsoft.com/office/drawing/2014/main" id="{A9018EFF-0318-2D26-4528-58E27110B388}"/>
                </a:ext>
              </a:extLst>
            </p:cNvPr>
            <p:cNvSpPr/>
            <p:nvPr/>
          </p:nvSpPr>
          <p:spPr>
            <a:xfrm>
              <a:off x="2157274" y="4081854"/>
              <a:ext cx="4358936" cy="1661998"/>
            </a:xfrm>
            <a:custGeom>
              <a:avLst/>
              <a:gdLst>
                <a:gd name="connsiteX0" fmla="*/ 0 w 4358936"/>
                <a:gd name="connsiteY0" fmla="*/ 1635365 h 1661998"/>
                <a:gd name="connsiteX1" fmla="*/ 1340528 w 4358936"/>
                <a:gd name="connsiteY1" fmla="*/ 1191482 h 1661998"/>
                <a:gd name="connsiteX2" fmla="*/ 1846555 w 4358936"/>
                <a:gd name="connsiteY2" fmla="*/ 108406 h 1661998"/>
                <a:gd name="connsiteX3" fmla="*/ 2467992 w 4358936"/>
                <a:gd name="connsiteY3" fmla="*/ 161672 h 1661998"/>
                <a:gd name="connsiteX4" fmla="*/ 2885243 w 4358936"/>
                <a:gd name="connsiteY4" fmla="*/ 1200360 h 1661998"/>
                <a:gd name="connsiteX5" fmla="*/ 4358936 w 4358936"/>
                <a:gd name="connsiteY5" fmla="*/ 1661998 h 1661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358936" h="1661998">
                  <a:moveTo>
                    <a:pt x="0" y="1635365"/>
                  </a:moveTo>
                  <a:cubicBezTo>
                    <a:pt x="516384" y="1540670"/>
                    <a:pt x="1032769" y="1445975"/>
                    <a:pt x="1340528" y="1191482"/>
                  </a:cubicBezTo>
                  <a:cubicBezTo>
                    <a:pt x="1648287" y="936989"/>
                    <a:pt x="1658644" y="280041"/>
                    <a:pt x="1846555" y="108406"/>
                  </a:cubicBezTo>
                  <a:cubicBezTo>
                    <a:pt x="2034466" y="-63229"/>
                    <a:pt x="2294877" y="-20320"/>
                    <a:pt x="2467992" y="161672"/>
                  </a:cubicBezTo>
                  <a:cubicBezTo>
                    <a:pt x="2641107" y="343664"/>
                    <a:pt x="2570086" y="950306"/>
                    <a:pt x="2885243" y="1200360"/>
                  </a:cubicBezTo>
                  <a:cubicBezTo>
                    <a:pt x="3200400" y="1450414"/>
                    <a:pt x="3779668" y="1556206"/>
                    <a:pt x="4358936" y="1661998"/>
                  </a:cubicBezTo>
                </a:path>
              </a:pathLst>
            </a:custGeom>
            <a:noFill/>
            <a:ln w="19050"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02A9D39-E75A-15B1-6F9D-EE41F5DC6115}"/>
                </a:ext>
              </a:extLst>
            </p:cNvPr>
            <p:cNvSpPr txBox="1"/>
            <p:nvPr/>
          </p:nvSpPr>
          <p:spPr>
            <a:xfrm>
              <a:off x="3491135" y="3586096"/>
              <a:ext cx="248657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>
                  <a:solidFill>
                    <a:srgbClr val="00B0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skewness = zero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107D52E-80AC-E072-79D1-5D0924D23720}"/>
                </a:ext>
              </a:extLst>
            </p:cNvPr>
            <p:cNvSpPr txBox="1"/>
            <p:nvPr/>
          </p:nvSpPr>
          <p:spPr>
            <a:xfrm>
              <a:off x="5184383" y="4019680"/>
              <a:ext cx="278794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negative skewness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1730284-5BCB-A786-BC7B-5EBDCC2507D0}"/>
                </a:ext>
              </a:extLst>
            </p:cNvPr>
            <p:cNvSpPr txBox="1"/>
            <p:nvPr/>
          </p:nvSpPr>
          <p:spPr>
            <a:xfrm>
              <a:off x="1388492" y="4027481"/>
              <a:ext cx="266771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>
                  <a:solidFill>
                    <a:srgbClr val="7030A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positive skewness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59130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3818C-A736-9664-64A2-7DF6765652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Outliers</a:t>
            </a:r>
            <a:br>
              <a:rPr lang="en-GB"/>
            </a:br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B3A0AE-E4F3-C065-B175-3F76A218DF85}"/>
              </a:ext>
            </a:extLst>
          </p:cNvPr>
          <p:cNvSpPr txBox="1"/>
          <p:nvPr/>
        </p:nvSpPr>
        <p:spPr>
          <a:xfrm>
            <a:off x="785928" y="5165154"/>
            <a:ext cx="9505197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Outliers are data points that are far from other data points, and they can distort statistical results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How can outliers be automatically identified?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BA8216-4166-74FF-37B1-2F82267671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928" y="1660449"/>
            <a:ext cx="4130012" cy="3067319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0AE39FF1-B584-F53B-1D16-372FA07B4B30}"/>
              </a:ext>
            </a:extLst>
          </p:cNvPr>
          <p:cNvGrpSpPr/>
          <p:nvPr/>
        </p:nvGrpSpPr>
        <p:grpSpPr>
          <a:xfrm>
            <a:off x="3612443" y="2057982"/>
            <a:ext cx="4319931" cy="2054310"/>
            <a:chOff x="3378786" y="2052099"/>
            <a:chExt cx="4319931" cy="2054310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8B2A534C-8C62-8CE1-6CF4-5E53045B4A1E}"/>
                </a:ext>
              </a:extLst>
            </p:cNvPr>
            <p:cNvGrpSpPr/>
            <p:nvPr/>
          </p:nvGrpSpPr>
          <p:grpSpPr>
            <a:xfrm>
              <a:off x="6054933" y="2052099"/>
              <a:ext cx="1643784" cy="495945"/>
              <a:chOff x="6464346" y="1863867"/>
              <a:chExt cx="1643784" cy="495945"/>
            </a:xfrm>
          </p:grpSpPr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20338603-00AD-2E10-76B3-DA6C2E7ED12E}"/>
                  </a:ext>
                </a:extLst>
              </p:cNvPr>
              <p:cNvSpPr/>
              <p:nvPr/>
            </p:nvSpPr>
            <p:spPr>
              <a:xfrm>
                <a:off x="6464346" y="1863867"/>
                <a:ext cx="480447" cy="495945"/>
              </a:xfrm>
              <a:prstGeom prst="ellipse">
                <a:avLst/>
              </a:prstGeom>
              <a:solidFill>
                <a:schemeClr val="accent4">
                  <a:lumMod val="20000"/>
                  <a:lumOff val="80000"/>
                  <a:alpha val="10000"/>
                </a:schemeClr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899212D-4476-18F5-7C1D-61ADCD59DE7C}"/>
                  </a:ext>
                </a:extLst>
              </p:cNvPr>
              <p:cNvSpPr txBox="1"/>
              <p:nvPr/>
            </p:nvSpPr>
            <p:spPr>
              <a:xfrm>
                <a:off x="7083491" y="1864180"/>
                <a:ext cx="102463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>
                    <a:latin typeface="Arial" panose="020B0604020202020204" pitchFamily="34" charset="0"/>
                    <a:cs typeface="Arial" panose="020B0604020202020204" pitchFamily="34" charset="0"/>
                  </a:rPr>
                  <a:t>outlier</a:t>
                </a:r>
              </a:p>
            </p:txBody>
          </p: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9D5A1CF-5B14-8648-81FA-255655C732D4}"/>
                </a:ext>
              </a:extLst>
            </p:cNvPr>
            <p:cNvSpPr txBox="1"/>
            <p:nvPr/>
          </p:nvSpPr>
          <p:spPr>
            <a:xfrm>
              <a:off x="3378786" y="3332610"/>
              <a:ext cx="102463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>
                  <a:latin typeface="Arial" panose="020B0604020202020204" pitchFamily="34" charset="0"/>
                  <a:cs typeface="Arial" panose="020B0604020202020204" pitchFamily="34" charset="0"/>
                </a:rPr>
                <a:t>outlier</a:t>
              </a: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98EB837D-8E85-C349-5404-2FAD9650DA62}"/>
                </a:ext>
              </a:extLst>
            </p:cNvPr>
            <p:cNvCxnSpPr>
              <a:cxnSpLocks/>
            </p:cNvCxnSpPr>
            <p:nvPr/>
          </p:nvCxnSpPr>
          <p:spPr>
            <a:xfrm>
              <a:off x="4029682" y="3722234"/>
              <a:ext cx="0" cy="384175"/>
            </a:xfrm>
            <a:prstGeom prst="straightConnector1">
              <a:avLst/>
            </a:prstGeom>
            <a:ln w="19050">
              <a:solidFill>
                <a:srgbClr val="00356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152BC1E-1C98-8920-92EF-7033BAFE4B95}"/>
              </a:ext>
            </a:extLst>
          </p:cNvPr>
          <p:cNvGrpSpPr/>
          <p:nvPr/>
        </p:nvGrpSpPr>
        <p:grpSpPr>
          <a:xfrm>
            <a:off x="5695668" y="1753011"/>
            <a:ext cx="3468244" cy="2886235"/>
            <a:chOff x="2825126" y="3514565"/>
            <a:chExt cx="2954237" cy="2452467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958AB63-FA50-9804-4C3B-AA600969671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32333" y="3648722"/>
              <a:ext cx="0" cy="2008787"/>
            </a:xfrm>
            <a:prstGeom prst="line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5C0CB9A3-44A1-6F95-75D6-030BA7CAFDCC}"/>
                </a:ext>
              </a:extLst>
            </p:cNvPr>
            <p:cNvCxnSpPr>
              <a:cxnSpLocks/>
            </p:cNvCxnSpPr>
            <p:nvPr/>
          </p:nvCxnSpPr>
          <p:spPr>
            <a:xfrm>
              <a:off x="2825126" y="5650965"/>
              <a:ext cx="2954237" cy="6544"/>
            </a:xfrm>
            <a:prstGeom prst="line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C6D6CB4-F53B-EFBB-927E-FD218A883F6A}"/>
                </a:ext>
              </a:extLst>
            </p:cNvPr>
            <p:cNvSpPr/>
            <p:nvPr/>
          </p:nvSpPr>
          <p:spPr>
            <a:xfrm>
              <a:off x="3398276" y="5049387"/>
              <a:ext cx="93585" cy="9350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AA378C77-947E-57A4-78C5-BE265EAF34A3}"/>
                </a:ext>
              </a:extLst>
            </p:cNvPr>
            <p:cNvSpPr/>
            <p:nvPr/>
          </p:nvSpPr>
          <p:spPr>
            <a:xfrm>
              <a:off x="3555238" y="5071170"/>
              <a:ext cx="93585" cy="9350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6B55C35F-D860-3D55-D2AD-5D69D6898448}"/>
                </a:ext>
              </a:extLst>
            </p:cNvPr>
            <p:cNvSpPr/>
            <p:nvPr/>
          </p:nvSpPr>
          <p:spPr>
            <a:xfrm>
              <a:off x="3759392" y="4915961"/>
              <a:ext cx="93585" cy="9350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08902148-CB14-64CC-3E54-1E7AB7142D00}"/>
                </a:ext>
              </a:extLst>
            </p:cNvPr>
            <p:cNvSpPr/>
            <p:nvPr/>
          </p:nvSpPr>
          <p:spPr>
            <a:xfrm>
              <a:off x="3652206" y="5241726"/>
              <a:ext cx="93585" cy="9350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FC369A6E-C85B-7332-4CB4-3B68FEC5D959}"/>
                </a:ext>
              </a:extLst>
            </p:cNvPr>
            <p:cNvSpPr/>
            <p:nvPr/>
          </p:nvSpPr>
          <p:spPr>
            <a:xfrm>
              <a:off x="3827872" y="5078064"/>
              <a:ext cx="93585" cy="9350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4662E7F8-4283-559A-AAFB-09F0F230E35E}"/>
                </a:ext>
              </a:extLst>
            </p:cNvPr>
            <p:cNvSpPr/>
            <p:nvPr/>
          </p:nvSpPr>
          <p:spPr>
            <a:xfrm>
              <a:off x="3806757" y="5271010"/>
              <a:ext cx="93585" cy="9350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C4E67539-FC5C-70FD-6A53-2AAFEE11624A}"/>
                </a:ext>
              </a:extLst>
            </p:cNvPr>
            <p:cNvSpPr/>
            <p:nvPr/>
          </p:nvSpPr>
          <p:spPr>
            <a:xfrm>
              <a:off x="4011010" y="5092938"/>
              <a:ext cx="93585" cy="9350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A49B076A-4BB0-9A39-9A15-076EF5E7E4DA}"/>
                </a:ext>
              </a:extLst>
            </p:cNvPr>
            <p:cNvSpPr/>
            <p:nvPr/>
          </p:nvSpPr>
          <p:spPr>
            <a:xfrm>
              <a:off x="3993927" y="4926337"/>
              <a:ext cx="93585" cy="9350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83270452-C906-AC2D-808E-576E2B4A9B90}"/>
                </a:ext>
              </a:extLst>
            </p:cNvPr>
            <p:cNvSpPr/>
            <p:nvPr/>
          </p:nvSpPr>
          <p:spPr>
            <a:xfrm>
              <a:off x="4003212" y="4759736"/>
              <a:ext cx="93585" cy="9350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82D26FCD-05A6-DB0C-7E5D-27F5DB46F9A2}"/>
                </a:ext>
              </a:extLst>
            </p:cNvPr>
            <p:cNvSpPr/>
            <p:nvPr/>
          </p:nvSpPr>
          <p:spPr>
            <a:xfrm>
              <a:off x="3639413" y="4776266"/>
              <a:ext cx="93585" cy="9350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2EF02802-BF6B-1EA7-2F7B-5DFB5F88E240}"/>
                </a:ext>
              </a:extLst>
            </p:cNvPr>
            <p:cNvSpPr/>
            <p:nvPr/>
          </p:nvSpPr>
          <p:spPr>
            <a:xfrm>
              <a:off x="3900342" y="4584878"/>
              <a:ext cx="93585" cy="9350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F78A4584-88A9-05CE-FAE5-367CBA01FA8A}"/>
                </a:ext>
              </a:extLst>
            </p:cNvPr>
            <p:cNvSpPr/>
            <p:nvPr/>
          </p:nvSpPr>
          <p:spPr>
            <a:xfrm>
              <a:off x="4163519" y="4442865"/>
              <a:ext cx="93585" cy="9350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89ABF959-B070-D109-C87C-FF9B79E63E99}"/>
                </a:ext>
              </a:extLst>
            </p:cNvPr>
            <p:cNvSpPr/>
            <p:nvPr/>
          </p:nvSpPr>
          <p:spPr>
            <a:xfrm>
              <a:off x="4176795" y="4652506"/>
              <a:ext cx="93585" cy="9350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236251CE-AB01-531F-DC05-EA7A4E011FE1}"/>
                </a:ext>
              </a:extLst>
            </p:cNvPr>
            <p:cNvSpPr/>
            <p:nvPr/>
          </p:nvSpPr>
          <p:spPr>
            <a:xfrm>
              <a:off x="4361598" y="4621664"/>
              <a:ext cx="93585" cy="9350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236A4E4A-0C1F-08EE-4AE7-535F95720B21}"/>
                </a:ext>
              </a:extLst>
            </p:cNvPr>
            <p:cNvSpPr/>
            <p:nvPr/>
          </p:nvSpPr>
          <p:spPr>
            <a:xfrm>
              <a:off x="4223588" y="4852104"/>
              <a:ext cx="93585" cy="9350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9097537F-1088-094A-5525-A1BAB14BA7DE}"/>
                </a:ext>
              </a:extLst>
            </p:cNvPr>
            <p:cNvSpPr/>
            <p:nvPr/>
          </p:nvSpPr>
          <p:spPr>
            <a:xfrm>
              <a:off x="4427732" y="4376985"/>
              <a:ext cx="93585" cy="9350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A93BBD85-4ED2-91CB-05BA-0A1F4DD0E2F9}"/>
                </a:ext>
              </a:extLst>
            </p:cNvPr>
            <p:cNvSpPr/>
            <p:nvPr/>
          </p:nvSpPr>
          <p:spPr>
            <a:xfrm>
              <a:off x="4457588" y="4786224"/>
              <a:ext cx="93585" cy="9350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C3764D48-D5A4-8F39-C16D-F86D297CFAF0}"/>
                </a:ext>
              </a:extLst>
            </p:cNvPr>
            <p:cNvSpPr/>
            <p:nvPr/>
          </p:nvSpPr>
          <p:spPr>
            <a:xfrm>
              <a:off x="4626549" y="4662832"/>
              <a:ext cx="93585" cy="9350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C5398C93-8DC1-F7C1-0796-1AB5EB3F66B6}"/>
                </a:ext>
              </a:extLst>
            </p:cNvPr>
            <p:cNvSpPr/>
            <p:nvPr/>
          </p:nvSpPr>
          <p:spPr>
            <a:xfrm>
              <a:off x="4598360" y="4486416"/>
              <a:ext cx="93585" cy="9350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DC52C3BE-FBB5-3D9B-C09A-6935F2F41087}"/>
                </a:ext>
              </a:extLst>
            </p:cNvPr>
            <p:cNvSpPr/>
            <p:nvPr/>
          </p:nvSpPr>
          <p:spPr>
            <a:xfrm>
              <a:off x="4659178" y="4216496"/>
              <a:ext cx="93585" cy="9350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1BF5E644-BFA4-D6BB-DF78-DC74A5560FF3}"/>
                </a:ext>
              </a:extLst>
            </p:cNvPr>
            <p:cNvSpPr/>
            <p:nvPr/>
          </p:nvSpPr>
          <p:spPr>
            <a:xfrm>
              <a:off x="4410795" y="4149613"/>
              <a:ext cx="93585" cy="9350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A167C709-7742-9A96-E3CB-3A6C3E67A609}"/>
                </a:ext>
              </a:extLst>
            </p:cNvPr>
            <p:cNvSpPr/>
            <p:nvPr/>
          </p:nvSpPr>
          <p:spPr>
            <a:xfrm>
              <a:off x="4873621" y="4376985"/>
              <a:ext cx="93585" cy="9350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558C67C2-B675-F01D-AB98-88E9E2EE3C3C}"/>
                </a:ext>
              </a:extLst>
            </p:cNvPr>
            <p:cNvSpPr/>
            <p:nvPr/>
          </p:nvSpPr>
          <p:spPr>
            <a:xfrm>
              <a:off x="4071201" y="5361068"/>
              <a:ext cx="93585" cy="9350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1948ABD1-543E-2FF5-0EF2-B78021EF7389}"/>
                </a:ext>
              </a:extLst>
            </p:cNvPr>
            <p:cNvSpPr/>
            <p:nvPr/>
          </p:nvSpPr>
          <p:spPr>
            <a:xfrm>
              <a:off x="4223840" y="5113805"/>
              <a:ext cx="93585" cy="9350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D4C35AD6-713D-2BA3-8F6A-F0E9D38462A3}"/>
                </a:ext>
              </a:extLst>
            </p:cNvPr>
            <p:cNvSpPr/>
            <p:nvPr/>
          </p:nvSpPr>
          <p:spPr>
            <a:xfrm>
              <a:off x="4367757" y="4982904"/>
              <a:ext cx="93585" cy="9350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2866D437-7EBB-7322-9D9A-E84FA4FD2CE3}"/>
                </a:ext>
              </a:extLst>
            </p:cNvPr>
            <p:cNvSpPr/>
            <p:nvPr/>
          </p:nvSpPr>
          <p:spPr>
            <a:xfrm>
              <a:off x="4598360" y="5005035"/>
              <a:ext cx="93585" cy="9350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436B7705-F353-D612-F3A0-B313F3AB054F}"/>
                </a:ext>
              </a:extLst>
            </p:cNvPr>
            <p:cNvSpPr/>
            <p:nvPr/>
          </p:nvSpPr>
          <p:spPr>
            <a:xfrm>
              <a:off x="4716680" y="4877966"/>
              <a:ext cx="93585" cy="9350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5CCF3D5F-141C-EC6B-81F3-F5D4C7BB1A58}"/>
                </a:ext>
              </a:extLst>
            </p:cNvPr>
            <p:cNvSpPr/>
            <p:nvPr/>
          </p:nvSpPr>
          <p:spPr>
            <a:xfrm>
              <a:off x="4822854" y="4621664"/>
              <a:ext cx="93585" cy="9350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5D0CCD16-4A56-FFDA-CCB1-1F7806B95470}"/>
                </a:ext>
              </a:extLst>
            </p:cNvPr>
            <p:cNvSpPr/>
            <p:nvPr/>
          </p:nvSpPr>
          <p:spPr>
            <a:xfrm>
              <a:off x="3506655" y="3939373"/>
              <a:ext cx="93585" cy="93504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91E1A5BE-F3FD-C3C4-6415-7D42D111CB3E}"/>
                </a:ext>
              </a:extLst>
            </p:cNvPr>
            <p:cNvSpPr txBox="1"/>
            <p:nvPr/>
          </p:nvSpPr>
          <p:spPr>
            <a:xfrm>
              <a:off x="5479281" y="5597700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E483FEF5-2799-BB5C-A041-5A3B9F2F291B}"/>
                </a:ext>
              </a:extLst>
            </p:cNvPr>
            <p:cNvSpPr txBox="1"/>
            <p:nvPr/>
          </p:nvSpPr>
          <p:spPr>
            <a:xfrm>
              <a:off x="2832333" y="3514565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08491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e University at sunset">
            <a:extLst>
              <a:ext uri="{FF2B5EF4-FFF2-40B4-BE49-F238E27FC236}">
                <a16:creationId xmlns:a16="http://schemas.microsoft.com/office/drawing/2014/main" id="{11FDCD37-95D4-D94F-8143-5384ADC6A6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175F20C-468E-F742-9149-B8A5FEBC291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45886" y="1889351"/>
            <a:ext cx="5842000" cy="1931535"/>
          </a:xfrm>
        </p:spPr>
        <p:txBody>
          <a:bodyPr>
            <a:noAutofit/>
          </a:bodyPr>
          <a:lstStyle/>
          <a:p>
            <a:pPr algn="l"/>
            <a:r>
              <a:rPr lang="en-GB">
                <a:solidFill>
                  <a:schemeClr val="bg1"/>
                </a:solidFill>
              </a:rPr>
              <a:t>Thanks!</a:t>
            </a:r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22ED6EA-1EF6-E99C-8D46-A77E8079F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385228" y="5699322"/>
            <a:ext cx="3413095" cy="854153"/>
            <a:chOff x="8385228" y="5699322"/>
            <a:chExt cx="3413095" cy="854153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44E80E0-21D5-A09C-9C43-3B822C05837D}"/>
                </a:ext>
              </a:extLst>
            </p:cNvPr>
            <p:cNvSpPr txBox="1"/>
            <p:nvPr/>
          </p:nvSpPr>
          <p:spPr>
            <a:xfrm>
              <a:off x="8385228" y="5699322"/>
              <a:ext cx="3413095" cy="461665"/>
            </a:xfrm>
            <a:prstGeom prst="rect">
              <a:avLst/>
            </a:prstGeom>
            <a:noFill/>
            <a:effectLst>
              <a:outerShdw blurRad="1270000" dist="50800" dir="5400000" sx="200000" sy="200000" algn="ctr" rotWithShape="0">
                <a:schemeClr val="tx1"/>
              </a:outerShdw>
            </a:effectLst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b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#</a:t>
              </a:r>
              <a:r>
                <a:rPr lang="en-US" sz="2400" b="1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UofGWorldChangers</a:t>
              </a:r>
              <a:endParaRPr lang="en-US" sz="24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92BBCD2-E264-1B57-0E93-92E9DB639953}"/>
                </a:ext>
              </a:extLst>
            </p:cNvPr>
            <p:cNvSpPr txBox="1"/>
            <p:nvPr/>
          </p:nvSpPr>
          <p:spPr>
            <a:xfrm>
              <a:off x="9098531" y="6091810"/>
              <a:ext cx="269979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b="1">
                  <a:solidFill>
                    <a:schemeClr val="bg1"/>
                  </a:solidFill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@</a:t>
              </a:r>
              <a:r>
                <a:rPr lang="en-US" sz="2400" b="1" err="1">
                  <a:solidFill>
                    <a:schemeClr val="bg1"/>
                  </a:solidFill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UofGlasgow</a:t>
              </a:r>
              <a:endParaRPr lang="en-US" sz="2400" b="1">
                <a:solidFill>
                  <a:schemeClr val="bg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endParaRPr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4EA5A01-D67E-B5A8-4983-B4E38F735C71}"/>
                </a:ext>
              </a:extLst>
            </p:cNvPr>
            <p:cNvGrpSpPr/>
            <p:nvPr/>
          </p:nvGrpSpPr>
          <p:grpSpPr>
            <a:xfrm>
              <a:off x="8516481" y="6162367"/>
              <a:ext cx="841333" cy="347112"/>
              <a:chOff x="8601252" y="6162367"/>
              <a:chExt cx="841333" cy="347112"/>
            </a:xfrm>
          </p:grpSpPr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8049EAA7-B259-E0CF-6188-D83E4A7650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778761" y="6162367"/>
                <a:ext cx="475023" cy="347112"/>
              </a:xfrm>
              <a:prstGeom prst="rect">
                <a:avLst/>
              </a:prstGeom>
            </p:spPr>
          </p:pic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C9EF044C-8E77-0253-404C-AEACFCC1AE0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9194185" y="6223334"/>
                <a:ext cx="248400" cy="248399"/>
              </a:xfrm>
              <a:prstGeom prst="rect">
                <a:avLst/>
              </a:prstGeom>
            </p:spPr>
          </p:pic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1EFBA2B9-08B7-B52F-FE3B-91DCAC58DC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8601252" y="6221141"/>
                <a:ext cx="239105" cy="239106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0063787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ofG colours">
      <a:dk1>
        <a:srgbClr val="003865"/>
      </a:dk1>
      <a:lt1>
        <a:srgbClr val="FFFFFE"/>
      </a:lt1>
      <a:dk2>
        <a:srgbClr val="000000"/>
      </a:dk2>
      <a:lt2>
        <a:srgbClr val="7D2238"/>
      </a:lt2>
      <a:accent1>
        <a:srgbClr val="0075B0"/>
      </a:accent1>
      <a:accent2>
        <a:srgbClr val="5B4D93"/>
      </a:accent2>
      <a:accent3>
        <a:srgbClr val="CF1C20"/>
      </a:accent3>
      <a:accent4>
        <a:srgbClr val="00833C"/>
      </a:accent4>
      <a:accent5>
        <a:srgbClr val="BE4D00"/>
      </a:accent5>
      <a:accent6>
        <a:srgbClr val="951271"/>
      </a:accent6>
      <a:hlink>
        <a:srgbClr val="584B3D"/>
      </a:hlink>
      <a:folHlink>
        <a:srgbClr val="0068A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A61AF5F2-503D-2641-86A1-09AD8919EA9C}" vid="{A816E7D6-9491-074F-A4D5-6596497DAC1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C3DDD16490E0A48848881CB6EECDF92" ma:contentTypeVersion="14" ma:contentTypeDescription="Create a new document." ma:contentTypeScope="" ma:versionID="7257862a4d6c3825659cc59ecdb78f01">
  <xsd:schema xmlns:xsd="http://www.w3.org/2001/XMLSchema" xmlns:xs="http://www.w3.org/2001/XMLSchema" xmlns:p="http://schemas.microsoft.com/office/2006/metadata/properties" xmlns:ns2="1cc9bed8-8410-44eb-bf25-ca1ea4636418" xmlns:ns3="dfc159fb-6789-415c-9027-b0bc58ba83c2" targetNamespace="http://schemas.microsoft.com/office/2006/metadata/properties" ma:root="true" ma:fieldsID="e75013956d80933023b8c9f213f858d3" ns2:_="" ns3:_="">
    <xsd:import namespace="1cc9bed8-8410-44eb-bf25-ca1ea4636418"/>
    <xsd:import namespace="dfc159fb-6789-415c-9027-b0bc58ba83c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cc9bed8-8410-44eb-bf25-ca1ea463641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7306b285-ac2c-4225-b56d-e54690cf9c9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c159fb-6789-415c-9027-b0bc58ba83c2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79eadc21-23c5-47b9-90bf-40474c6df852}" ma:internalName="TaxCatchAll" ma:showField="CatchAllData" ma:web="dfc159fb-6789-415c-9027-b0bc58ba83c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cc9bed8-8410-44eb-bf25-ca1ea4636418">
      <Terms xmlns="http://schemas.microsoft.com/office/infopath/2007/PartnerControls"/>
    </lcf76f155ced4ddcb4097134ff3c332f>
    <TaxCatchAll xmlns="dfc159fb-6789-415c-9027-b0bc58ba83c2" xsi:nil="true"/>
  </documentManagement>
</p:properties>
</file>

<file path=customXml/itemProps1.xml><?xml version="1.0" encoding="utf-8"?>
<ds:datastoreItem xmlns:ds="http://schemas.openxmlformats.org/officeDocument/2006/customXml" ds:itemID="{5FB58BAA-4A24-49E9-BDBB-B054FC92893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7AC2879-84C7-435F-B6DF-D3D634731828}">
  <ds:schemaRefs>
    <ds:schemaRef ds:uri="1cc9bed8-8410-44eb-bf25-ca1ea4636418"/>
    <ds:schemaRef ds:uri="dfc159fb-6789-415c-9027-b0bc58ba83c2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DC6A39D0-EB5B-4D77-BBDB-28F983BCA319}">
  <ds:schemaRefs>
    <ds:schemaRef ds:uri="1cc9bed8-8410-44eb-bf25-ca1ea4636418"/>
    <ds:schemaRef ds:uri="dfc159fb-6789-415c-9027-b0bc58ba83c2"/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6</Slides>
  <Notes>4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Gaussian Distribution, Skewness and Outliers</vt:lpstr>
      <vt:lpstr>Gaussian distribution  (a.k.a. normal distribution)</vt:lpstr>
      <vt:lpstr>Gaussian distribution  (a.k.a. normal distribution) </vt:lpstr>
      <vt:lpstr>Skewness</vt:lpstr>
      <vt:lpstr>Outliers </vt:lpstr>
      <vt:lpstr>Thanks!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Liangyue Yu (PGR)</dc:creator>
  <cp:keywords/>
  <dc:description/>
  <cp:revision>1</cp:revision>
  <dcterms:created xsi:type="dcterms:W3CDTF">2021-01-06T14:22:07Z</dcterms:created>
  <dcterms:modified xsi:type="dcterms:W3CDTF">2024-07-10T16:26:59Z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0x0101009C3DDD16490E0A48848881CB6EECDF92</vt:lpwstr>
  </property>
  <property fmtid="{D5CDD505-2E9C-101B-9397-08002B2CF9AE}" pid="3" name="MediaServiceImageTags">
    <vt:lpwstr/>
  </property>
</Properties>
</file>