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8" r:id="rId8"/>
    <p:sldId id="497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4A9C9-6FB4-4323-9E2F-C22B21EA774C}" v="1" dt="2024-07-08T09:23:05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yue Yu (PGR)" userId="S::2522553y@student.gla.ac.uk::6b5e3eec-90ec-4566-b7ba-930254322436" providerId="AD" clId="Web-{2564A9C9-6FB4-4323-9E2F-C22B21EA774C}"/>
    <pc:docChg chg="delSld">
      <pc:chgData name="Liangyue Yu (PGR)" userId="S::2522553y@student.gla.ac.uk::6b5e3eec-90ec-4566-b7ba-930254322436" providerId="AD" clId="Web-{2564A9C9-6FB4-4323-9E2F-C22B21EA774C}" dt="2024-07-08T09:23:05.374" v="0"/>
      <pc:docMkLst>
        <pc:docMk/>
      </pc:docMkLst>
      <pc:sldChg chg="del">
        <pc:chgData name="Liangyue Yu (PGR)" userId="S::2522553y@student.gla.ac.uk::6b5e3eec-90ec-4566-b7ba-930254322436" providerId="AD" clId="Web-{2564A9C9-6FB4-4323-9E2F-C22B21EA774C}" dt="2024-07-08T09:23:05.374" v="0"/>
        <pc:sldMkLst>
          <pc:docMk/>
          <pc:sldMk cId="909998076" sldId="4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uk.mathworks.com/help/stats/cvpartition.htm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119389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Construct Training/Test Sets for Model Evaluation (1)</a:t>
            </a:r>
            <a:br>
              <a:rPr lang="en-GB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Use test set for model evaluation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4A43E2-A31B-4D0F-BF0C-6661A7960BF7}"/>
              </a:ext>
            </a:extLst>
          </p:cNvPr>
          <p:cNvGrpSpPr/>
          <p:nvPr/>
        </p:nvGrpSpPr>
        <p:grpSpPr>
          <a:xfrm>
            <a:off x="5939170" y="2517626"/>
            <a:ext cx="3801089" cy="2725742"/>
            <a:chOff x="5253370" y="1954684"/>
            <a:chExt cx="3801089" cy="272574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2F10922-4014-CFFC-C60D-CEFFFD2F834A}"/>
                </a:ext>
              </a:extLst>
            </p:cNvPr>
            <p:cNvSpPr/>
            <p:nvPr/>
          </p:nvSpPr>
          <p:spPr>
            <a:xfrm>
              <a:off x="7698270" y="1954684"/>
              <a:ext cx="1356189" cy="2725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 model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A9D25C8-4CDB-5D4C-ADB6-2DEA8DEDBFE1}"/>
                </a:ext>
              </a:extLst>
            </p:cNvPr>
            <p:cNvGrpSpPr/>
            <p:nvPr/>
          </p:nvGrpSpPr>
          <p:grpSpPr>
            <a:xfrm>
              <a:off x="5253370" y="2013327"/>
              <a:ext cx="2444900" cy="2326966"/>
              <a:chOff x="5271353" y="1828661"/>
              <a:chExt cx="2444900" cy="2326966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F7CA31A8-7839-9BA8-4B15-782DBC283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7320" y="2354444"/>
                <a:ext cx="1608770" cy="0"/>
              </a:xfrm>
              <a:prstGeom prst="straightConnector1">
                <a:avLst/>
              </a:prstGeom>
              <a:ln w="38100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E1A3599-2203-B54D-96CC-3BB9D747C288}"/>
                  </a:ext>
                </a:extLst>
              </p:cNvPr>
              <p:cNvGrpSpPr/>
              <p:nvPr/>
            </p:nvGrpSpPr>
            <p:grpSpPr>
              <a:xfrm>
                <a:off x="5271353" y="1828661"/>
                <a:ext cx="2444900" cy="2326966"/>
                <a:chOff x="5271353" y="1828661"/>
                <a:chExt cx="2444900" cy="2326966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FC69B2A-369D-ED22-92F7-F958B6D20346}"/>
                    </a:ext>
                  </a:extLst>
                </p:cNvPr>
                <p:cNvSpPr txBox="1"/>
                <p:nvPr/>
              </p:nvSpPr>
              <p:spPr>
                <a:xfrm>
                  <a:off x="5271353" y="1828661"/>
                  <a:ext cx="24449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Used for training</a:t>
                  </a:r>
                </a:p>
              </p:txBody>
            </p: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79348AC1-6287-AA59-9CD8-1EDFFF87F2EB}"/>
                    </a:ext>
                  </a:extLst>
                </p:cNvPr>
                <p:cNvGrpSpPr/>
                <p:nvPr/>
              </p:nvGrpSpPr>
              <p:grpSpPr>
                <a:xfrm>
                  <a:off x="5271353" y="3632641"/>
                  <a:ext cx="2340705" cy="522986"/>
                  <a:chOff x="5271353" y="3632641"/>
                  <a:chExt cx="2340705" cy="522986"/>
                </a:xfrm>
              </p:grpSpPr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D202B73F-15A3-C7FB-2537-21EA914C96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7320" y="4155627"/>
                    <a:ext cx="1608770" cy="0"/>
                  </a:xfrm>
                  <a:prstGeom prst="straightConnector1">
                    <a:avLst/>
                  </a:prstGeom>
                  <a:ln w="38100">
                    <a:solidFill>
                      <a:srgbClr val="003561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FF1C6E0-4416-62FA-79BF-B654AFEBFCA9}"/>
                      </a:ext>
                    </a:extLst>
                  </p:cNvPr>
                  <p:cNvSpPr txBox="1"/>
                  <p:nvPr/>
                </p:nvSpPr>
                <p:spPr>
                  <a:xfrm>
                    <a:off x="5271353" y="3632641"/>
                    <a:ext cx="234070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Used for testing</a:t>
                    </a:r>
                  </a:p>
                </p:txBody>
              </p:sp>
            </p:grp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C19347-620C-1505-9638-EAEACDC4FF60}"/>
              </a:ext>
            </a:extLst>
          </p:cNvPr>
          <p:cNvGrpSpPr/>
          <p:nvPr/>
        </p:nvGrpSpPr>
        <p:grpSpPr>
          <a:xfrm>
            <a:off x="1353623" y="1795841"/>
            <a:ext cx="5059293" cy="4536422"/>
            <a:chOff x="667823" y="1232899"/>
            <a:chExt cx="5059293" cy="45364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7C39DEF-37D3-8C24-1A97-D76FD97C1049}"/>
                </a:ext>
              </a:extLst>
            </p:cNvPr>
            <p:cNvGrpSpPr/>
            <p:nvPr/>
          </p:nvGrpSpPr>
          <p:grpSpPr>
            <a:xfrm>
              <a:off x="667823" y="1232899"/>
              <a:ext cx="4500938" cy="3909192"/>
              <a:chOff x="667823" y="1232899"/>
              <a:chExt cx="4500938" cy="390919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6F9DEC5-DBF3-C51C-CEB2-6BA833872E67}"/>
                  </a:ext>
                </a:extLst>
              </p:cNvPr>
              <p:cNvGrpSpPr/>
              <p:nvPr/>
            </p:nvGrpSpPr>
            <p:grpSpPr>
              <a:xfrm>
                <a:off x="667823" y="1315092"/>
                <a:ext cx="2057400" cy="3720967"/>
                <a:chOff x="811659" y="1315092"/>
                <a:chExt cx="2057400" cy="3720967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B39EEFC-39C8-D223-4BDB-D0EAF5A82AA2}"/>
                    </a:ext>
                  </a:extLst>
                </p:cNvPr>
                <p:cNvSpPr/>
                <p:nvPr/>
              </p:nvSpPr>
              <p:spPr>
                <a:xfrm>
                  <a:off x="811659" y="1315092"/>
                  <a:ext cx="2057400" cy="3226085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0D73A97-2B71-64B1-2957-931940B8F78C}"/>
                    </a:ext>
                  </a:extLst>
                </p:cNvPr>
                <p:cNvSpPr txBox="1"/>
                <p:nvPr/>
              </p:nvSpPr>
              <p:spPr>
                <a:xfrm>
                  <a:off x="960255" y="4574394"/>
                  <a:ext cx="17764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Full dataset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B356947-0CF8-BE6D-7E1B-5ADE56681ACE}"/>
                  </a:ext>
                </a:extLst>
              </p:cNvPr>
              <p:cNvGrpSpPr/>
              <p:nvPr/>
            </p:nvGrpSpPr>
            <p:grpSpPr>
              <a:xfrm>
                <a:off x="3111361" y="1232899"/>
                <a:ext cx="2057400" cy="3909192"/>
                <a:chOff x="3111361" y="1232899"/>
                <a:chExt cx="2057400" cy="3909192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0E035EBA-B7EA-336A-6F05-3514DB70412A}"/>
                    </a:ext>
                  </a:extLst>
                </p:cNvPr>
                <p:cNvGrpSpPr/>
                <p:nvPr/>
              </p:nvGrpSpPr>
              <p:grpSpPr>
                <a:xfrm>
                  <a:off x="3111361" y="1232899"/>
                  <a:ext cx="2057400" cy="3909192"/>
                  <a:chOff x="3306567" y="1232899"/>
                  <a:chExt cx="2057400" cy="3909192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D8FAA74B-5182-6463-218E-D185F66D4E91}"/>
                      </a:ext>
                    </a:extLst>
                  </p:cNvPr>
                  <p:cNvSpPr/>
                  <p:nvPr/>
                </p:nvSpPr>
                <p:spPr>
                  <a:xfrm>
                    <a:off x="3306567" y="1232899"/>
                    <a:ext cx="2057400" cy="3447527"/>
                  </a:xfrm>
                  <a:prstGeom prst="rect">
                    <a:avLst/>
                  </a:prstGeom>
                  <a:solidFill>
                    <a:srgbClr val="92D05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218E865-C798-BADC-630C-C477AA3ADF93}"/>
                      </a:ext>
                    </a:extLst>
                  </p:cNvPr>
                  <p:cNvSpPr txBox="1"/>
                  <p:nvPr/>
                </p:nvSpPr>
                <p:spPr>
                  <a:xfrm>
                    <a:off x="3463916" y="4680426"/>
                    <a:ext cx="187904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Split dataset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E48D8BA2-8011-086D-5435-A50F8213CD4F}"/>
                      </a:ext>
                    </a:extLst>
                  </p:cNvPr>
                  <p:cNvSpPr/>
                  <p:nvPr/>
                </p:nvSpPr>
                <p:spPr>
                  <a:xfrm>
                    <a:off x="3306567" y="3770612"/>
                    <a:ext cx="2057400" cy="19624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C9670C5-545F-9EC4-58A5-25D7ECCCF86E}"/>
                    </a:ext>
                  </a:extLst>
                </p:cNvPr>
                <p:cNvSpPr txBox="1"/>
                <p:nvPr/>
              </p:nvSpPr>
              <p:spPr>
                <a:xfrm>
                  <a:off x="3256744" y="2308278"/>
                  <a:ext cx="178266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Training set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0BE2D27-8194-220C-9D45-AB1A5A28542E}"/>
                    </a:ext>
                  </a:extLst>
                </p:cNvPr>
                <p:cNvSpPr txBox="1"/>
                <p:nvPr/>
              </p:nvSpPr>
              <p:spPr>
                <a:xfrm>
                  <a:off x="3526176" y="4109461"/>
                  <a:ext cx="12438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Test set</a:t>
                  </a:r>
                </a:p>
              </p:txBody>
            </p: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BF5D44-8191-0270-0EEB-A2B06A34F325}"/>
                </a:ext>
              </a:extLst>
            </p:cNvPr>
            <p:cNvSpPr txBox="1"/>
            <p:nvPr/>
          </p:nvSpPr>
          <p:spPr>
            <a:xfrm>
              <a:off x="2818948" y="5307656"/>
              <a:ext cx="2908168" cy="461665"/>
            </a:xfrm>
            <a:prstGeom prst="rect">
              <a:avLst/>
            </a:prstGeom>
            <a:noFill/>
            <a:ln>
              <a:solidFill>
                <a:srgbClr val="00356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Randomly sampled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8DF4-D012-D785-628A-05C8608F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931478-91A1-C5E2-082F-3E617CEB2EBA}"/>
              </a:ext>
            </a:extLst>
          </p:cNvPr>
          <p:cNvGrpSpPr/>
          <p:nvPr/>
        </p:nvGrpSpPr>
        <p:grpSpPr>
          <a:xfrm>
            <a:off x="5548939" y="2077116"/>
            <a:ext cx="3709361" cy="2139284"/>
            <a:chOff x="4927693" y="1866463"/>
            <a:chExt cx="4126766" cy="28139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4201C3-CCCD-46F8-9305-5B5037AC11DA}"/>
                </a:ext>
              </a:extLst>
            </p:cNvPr>
            <p:cNvSpPr/>
            <p:nvPr/>
          </p:nvSpPr>
          <p:spPr>
            <a:xfrm>
              <a:off x="7698270" y="1954684"/>
              <a:ext cx="1356189" cy="2725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 model 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EFD1BE-EE8D-72A2-6215-588EA2925E32}"/>
                </a:ext>
              </a:extLst>
            </p:cNvPr>
            <p:cNvGrpSpPr/>
            <p:nvPr/>
          </p:nvGrpSpPr>
          <p:grpSpPr>
            <a:xfrm>
              <a:off x="4927693" y="1866463"/>
              <a:ext cx="2444900" cy="2473830"/>
              <a:chOff x="4945676" y="1681797"/>
              <a:chExt cx="2444900" cy="247383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C3515D0-8624-0E75-B88D-C41804D74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7320" y="2354444"/>
                <a:ext cx="1608770" cy="0"/>
              </a:xfrm>
              <a:prstGeom prst="straightConnector1">
                <a:avLst/>
              </a:prstGeom>
              <a:ln w="38100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DB73CE4-4998-7FCA-907E-5272A2B58D36}"/>
                  </a:ext>
                </a:extLst>
              </p:cNvPr>
              <p:cNvGrpSpPr/>
              <p:nvPr/>
            </p:nvGrpSpPr>
            <p:grpSpPr>
              <a:xfrm>
                <a:off x="4945676" y="1681797"/>
                <a:ext cx="2444900" cy="2473830"/>
                <a:chOff x="4945676" y="1681797"/>
                <a:chExt cx="2444900" cy="2473830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6436CBA-6EA1-9225-8797-C982417C48D3}"/>
                    </a:ext>
                  </a:extLst>
                </p:cNvPr>
                <p:cNvSpPr txBox="1"/>
                <p:nvPr/>
              </p:nvSpPr>
              <p:spPr>
                <a:xfrm>
                  <a:off x="4945676" y="1681797"/>
                  <a:ext cx="24449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Used for training</a:t>
                  </a:r>
                </a:p>
              </p:txBody>
            </p: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5D58FDB-CD17-075D-A94B-250FBC7BAD8D}"/>
                    </a:ext>
                  </a:extLst>
                </p:cNvPr>
                <p:cNvGrpSpPr/>
                <p:nvPr/>
              </p:nvGrpSpPr>
              <p:grpSpPr>
                <a:xfrm>
                  <a:off x="4997775" y="3466327"/>
                  <a:ext cx="2340705" cy="689300"/>
                  <a:chOff x="4997775" y="3466327"/>
                  <a:chExt cx="2340705" cy="689300"/>
                </a:xfrm>
              </p:grpSpPr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5DDDC6B6-C8C4-4129-2A96-204A0837A3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7320" y="4155627"/>
                    <a:ext cx="1608770" cy="0"/>
                  </a:xfrm>
                  <a:prstGeom prst="straightConnector1">
                    <a:avLst/>
                  </a:prstGeom>
                  <a:ln w="38100">
                    <a:solidFill>
                      <a:srgbClr val="003561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1AFE36C2-3CCC-6F77-FD97-BA6D49B37C47}"/>
                      </a:ext>
                    </a:extLst>
                  </p:cNvPr>
                  <p:cNvSpPr txBox="1"/>
                  <p:nvPr/>
                </p:nvSpPr>
                <p:spPr>
                  <a:xfrm>
                    <a:off x="4997775" y="3466327"/>
                    <a:ext cx="2340705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Used for testing</a:t>
                    </a:r>
                  </a:p>
                </p:txBody>
              </p:sp>
            </p:grp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AA7721-2B5B-D7CC-0DD6-11E6655189FB}"/>
              </a:ext>
            </a:extLst>
          </p:cNvPr>
          <p:cNvGrpSpPr/>
          <p:nvPr/>
        </p:nvGrpSpPr>
        <p:grpSpPr>
          <a:xfrm>
            <a:off x="1256128" y="1422400"/>
            <a:ext cx="4045687" cy="2971920"/>
            <a:chOff x="667823" y="1232899"/>
            <a:chExt cx="4500938" cy="390919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226AB9A-F859-17C6-FC78-F324CC701727}"/>
                </a:ext>
              </a:extLst>
            </p:cNvPr>
            <p:cNvGrpSpPr/>
            <p:nvPr/>
          </p:nvGrpSpPr>
          <p:grpSpPr>
            <a:xfrm>
              <a:off x="667823" y="1315092"/>
              <a:ext cx="2057400" cy="3720967"/>
              <a:chOff x="811659" y="1315092"/>
              <a:chExt cx="2057400" cy="372096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4FB2361-F9DE-46A6-2F7C-51571135C50A}"/>
                  </a:ext>
                </a:extLst>
              </p:cNvPr>
              <p:cNvSpPr/>
              <p:nvPr/>
            </p:nvSpPr>
            <p:spPr>
              <a:xfrm>
                <a:off x="811659" y="1315092"/>
                <a:ext cx="2057400" cy="3226085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8E62EF-5AD9-EACB-752D-19737C1889ED}"/>
                  </a:ext>
                </a:extLst>
              </p:cNvPr>
              <p:cNvSpPr txBox="1"/>
              <p:nvPr/>
            </p:nvSpPr>
            <p:spPr>
              <a:xfrm>
                <a:off x="960255" y="4574394"/>
                <a:ext cx="17764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Full dataset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B8A7E1-E807-3EB0-E240-2F800CB13A67}"/>
                </a:ext>
              </a:extLst>
            </p:cNvPr>
            <p:cNvGrpSpPr/>
            <p:nvPr/>
          </p:nvGrpSpPr>
          <p:grpSpPr>
            <a:xfrm>
              <a:off x="3111361" y="1232899"/>
              <a:ext cx="2057400" cy="3909192"/>
              <a:chOff x="3111361" y="1232899"/>
              <a:chExt cx="2057400" cy="390919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69AE66D-AAC3-46F9-D271-24850C64828F}"/>
                  </a:ext>
                </a:extLst>
              </p:cNvPr>
              <p:cNvGrpSpPr/>
              <p:nvPr/>
            </p:nvGrpSpPr>
            <p:grpSpPr>
              <a:xfrm>
                <a:off x="3111361" y="1232899"/>
                <a:ext cx="2057400" cy="3909192"/>
                <a:chOff x="3306567" y="1232899"/>
                <a:chExt cx="2057400" cy="3909192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77A03FA-41FA-A39A-3A5C-5C5CC717AF13}"/>
                    </a:ext>
                  </a:extLst>
                </p:cNvPr>
                <p:cNvSpPr/>
                <p:nvPr/>
              </p:nvSpPr>
              <p:spPr>
                <a:xfrm>
                  <a:off x="3306567" y="1232899"/>
                  <a:ext cx="2057400" cy="3447527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A81CE26-6A3E-63DC-0EB8-BF29857D9F04}"/>
                    </a:ext>
                  </a:extLst>
                </p:cNvPr>
                <p:cNvSpPr txBox="1"/>
                <p:nvPr/>
              </p:nvSpPr>
              <p:spPr>
                <a:xfrm>
                  <a:off x="3463916" y="4680426"/>
                  <a:ext cx="187904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Split dataset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4D6606A-F281-0B1B-0363-CB4291A06AB5}"/>
                    </a:ext>
                  </a:extLst>
                </p:cNvPr>
                <p:cNvSpPr/>
                <p:nvPr/>
              </p:nvSpPr>
              <p:spPr>
                <a:xfrm>
                  <a:off x="3306567" y="3770612"/>
                  <a:ext cx="2057400" cy="1962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CF70B-61BD-9A5D-F0C2-582FD5DF4F75}"/>
                  </a:ext>
                </a:extLst>
              </p:cNvPr>
              <p:cNvSpPr txBox="1"/>
              <p:nvPr/>
            </p:nvSpPr>
            <p:spPr>
              <a:xfrm>
                <a:off x="3111361" y="2182318"/>
                <a:ext cx="17826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Training set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7742D7-0DDD-1B43-6B7D-05539818649C}"/>
                  </a:ext>
                </a:extLst>
              </p:cNvPr>
              <p:cNvSpPr txBox="1"/>
              <p:nvPr/>
            </p:nvSpPr>
            <p:spPr>
              <a:xfrm>
                <a:off x="3526176" y="4109461"/>
                <a:ext cx="12438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Test set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FCF8E4B-5739-3E70-E2C8-CD3A8A73EA01}"/>
              </a:ext>
            </a:extLst>
          </p:cNvPr>
          <p:cNvSpPr txBox="1"/>
          <p:nvPr/>
        </p:nvSpPr>
        <p:spPr>
          <a:xfrm>
            <a:off x="1070864" y="4930990"/>
            <a:ext cx="696841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Benefits in model evaluation: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independent test set – unbiased.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Avoid overfitted models.</a:t>
            </a:r>
          </a:p>
        </p:txBody>
      </p:sp>
    </p:spTree>
    <p:extLst>
      <p:ext uri="{BB962C8B-B14F-4D97-AF65-F5344CB8AC3E}">
        <p14:creationId xmlns:p14="http://schemas.microsoft.com/office/powerpoint/2010/main" val="5846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8B52-C27A-DE55-AB0B-C25DF71C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0C5D1-0FE8-438A-B66F-71E319850FAE}"/>
              </a:ext>
            </a:extLst>
          </p:cNvPr>
          <p:cNvSpPr txBox="1"/>
          <p:nvPr/>
        </p:nvSpPr>
        <p:spPr>
          <a:xfrm>
            <a:off x="551849" y="1677886"/>
            <a:ext cx="55441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u="sng" dirty="0" err="1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fr-FR" sz="2400" b="0" i="0" u="sng" strike="noStrike" dirty="0" err="1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r>
              <a:rPr lang="fr-FR" sz="24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2400" b="0" i="0" u="sng" strike="noStrike" dirty="0" err="1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cvpartition</a:t>
            </a:r>
            <a:r>
              <a:rPr lang="fr-FR" sz="24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(n, '</a:t>
            </a:r>
            <a:r>
              <a:rPr lang="fr-FR" sz="2400" b="0" i="0" u="sng" strike="noStrike" dirty="0" err="1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Holdout</a:t>
            </a:r>
            <a:r>
              <a:rPr lang="fr-FR" sz="24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’, p)</a:t>
            </a:r>
            <a:endParaRPr lang="en-US" sz="2400" u="sng" dirty="0">
              <a:solidFill>
                <a:srgbClr val="0563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96E47-61A8-A66F-27AF-F6777FE659E6}"/>
              </a:ext>
            </a:extLst>
          </p:cNvPr>
          <p:cNvSpPr txBox="1"/>
          <p:nvPr/>
        </p:nvSpPr>
        <p:spPr>
          <a:xfrm>
            <a:off x="864267" y="2566718"/>
            <a:ext cx="9765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partition randomly divides the samples into a training set and a test set.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4F6D6-E2D7-F8EE-1D54-195F24BC81FA}"/>
              </a:ext>
            </a:extLst>
          </p:cNvPr>
          <p:cNvSpPr txBox="1"/>
          <p:nvPr/>
        </p:nvSpPr>
        <p:spPr>
          <a:xfrm>
            <a:off x="864268" y="3827714"/>
            <a:ext cx="99688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n: number of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p: f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raction or number of samples in the test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hpartition</a:t>
            </a:r>
            <a:r>
              <a:rPr lang="fr-FR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cvpartition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  <a:r>
              <a:rPr lang="fr-FR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contains information and settings processed by the function.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ADB4B-B649-5368-ED00-9FA7C520D3FD}"/>
              </a:ext>
            </a:extLst>
          </p:cNvPr>
          <p:cNvSpPr txBox="1"/>
          <p:nvPr/>
        </p:nvSpPr>
        <p:spPr>
          <a:xfrm>
            <a:off x="6755956" y="1579060"/>
            <a:ext cx="2946844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cvpartition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矩形 8">
            <a:extLst>
              <a:ext uri="{FF2B5EF4-FFF2-40B4-BE49-F238E27FC236}">
                <a16:creationId xmlns:a16="http://schemas.microsoft.com/office/drawing/2014/main" id="{44449C0C-5776-F1BB-D91E-48ADC31F666D}"/>
              </a:ext>
            </a:extLst>
          </p:cNvPr>
          <p:cNvSpPr/>
          <p:nvPr/>
        </p:nvSpPr>
        <p:spPr>
          <a:xfrm>
            <a:off x="10216187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8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BAF5-F0D9-59A4-064B-AC5535A5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C09C1FEF-7F9C-6287-62A4-DCEF3EC5206F}"/>
              </a:ext>
            </a:extLst>
          </p:cNvPr>
          <p:cNvSpPr txBox="1"/>
          <p:nvPr/>
        </p:nvSpPr>
        <p:spPr>
          <a:xfrm>
            <a:off x="495218" y="1546317"/>
            <a:ext cx="6146881" cy="2447092"/>
          </a:xfrm>
          <a:prstGeom prst="roundRect">
            <a:avLst>
              <a:gd name="adj" fmla="val 3667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Loading ionosphere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ionosphere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array2table(X);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tbl.Y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Number of the samples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length(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tbl.Y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Generating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cvpartition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object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hpartition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'Holdout' 0.2 means holding out 20% of the samples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hpartition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cvpartition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(n,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'Holdout'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,0.2);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9B5A6-7664-BA90-F291-F56DE5B88BED}"/>
              </a:ext>
            </a:extLst>
          </p:cNvPr>
          <p:cNvSpPr txBox="1"/>
          <p:nvPr/>
        </p:nvSpPr>
        <p:spPr>
          <a:xfrm>
            <a:off x="800019" y="4183647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object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hpartition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created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CA75CAB-C0C8-B2CD-D724-9BD272BCB40D}"/>
              </a:ext>
            </a:extLst>
          </p:cNvPr>
          <p:cNvSpPr txBox="1"/>
          <p:nvPr/>
        </p:nvSpPr>
        <p:spPr>
          <a:xfrm>
            <a:off x="495217" y="4642424"/>
            <a:ext cx="6146881" cy="837962"/>
          </a:xfrm>
          <a:prstGeom prst="roundRect">
            <a:avLst>
              <a:gd name="adj" fmla="val 11658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Forming training and testing sets with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hpartition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idxTrain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training(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hpartition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tblTrain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idxTrain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,:)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training sets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4BE21-A19D-C54E-D52A-5F55721C7EC3}"/>
              </a:ext>
            </a:extLst>
          </p:cNvPr>
          <p:cNvSpPr txBox="1"/>
          <p:nvPr/>
        </p:nvSpPr>
        <p:spPr>
          <a:xfrm>
            <a:off x="495218" y="5784358"/>
            <a:ext cx="6146880" cy="837962"/>
          </a:xfrm>
          <a:prstGeom prst="roundRect">
            <a:avLst>
              <a:gd name="adj" fmla="val 11658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Forming test with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hpartition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idxTest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test(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hpartition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tblTest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idxTest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,:)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test sets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7E38B-7E50-6E50-2956-3C70809957B1}"/>
              </a:ext>
            </a:extLst>
          </p:cNvPr>
          <p:cNvSpPr txBox="1"/>
          <p:nvPr/>
        </p:nvSpPr>
        <p:spPr>
          <a:xfrm>
            <a:off x="7154717" y="3541394"/>
            <a:ext cx="4137911" cy="1938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output of  function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cvpartition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cvpartition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object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contains information and settings processed by the function.</a:t>
            </a:r>
            <a:endParaRPr lang="en-GB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8">
            <a:extLst>
              <a:ext uri="{FF2B5EF4-FFF2-40B4-BE49-F238E27FC236}">
                <a16:creationId xmlns:a16="http://schemas.microsoft.com/office/drawing/2014/main" id="{CAFB0237-6390-F31A-459A-C5F7AB65E656}"/>
              </a:ext>
            </a:extLst>
          </p:cNvPr>
          <p:cNvSpPr/>
          <p:nvPr/>
        </p:nvSpPr>
        <p:spPr>
          <a:xfrm>
            <a:off x="10152770" y="6183474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6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65C8-9142-DE17-1B15-C9086219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Stratified sampling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FC5D8-C2EF-D3F6-8DD4-54D86BE1F866}"/>
              </a:ext>
            </a:extLst>
          </p:cNvPr>
          <p:cNvSpPr txBox="1"/>
          <p:nvPr/>
        </p:nvSpPr>
        <p:spPr>
          <a:xfrm>
            <a:off x="482442" y="1434490"/>
            <a:ext cx="3560590" cy="14055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Prevents sample bias.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Reduced variance.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CC2E10-472D-9BB0-9B27-9E21EFBE06A6}"/>
              </a:ext>
            </a:extLst>
          </p:cNvPr>
          <p:cNvSpPr/>
          <p:nvPr/>
        </p:nvSpPr>
        <p:spPr>
          <a:xfrm>
            <a:off x="6400225" y="2877503"/>
            <a:ext cx="299568" cy="289838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4BB3C-D0C1-6053-6BB4-7EF67B640B0C}"/>
              </a:ext>
            </a:extLst>
          </p:cNvPr>
          <p:cNvSpPr/>
          <p:nvPr/>
        </p:nvSpPr>
        <p:spPr>
          <a:xfrm>
            <a:off x="3885413" y="2983369"/>
            <a:ext cx="299568" cy="266100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744F2B-5673-E9A0-5B39-5A89DB435F5E}"/>
              </a:ext>
            </a:extLst>
          </p:cNvPr>
          <p:cNvGrpSpPr/>
          <p:nvPr/>
        </p:nvGrpSpPr>
        <p:grpSpPr>
          <a:xfrm>
            <a:off x="6688614" y="3088184"/>
            <a:ext cx="3825245" cy="2725742"/>
            <a:chOff x="5253370" y="1984986"/>
            <a:chExt cx="3825245" cy="272574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5F71A6-F7E8-FE3D-BC69-8CF9DA5DFC7E}"/>
                </a:ext>
              </a:extLst>
            </p:cNvPr>
            <p:cNvSpPr/>
            <p:nvPr/>
          </p:nvSpPr>
          <p:spPr>
            <a:xfrm>
              <a:off x="7722426" y="1984986"/>
              <a:ext cx="1356189" cy="2725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ML model 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96CCA91-34D1-0087-25E5-830409A2D8AD}"/>
                </a:ext>
              </a:extLst>
            </p:cNvPr>
            <p:cNvGrpSpPr/>
            <p:nvPr/>
          </p:nvGrpSpPr>
          <p:grpSpPr>
            <a:xfrm>
              <a:off x="5253370" y="2212400"/>
              <a:ext cx="2469795" cy="2200087"/>
              <a:chOff x="5271353" y="2027734"/>
              <a:chExt cx="2469795" cy="2200087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277209E-B9C0-1E16-F801-C9F1AE85F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9418" y="2590222"/>
                <a:ext cx="1608770" cy="0"/>
              </a:xfrm>
              <a:prstGeom prst="straightConnector1">
                <a:avLst/>
              </a:prstGeom>
              <a:ln w="38100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126C139-014E-304C-E20A-DA4CA544E85A}"/>
                  </a:ext>
                </a:extLst>
              </p:cNvPr>
              <p:cNvGrpSpPr/>
              <p:nvPr/>
            </p:nvGrpSpPr>
            <p:grpSpPr>
              <a:xfrm>
                <a:off x="5271353" y="2027734"/>
                <a:ext cx="2469795" cy="2200087"/>
                <a:chOff x="5271353" y="2027734"/>
                <a:chExt cx="2469795" cy="2200087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A9D1DC9-FA66-EB0D-EFA0-450DD2DFE5F2}"/>
                    </a:ext>
                  </a:extLst>
                </p:cNvPr>
                <p:cNvSpPr txBox="1"/>
                <p:nvPr/>
              </p:nvSpPr>
              <p:spPr>
                <a:xfrm>
                  <a:off x="5271353" y="2027734"/>
                  <a:ext cx="24449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Used for training</a:t>
                  </a: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84398E43-0C4A-D985-97DF-8C166EC9A4FE}"/>
                    </a:ext>
                  </a:extLst>
                </p:cNvPr>
                <p:cNvGrpSpPr/>
                <p:nvPr/>
              </p:nvGrpSpPr>
              <p:grpSpPr>
                <a:xfrm>
                  <a:off x="5400443" y="3719350"/>
                  <a:ext cx="2340705" cy="508471"/>
                  <a:chOff x="5400443" y="3719350"/>
                  <a:chExt cx="2340705" cy="508471"/>
                </a:xfrm>
              </p:grpSpPr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57A8B19C-EA86-BD4A-F6D4-7E706E32D1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89418" y="4227821"/>
                    <a:ext cx="1608770" cy="0"/>
                  </a:xfrm>
                  <a:prstGeom prst="straightConnector1">
                    <a:avLst/>
                  </a:prstGeom>
                  <a:ln w="38100">
                    <a:solidFill>
                      <a:srgbClr val="003561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F0CAE996-D268-EC29-36E2-8653BC1BD5E8}"/>
                      </a:ext>
                    </a:extLst>
                  </p:cNvPr>
                  <p:cNvSpPr txBox="1"/>
                  <p:nvPr/>
                </p:nvSpPr>
                <p:spPr>
                  <a:xfrm>
                    <a:off x="5400443" y="3719350"/>
                    <a:ext cx="234070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Used for testing</a:t>
                    </a:r>
                  </a:p>
                </p:txBody>
              </p:sp>
            </p:grp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C5EAA9-CCC9-4CB9-04D1-896269A25C04}"/>
              </a:ext>
            </a:extLst>
          </p:cNvPr>
          <p:cNvGrpSpPr/>
          <p:nvPr/>
        </p:nvGrpSpPr>
        <p:grpSpPr>
          <a:xfrm>
            <a:off x="2103067" y="2983369"/>
            <a:ext cx="1751977" cy="3066850"/>
            <a:chOff x="811659" y="1880171"/>
            <a:chExt cx="1751977" cy="306685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377603-5B60-85EE-3B3F-9833DCAD4775}"/>
                </a:ext>
              </a:extLst>
            </p:cNvPr>
            <p:cNvSpPr/>
            <p:nvPr/>
          </p:nvSpPr>
          <p:spPr>
            <a:xfrm>
              <a:off x="811659" y="1880171"/>
              <a:ext cx="1600268" cy="2661006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D1D4D44-E03A-6477-88D0-04C7589FCB06}"/>
                </a:ext>
              </a:extLst>
            </p:cNvPr>
            <p:cNvSpPr txBox="1"/>
            <p:nvPr/>
          </p:nvSpPr>
          <p:spPr>
            <a:xfrm>
              <a:off x="1186336" y="4577689"/>
              <a:ext cx="1377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Full dataset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1170F0-D111-6500-BA1A-629919F11E40}"/>
              </a:ext>
            </a:extLst>
          </p:cNvPr>
          <p:cNvGrpSpPr/>
          <p:nvPr/>
        </p:nvGrpSpPr>
        <p:grpSpPr>
          <a:xfrm>
            <a:off x="4743239" y="2885240"/>
            <a:ext cx="1945374" cy="3267719"/>
            <a:chOff x="3503201" y="1782042"/>
            <a:chExt cx="1945374" cy="32677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647E71-513C-97ED-CC07-58D9DBFB6A31}"/>
                </a:ext>
              </a:extLst>
            </p:cNvPr>
            <p:cNvSpPr/>
            <p:nvPr/>
          </p:nvSpPr>
          <p:spPr>
            <a:xfrm>
              <a:off x="3503372" y="1782042"/>
              <a:ext cx="1558164" cy="2898387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27B755-5A37-B97F-108C-84E94DEC13C1}"/>
                </a:ext>
              </a:extLst>
            </p:cNvPr>
            <p:cNvSpPr txBox="1"/>
            <p:nvPr/>
          </p:nvSpPr>
          <p:spPr>
            <a:xfrm>
              <a:off x="3660696" y="4680429"/>
              <a:ext cx="1454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Split dataset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65EFF6-DD3D-AA28-4F64-C2F188D4EA62}"/>
                </a:ext>
              </a:extLst>
            </p:cNvPr>
            <p:cNvSpPr/>
            <p:nvPr/>
          </p:nvSpPr>
          <p:spPr>
            <a:xfrm>
              <a:off x="3503201" y="3770612"/>
              <a:ext cx="1945374" cy="2047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244A9E6-308E-1E90-134B-DC6CCC1C5835}"/>
              </a:ext>
            </a:extLst>
          </p:cNvPr>
          <p:cNvSpPr txBox="1"/>
          <p:nvPr/>
        </p:nvSpPr>
        <p:spPr>
          <a:xfrm>
            <a:off x="4043032" y="6225867"/>
            <a:ext cx="4892686" cy="461665"/>
          </a:xfrm>
          <a:prstGeom prst="rect">
            <a:avLst/>
          </a:prstGeom>
          <a:noFill/>
          <a:ln>
            <a:solidFill>
              <a:srgbClr val="00356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Randomly sampled for each class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72A1A5-3051-35C0-BCB6-05F35B2245D4}"/>
              </a:ext>
            </a:extLst>
          </p:cNvPr>
          <p:cNvSpPr/>
          <p:nvPr/>
        </p:nvSpPr>
        <p:spPr>
          <a:xfrm>
            <a:off x="2102778" y="3607240"/>
            <a:ext cx="1600268" cy="2037134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208D64-E4FE-DB36-7F35-FDB8D4E9D29A}"/>
              </a:ext>
            </a:extLst>
          </p:cNvPr>
          <p:cNvSpPr/>
          <p:nvPr/>
        </p:nvSpPr>
        <p:spPr>
          <a:xfrm>
            <a:off x="3885570" y="3602755"/>
            <a:ext cx="299568" cy="2041619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2B19F-CC95-63B4-1D0B-C3F83D018035}"/>
              </a:ext>
            </a:extLst>
          </p:cNvPr>
          <p:cNvSpPr/>
          <p:nvPr/>
        </p:nvSpPr>
        <p:spPr>
          <a:xfrm>
            <a:off x="4743239" y="3307092"/>
            <a:ext cx="1558164" cy="1566718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4FFABD-EE40-7F5C-7C7F-E395B66A7F72}"/>
              </a:ext>
            </a:extLst>
          </p:cNvPr>
          <p:cNvSpPr/>
          <p:nvPr/>
        </p:nvSpPr>
        <p:spPr>
          <a:xfrm>
            <a:off x="4743239" y="5295662"/>
            <a:ext cx="1558164" cy="481527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BD7752-FA1E-D85E-E483-73748A891CA1}"/>
              </a:ext>
            </a:extLst>
          </p:cNvPr>
          <p:cNvSpPr/>
          <p:nvPr/>
        </p:nvSpPr>
        <p:spPr>
          <a:xfrm>
            <a:off x="6399874" y="3307092"/>
            <a:ext cx="299568" cy="1566717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417B4A-B254-8286-90EB-ECD1B91BEC4E}"/>
              </a:ext>
            </a:extLst>
          </p:cNvPr>
          <p:cNvSpPr/>
          <p:nvPr/>
        </p:nvSpPr>
        <p:spPr>
          <a:xfrm>
            <a:off x="6399979" y="5295662"/>
            <a:ext cx="299568" cy="480224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343F18-FFBA-29DA-25C5-3B0BAB27712C}"/>
              </a:ext>
            </a:extLst>
          </p:cNvPr>
          <p:cNvCxnSpPr>
            <a:cxnSpLocks/>
          </p:cNvCxnSpPr>
          <p:nvPr/>
        </p:nvCxnSpPr>
        <p:spPr>
          <a:xfrm>
            <a:off x="2902912" y="2983369"/>
            <a:ext cx="0" cy="619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950CAC6-FAAB-3E19-F471-B816D5D8BCFA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902912" y="3618369"/>
            <a:ext cx="0" cy="2026005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FD230D-ED9F-666C-1754-C644CB13927B}"/>
              </a:ext>
            </a:extLst>
          </p:cNvPr>
          <p:cNvCxnSpPr>
            <a:cxnSpLocks/>
            <a:stCxn id="19" idx="0"/>
          </p:cNvCxnSpPr>
          <p:nvPr/>
        </p:nvCxnSpPr>
        <p:spPr>
          <a:xfrm>
            <a:off x="5522492" y="2885240"/>
            <a:ext cx="0" cy="4058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A2CA87-B6E1-EE11-B112-D9C88993A018}"/>
              </a:ext>
            </a:extLst>
          </p:cNvPr>
          <p:cNvCxnSpPr>
            <a:cxnSpLocks/>
          </p:cNvCxnSpPr>
          <p:nvPr/>
        </p:nvCxnSpPr>
        <p:spPr>
          <a:xfrm>
            <a:off x="5521932" y="3307092"/>
            <a:ext cx="0" cy="1566718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34FB7E-E1A6-6F2E-310F-0E5BA61C4B4E}"/>
              </a:ext>
            </a:extLst>
          </p:cNvPr>
          <p:cNvCxnSpPr>
            <a:cxnSpLocks/>
          </p:cNvCxnSpPr>
          <p:nvPr/>
        </p:nvCxnSpPr>
        <p:spPr>
          <a:xfrm>
            <a:off x="5521932" y="5078533"/>
            <a:ext cx="0" cy="2171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C7B58C0-B88D-D247-70D8-44D4D8880E1F}"/>
              </a:ext>
            </a:extLst>
          </p:cNvPr>
          <p:cNvCxnSpPr>
            <a:cxnSpLocks/>
            <a:stCxn id="12" idx="0"/>
          </p:cNvCxnSpPr>
          <p:nvPr/>
        </p:nvCxnSpPr>
        <p:spPr>
          <a:xfrm flipH="1">
            <a:off x="5521932" y="5295662"/>
            <a:ext cx="389" cy="463868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A783F35-305C-4E4F-BA2A-C4658734FED1}"/>
              </a:ext>
            </a:extLst>
          </p:cNvPr>
          <p:cNvSpPr txBox="1"/>
          <p:nvPr/>
        </p:nvSpPr>
        <p:spPr>
          <a:xfrm>
            <a:off x="4931837" y="3643821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</a:t>
            </a:r>
          </a:p>
          <a:p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542B90-EDBB-997E-3CCD-5556FFBF8616}"/>
              </a:ext>
            </a:extLst>
          </p:cNvPr>
          <p:cNvSpPr txBox="1"/>
          <p:nvPr/>
        </p:nvSpPr>
        <p:spPr>
          <a:xfrm>
            <a:off x="4768403" y="5335549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proportion</a:t>
            </a:r>
          </a:p>
        </p:txBody>
      </p:sp>
    </p:spTree>
    <p:extLst>
      <p:ext uri="{BB962C8B-B14F-4D97-AF65-F5344CB8AC3E}">
        <p14:creationId xmlns:p14="http://schemas.microsoft.com/office/powerpoint/2010/main" val="407739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1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0DD7C-0A11-4A24-81AE-878BE3A9F5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934086-EE64-419C-B048-008E05D3DE2A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166FC89A-975F-4D67-A586-C302623241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1861</TotalTime>
  <Words>314</Words>
  <Application>Microsoft Office PowerPoint</Application>
  <PresentationFormat>Widescreen</PresentationFormat>
  <Paragraphs>72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Construct Training/Test Sets for Model Evaluation (1) </vt:lpstr>
      <vt:lpstr>Use test set for model evaluation</vt:lpstr>
      <vt:lpstr>Benefits</vt:lpstr>
      <vt:lpstr>Implementation </vt:lpstr>
      <vt:lpstr>Implementation </vt:lpstr>
      <vt:lpstr>Stratified sampling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60</cp:revision>
  <dcterms:created xsi:type="dcterms:W3CDTF">2021-01-06T14:22:07Z</dcterms:created>
  <dcterms:modified xsi:type="dcterms:W3CDTF">2024-07-10T14:04:46Z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