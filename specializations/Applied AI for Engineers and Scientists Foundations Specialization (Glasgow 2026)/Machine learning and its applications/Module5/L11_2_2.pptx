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5"/>
    <p:sldId id="494" r:id="rId6"/>
    <p:sldId id="496" r:id="rId7"/>
    <p:sldId id="498" r:id="rId8"/>
    <p:sldId id="500" r:id="rId9"/>
    <p:sldId id="501" r:id="rId10"/>
    <p:sldId id="502" r:id="rId11"/>
    <p:sldId id="504" r:id="rId12"/>
    <p:sldId id="506" r:id="rId13"/>
    <p:sldId id="508" r:id="rId14"/>
    <p:sldId id="509" r:id="rId15"/>
    <p:sldId id="511" r:id="rId16"/>
    <p:sldId id="512" r:id="rId17"/>
    <p:sldId id="513" r:id="rId18"/>
    <p:sldId id="514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17/07/2024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310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../media/image60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410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../media/image90.png"/><Relationship Id="rId2" Type="http://schemas.openxmlformats.org/officeDocument/2006/relationships/image" Target="../media/image70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60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13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2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14.png"/><Relationship Id="rId9" Type="http://schemas.openxmlformats.org/officeDocument/2006/relationships/image" Target="NULL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15.png"/><Relationship Id="rId18" Type="http://schemas.openxmlformats.org/officeDocument/2006/relationships/image" Target="../media/image19.png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../media/image18.png"/><Relationship Id="rId2" Type="http://schemas.openxmlformats.org/officeDocument/2006/relationships/image" Target="../media/image1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16.png"/><Relationship Id="rId10" Type="http://schemas.openxmlformats.org/officeDocument/2006/relationships/image" Target="NULL"/><Relationship Id="rId19" Type="http://schemas.openxmlformats.org/officeDocument/2006/relationships/image" Target="../media/image20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15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2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60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2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15.png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../media/image26.png"/><Relationship Id="rId2" Type="http://schemas.openxmlformats.org/officeDocument/2006/relationships/image" Target="../media/image12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60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2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12" Type="http://schemas.openxmlformats.org/officeDocument/2006/relationships/image" Target="../media/image27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260.png"/><Relationship Id="rId10" Type="http://schemas.openxmlformats.org/officeDocument/2006/relationships/image" Target="../media/image25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290.png"/><Relationship Id="rId18" Type="http://schemas.openxmlformats.org/officeDocument/2006/relationships/image" Target="../media/image32.png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../media/image31.png"/><Relationship Id="rId2" Type="http://schemas.openxmlformats.org/officeDocument/2006/relationships/image" Target="../media/image280.png"/><Relationship Id="rId16" Type="http://schemas.openxmlformats.org/officeDocument/2006/relationships/image" Target="../media/image240.png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230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290.png"/><Relationship Id="rId18" Type="http://schemas.openxmlformats.org/officeDocument/2006/relationships/image" Target="../media/image41.png"/><Relationship Id="rId7" Type="http://schemas.openxmlformats.org/officeDocument/2006/relationships/image" Target="NULL"/><Relationship Id="rId12" Type="http://schemas.openxmlformats.org/officeDocument/2006/relationships/image" Target="../media/image40.png"/><Relationship Id="rId17" Type="http://schemas.openxmlformats.org/officeDocument/2006/relationships/image" Target="../media/image60.png"/><Relationship Id="rId2" Type="http://schemas.openxmlformats.org/officeDocument/2006/relationships/image" Target="../media/image280.png"/><Relationship Id="rId16" Type="http://schemas.openxmlformats.org/officeDocument/2006/relationships/image" Target="../media/image240.png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../media/image39.png"/><Relationship Id="rId5" Type="http://schemas.openxmlformats.org/officeDocument/2006/relationships/image" Target="NULL"/><Relationship Id="rId15" Type="http://schemas.openxmlformats.org/officeDocument/2006/relationships/image" Target="../media/image230.png"/><Relationship Id="rId10" Type="http://schemas.openxmlformats.org/officeDocument/2006/relationships/image" Target="../media/image38.png"/><Relationship Id="rId4" Type="http://schemas.openxmlformats.org/officeDocument/2006/relationships/image" Target="NULL"/><Relationship Id="rId9" Type="http://schemas.openxmlformats.org/officeDocument/2006/relationships/image" Target="../media/image33.png"/><Relationship Id="rId1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290.png"/><Relationship Id="rId18" Type="http://schemas.openxmlformats.org/officeDocument/2006/relationships/image" Target="../media/image46.png"/><Relationship Id="rId7" Type="http://schemas.openxmlformats.org/officeDocument/2006/relationships/image" Target="NULL"/><Relationship Id="rId12" Type="http://schemas.openxmlformats.org/officeDocument/2006/relationships/image" Target="../media/image44.png"/><Relationship Id="rId17" Type="http://schemas.openxmlformats.org/officeDocument/2006/relationships/image" Target="../media/image35.png"/><Relationship Id="rId2" Type="http://schemas.openxmlformats.org/officeDocument/2006/relationships/image" Target="../media/image280.png"/><Relationship Id="rId16" Type="http://schemas.openxmlformats.org/officeDocument/2006/relationships/image" Target="../media/image240.png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../media/image43.png"/><Relationship Id="rId5" Type="http://schemas.openxmlformats.org/officeDocument/2006/relationships/image" Target="NULL"/><Relationship Id="rId15" Type="http://schemas.openxmlformats.org/officeDocument/2006/relationships/image" Target="../media/image230.png"/><Relationship Id="rId10" Type="http://schemas.openxmlformats.org/officeDocument/2006/relationships/image" Target="../media/image42.png"/><Relationship Id="rId19" Type="http://schemas.openxmlformats.org/officeDocument/2006/relationships/image" Target="../media/image36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52.png"/><Relationship Id="rId7" Type="http://schemas.openxmlformats.org/officeDocument/2006/relationships/image" Target="NULL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NULL"/><Relationship Id="rId11" Type="http://schemas.openxmlformats.org/officeDocument/2006/relationships/image" Target="../media/image48.png"/><Relationship Id="rId5" Type="http://schemas.openxmlformats.org/officeDocument/2006/relationships/image" Target="NULL"/><Relationship Id="rId15" Type="http://schemas.openxmlformats.org/officeDocument/2006/relationships/image" Target="../media/image54.png"/><Relationship Id="rId10" Type="http://schemas.openxmlformats.org/officeDocument/2006/relationships/image" Target="../media/image47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Backward Propagation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Loss function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9FB4FD-5664-96D3-03AB-F29D45DA7033}"/>
              </a:ext>
            </a:extLst>
          </p:cNvPr>
          <p:cNvGrpSpPr/>
          <p:nvPr/>
        </p:nvGrpSpPr>
        <p:grpSpPr>
          <a:xfrm>
            <a:off x="1096193" y="1579156"/>
            <a:ext cx="5375052" cy="1111009"/>
            <a:chOff x="621213" y="2884716"/>
            <a:chExt cx="5375052" cy="11110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1B8A185-5595-41DC-5C37-9FA5335F7A52}"/>
                </a:ext>
              </a:extLst>
            </p:cNvPr>
            <p:cNvGrpSpPr/>
            <p:nvPr/>
          </p:nvGrpSpPr>
          <p:grpSpPr>
            <a:xfrm>
              <a:off x="621213" y="3208457"/>
              <a:ext cx="3607887" cy="506704"/>
              <a:chOff x="127092" y="3813786"/>
              <a:chExt cx="3607887" cy="50670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82BE4F1-A328-2D5E-47DC-5C1D0E1BB473}"/>
                  </a:ext>
                </a:extLst>
              </p:cNvPr>
              <p:cNvGrpSpPr/>
              <p:nvPr/>
            </p:nvGrpSpPr>
            <p:grpSpPr>
              <a:xfrm>
                <a:off x="2821710" y="3813786"/>
                <a:ext cx="913269" cy="506704"/>
                <a:chOff x="2821710" y="3806643"/>
                <a:chExt cx="913269" cy="506704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62529B53-0328-843E-1E44-5EE97A15EE8A}"/>
                    </a:ext>
                  </a:extLst>
                </p:cNvPr>
                <p:cNvSpPr/>
                <p:nvPr/>
              </p:nvSpPr>
              <p:spPr>
                <a:xfrm>
                  <a:off x="2821710" y="3806643"/>
                  <a:ext cx="507302" cy="506704"/>
                </a:xfrm>
                <a:prstGeom prst="ellipse">
                  <a:avLst/>
                </a:prstGeom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6F785E77-4E72-16F8-E9E8-097D9E01450F}"/>
                    </a:ext>
                  </a:extLst>
                </p:cNvPr>
                <p:cNvCxnSpPr>
                  <a:cxnSpLocks/>
                  <a:stCxn id="11" idx="6"/>
                </p:cNvCxnSpPr>
                <p:nvPr/>
              </p:nvCxnSpPr>
              <p:spPr>
                <a:xfrm flipV="1">
                  <a:off x="3329012" y="4059994"/>
                  <a:ext cx="405967" cy="1"/>
                </a:xfrm>
                <a:prstGeom prst="straightConnector1">
                  <a:avLst/>
                </a:prstGeom>
                <a:ln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99710C6A-4033-5BC6-8309-F00BD100503C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>
                <a:off x="2379142" y="4067138"/>
                <a:ext cx="442568" cy="0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9252705-690B-898F-0ECD-04612C183039}"/>
                      </a:ext>
                    </a:extLst>
                  </p:cNvPr>
                  <p:cNvSpPr txBox="1"/>
                  <p:nvPr/>
                </p:nvSpPr>
                <p:spPr>
                  <a:xfrm>
                    <a:off x="127092" y="3913249"/>
                    <a:ext cx="233955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Input to the neuron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0.8</m:t>
                        </m:r>
                      </m:oMath>
                    </a14:m>
                    <a:endParaRPr lang="en-US" sz="14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9252705-690B-898F-0ECD-04612C1830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092" y="3913249"/>
                    <a:ext cx="2339551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81" t="-1961" b="-1960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8C1804D-B2A3-12F6-7016-E911F64B8CD4}"/>
                    </a:ext>
                  </a:extLst>
                </p:cNvPr>
                <p:cNvSpPr txBox="1"/>
                <p:nvPr/>
              </p:nvSpPr>
              <p:spPr>
                <a:xfrm>
                  <a:off x="4280923" y="3307920"/>
                  <a:ext cx="17153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Output 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0.579</m:t>
                      </m:r>
                    </m:oMath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8C1804D-B2A3-12F6-7016-E911F64B8C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0923" y="3307920"/>
                  <a:ext cx="1715342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355" t="-1961" b="-1960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5115826-736B-2EF7-4F31-A392F917213E}"/>
                    </a:ext>
                  </a:extLst>
                </p:cNvPr>
                <p:cNvSpPr txBox="1"/>
                <p:nvPr/>
              </p:nvSpPr>
              <p:spPr>
                <a:xfrm>
                  <a:off x="2815562" y="2884716"/>
                  <a:ext cx="156408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Weight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</m:oMath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5115826-736B-2EF7-4F31-A392F91721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5562" y="2884716"/>
                  <a:ext cx="1564083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172" t="-3922" b="-1960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20A5A7A-EF15-A14C-4157-0D910D24C828}"/>
                    </a:ext>
                  </a:extLst>
                </p:cNvPr>
                <p:cNvSpPr txBox="1"/>
                <p:nvPr/>
              </p:nvSpPr>
              <p:spPr>
                <a:xfrm>
                  <a:off x="2873263" y="3687948"/>
                  <a:ext cx="174271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Bias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=0.12</m:t>
                      </m:r>
                    </m:oMath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20A5A7A-EF15-A14C-4157-0D910D24C8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3263" y="3687948"/>
                  <a:ext cx="1742717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049" t="-4000" b="-20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03A23E0-D852-2856-6AC3-9C24B4EC3267}"/>
                  </a:ext>
                </a:extLst>
              </p:cNvPr>
              <p:cNvSpPr txBox="1"/>
              <p:nvPr/>
            </p:nvSpPr>
            <p:spPr>
              <a:xfrm>
                <a:off x="1096193" y="3169656"/>
                <a:ext cx="4907113" cy="9848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ground truth (i.e., expected value) supposed to be </a:t>
                </a: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=0.579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good estimate of the target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How to quantify the goodness of the prediction?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03A23E0-D852-2856-6AC3-9C24B4EC3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193" y="3169656"/>
                <a:ext cx="4907113" cy="984885"/>
              </a:xfrm>
              <a:prstGeom prst="rect">
                <a:avLst/>
              </a:prstGeom>
              <a:blipFill>
                <a:blip r:embed="rId7"/>
                <a:stretch>
                  <a:fillRect l="-745" t="-1235" b="-67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A63C0C2F-78F8-861C-A60F-5B0A28D9688D}"/>
              </a:ext>
            </a:extLst>
          </p:cNvPr>
          <p:cNvGrpSpPr/>
          <p:nvPr/>
        </p:nvGrpSpPr>
        <p:grpSpPr>
          <a:xfrm>
            <a:off x="1096193" y="4350103"/>
            <a:ext cx="3388235" cy="714372"/>
            <a:chOff x="559969" y="3377113"/>
            <a:chExt cx="3388235" cy="7143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52391DB-7C15-B15E-ABCF-66024E0E9290}"/>
                    </a:ext>
                  </a:extLst>
                </p:cNvPr>
                <p:cNvSpPr txBox="1"/>
                <p:nvPr/>
              </p:nvSpPr>
              <p:spPr>
                <a:xfrm>
                  <a:off x="1000476" y="3783708"/>
                  <a:ext cx="211384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0.579−1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=0.421</m:t>
                        </m:r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77D9DD29-3E55-1DB0-4728-67576CF0D3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476" y="3783708"/>
                  <a:ext cx="2113848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65A4E68-95DE-3455-9F55-3A333F5380B1}"/>
                    </a:ext>
                  </a:extLst>
                </p:cNvPr>
                <p:cNvSpPr txBox="1"/>
                <p:nvPr/>
              </p:nvSpPr>
              <p:spPr>
                <a:xfrm>
                  <a:off x="559969" y="3377113"/>
                  <a:ext cx="3388235" cy="3976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Mean absolute error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nary>
                    </m:oMath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65A4E68-95DE-3455-9F55-3A333F538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969" y="3377113"/>
                  <a:ext cx="3388235" cy="397673"/>
                </a:xfrm>
                <a:prstGeom prst="rect">
                  <a:avLst/>
                </a:prstGeom>
                <a:blipFill>
                  <a:blip r:embed="rId9"/>
                  <a:stretch>
                    <a:fillRect l="-360" t="-67692" b="-11384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0A2E19B-5C07-1E82-7DC4-940FFCD84EFA}"/>
              </a:ext>
            </a:extLst>
          </p:cNvPr>
          <p:cNvGrpSpPr/>
          <p:nvPr/>
        </p:nvGrpSpPr>
        <p:grpSpPr>
          <a:xfrm>
            <a:off x="1096193" y="5149949"/>
            <a:ext cx="3445880" cy="699391"/>
            <a:chOff x="559969" y="3377113"/>
            <a:chExt cx="3445880" cy="6993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88A05F5-29A0-AD32-4184-E474E44AE527}"/>
                    </a:ext>
                  </a:extLst>
                </p:cNvPr>
                <p:cNvSpPr txBox="1"/>
                <p:nvPr/>
              </p:nvSpPr>
              <p:spPr>
                <a:xfrm>
                  <a:off x="1000476" y="3768727"/>
                  <a:ext cx="232005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=(0.579−1)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=0.1772</m:t>
                        </m:r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BA00D1EB-3331-B53A-6488-2657ACA05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476" y="3768727"/>
                  <a:ext cx="2320059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40555AB-E512-EFBC-9407-DCB0377D7547}"/>
                    </a:ext>
                  </a:extLst>
                </p:cNvPr>
                <p:cNvSpPr txBox="1"/>
                <p:nvPr/>
              </p:nvSpPr>
              <p:spPr>
                <a:xfrm>
                  <a:off x="559969" y="3377113"/>
                  <a:ext cx="3445880" cy="3976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Mean squared error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a14:m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40555AB-E512-EFBC-9407-DCB0377D7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969" y="3377113"/>
                  <a:ext cx="3445880" cy="397673"/>
                </a:xfrm>
                <a:prstGeom prst="rect">
                  <a:avLst/>
                </a:prstGeom>
                <a:blipFill>
                  <a:blip r:embed="rId11"/>
                  <a:stretch>
                    <a:fillRect l="-354" t="-67692" b="-11384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4F57515-8ED7-C22B-113A-1B1355ABB6B3}"/>
              </a:ext>
            </a:extLst>
          </p:cNvPr>
          <p:cNvGrpSpPr/>
          <p:nvPr/>
        </p:nvGrpSpPr>
        <p:grpSpPr>
          <a:xfrm>
            <a:off x="1096193" y="5873244"/>
            <a:ext cx="4008598" cy="738224"/>
            <a:chOff x="559969" y="3377113"/>
            <a:chExt cx="4008598" cy="738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E09800A-F518-7F2F-21C5-B4AAB052A6F6}"/>
                    </a:ext>
                  </a:extLst>
                </p:cNvPr>
                <p:cNvSpPr txBox="1"/>
                <p:nvPr/>
              </p:nvSpPr>
              <p:spPr>
                <a:xfrm>
                  <a:off x="1000476" y="3762099"/>
                  <a:ext cx="2313903" cy="3532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(0.579−1)</m:t>
                                </m:r>
                              </m:e>
                              <m:sup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=0.421</m:t>
                        </m:r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1859EDE-BD6A-ABCF-F0A4-0CBD18F5E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476" y="3762099"/>
                  <a:ext cx="2313903" cy="353238"/>
                </a:xfrm>
                <a:prstGeom prst="rect">
                  <a:avLst/>
                </a:prstGeom>
                <a:blipFill>
                  <a:blip r:embed="rId12"/>
                  <a:stretch>
                    <a:fillRect b="-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33969D5-2435-2DDE-8136-57512678B83B}"/>
                    </a:ext>
                  </a:extLst>
                </p:cNvPr>
                <p:cNvSpPr txBox="1"/>
                <p:nvPr/>
              </p:nvSpPr>
              <p:spPr>
                <a:xfrm>
                  <a:off x="559969" y="3377113"/>
                  <a:ext cx="4008598" cy="5307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Root mean squared error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33969D5-2435-2DDE-8136-57512678B8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969" y="3377113"/>
                  <a:ext cx="4008598" cy="530723"/>
                </a:xfrm>
                <a:prstGeom prst="rect">
                  <a:avLst/>
                </a:prstGeom>
                <a:blipFill>
                  <a:blip r:embed="rId13"/>
                  <a:stretch>
                    <a:fillRect l="-304" t="-35227" b="-7272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47D12AA-1D96-EBEB-2A34-DCFB64F8D3C9}"/>
              </a:ext>
            </a:extLst>
          </p:cNvPr>
          <p:cNvGrpSpPr/>
          <p:nvPr/>
        </p:nvGrpSpPr>
        <p:grpSpPr>
          <a:xfrm>
            <a:off x="7087211" y="4460566"/>
            <a:ext cx="3967753" cy="1974283"/>
            <a:chOff x="5142701" y="2671675"/>
            <a:chExt cx="3967753" cy="197428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E09A1C6-C419-46F7-2314-098EBAA97752}"/>
                </a:ext>
              </a:extLst>
            </p:cNvPr>
            <p:cNvSpPr txBox="1"/>
            <p:nvPr/>
          </p:nvSpPr>
          <p:spPr>
            <a:xfrm>
              <a:off x="5142701" y="2671675"/>
              <a:ext cx="2847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Loss: The lower the better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32C92D-0454-3E59-FE5B-AB07179E074C}"/>
                </a:ext>
              </a:extLst>
            </p:cNvPr>
            <p:cNvSpPr txBox="1"/>
            <p:nvPr/>
          </p:nvSpPr>
          <p:spPr>
            <a:xfrm>
              <a:off x="5142701" y="3214797"/>
              <a:ext cx="3967753" cy="14311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Loss functions are sometimes called: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Error function.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Cost function.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Loss.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B389-789D-891D-47B2-AAD11C32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network example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8F6F2-33B0-C289-E413-FD57B05B1F1D}"/>
              </a:ext>
            </a:extLst>
          </p:cNvPr>
          <p:cNvSpPr txBox="1"/>
          <p:nvPr/>
        </p:nvSpPr>
        <p:spPr>
          <a:xfrm>
            <a:off x="370986" y="1514453"/>
            <a:ext cx="39677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[0.35, 0.9]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Expected output: [0.5]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Activation function: Sigmoid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30D556-F22D-BC0C-6622-EBB5135C74E2}"/>
              </a:ext>
            </a:extLst>
          </p:cNvPr>
          <p:cNvGrpSpPr/>
          <p:nvPr/>
        </p:nvGrpSpPr>
        <p:grpSpPr>
          <a:xfrm>
            <a:off x="226631" y="3493865"/>
            <a:ext cx="7155958" cy="2525613"/>
            <a:chOff x="786855" y="2906008"/>
            <a:chExt cx="7155958" cy="252561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41ED0FA-BDFE-2AB5-26ED-E5DBE469420B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A7F83CE-EB8B-CCC4-EB5D-DC735532B0BE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CDC15144-3F91-42BF-F384-E70358994720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573EA3FD-54B7-2079-5F8D-180A46B49939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1F416AB-03F2-13F5-88E1-7BEA894E37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842391C-7534-DD35-392B-E8F8F09F93C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6" name="Group 35">
                          <a:extLst>
                            <a:ext uri="{FF2B5EF4-FFF2-40B4-BE49-F238E27FC236}">
                              <a16:creationId xmlns:a16="http://schemas.microsoft.com/office/drawing/2014/main" id="{F4BF5837-BC79-DAC5-9262-7452031297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39" name="Group 38">
                            <a:extLst>
                              <a:ext uri="{FF2B5EF4-FFF2-40B4-BE49-F238E27FC236}">
                                <a16:creationId xmlns:a16="http://schemas.microsoft.com/office/drawing/2014/main" id="{8FBD74CA-2625-C380-AF86-12D8A78524F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6" name="Group 45">
                              <a:extLst>
                                <a:ext uri="{FF2B5EF4-FFF2-40B4-BE49-F238E27FC236}">
                                  <a16:creationId xmlns:a16="http://schemas.microsoft.com/office/drawing/2014/main" id="{17481B7A-C5D1-5AD3-7418-77C7899FB00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48" name="Group 47">
                                <a:extLst>
                                  <a:ext uri="{FF2B5EF4-FFF2-40B4-BE49-F238E27FC236}">
                                    <a16:creationId xmlns:a16="http://schemas.microsoft.com/office/drawing/2014/main" id="{2225189F-E562-955D-0CC9-05C9C8352E4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0" name="Oval 49">
                                  <a:extLst>
                                    <a:ext uri="{FF2B5EF4-FFF2-40B4-BE49-F238E27FC236}">
                                      <a16:creationId xmlns:a16="http://schemas.microsoft.com/office/drawing/2014/main" id="{A20BF68B-C5B4-62FD-0485-E46B2652067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1" name="Oval 50">
                                  <a:extLst>
                                    <a:ext uri="{FF2B5EF4-FFF2-40B4-BE49-F238E27FC236}">
                                      <a16:creationId xmlns:a16="http://schemas.microsoft.com/office/drawing/2014/main" id="{DDD11421-651F-D193-2C6B-E6CEC362344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2" name="Oval 51">
                                  <a:extLst>
                                    <a:ext uri="{FF2B5EF4-FFF2-40B4-BE49-F238E27FC236}">
                                      <a16:creationId xmlns:a16="http://schemas.microsoft.com/office/drawing/2014/main" id="{102B1574-2273-10BA-9C83-76699C856D2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49" name="Oval 48">
                                <a:extLst>
                                  <a:ext uri="{FF2B5EF4-FFF2-40B4-BE49-F238E27FC236}">
                                    <a16:creationId xmlns:a16="http://schemas.microsoft.com/office/drawing/2014/main" id="{37205F62-BDF5-6546-0A9D-31A783E76F2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47" name="Oval 46">
                              <a:extLst>
                                <a:ext uri="{FF2B5EF4-FFF2-40B4-BE49-F238E27FC236}">
                                  <a16:creationId xmlns:a16="http://schemas.microsoft.com/office/drawing/2014/main" id="{55AE210A-A446-7645-497E-CD3835F45DF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0" name="Straight Arrow Connector 39">
                            <a:extLst>
                              <a:ext uri="{FF2B5EF4-FFF2-40B4-BE49-F238E27FC236}">
                                <a16:creationId xmlns:a16="http://schemas.microsoft.com/office/drawing/2014/main" id="{FF850162-C860-9004-4042-32FD87C8732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1" name="Straight Arrow Connector 40">
                            <a:extLst>
                              <a:ext uri="{FF2B5EF4-FFF2-40B4-BE49-F238E27FC236}">
                                <a16:creationId xmlns:a16="http://schemas.microsoft.com/office/drawing/2014/main" id="{E58FFCF2-B465-8683-F046-BE0DD051694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1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2" name="Straight Arrow Connector 41">
                            <a:extLst>
                              <a:ext uri="{FF2B5EF4-FFF2-40B4-BE49-F238E27FC236}">
                                <a16:creationId xmlns:a16="http://schemas.microsoft.com/office/drawing/2014/main" id="{A716DCE8-2A5E-EB0F-C368-11563A8F3A67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C68E356B-1373-758B-2376-C316CF894BF4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1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4E20BA4D-7B69-4358-1761-8078240F1AEC}"/>
                              </a:ext>
                            </a:extLst>
                          </p:cNvPr>
                          <p:cNvCxnSpPr>
                            <a:cxnSpLocks/>
                            <a:stCxn id="50" idx="6"/>
                            <a:endCxn id="47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884AF0EC-F193-086E-0F21-1DD46A9CFCD1}"/>
                              </a:ext>
                            </a:extLst>
                          </p:cNvPr>
                          <p:cNvCxnSpPr>
                            <a:cxnSpLocks/>
                            <a:stCxn id="51" idx="6"/>
                            <a:endCxn id="47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5884F0D1-9D3B-C43A-6E12-4C184604829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38" name="TextBox 37">
                          <a:extLst>
                            <a:ext uri="{FF2B5EF4-FFF2-40B4-BE49-F238E27FC236}">
                              <a16:creationId xmlns:a16="http://schemas.microsoft.com/office/drawing/2014/main" id="{C4104B79-347B-95A6-BC40-2BAAB5866E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7906D135-CB93-735D-C0D7-21133AC5DCD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5" name="TextBox 34">
                        <a:extLst>
                          <a:ext uri="{FF2B5EF4-FFF2-40B4-BE49-F238E27FC236}">
                            <a16:creationId xmlns:a16="http://schemas.microsoft.com/office/drawing/2014/main" id="{EC328E87-0776-DC5A-E393-FF925BBB99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E59E3E4E-C014-1C8A-AD0A-10408D48D3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63A0F51-EBB7-551A-C570-E204E374C76E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246A66-877F-34A6-3CD4-61DD480F94CA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136CDBE-5614-CF81-00BD-E0059FC15462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421D25-D9CD-337D-8BFE-78D6C4E104CC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0.1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E22C54-8DD8-9E05-0EE6-BA436E40846B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84207A-060C-5F85-EA5F-66014D974F4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3831D40-D229-3A2C-D148-8602DC21FA1E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5F4AE33-6BFD-9CA6-C285-2645C8047834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0.3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DB2AFCE-D9F0-D078-F1C7-CFD69C770801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0.9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ECC2B81-50E4-D77E-182A-57174887C73A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AF47591-E35D-E1B1-013C-8A3FC15E55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BB6F31DA-35EB-D315-865B-27E75B565D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CEC83D8C-D0C3-2CCC-796E-C351C12394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46A1CD05-B3E5-5043-1F28-B23B9FA0F4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8A715FDD-853F-9DBE-9B26-3FB95CC0FF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D4E50E7-6857-A3D0-35EE-421841A9EFCE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AF3024C-2451-6CAC-3A8D-76F8044C5038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ED3B171F-1AF4-E699-BCC3-477EBC6B9201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133B39F-171A-77B2-AF61-885C4BB17191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820173B-7231-F5A6-0529-81603DD48520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6BD2417-A491-8F52-F770-536BFA333929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70365358-0956-0040-95A8-435218C978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3EC6021-2F8A-904B-85D2-2B459B8A5B78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361E5038-522C-39F2-FF36-BE24AE40B3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8DBF43-65B9-8B7F-0219-A13CCA8D3C50}"/>
                  </a:ext>
                </a:extLst>
              </p:cNvPr>
              <p:cNvSpPr txBox="1"/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8DBF43-65B9-8B7F-0219-A13CCA8D3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blipFill>
                <a:blip r:embed="rId15"/>
                <a:stretch>
                  <a:fillRect l="-1493" t="-1429" r="-373" b="-42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34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B389-789D-891D-47B2-AAD11C32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propagation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8F6F2-33B0-C289-E413-FD57B05B1F1D}"/>
              </a:ext>
            </a:extLst>
          </p:cNvPr>
          <p:cNvSpPr txBox="1"/>
          <p:nvPr/>
        </p:nvSpPr>
        <p:spPr>
          <a:xfrm>
            <a:off x="370986" y="1514453"/>
            <a:ext cx="39677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Input: [0.35, 0.9]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Expected output: [0.5]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Activation function: Sigmoid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30D556-F22D-BC0C-6622-EBB5135C74E2}"/>
              </a:ext>
            </a:extLst>
          </p:cNvPr>
          <p:cNvGrpSpPr/>
          <p:nvPr/>
        </p:nvGrpSpPr>
        <p:grpSpPr>
          <a:xfrm>
            <a:off x="226631" y="3493865"/>
            <a:ext cx="7155958" cy="2525613"/>
            <a:chOff x="786855" y="2906008"/>
            <a:chExt cx="7155958" cy="252561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41ED0FA-BDFE-2AB5-26ED-E5DBE469420B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A7F83CE-EB8B-CCC4-EB5D-DC735532B0BE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CDC15144-3F91-42BF-F384-E70358994720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573EA3FD-54B7-2079-5F8D-180A46B49939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1F416AB-03F2-13F5-88E1-7BEA894E37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842391C-7534-DD35-392B-E8F8F09F93C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6" name="Group 35">
                          <a:extLst>
                            <a:ext uri="{FF2B5EF4-FFF2-40B4-BE49-F238E27FC236}">
                              <a16:creationId xmlns:a16="http://schemas.microsoft.com/office/drawing/2014/main" id="{F4BF5837-BC79-DAC5-9262-7452031297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39" name="Group 38">
                            <a:extLst>
                              <a:ext uri="{FF2B5EF4-FFF2-40B4-BE49-F238E27FC236}">
                                <a16:creationId xmlns:a16="http://schemas.microsoft.com/office/drawing/2014/main" id="{8FBD74CA-2625-C380-AF86-12D8A78524F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6" name="Group 45">
                              <a:extLst>
                                <a:ext uri="{FF2B5EF4-FFF2-40B4-BE49-F238E27FC236}">
                                  <a16:creationId xmlns:a16="http://schemas.microsoft.com/office/drawing/2014/main" id="{17481B7A-C5D1-5AD3-7418-77C7899FB00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48" name="Group 47">
                                <a:extLst>
                                  <a:ext uri="{FF2B5EF4-FFF2-40B4-BE49-F238E27FC236}">
                                    <a16:creationId xmlns:a16="http://schemas.microsoft.com/office/drawing/2014/main" id="{2225189F-E562-955D-0CC9-05C9C8352E4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0" name="Oval 49">
                                  <a:extLst>
                                    <a:ext uri="{FF2B5EF4-FFF2-40B4-BE49-F238E27FC236}">
                                      <a16:creationId xmlns:a16="http://schemas.microsoft.com/office/drawing/2014/main" id="{A20BF68B-C5B4-62FD-0485-E46B2652067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1" name="Oval 50">
                                  <a:extLst>
                                    <a:ext uri="{FF2B5EF4-FFF2-40B4-BE49-F238E27FC236}">
                                      <a16:creationId xmlns:a16="http://schemas.microsoft.com/office/drawing/2014/main" id="{DDD11421-651F-D193-2C6B-E6CEC362344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2" name="Oval 51">
                                  <a:extLst>
                                    <a:ext uri="{FF2B5EF4-FFF2-40B4-BE49-F238E27FC236}">
                                      <a16:creationId xmlns:a16="http://schemas.microsoft.com/office/drawing/2014/main" id="{102B1574-2273-10BA-9C83-76699C856D2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49" name="Oval 48">
                                <a:extLst>
                                  <a:ext uri="{FF2B5EF4-FFF2-40B4-BE49-F238E27FC236}">
                                    <a16:creationId xmlns:a16="http://schemas.microsoft.com/office/drawing/2014/main" id="{37205F62-BDF5-6546-0A9D-31A783E76F2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47" name="Oval 46">
                              <a:extLst>
                                <a:ext uri="{FF2B5EF4-FFF2-40B4-BE49-F238E27FC236}">
                                  <a16:creationId xmlns:a16="http://schemas.microsoft.com/office/drawing/2014/main" id="{55AE210A-A446-7645-497E-CD3835F45DF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0" name="Straight Arrow Connector 39">
                            <a:extLst>
                              <a:ext uri="{FF2B5EF4-FFF2-40B4-BE49-F238E27FC236}">
                                <a16:creationId xmlns:a16="http://schemas.microsoft.com/office/drawing/2014/main" id="{FF850162-C860-9004-4042-32FD87C8732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1" name="Straight Arrow Connector 40">
                            <a:extLst>
                              <a:ext uri="{FF2B5EF4-FFF2-40B4-BE49-F238E27FC236}">
                                <a16:creationId xmlns:a16="http://schemas.microsoft.com/office/drawing/2014/main" id="{E58FFCF2-B465-8683-F046-BE0DD051694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1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2" name="Straight Arrow Connector 41">
                            <a:extLst>
                              <a:ext uri="{FF2B5EF4-FFF2-40B4-BE49-F238E27FC236}">
                                <a16:creationId xmlns:a16="http://schemas.microsoft.com/office/drawing/2014/main" id="{A716DCE8-2A5E-EB0F-C368-11563A8F3A67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C68E356B-1373-758B-2376-C316CF894BF4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1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4E20BA4D-7B69-4358-1761-8078240F1AEC}"/>
                              </a:ext>
                            </a:extLst>
                          </p:cNvPr>
                          <p:cNvCxnSpPr>
                            <a:cxnSpLocks/>
                            <a:stCxn id="50" idx="6"/>
                            <a:endCxn id="47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884AF0EC-F193-086E-0F21-1DD46A9CFCD1}"/>
                              </a:ext>
                            </a:extLst>
                          </p:cNvPr>
                          <p:cNvCxnSpPr>
                            <a:cxnSpLocks/>
                            <a:stCxn id="51" idx="6"/>
                            <a:endCxn id="47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5884F0D1-9D3B-C43A-6E12-4C184604829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38" name="TextBox 37">
                          <a:extLst>
                            <a:ext uri="{FF2B5EF4-FFF2-40B4-BE49-F238E27FC236}">
                              <a16:creationId xmlns:a16="http://schemas.microsoft.com/office/drawing/2014/main" id="{C4104B79-347B-95A6-BC40-2BAAB5866E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7906D135-CB93-735D-C0D7-21133AC5DCD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5" name="TextBox 34">
                        <a:extLst>
                          <a:ext uri="{FF2B5EF4-FFF2-40B4-BE49-F238E27FC236}">
                            <a16:creationId xmlns:a16="http://schemas.microsoft.com/office/drawing/2014/main" id="{EC328E87-0776-DC5A-E393-FF925BBB99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E59E3E4E-C014-1C8A-AD0A-10408D48D3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63A0F51-EBB7-551A-C570-E204E374C76E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246A66-877F-34A6-3CD4-61DD480F94CA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136CDBE-5614-CF81-00BD-E0059FC15462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421D25-D9CD-337D-8BFE-78D6C4E104CC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</a:rPr>
                    <a:t>0.1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E22C54-8DD8-9E05-0EE6-BA436E40846B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84207A-060C-5F85-EA5F-66014D974F4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</a:rPr>
                    <a:t>0.8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3831D40-D229-3A2C-D148-8602DC21FA1E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5F4AE33-6BFD-9CA6-C285-2645C8047834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0.3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DB2AFCE-D9F0-D078-F1C7-CFD69C770801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0.9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ECC2B81-50E4-D77E-182A-57174887C73A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AF47591-E35D-E1B1-013C-8A3FC15E55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BB6F31DA-35EB-D315-865B-27E75B565D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CEC83D8C-D0C3-2CCC-796E-C351C12394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46A1CD05-B3E5-5043-1F28-B23B9FA0F4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8A715FDD-853F-9DBE-9B26-3FB95CC0FF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D4E50E7-6857-A3D0-35EE-421841A9EFCE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AF3024C-2451-6CAC-3A8D-76F8044C5038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ED3B171F-1AF4-E699-BCC3-477EBC6B9201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133B39F-171A-77B2-AF61-885C4BB17191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820173B-7231-F5A6-0529-81603DD48520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6BD2417-A491-8F52-F770-536BFA333929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70365358-0956-0040-95A8-435218C978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3EC6021-2F8A-904B-85D2-2B459B8A5B78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361E5038-522C-39F2-FF36-BE24AE40B3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1F1FAF7-B37F-927E-6630-53B78C60B63D}"/>
                  </a:ext>
                </a:extLst>
              </p:cNvPr>
              <p:cNvSpPr txBox="1"/>
              <p:nvPr/>
            </p:nvSpPr>
            <p:spPr>
              <a:xfrm>
                <a:off x="5677751" y="1915831"/>
                <a:ext cx="44743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0.35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×0.1+0.9×0.8=0.755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1F1FAF7-B37F-927E-6630-53B78C60B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751" y="1915831"/>
                <a:ext cx="4474366" cy="369332"/>
              </a:xfrm>
              <a:prstGeom prst="rect">
                <a:avLst/>
              </a:prstGeom>
              <a:blipFill>
                <a:blip r:embed="rId15"/>
                <a:stretch>
                  <a:fillRect l="-1226" r="-1499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0457E16-A4CE-733D-D2C1-E08AAE895493}"/>
                  </a:ext>
                </a:extLst>
              </p:cNvPr>
              <p:cNvSpPr txBox="1"/>
              <p:nvPr/>
            </p:nvSpPr>
            <p:spPr>
              <a:xfrm>
                <a:off x="5677750" y="2295751"/>
                <a:ext cx="4772204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0.765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−0.755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0.68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0457E16-A4CE-733D-D2C1-E08AAE895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750" y="2295751"/>
                <a:ext cx="4772204" cy="7000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F0131E16-37FF-45A3-9255-8A351974B192}"/>
              </a:ext>
            </a:extLst>
          </p:cNvPr>
          <p:cNvSpPr txBox="1"/>
          <p:nvPr/>
        </p:nvSpPr>
        <p:spPr>
          <a:xfrm>
            <a:off x="3583861" y="430223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800CCEA-5115-3600-8C0A-B7D30D2D0045}"/>
                  </a:ext>
                </a:extLst>
              </p:cNvPr>
              <p:cNvSpPr txBox="1"/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800CCEA-5115-3600-8C0A-B7D30D2D0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blipFill>
                <a:blip r:embed="rId17"/>
                <a:stretch>
                  <a:fillRect l="-1257" t="-1379" r="-359" b="-41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581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B389-789D-891D-47B2-AAD11C32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and 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C8F6F2-33B0-C289-E413-FD57B05B1F1D}"/>
                  </a:ext>
                </a:extLst>
              </p:cNvPr>
              <p:cNvSpPr txBox="1"/>
              <p:nvPr/>
            </p:nvSpPr>
            <p:spPr>
              <a:xfrm>
                <a:off x="370986" y="1514453"/>
                <a:ext cx="4943982" cy="20928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[0.35, 0.9]</a:t>
                </a: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output: [</a:t>
                </a:r>
                <a:r>
                  <a:rPr lang="en-US" sz="2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0.5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function: Sigmoid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Error function: mean-squared-error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C8F6F2-33B0-C289-E413-FD57B05B1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86" y="1514453"/>
                <a:ext cx="4943982" cy="2092881"/>
              </a:xfrm>
              <a:prstGeom prst="rect">
                <a:avLst/>
              </a:prstGeom>
              <a:blipFill>
                <a:blip r:embed="rId2"/>
                <a:stretch>
                  <a:fillRect l="-1973" t="-2035" r="-1110" b="-58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530D556-F22D-BC0C-6622-EBB5135C74E2}"/>
              </a:ext>
            </a:extLst>
          </p:cNvPr>
          <p:cNvGrpSpPr/>
          <p:nvPr/>
        </p:nvGrpSpPr>
        <p:grpSpPr>
          <a:xfrm>
            <a:off x="226631" y="3493865"/>
            <a:ext cx="7155958" cy="2525613"/>
            <a:chOff x="786855" y="2906008"/>
            <a:chExt cx="7155958" cy="252561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41ED0FA-BDFE-2AB5-26ED-E5DBE469420B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A7F83CE-EB8B-CCC4-EB5D-DC735532B0BE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CDC15144-3F91-42BF-F384-E70358994720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573EA3FD-54B7-2079-5F8D-180A46B49939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1F416AB-03F2-13F5-88E1-7BEA894E37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842391C-7534-DD35-392B-E8F8F09F93C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6" name="Group 35">
                          <a:extLst>
                            <a:ext uri="{FF2B5EF4-FFF2-40B4-BE49-F238E27FC236}">
                              <a16:creationId xmlns:a16="http://schemas.microsoft.com/office/drawing/2014/main" id="{F4BF5837-BC79-DAC5-9262-7452031297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39" name="Group 38">
                            <a:extLst>
                              <a:ext uri="{FF2B5EF4-FFF2-40B4-BE49-F238E27FC236}">
                                <a16:creationId xmlns:a16="http://schemas.microsoft.com/office/drawing/2014/main" id="{8FBD74CA-2625-C380-AF86-12D8A78524F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6" name="Group 45">
                              <a:extLst>
                                <a:ext uri="{FF2B5EF4-FFF2-40B4-BE49-F238E27FC236}">
                                  <a16:creationId xmlns:a16="http://schemas.microsoft.com/office/drawing/2014/main" id="{17481B7A-C5D1-5AD3-7418-77C7899FB00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48" name="Group 47">
                                <a:extLst>
                                  <a:ext uri="{FF2B5EF4-FFF2-40B4-BE49-F238E27FC236}">
                                    <a16:creationId xmlns:a16="http://schemas.microsoft.com/office/drawing/2014/main" id="{2225189F-E562-955D-0CC9-05C9C8352E4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0" name="Oval 49">
                                  <a:extLst>
                                    <a:ext uri="{FF2B5EF4-FFF2-40B4-BE49-F238E27FC236}">
                                      <a16:creationId xmlns:a16="http://schemas.microsoft.com/office/drawing/2014/main" id="{A20BF68B-C5B4-62FD-0485-E46B2652067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1" name="Oval 50">
                                  <a:extLst>
                                    <a:ext uri="{FF2B5EF4-FFF2-40B4-BE49-F238E27FC236}">
                                      <a16:creationId xmlns:a16="http://schemas.microsoft.com/office/drawing/2014/main" id="{DDD11421-651F-D193-2C6B-E6CEC362344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2" name="Oval 51">
                                  <a:extLst>
                                    <a:ext uri="{FF2B5EF4-FFF2-40B4-BE49-F238E27FC236}">
                                      <a16:creationId xmlns:a16="http://schemas.microsoft.com/office/drawing/2014/main" id="{102B1574-2273-10BA-9C83-76699C856D2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49" name="Oval 48">
                                <a:extLst>
                                  <a:ext uri="{FF2B5EF4-FFF2-40B4-BE49-F238E27FC236}">
                                    <a16:creationId xmlns:a16="http://schemas.microsoft.com/office/drawing/2014/main" id="{37205F62-BDF5-6546-0A9D-31A783E76F2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47" name="Oval 46">
                              <a:extLst>
                                <a:ext uri="{FF2B5EF4-FFF2-40B4-BE49-F238E27FC236}">
                                  <a16:creationId xmlns:a16="http://schemas.microsoft.com/office/drawing/2014/main" id="{55AE210A-A446-7645-497E-CD3835F45DF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0" name="Straight Arrow Connector 39">
                            <a:extLst>
                              <a:ext uri="{FF2B5EF4-FFF2-40B4-BE49-F238E27FC236}">
                                <a16:creationId xmlns:a16="http://schemas.microsoft.com/office/drawing/2014/main" id="{FF850162-C860-9004-4042-32FD87C8732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1" name="Straight Arrow Connector 40">
                            <a:extLst>
                              <a:ext uri="{FF2B5EF4-FFF2-40B4-BE49-F238E27FC236}">
                                <a16:creationId xmlns:a16="http://schemas.microsoft.com/office/drawing/2014/main" id="{E58FFCF2-B465-8683-F046-BE0DD051694B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51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2" name="Straight Arrow Connector 41">
                            <a:extLst>
                              <a:ext uri="{FF2B5EF4-FFF2-40B4-BE49-F238E27FC236}">
                                <a16:creationId xmlns:a16="http://schemas.microsoft.com/office/drawing/2014/main" id="{A716DCE8-2A5E-EB0F-C368-11563A8F3A67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C68E356B-1373-758B-2376-C316CF894BF4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1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4E20BA4D-7B69-4358-1761-8078240F1AEC}"/>
                              </a:ext>
                            </a:extLst>
                          </p:cNvPr>
                          <p:cNvCxnSpPr>
                            <a:cxnSpLocks/>
                            <a:stCxn id="50" idx="6"/>
                            <a:endCxn id="47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884AF0EC-F193-086E-0F21-1DD46A9CFCD1}"/>
                              </a:ext>
                            </a:extLst>
                          </p:cNvPr>
                          <p:cNvCxnSpPr>
                            <a:cxnSpLocks/>
                            <a:stCxn id="51" idx="6"/>
                            <a:endCxn id="47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5884F0D1-9D3B-C43A-6E12-4C184604829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38" name="TextBox 37">
                          <a:extLst>
                            <a:ext uri="{FF2B5EF4-FFF2-40B4-BE49-F238E27FC236}">
                              <a16:creationId xmlns:a16="http://schemas.microsoft.com/office/drawing/2014/main" id="{C4104B79-347B-95A6-BC40-2BAAB5866E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7906D135-CB93-735D-C0D7-21133AC5DCD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5" name="TextBox 34">
                        <a:extLst>
                          <a:ext uri="{FF2B5EF4-FFF2-40B4-BE49-F238E27FC236}">
                            <a16:creationId xmlns:a16="http://schemas.microsoft.com/office/drawing/2014/main" id="{EC328E87-0776-DC5A-E393-FF925BBB99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E59E3E4E-C014-1C8A-AD0A-10408D48D3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63A0F51-EBB7-551A-C570-E204E374C76E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246A66-877F-34A6-3CD4-61DD480F94CA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136CDBE-5614-CF81-00BD-E0059FC15462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421D25-D9CD-337D-8BFE-78D6C4E104CC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0.1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E22C54-8DD8-9E05-0EE6-BA436E40846B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984207A-060C-5F85-EA5F-66014D974F4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3831D40-D229-3A2C-D148-8602DC21FA1E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5F4AE33-6BFD-9CA6-C285-2645C8047834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0.3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DB2AFCE-D9F0-D078-F1C7-CFD69C770801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0.9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ECC2B81-50E4-D77E-182A-57174887C73A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AF47591-E35D-E1B1-013C-8A3FC15E55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BB6F31DA-35EB-D315-865B-27E75B565D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CEC83D8C-D0C3-2CCC-796E-C351C12394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46A1CD05-B3E5-5043-1F28-B23B9FA0F4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8A715FDD-853F-9DBE-9B26-3FB95CC0FF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D4E50E7-6857-A3D0-35EE-421841A9EFCE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AF3024C-2451-6CAC-3A8D-76F8044C5038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ED3B171F-1AF4-E699-BCC3-477EBC6B9201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133B39F-171A-77B2-AF61-885C4BB17191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820173B-7231-F5A6-0529-81603DD48520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6BD2417-A491-8F52-F770-536BFA333929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70365358-0956-0040-95A8-435218C978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3EC6021-2F8A-904B-85D2-2B459B8A5B78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361E5038-522C-39F2-FF36-BE24AE40B3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75EBCFA-EA65-FEC4-A8D3-82E5FEFA73A5}"/>
                  </a:ext>
                </a:extLst>
              </p:cNvPr>
              <p:cNvSpPr txBox="1"/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75EBCFA-EA65-FEC4-A8D3-82E5FEFA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blipFill>
                <a:blip r:embed="rId15"/>
                <a:stretch>
                  <a:fillRect l="-1257" t="-1379" r="-359" b="-41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F0131E16-37FF-45A3-9255-8A351974B192}"/>
              </a:ext>
            </a:extLst>
          </p:cNvPr>
          <p:cNvSpPr txBox="1"/>
          <p:nvPr/>
        </p:nvSpPr>
        <p:spPr>
          <a:xfrm>
            <a:off x="3583861" y="430223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B06E75-0863-A8E2-27FE-705E7CA775DD}"/>
              </a:ext>
            </a:extLst>
          </p:cNvPr>
          <p:cNvSpPr txBox="1"/>
          <p:nvPr/>
        </p:nvSpPr>
        <p:spPr>
          <a:xfrm>
            <a:off x="4900004" y="1080197"/>
            <a:ext cx="4692365" cy="1200329"/>
          </a:xfrm>
          <a:prstGeom prst="rect">
            <a:avLst/>
          </a:prstGeom>
          <a:noFill/>
          <a:ln>
            <a:solidFill>
              <a:srgbClr val="00356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Note: here, half-mean-squared-error loss function is used.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 1/2 is included so that exponent is cancelled when it is differentiated later.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1488DE-CEFB-C9A0-DEBE-7E0727AC8F50}"/>
              </a:ext>
            </a:extLst>
          </p:cNvPr>
          <p:cNvSpPr txBox="1"/>
          <p:nvPr/>
        </p:nvSpPr>
        <p:spPr>
          <a:xfrm>
            <a:off x="3471716" y="544790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7F97EB5-5E2C-41C7-D9F4-6DF616FD68DA}"/>
              </a:ext>
            </a:extLst>
          </p:cNvPr>
          <p:cNvSpPr txBox="1"/>
          <p:nvPr/>
        </p:nvSpPr>
        <p:spPr>
          <a:xfrm>
            <a:off x="5774712" y="497564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66568E0-900A-3D8B-404B-B73352DED1A0}"/>
                  </a:ext>
                </a:extLst>
              </p:cNvPr>
              <p:cNvSpPr txBox="1"/>
              <p:nvPr/>
            </p:nvSpPr>
            <p:spPr>
              <a:xfrm>
                <a:off x="4900004" y="2604693"/>
                <a:ext cx="3772508" cy="36933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How to update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get lower loss?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66568E0-900A-3D8B-404B-B73352DED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004" y="2604693"/>
                <a:ext cx="3772508" cy="369332"/>
              </a:xfrm>
              <a:prstGeom prst="rect">
                <a:avLst/>
              </a:prstGeom>
              <a:blipFill>
                <a:blip r:embed="rId16"/>
                <a:stretch>
                  <a:fillRect l="-1288" t="-6349" r="-483" b="-2222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5F3587A4-F3B4-B1A5-EDF4-D4DC7186B293}"/>
              </a:ext>
            </a:extLst>
          </p:cNvPr>
          <p:cNvSpPr txBox="1"/>
          <p:nvPr/>
        </p:nvSpPr>
        <p:spPr>
          <a:xfrm>
            <a:off x="6666835" y="3033893"/>
            <a:ext cx="200567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descent.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01BE134-284B-0C62-829A-47CAA27AFD57}"/>
                  </a:ext>
                </a:extLst>
              </p:cNvPr>
              <p:cNvSpPr txBox="1"/>
              <p:nvPr/>
            </p:nvSpPr>
            <p:spPr>
              <a:xfrm>
                <a:off x="1515953" y="6114390"/>
                <a:ext cx="6444328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target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(0.69−0.5)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=0.01805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01BE134-284B-0C62-829A-47CAA27AF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953" y="6114390"/>
                <a:ext cx="6444328" cy="69147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14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60" grpId="0" animBg="1"/>
      <p:bldP spid="61" grpId="0" animBg="1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917A6-4B40-C8AC-4ED1-C8ACF644D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descent algorithm</a:t>
            </a:r>
            <a:br>
              <a:rPr lang="en-GB" dirty="0"/>
            </a:b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C70A203-07E4-6AB7-01F1-6563D5D8FE04}"/>
              </a:ext>
            </a:extLst>
          </p:cNvPr>
          <p:cNvGrpSpPr/>
          <p:nvPr/>
        </p:nvGrpSpPr>
        <p:grpSpPr>
          <a:xfrm>
            <a:off x="3067878" y="1422400"/>
            <a:ext cx="6056244" cy="4114800"/>
            <a:chOff x="1328529" y="983409"/>
            <a:chExt cx="6056244" cy="4114800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87339A9A-91E6-0A36-31AA-5E140C9D86F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55" b="3454"/>
            <a:stretch/>
          </p:blipFill>
          <p:spPr bwMode="auto">
            <a:xfrm>
              <a:off x="1328529" y="983409"/>
              <a:ext cx="6056244" cy="411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Freeform: Shape 1">
              <a:extLst>
                <a:ext uri="{FF2B5EF4-FFF2-40B4-BE49-F238E27FC236}">
                  <a16:creationId xmlns:a16="http://schemas.microsoft.com/office/drawing/2014/main" id="{F33C6F93-2666-3C0A-ED61-E72649223EC8}"/>
                </a:ext>
              </a:extLst>
            </p:cNvPr>
            <p:cNvSpPr/>
            <p:nvPr/>
          </p:nvSpPr>
          <p:spPr>
            <a:xfrm>
              <a:off x="4154557" y="1908313"/>
              <a:ext cx="1347068" cy="1620078"/>
            </a:xfrm>
            <a:custGeom>
              <a:avLst/>
              <a:gdLst>
                <a:gd name="connsiteX0" fmla="*/ 805069 w 1347068"/>
                <a:gd name="connsiteY0" fmla="*/ 0 h 1620078"/>
                <a:gd name="connsiteX1" fmla="*/ 1331843 w 1347068"/>
                <a:gd name="connsiteY1" fmla="*/ 874644 h 1620078"/>
                <a:gd name="connsiteX2" fmla="*/ 278296 w 1347068"/>
                <a:gd name="connsiteY2" fmla="*/ 1381539 h 1620078"/>
                <a:gd name="connsiteX3" fmla="*/ 0 w 1347068"/>
                <a:gd name="connsiteY3" fmla="*/ 1620078 h 1620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7068" h="1620078">
                  <a:moveTo>
                    <a:pt x="805069" y="0"/>
                  </a:moveTo>
                  <a:cubicBezTo>
                    <a:pt x="1112354" y="322193"/>
                    <a:pt x="1419639" y="644387"/>
                    <a:pt x="1331843" y="874644"/>
                  </a:cubicBezTo>
                  <a:cubicBezTo>
                    <a:pt x="1244047" y="1104901"/>
                    <a:pt x="500270" y="1257300"/>
                    <a:pt x="278296" y="1381539"/>
                  </a:cubicBezTo>
                  <a:cubicBezTo>
                    <a:pt x="56322" y="1505778"/>
                    <a:pt x="36444" y="1603513"/>
                    <a:pt x="0" y="1620078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0F265C-BC75-5E05-F689-50B8886FE817}"/>
                  </a:ext>
                </a:extLst>
              </p:cNvPr>
              <p:cNvSpPr txBox="1"/>
              <p:nvPr/>
            </p:nvSpPr>
            <p:spPr>
              <a:xfrm>
                <a:off x="676134" y="5330081"/>
                <a:ext cx="11274566" cy="1527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(Fastest) descent direction is the negative of the gradient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Step-by-step toward minimum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step size is affected by the learning rate. Simplest case: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=(−)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0F265C-BC75-5E05-F689-50B8886FE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34" y="5330081"/>
                <a:ext cx="11274566" cy="1527919"/>
              </a:xfrm>
              <a:prstGeom prst="rect">
                <a:avLst/>
              </a:prstGeom>
              <a:blipFill>
                <a:blip r:embed="rId3"/>
                <a:stretch>
                  <a:fillRect l="-757" t="-2789" b="-2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59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2DE2-7156-08CB-7480-06174F47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Backward propagation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/>
              <p:nvPr/>
            </p:nvSpPr>
            <p:spPr>
              <a:xfrm>
                <a:off x="348440" y="1643896"/>
                <a:ext cx="4943982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[0.35, 0.9]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output: [0.5]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function: Sigmoid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Error function: mean-squared-error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40" y="1643896"/>
                <a:ext cx="4943982" cy="2246769"/>
              </a:xfrm>
              <a:prstGeom prst="rect">
                <a:avLst/>
              </a:prstGeom>
              <a:blipFill>
                <a:blip r:embed="rId2"/>
                <a:stretch>
                  <a:fillRect l="-1850" t="-1902" r="-1233" b="-57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1FF12B-4765-2EAF-A616-D6CA91F712A8}"/>
                  </a:ext>
                </a:extLst>
              </p:cNvPr>
              <p:cNvSpPr txBox="1"/>
              <p:nvPr/>
            </p:nvSpPr>
            <p:spPr>
              <a:xfrm>
                <a:off x="7248807" y="3086523"/>
                <a:ext cx="3322704" cy="7650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𝑖𝑜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𝑖𝑜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1FF12B-4765-2EAF-A616-D6CA91F71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807" y="3086523"/>
                <a:ext cx="3322704" cy="765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6DDC2E-A7FA-67C6-8A36-8660EBD9B3EC}"/>
                  </a:ext>
                </a:extLst>
              </p:cNvPr>
              <p:cNvSpPr txBox="1"/>
              <p:nvPr/>
            </p:nvSpPr>
            <p:spPr>
              <a:xfrm>
                <a:off x="5263099" y="2197161"/>
                <a:ext cx="6835717" cy="15081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should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(at the output layer) be updated?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much a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affects the total error?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By chain rule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6DDC2E-A7FA-67C6-8A36-8660EBD9B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099" y="2197161"/>
                <a:ext cx="6835717" cy="1508105"/>
              </a:xfrm>
              <a:prstGeom prst="rect">
                <a:avLst/>
              </a:prstGeom>
              <a:blipFill>
                <a:blip r:embed="rId4"/>
                <a:stretch>
                  <a:fillRect l="-1337" t="-2823" r="-446" b="-84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2906110-1DD2-159A-740A-0F6381AF7321}"/>
              </a:ext>
            </a:extLst>
          </p:cNvPr>
          <p:cNvGrpSpPr/>
          <p:nvPr/>
        </p:nvGrpSpPr>
        <p:grpSpPr>
          <a:xfrm>
            <a:off x="531431" y="3993459"/>
            <a:ext cx="7155958" cy="2525613"/>
            <a:chOff x="786855" y="2906008"/>
            <a:chExt cx="7155958" cy="252561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5B63916-D97B-E685-6308-AF6387FC2855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B056C9-316C-F355-CD67-020092F80C1D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5C7F4311-CE72-F89D-AA68-0D96DFF7BAB2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C86B81E1-0ADC-1BBC-FFD8-397E6909CC44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E26190D5-A4E5-CD96-AAA3-54F9D02280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9004AB82-CE15-1852-BAD2-71596238CB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9" name="Group 38">
                          <a:extLst>
                            <a:ext uri="{FF2B5EF4-FFF2-40B4-BE49-F238E27FC236}">
                              <a16:creationId xmlns:a16="http://schemas.microsoft.com/office/drawing/2014/main" id="{09BAAB72-2AAA-C0CC-4A18-52C5E6610D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42" name="Group 41">
                            <a:extLst>
                              <a:ext uri="{FF2B5EF4-FFF2-40B4-BE49-F238E27FC236}">
                                <a16:creationId xmlns:a16="http://schemas.microsoft.com/office/drawing/2014/main" id="{795C9ACB-B9AC-AD6E-12DA-84173E9F5E9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9" name="Group 48">
                              <a:extLst>
                                <a:ext uri="{FF2B5EF4-FFF2-40B4-BE49-F238E27FC236}">
                                  <a16:creationId xmlns:a16="http://schemas.microsoft.com/office/drawing/2014/main" id="{A677245A-9E7A-420A-E585-156F0830BDF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51" name="Group 50">
                                <a:extLst>
                                  <a:ext uri="{FF2B5EF4-FFF2-40B4-BE49-F238E27FC236}">
                                    <a16:creationId xmlns:a16="http://schemas.microsoft.com/office/drawing/2014/main" id="{90050741-20CD-6B90-332C-D0D53CC78C6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3" name="Oval 52">
                                  <a:extLst>
                                    <a:ext uri="{FF2B5EF4-FFF2-40B4-BE49-F238E27FC236}">
                                      <a16:creationId xmlns:a16="http://schemas.microsoft.com/office/drawing/2014/main" id="{C9DB2A01-7379-86C9-E5DB-507635FFB87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4" name="Oval 53">
                                  <a:extLst>
                                    <a:ext uri="{FF2B5EF4-FFF2-40B4-BE49-F238E27FC236}">
                                      <a16:creationId xmlns:a16="http://schemas.microsoft.com/office/drawing/2014/main" id="{77E8464D-3657-3005-B3A7-89614D382B7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5" name="Oval 54">
                                  <a:extLst>
                                    <a:ext uri="{FF2B5EF4-FFF2-40B4-BE49-F238E27FC236}">
                                      <a16:creationId xmlns:a16="http://schemas.microsoft.com/office/drawing/2014/main" id="{6A012A76-4723-73A6-8404-6B6FADD71D4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52" name="Oval 51">
                                <a:extLst>
                                  <a:ext uri="{FF2B5EF4-FFF2-40B4-BE49-F238E27FC236}">
                                    <a16:creationId xmlns:a16="http://schemas.microsoft.com/office/drawing/2014/main" id="{7CBAD740-422A-9590-E2F3-E21BBA9A389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50" name="Oval 49">
                              <a:extLst>
                                <a:ext uri="{FF2B5EF4-FFF2-40B4-BE49-F238E27FC236}">
                                  <a16:creationId xmlns:a16="http://schemas.microsoft.com/office/drawing/2014/main" id="{8214293F-F2DE-8E39-BEED-B33E90CCD7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30FD875A-434B-D79F-FA7E-22DEEE23FF51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3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696BF4B1-373D-50E9-A35D-1C8204132C16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4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0F4E7FD5-433E-CD02-1249-50BA21460554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3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6" name="Straight Arrow Connector 45">
                            <a:extLst>
                              <a:ext uri="{FF2B5EF4-FFF2-40B4-BE49-F238E27FC236}">
                                <a16:creationId xmlns:a16="http://schemas.microsoft.com/office/drawing/2014/main" id="{4091A1A4-889E-F578-0E46-E2BF5EBF4F6D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4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7" name="Straight Arrow Connector 46">
                            <a:extLst>
                              <a:ext uri="{FF2B5EF4-FFF2-40B4-BE49-F238E27FC236}">
                                <a16:creationId xmlns:a16="http://schemas.microsoft.com/office/drawing/2014/main" id="{DD86EA81-9CDA-8498-6F1A-83EEA6EB00C6}"/>
                              </a:ext>
                            </a:extLst>
                          </p:cNvPr>
                          <p:cNvCxnSpPr>
                            <a:cxnSpLocks/>
                            <a:stCxn id="53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8" name="Straight Arrow Connector 47">
                            <a:extLst>
                              <a:ext uri="{FF2B5EF4-FFF2-40B4-BE49-F238E27FC236}">
                                <a16:creationId xmlns:a16="http://schemas.microsoft.com/office/drawing/2014/main" id="{7AEDB457-28CC-2ABB-2C28-9EFEDE70B511}"/>
                              </a:ext>
                            </a:extLst>
                          </p:cNvPr>
                          <p:cNvCxnSpPr>
                            <a:cxnSpLocks/>
                            <a:stCxn id="54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40" name="TextBox 39">
                          <a:extLst>
                            <a:ext uri="{FF2B5EF4-FFF2-40B4-BE49-F238E27FC236}">
                              <a16:creationId xmlns:a16="http://schemas.microsoft.com/office/drawing/2014/main" id="{5DAC70BD-41DC-3021-BCFB-79E4F80BB12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C0243EB9-5D33-7270-2ACA-5A00404F82B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E61C35C7-1970-A355-E3C1-8749D5DE38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AE22A612-5BD8-EFD9-77E8-C5C257AAB5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82940DAB-1D8E-FED2-0F85-1514BC1DF0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2E27B718-48ED-1CFB-EEE5-E5FAB9B9288B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02175C9-A615-E3E2-A88A-1CEBA5F48464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2AF6C5-2ED9-F62A-63DA-5C0EAF8AEBCC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BEF3632-2EB4-C5EF-4043-6E1F8209C564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0.1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334F02A-8B07-D0DF-4C79-830F08A2BD80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1D8FF6-CDFD-5603-4EEB-BD149734A4B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6DD052D-9BE4-396D-5CAE-2CE07D16A627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6E0F6F-DB75-A4EF-3D8C-672D01948E38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0.3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122313B-436A-1EE9-DD82-0B82985089D8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0.9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54E99CE-300B-40EA-7726-D0EB4058D2A3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E66A0BBA-BE6C-2821-6576-C4BF8A59BD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AB1FC8C-9F70-FE52-ADED-3994CA3A87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983AC18-336F-D644-EDD5-243B8B5823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2B442F44-7AB4-3B32-19B0-8B2A71A1C4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0ADD7F85-6168-1013-7994-4A9CEA8696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FA9A71-DDBB-CAF3-3FFA-75A9B8AC69AF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82E9CD15-0474-A3BE-FF2B-E47413BC30B2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14557F5-81CB-E77B-3814-836DFCBD01BC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E24A9BB-22C7-4052-BD99-DD1C4D05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5A57B0F-8D86-1BBC-545C-D4120BACF007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361E5038-522C-39F2-FF36-BE24AE40B3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4CE71A9-FFAD-BF16-9886-3735F24D1E2F}"/>
              </a:ext>
            </a:extLst>
          </p:cNvPr>
          <p:cNvSpPr txBox="1"/>
          <p:nvPr/>
        </p:nvSpPr>
        <p:spPr>
          <a:xfrm>
            <a:off x="3888661" y="480182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B91082-6E9A-B8B5-8D87-3E09315F5F38}"/>
              </a:ext>
            </a:extLst>
          </p:cNvPr>
          <p:cNvSpPr txBox="1"/>
          <p:nvPr/>
        </p:nvSpPr>
        <p:spPr>
          <a:xfrm>
            <a:off x="3776516" y="594750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0.6637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F81DDB-2825-060F-6CF4-8132377ABC94}"/>
              </a:ext>
            </a:extLst>
          </p:cNvPr>
          <p:cNvSpPr txBox="1"/>
          <p:nvPr/>
        </p:nvSpPr>
        <p:spPr>
          <a:xfrm>
            <a:off x="6079512" y="547524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3C4E8B6-6AA9-0940-73C2-1580D05B29B3}"/>
                  </a:ext>
                </a:extLst>
              </p:cNvPr>
              <p:cNvSpPr txBox="1"/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3C4E8B6-6AA9-0940-73C2-1580D05B2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blipFill>
                <a:blip r:embed="rId16"/>
                <a:stretch>
                  <a:fillRect l="-1257" t="-1379" r="-359" b="-41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322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2DE2-7156-08CB-7480-06174F47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Backward propagation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/>
              <p:nvPr/>
            </p:nvSpPr>
            <p:spPr>
              <a:xfrm>
                <a:off x="348440" y="1643896"/>
                <a:ext cx="4943982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[0.35, 0.9]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output: [0.5]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function: Sigmoid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Error function: mean-squared-error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40" y="1643896"/>
                <a:ext cx="4943982" cy="2246769"/>
              </a:xfrm>
              <a:prstGeom prst="rect">
                <a:avLst/>
              </a:prstGeom>
              <a:blipFill>
                <a:blip r:embed="rId2"/>
                <a:stretch>
                  <a:fillRect l="-1850" t="-1902" r="-1233" b="-57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2906110-1DD2-159A-740A-0F6381AF7321}"/>
              </a:ext>
            </a:extLst>
          </p:cNvPr>
          <p:cNvGrpSpPr/>
          <p:nvPr/>
        </p:nvGrpSpPr>
        <p:grpSpPr>
          <a:xfrm>
            <a:off x="531431" y="3993459"/>
            <a:ext cx="7155958" cy="2525613"/>
            <a:chOff x="786855" y="2906008"/>
            <a:chExt cx="7155958" cy="252561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5B63916-D97B-E685-6308-AF6387FC2855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B056C9-316C-F355-CD67-020092F80C1D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5C7F4311-CE72-F89D-AA68-0D96DFF7BAB2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C86B81E1-0ADC-1BBC-FFD8-397E6909CC44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E26190D5-A4E5-CD96-AAA3-54F9D02280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9004AB82-CE15-1852-BAD2-71596238CB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9" name="Group 38">
                          <a:extLst>
                            <a:ext uri="{FF2B5EF4-FFF2-40B4-BE49-F238E27FC236}">
                              <a16:creationId xmlns:a16="http://schemas.microsoft.com/office/drawing/2014/main" id="{09BAAB72-2AAA-C0CC-4A18-52C5E6610D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42" name="Group 41">
                            <a:extLst>
                              <a:ext uri="{FF2B5EF4-FFF2-40B4-BE49-F238E27FC236}">
                                <a16:creationId xmlns:a16="http://schemas.microsoft.com/office/drawing/2014/main" id="{795C9ACB-B9AC-AD6E-12DA-84173E9F5E9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9" name="Group 48">
                              <a:extLst>
                                <a:ext uri="{FF2B5EF4-FFF2-40B4-BE49-F238E27FC236}">
                                  <a16:creationId xmlns:a16="http://schemas.microsoft.com/office/drawing/2014/main" id="{A677245A-9E7A-420A-E585-156F0830BDF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51" name="Group 50">
                                <a:extLst>
                                  <a:ext uri="{FF2B5EF4-FFF2-40B4-BE49-F238E27FC236}">
                                    <a16:creationId xmlns:a16="http://schemas.microsoft.com/office/drawing/2014/main" id="{90050741-20CD-6B90-332C-D0D53CC78C6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3" name="Oval 52">
                                  <a:extLst>
                                    <a:ext uri="{FF2B5EF4-FFF2-40B4-BE49-F238E27FC236}">
                                      <a16:creationId xmlns:a16="http://schemas.microsoft.com/office/drawing/2014/main" id="{C9DB2A01-7379-86C9-E5DB-507635FFB87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4" name="Oval 53">
                                  <a:extLst>
                                    <a:ext uri="{FF2B5EF4-FFF2-40B4-BE49-F238E27FC236}">
                                      <a16:creationId xmlns:a16="http://schemas.microsoft.com/office/drawing/2014/main" id="{77E8464D-3657-3005-B3A7-89614D382B7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5" name="Oval 54">
                                  <a:extLst>
                                    <a:ext uri="{FF2B5EF4-FFF2-40B4-BE49-F238E27FC236}">
                                      <a16:creationId xmlns:a16="http://schemas.microsoft.com/office/drawing/2014/main" id="{6A012A76-4723-73A6-8404-6B6FADD71D4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52" name="Oval 51">
                                <a:extLst>
                                  <a:ext uri="{FF2B5EF4-FFF2-40B4-BE49-F238E27FC236}">
                                    <a16:creationId xmlns:a16="http://schemas.microsoft.com/office/drawing/2014/main" id="{7CBAD740-422A-9590-E2F3-E21BBA9A389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50" name="Oval 49">
                              <a:extLst>
                                <a:ext uri="{FF2B5EF4-FFF2-40B4-BE49-F238E27FC236}">
                                  <a16:creationId xmlns:a16="http://schemas.microsoft.com/office/drawing/2014/main" id="{8214293F-F2DE-8E39-BEED-B33E90CCD7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30FD875A-434B-D79F-FA7E-22DEEE23FF51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3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696BF4B1-373D-50E9-A35D-1C8204132C16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4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0F4E7FD5-433E-CD02-1249-50BA21460554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3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6" name="Straight Arrow Connector 45">
                            <a:extLst>
                              <a:ext uri="{FF2B5EF4-FFF2-40B4-BE49-F238E27FC236}">
                                <a16:creationId xmlns:a16="http://schemas.microsoft.com/office/drawing/2014/main" id="{4091A1A4-889E-F578-0E46-E2BF5EBF4F6D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4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7" name="Straight Arrow Connector 46">
                            <a:extLst>
                              <a:ext uri="{FF2B5EF4-FFF2-40B4-BE49-F238E27FC236}">
                                <a16:creationId xmlns:a16="http://schemas.microsoft.com/office/drawing/2014/main" id="{DD86EA81-9CDA-8498-6F1A-83EEA6EB00C6}"/>
                              </a:ext>
                            </a:extLst>
                          </p:cNvPr>
                          <p:cNvCxnSpPr>
                            <a:cxnSpLocks/>
                            <a:stCxn id="53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8" name="Straight Arrow Connector 47">
                            <a:extLst>
                              <a:ext uri="{FF2B5EF4-FFF2-40B4-BE49-F238E27FC236}">
                                <a16:creationId xmlns:a16="http://schemas.microsoft.com/office/drawing/2014/main" id="{7AEDB457-28CC-2ABB-2C28-9EFEDE70B511}"/>
                              </a:ext>
                            </a:extLst>
                          </p:cNvPr>
                          <p:cNvCxnSpPr>
                            <a:cxnSpLocks/>
                            <a:stCxn id="54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40" name="TextBox 39">
                          <a:extLst>
                            <a:ext uri="{FF2B5EF4-FFF2-40B4-BE49-F238E27FC236}">
                              <a16:creationId xmlns:a16="http://schemas.microsoft.com/office/drawing/2014/main" id="{5DAC70BD-41DC-3021-BCFB-79E4F80BB12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C0243EB9-5D33-7270-2ACA-5A00404F82B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E61C35C7-1970-A355-E3C1-8749D5DE38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AE22A612-5BD8-EFD9-77E8-C5C257AAB5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82940DAB-1D8E-FED2-0F85-1514BC1DF0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2E27B718-48ED-1CFB-EEE5-E5FAB9B9288B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02175C9-A615-E3E2-A88A-1CEBA5F48464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2AF6C5-2ED9-F62A-63DA-5C0EAF8AEBCC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BEF3632-2EB4-C5EF-4043-6E1F8209C564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0.1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334F02A-8B07-D0DF-4C79-830F08A2BD80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1D8FF6-CDFD-5603-4EEB-BD149734A4B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6DD052D-9BE4-396D-5CAE-2CE07D16A627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6E0F6F-DB75-A4EF-3D8C-672D01948E38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0.2724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122313B-436A-1EE9-DD82-0B82985089D8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0.9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54E99CE-300B-40EA-7726-D0EB4058D2A3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E66A0BBA-BE6C-2821-6576-C4BF8A59BD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AB1FC8C-9F70-FE52-ADED-3994CA3A87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983AC18-336F-D644-EDD5-243B8B5823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2B442F44-7AB4-3B32-19B0-8B2A71A1C4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0ADD7F85-6168-1013-7994-4A9CEA8696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FA9A71-DDBB-CAF3-3FFA-75A9B8AC69AF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82E9CD15-0474-A3BE-FF2B-E47413BC30B2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14557F5-81CB-E77B-3814-836DFCBD01BC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E24A9BB-22C7-4052-BD99-DD1C4D05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5A57B0F-8D86-1BBC-545C-D4120BACF007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361E5038-522C-39F2-FF36-BE24AE40B3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4CE71A9-FFAD-BF16-9886-3735F24D1E2F}"/>
              </a:ext>
            </a:extLst>
          </p:cNvPr>
          <p:cNvSpPr txBox="1"/>
          <p:nvPr/>
        </p:nvSpPr>
        <p:spPr>
          <a:xfrm>
            <a:off x="3888661" y="480182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B91082-6E9A-B8B5-8D87-3E09315F5F38}"/>
              </a:ext>
            </a:extLst>
          </p:cNvPr>
          <p:cNvSpPr txBox="1"/>
          <p:nvPr/>
        </p:nvSpPr>
        <p:spPr>
          <a:xfrm>
            <a:off x="3776516" y="594750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0.6637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F81DDB-2825-060F-6CF4-8132377ABC94}"/>
              </a:ext>
            </a:extLst>
          </p:cNvPr>
          <p:cNvSpPr txBox="1"/>
          <p:nvPr/>
        </p:nvSpPr>
        <p:spPr>
          <a:xfrm>
            <a:off x="6079512" y="547524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BEDCA8E-53DA-7F0E-0A14-7B8D64215631}"/>
                  </a:ext>
                </a:extLst>
              </p:cNvPr>
              <p:cNvSpPr txBox="1"/>
              <p:nvPr/>
            </p:nvSpPr>
            <p:spPr>
              <a:xfrm>
                <a:off x="5421974" y="1575277"/>
                <a:ext cx="4588564" cy="6011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target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target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BEDCA8E-53DA-7F0E-0A14-7B8D64215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974" y="1575277"/>
                <a:ext cx="4588564" cy="6011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B1AA309-6B08-3F6D-FEAA-5E75883B9A35}"/>
                  </a:ext>
                </a:extLst>
              </p:cNvPr>
              <p:cNvSpPr txBox="1"/>
              <p:nvPr/>
            </p:nvSpPr>
            <p:spPr>
              <a:xfrm>
                <a:off x="5447007" y="2416719"/>
                <a:ext cx="6531467" cy="610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𝑖𝑜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(1/(1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𝑖𝑜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𝑖𝑜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=0.69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1−0.69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=0.2139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B1AA309-6B08-3F6D-FEAA-5E75883B9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07" y="2416719"/>
                <a:ext cx="6531467" cy="61087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5D02ABB-9F97-6BED-A4E9-AADA9C873292}"/>
                  </a:ext>
                </a:extLst>
              </p:cNvPr>
              <p:cNvSpPr txBox="1"/>
              <p:nvPr/>
            </p:nvSpPr>
            <p:spPr>
              <a:xfrm>
                <a:off x="5447007" y="3369580"/>
                <a:ext cx="3653116" cy="5746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𝑖𝑜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5D02ABB-9F97-6BED-A4E9-AADA9C873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007" y="3369580"/>
                <a:ext cx="3653116" cy="5746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C7A56678-0049-BE8E-F873-52D6E0074772}"/>
              </a:ext>
            </a:extLst>
          </p:cNvPr>
          <p:cNvGrpSpPr/>
          <p:nvPr/>
        </p:nvGrpSpPr>
        <p:grpSpPr>
          <a:xfrm>
            <a:off x="6867844" y="5847144"/>
            <a:ext cx="5110630" cy="886843"/>
            <a:chOff x="3354652" y="5439599"/>
            <a:chExt cx="5110630" cy="886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7F3BED8-9496-A58B-894B-076265540A1C}"/>
                    </a:ext>
                  </a:extLst>
                </p:cNvPr>
                <p:cNvSpPr txBox="1"/>
                <p:nvPr/>
              </p:nvSpPr>
              <p:spPr>
                <a:xfrm>
                  <a:off x="3354652" y="5439599"/>
                  <a:ext cx="5110630" cy="5737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=1×0.19×0.2139×0.68=0.0276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7F3BED8-9496-A58B-894B-076265540A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652" y="5439599"/>
                  <a:ext cx="5110630" cy="57374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F7F62F8-6D92-BAD7-0E41-814C413485BA}"/>
                    </a:ext>
                  </a:extLst>
                </p:cNvPr>
                <p:cNvSpPr txBox="1"/>
                <p:nvPr/>
              </p:nvSpPr>
              <p:spPr>
                <a:xfrm>
                  <a:off x="3354652" y="6049443"/>
                  <a:ext cx="500534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updated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=0.3−0.0276=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0.2724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F7F62F8-6D92-BAD7-0E41-814C413485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652" y="6049443"/>
                  <a:ext cx="5005345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1218" t="-2174" r="-731" b="-3260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411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2DE2-7156-08CB-7480-06174F47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Backward propagation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/>
              <p:nvPr/>
            </p:nvSpPr>
            <p:spPr>
              <a:xfrm>
                <a:off x="348440" y="1643896"/>
                <a:ext cx="4943982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[0.35, 0.9]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output: [0.5]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function: Sigmoid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Error function: mean-squared-error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40" y="1643896"/>
                <a:ext cx="4943982" cy="2246769"/>
              </a:xfrm>
              <a:prstGeom prst="rect">
                <a:avLst/>
              </a:prstGeom>
              <a:blipFill>
                <a:blip r:embed="rId2"/>
                <a:stretch>
                  <a:fillRect l="-1850" t="-1902" r="-1233" b="-57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2906110-1DD2-159A-740A-0F6381AF7321}"/>
              </a:ext>
            </a:extLst>
          </p:cNvPr>
          <p:cNvGrpSpPr/>
          <p:nvPr/>
        </p:nvGrpSpPr>
        <p:grpSpPr>
          <a:xfrm>
            <a:off x="531431" y="3993459"/>
            <a:ext cx="7155958" cy="2525613"/>
            <a:chOff x="786855" y="2906008"/>
            <a:chExt cx="7155958" cy="252561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5B63916-D97B-E685-6308-AF6387FC2855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B056C9-316C-F355-CD67-020092F80C1D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5C7F4311-CE72-F89D-AA68-0D96DFF7BAB2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C86B81E1-0ADC-1BBC-FFD8-397E6909CC44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E26190D5-A4E5-CD96-AAA3-54F9D02280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9004AB82-CE15-1852-BAD2-71596238CB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9" name="Group 38">
                          <a:extLst>
                            <a:ext uri="{FF2B5EF4-FFF2-40B4-BE49-F238E27FC236}">
                              <a16:creationId xmlns:a16="http://schemas.microsoft.com/office/drawing/2014/main" id="{09BAAB72-2AAA-C0CC-4A18-52C5E6610D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42" name="Group 41">
                            <a:extLst>
                              <a:ext uri="{FF2B5EF4-FFF2-40B4-BE49-F238E27FC236}">
                                <a16:creationId xmlns:a16="http://schemas.microsoft.com/office/drawing/2014/main" id="{795C9ACB-B9AC-AD6E-12DA-84173E9F5E9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9" name="Group 48">
                              <a:extLst>
                                <a:ext uri="{FF2B5EF4-FFF2-40B4-BE49-F238E27FC236}">
                                  <a16:creationId xmlns:a16="http://schemas.microsoft.com/office/drawing/2014/main" id="{A677245A-9E7A-420A-E585-156F0830BDF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51" name="Group 50">
                                <a:extLst>
                                  <a:ext uri="{FF2B5EF4-FFF2-40B4-BE49-F238E27FC236}">
                                    <a16:creationId xmlns:a16="http://schemas.microsoft.com/office/drawing/2014/main" id="{90050741-20CD-6B90-332C-D0D53CC78C6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3" name="Oval 52">
                                  <a:extLst>
                                    <a:ext uri="{FF2B5EF4-FFF2-40B4-BE49-F238E27FC236}">
                                      <a16:creationId xmlns:a16="http://schemas.microsoft.com/office/drawing/2014/main" id="{C9DB2A01-7379-86C9-E5DB-507635FFB87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4" name="Oval 53">
                                  <a:extLst>
                                    <a:ext uri="{FF2B5EF4-FFF2-40B4-BE49-F238E27FC236}">
                                      <a16:creationId xmlns:a16="http://schemas.microsoft.com/office/drawing/2014/main" id="{77E8464D-3657-3005-B3A7-89614D382B7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5" name="Oval 54">
                                  <a:extLst>
                                    <a:ext uri="{FF2B5EF4-FFF2-40B4-BE49-F238E27FC236}">
                                      <a16:creationId xmlns:a16="http://schemas.microsoft.com/office/drawing/2014/main" id="{6A012A76-4723-73A6-8404-6B6FADD71D4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52" name="Oval 51">
                                <a:extLst>
                                  <a:ext uri="{FF2B5EF4-FFF2-40B4-BE49-F238E27FC236}">
                                    <a16:creationId xmlns:a16="http://schemas.microsoft.com/office/drawing/2014/main" id="{7CBAD740-422A-9590-E2F3-E21BBA9A389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50" name="Oval 49">
                              <a:extLst>
                                <a:ext uri="{FF2B5EF4-FFF2-40B4-BE49-F238E27FC236}">
                                  <a16:creationId xmlns:a16="http://schemas.microsoft.com/office/drawing/2014/main" id="{8214293F-F2DE-8E39-BEED-B33E90CCD7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30FD875A-434B-D79F-FA7E-22DEEE23FF51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3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696BF4B1-373D-50E9-A35D-1C8204132C16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4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0F4E7FD5-433E-CD02-1249-50BA21460554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3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6" name="Straight Arrow Connector 45">
                            <a:extLst>
                              <a:ext uri="{FF2B5EF4-FFF2-40B4-BE49-F238E27FC236}">
                                <a16:creationId xmlns:a16="http://schemas.microsoft.com/office/drawing/2014/main" id="{4091A1A4-889E-F578-0E46-E2BF5EBF4F6D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4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7" name="Straight Arrow Connector 46">
                            <a:extLst>
                              <a:ext uri="{FF2B5EF4-FFF2-40B4-BE49-F238E27FC236}">
                                <a16:creationId xmlns:a16="http://schemas.microsoft.com/office/drawing/2014/main" id="{DD86EA81-9CDA-8498-6F1A-83EEA6EB00C6}"/>
                              </a:ext>
                            </a:extLst>
                          </p:cNvPr>
                          <p:cNvCxnSpPr>
                            <a:cxnSpLocks/>
                            <a:stCxn id="53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8" name="Straight Arrow Connector 47">
                            <a:extLst>
                              <a:ext uri="{FF2B5EF4-FFF2-40B4-BE49-F238E27FC236}">
                                <a16:creationId xmlns:a16="http://schemas.microsoft.com/office/drawing/2014/main" id="{7AEDB457-28CC-2ABB-2C28-9EFEDE70B511}"/>
                              </a:ext>
                            </a:extLst>
                          </p:cNvPr>
                          <p:cNvCxnSpPr>
                            <a:cxnSpLocks/>
                            <a:stCxn id="54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40" name="TextBox 39">
                          <a:extLst>
                            <a:ext uri="{FF2B5EF4-FFF2-40B4-BE49-F238E27FC236}">
                              <a16:creationId xmlns:a16="http://schemas.microsoft.com/office/drawing/2014/main" id="{5DAC70BD-41DC-3021-BCFB-79E4F80BB12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C0243EB9-5D33-7270-2ACA-5A00404F82B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E61C35C7-1970-A355-E3C1-8749D5DE38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AE22A612-5BD8-EFD9-77E8-C5C257AAB5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82940DAB-1D8E-FED2-0F85-1514BC1DF0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2E27B718-48ED-1CFB-EEE5-E5FAB9B9288B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02175C9-A615-E3E2-A88A-1CEBA5F48464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2AF6C5-2ED9-F62A-63DA-5C0EAF8AEBCC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BEF3632-2EB4-C5EF-4043-6E1F8209C564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0.1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334F02A-8B07-D0DF-4C79-830F08A2BD80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1D8FF6-CDFD-5603-4EEB-BD149734A4B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6DD052D-9BE4-396D-5CAE-2CE07D16A627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6E0F6F-DB75-A4EF-3D8C-672D01948E38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0.2724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122313B-436A-1EE9-DD82-0B82985089D8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0.8731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54E99CE-300B-40EA-7726-D0EB4058D2A3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E66A0BBA-BE6C-2821-6576-C4BF8A59BD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AB1FC8C-9F70-FE52-ADED-3994CA3A87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983AC18-336F-D644-EDD5-243B8B5823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2B442F44-7AB4-3B32-19B0-8B2A71A1C4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0ADD7F85-6168-1013-7994-4A9CEA8696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FA9A71-DDBB-CAF3-3FFA-75A9B8AC69AF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82E9CD15-0474-A3BE-FF2B-E47413BC30B2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14557F5-81CB-E77B-3814-836DFCBD01BC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E24A9BB-22C7-4052-BD99-DD1C4D05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5A57B0F-8D86-1BBC-545C-D4120BACF007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4CE71A9-FFAD-BF16-9886-3735F24D1E2F}"/>
              </a:ext>
            </a:extLst>
          </p:cNvPr>
          <p:cNvSpPr txBox="1"/>
          <p:nvPr/>
        </p:nvSpPr>
        <p:spPr>
          <a:xfrm>
            <a:off x="3888661" y="480182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B91082-6E9A-B8B5-8D87-3E09315F5F38}"/>
              </a:ext>
            </a:extLst>
          </p:cNvPr>
          <p:cNvSpPr txBox="1"/>
          <p:nvPr/>
        </p:nvSpPr>
        <p:spPr>
          <a:xfrm>
            <a:off x="3776516" y="594750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0.6637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F81DDB-2825-060F-6CF4-8132377ABC94}"/>
              </a:ext>
            </a:extLst>
          </p:cNvPr>
          <p:cNvSpPr txBox="1"/>
          <p:nvPr/>
        </p:nvSpPr>
        <p:spPr>
          <a:xfrm>
            <a:off x="6079512" y="547524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A3B51A-477F-529A-81B2-36C11E1A2918}"/>
                  </a:ext>
                </a:extLst>
              </p:cNvPr>
              <p:cNvSpPr txBox="1"/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A3B51A-477F-529A-81B2-36C11E1A2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blipFill>
                <a:blip r:embed="rId15"/>
                <a:stretch>
                  <a:fillRect l="-1257" t="-1379" r="-359" b="-41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827B44-4CF7-F6EA-5667-0AA60FA9E792}"/>
                  </a:ext>
                </a:extLst>
              </p:cNvPr>
              <p:cNvSpPr txBox="1"/>
              <p:nvPr/>
            </p:nvSpPr>
            <p:spPr>
              <a:xfrm>
                <a:off x="6035245" y="6176494"/>
                <a:ext cx="23012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Similarly,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827B44-4CF7-F6EA-5667-0AA60FA9E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245" y="6176494"/>
                <a:ext cx="2301207" cy="461665"/>
              </a:xfrm>
              <a:prstGeom prst="rect">
                <a:avLst/>
              </a:prstGeom>
              <a:blipFill>
                <a:blip r:embed="rId16"/>
                <a:stretch>
                  <a:fillRect l="-3968" t="-11842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04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2DE2-7156-08CB-7480-06174F47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Backward propagation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/>
              <p:nvPr/>
            </p:nvSpPr>
            <p:spPr>
              <a:xfrm>
                <a:off x="348440" y="1643896"/>
                <a:ext cx="4943982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[0.35, 0.9]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output: [0.5]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function: Sigmoid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Error function: mean-squared-error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40" y="1643896"/>
                <a:ext cx="4943982" cy="2246769"/>
              </a:xfrm>
              <a:prstGeom prst="rect">
                <a:avLst/>
              </a:prstGeom>
              <a:blipFill>
                <a:blip r:embed="rId2"/>
                <a:stretch>
                  <a:fillRect l="-1850" t="-1902" r="-1233" b="-57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2906110-1DD2-159A-740A-0F6381AF7321}"/>
              </a:ext>
            </a:extLst>
          </p:cNvPr>
          <p:cNvGrpSpPr/>
          <p:nvPr/>
        </p:nvGrpSpPr>
        <p:grpSpPr>
          <a:xfrm>
            <a:off x="531431" y="3993459"/>
            <a:ext cx="7155958" cy="2525613"/>
            <a:chOff x="786855" y="2906008"/>
            <a:chExt cx="7155958" cy="252561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5B63916-D97B-E685-6308-AF6387FC2855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B056C9-316C-F355-CD67-020092F80C1D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5C7F4311-CE72-F89D-AA68-0D96DFF7BAB2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C86B81E1-0ADC-1BBC-FFD8-397E6909CC44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E26190D5-A4E5-CD96-AAA3-54F9D02280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9004AB82-CE15-1852-BAD2-71596238CB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9" name="Group 38">
                          <a:extLst>
                            <a:ext uri="{FF2B5EF4-FFF2-40B4-BE49-F238E27FC236}">
                              <a16:creationId xmlns:a16="http://schemas.microsoft.com/office/drawing/2014/main" id="{09BAAB72-2AAA-C0CC-4A18-52C5E6610D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42" name="Group 41">
                            <a:extLst>
                              <a:ext uri="{FF2B5EF4-FFF2-40B4-BE49-F238E27FC236}">
                                <a16:creationId xmlns:a16="http://schemas.microsoft.com/office/drawing/2014/main" id="{795C9ACB-B9AC-AD6E-12DA-84173E9F5E9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9" name="Group 48">
                              <a:extLst>
                                <a:ext uri="{FF2B5EF4-FFF2-40B4-BE49-F238E27FC236}">
                                  <a16:creationId xmlns:a16="http://schemas.microsoft.com/office/drawing/2014/main" id="{A677245A-9E7A-420A-E585-156F0830BDF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51" name="Group 50">
                                <a:extLst>
                                  <a:ext uri="{FF2B5EF4-FFF2-40B4-BE49-F238E27FC236}">
                                    <a16:creationId xmlns:a16="http://schemas.microsoft.com/office/drawing/2014/main" id="{90050741-20CD-6B90-332C-D0D53CC78C6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3" name="Oval 52">
                                  <a:extLst>
                                    <a:ext uri="{FF2B5EF4-FFF2-40B4-BE49-F238E27FC236}">
                                      <a16:creationId xmlns:a16="http://schemas.microsoft.com/office/drawing/2014/main" id="{C9DB2A01-7379-86C9-E5DB-507635FFB87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4" name="Oval 53">
                                  <a:extLst>
                                    <a:ext uri="{FF2B5EF4-FFF2-40B4-BE49-F238E27FC236}">
                                      <a16:creationId xmlns:a16="http://schemas.microsoft.com/office/drawing/2014/main" id="{77E8464D-3657-3005-B3A7-89614D382B7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5" name="Oval 54">
                                  <a:extLst>
                                    <a:ext uri="{FF2B5EF4-FFF2-40B4-BE49-F238E27FC236}">
                                      <a16:creationId xmlns:a16="http://schemas.microsoft.com/office/drawing/2014/main" id="{6A012A76-4723-73A6-8404-6B6FADD71D4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52" name="Oval 51">
                                <a:extLst>
                                  <a:ext uri="{FF2B5EF4-FFF2-40B4-BE49-F238E27FC236}">
                                    <a16:creationId xmlns:a16="http://schemas.microsoft.com/office/drawing/2014/main" id="{7CBAD740-422A-9590-E2F3-E21BBA9A389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50" name="Oval 49">
                              <a:extLst>
                                <a:ext uri="{FF2B5EF4-FFF2-40B4-BE49-F238E27FC236}">
                                  <a16:creationId xmlns:a16="http://schemas.microsoft.com/office/drawing/2014/main" id="{8214293F-F2DE-8E39-BEED-B33E90CCD7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30FD875A-434B-D79F-FA7E-22DEEE23FF51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3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696BF4B1-373D-50E9-A35D-1C8204132C16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4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0F4E7FD5-433E-CD02-1249-50BA21460554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3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6" name="Straight Arrow Connector 45">
                            <a:extLst>
                              <a:ext uri="{FF2B5EF4-FFF2-40B4-BE49-F238E27FC236}">
                                <a16:creationId xmlns:a16="http://schemas.microsoft.com/office/drawing/2014/main" id="{4091A1A4-889E-F578-0E46-E2BF5EBF4F6D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4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7" name="Straight Arrow Connector 46">
                            <a:extLst>
                              <a:ext uri="{FF2B5EF4-FFF2-40B4-BE49-F238E27FC236}">
                                <a16:creationId xmlns:a16="http://schemas.microsoft.com/office/drawing/2014/main" id="{DD86EA81-9CDA-8498-6F1A-83EEA6EB00C6}"/>
                              </a:ext>
                            </a:extLst>
                          </p:cNvPr>
                          <p:cNvCxnSpPr>
                            <a:cxnSpLocks/>
                            <a:stCxn id="53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8" name="Straight Arrow Connector 47">
                            <a:extLst>
                              <a:ext uri="{FF2B5EF4-FFF2-40B4-BE49-F238E27FC236}">
                                <a16:creationId xmlns:a16="http://schemas.microsoft.com/office/drawing/2014/main" id="{7AEDB457-28CC-2ABB-2C28-9EFEDE70B511}"/>
                              </a:ext>
                            </a:extLst>
                          </p:cNvPr>
                          <p:cNvCxnSpPr>
                            <a:cxnSpLocks/>
                            <a:stCxn id="54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40" name="TextBox 39">
                          <a:extLst>
                            <a:ext uri="{FF2B5EF4-FFF2-40B4-BE49-F238E27FC236}">
                              <a16:creationId xmlns:a16="http://schemas.microsoft.com/office/drawing/2014/main" id="{5DAC70BD-41DC-3021-BCFB-79E4F80BB12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C0243EB9-5D33-7270-2ACA-5A00404F82B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E61C35C7-1970-A355-E3C1-8749D5DE38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AE22A612-5BD8-EFD9-77E8-C5C257AAB5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82940DAB-1D8E-FED2-0F85-1514BC1DF0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2E27B718-48ED-1CFB-EEE5-E5FAB9B9288B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02175C9-A615-E3E2-A88A-1CEBA5F48464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2AF6C5-2ED9-F62A-63DA-5C0EAF8AEBCC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BEF3632-2EB4-C5EF-4043-6E1F8209C564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0.1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334F02A-8B07-D0DF-4C79-830F08A2BD80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1D8FF6-CDFD-5603-4EEB-BD149734A4B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6DD052D-9BE4-396D-5CAE-2CE07D16A627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6E0F6F-DB75-A4EF-3D8C-672D01948E38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0.2724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122313B-436A-1EE9-DD82-0B82985089D8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0.8731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54E99CE-300B-40EA-7726-D0EB4058D2A3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E66A0BBA-BE6C-2821-6576-C4BF8A59BD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AB1FC8C-9F70-FE52-ADED-3994CA3A87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983AC18-336F-D644-EDD5-243B8B5823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2B442F44-7AB4-3B32-19B0-8B2A71A1C4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0ADD7F85-6168-1013-7994-4A9CEA8696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FA9A71-DDBB-CAF3-3FFA-75A9B8AC69AF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82E9CD15-0474-A3BE-FF2B-E47413BC30B2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14557F5-81CB-E77B-3814-836DFCBD01BC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E24A9BB-22C7-4052-BD99-DD1C4D05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5A57B0F-8D86-1BBC-545C-D4120BACF007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4CE71A9-FFAD-BF16-9886-3735F24D1E2F}"/>
              </a:ext>
            </a:extLst>
          </p:cNvPr>
          <p:cNvSpPr txBox="1"/>
          <p:nvPr/>
        </p:nvSpPr>
        <p:spPr>
          <a:xfrm>
            <a:off x="3888661" y="480182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B91082-6E9A-B8B5-8D87-3E09315F5F38}"/>
              </a:ext>
            </a:extLst>
          </p:cNvPr>
          <p:cNvSpPr txBox="1"/>
          <p:nvPr/>
        </p:nvSpPr>
        <p:spPr>
          <a:xfrm>
            <a:off x="3776516" y="594750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0.6637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F81DDB-2825-060F-6CF4-8132377ABC94}"/>
              </a:ext>
            </a:extLst>
          </p:cNvPr>
          <p:cNvSpPr txBox="1"/>
          <p:nvPr/>
        </p:nvSpPr>
        <p:spPr>
          <a:xfrm>
            <a:off x="6079512" y="547524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A3B51A-477F-529A-81B2-36C11E1A2918}"/>
                  </a:ext>
                </a:extLst>
              </p:cNvPr>
              <p:cNvSpPr txBox="1"/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A3B51A-477F-529A-81B2-36C11E1A2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blipFill>
                <a:blip r:embed="rId15"/>
                <a:stretch>
                  <a:fillRect l="-1257" t="-1379" r="-359" b="-41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EC28307-4114-6DBE-BAE1-5A8D6594E380}"/>
                  </a:ext>
                </a:extLst>
              </p:cNvPr>
              <p:cNvSpPr txBox="1"/>
              <p:nvPr/>
            </p:nvSpPr>
            <p:spPr>
              <a:xfrm>
                <a:off x="7012431" y="2683605"/>
                <a:ext cx="4334199" cy="6355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𝑖𝑜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𝑖𝑜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𝑖h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𝑖h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EC28307-4114-6DBE-BAE1-5A8D6594E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431" y="2683605"/>
                <a:ext cx="4334199" cy="635559"/>
              </a:xfrm>
              <a:prstGeom prst="rect">
                <a:avLst/>
              </a:prstGeom>
              <a:blipFill>
                <a:blip r:embed="rId16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EFE248A-F76E-E5A3-84CB-712FA59593D4}"/>
                  </a:ext>
                </a:extLst>
              </p:cNvPr>
              <p:cNvSpPr txBox="1"/>
              <p:nvPr/>
            </p:nvSpPr>
            <p:spPr>
              <a:xfrm>
                <a:off x="5364756" y="1808377"/>
                <a:ext cx="5735224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should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(at the hidden layer) be updated?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much a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affects the total error?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By chain rule</a:t>
                </a: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EFE248A-F76E-E5A3-84CB-712FA5959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756" y="1808377"/>
                <a:ext cx="5735224" cy="1323439"/>
              </a:xfrm>
              <a:prstGeom prst="rect">
                <a:avLst/>
              </a:prstGeom>
              <a:blipFill>
                <a:blip r:embed="rId17"/>
                <a:stretch>
                  <a:fillRect l="-1063" t="-2304" r="-106" b="-78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30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D13A5-A2E1-0486-BA15-35FBDAE5F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Backward propagation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BB4E3C-47B1-23A4-F764-6759D6E5DEB6}"/>
                  </a:ext>
                </a:extLst>
              </p:cNvPr>
              <p:cNvSpPr txBox="1"/>
              <p:nvPr/>
            </p:nvSpPr>
            <p:spPr>
              <a:xfrm>
                <a:off x="348440" y="1643896"/>
                <a:ext cx="4943982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[0.35, 0.9]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output: [0.5]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function: Sigmoid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Error function: mean-squared-error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BB4E3C-47B1-23A4-F764-6759D6E5D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40" y="1643896"/>
                <a:ext cx="4943982" cy="2246769"/>
              </a:xfrm>
              <a:prstGeom prst="rect">
                <a:avLst/>
              </a:prstGeom>
              <a:blipFill>
                <a:blip r:embed="rId2"/>
                <a:stretch>
                  <a:fillRect l="-1850" t="-1902" r="-1233" b="-57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5ECAD84-DF20-6ADC-5C3D-FF454EA29890}"/>
              </a:ext>
            </a:extLst>
          </p:cNvPr>
          <p:cNvGrpSpPr/>
          <p:nvPr/>
        </p:nvGrpSpPr>
        <p:grpSpPr>
          <a:xfrm>
            <a:off x="5204864" y="1596773"/>
            <a:ext cx="6155834" cy="1464831"/>
            <a:chOff x="3938066" y="1380759"/>
            <a:chExt cx="6155834" cy="14648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5DBF97F-5A60-4377-BFFC-C35C48407AEB}"/>
                    </a:ext>
                  </a:extLst>
                </p:cNvPr>
                <p:cNvSpPr txBox="1"/>
                <p:nvPr/>
              </p:nvSpPr>
              <p:spPr>
                <a:xfrm>
                  <a:off x="5759701" y="2210031"/>
                  <a:ext cx="4334199" cy="6355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5DBF97F-5A60-4377-BFFC-C35C48407A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701" y="2210031"/>
                  <a:ext cx="4334199" cy="63555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E7B0162-EFA2-60AA-AEA0-39EF62DE3968}"/>
                    </a:ext>
                  </a:extLst>
                </p:cNvPr>
                <p:cNvSpPr txBox="1"/>
                <p:nvPr/>
              </p:nvSpPr>
              <p:spPr>
                <a:xfrm>
                  <a:off x="3938066" y="1380759"/>
                  <a:ext cx="5735224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How should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(at the hidden layer) be updated?</a:t>
                  </a:r>
                </a:p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How much a change in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affects the total error?</a:t>
                  </a:r>
                </a:p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By chain rule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E7B0162-EFA2-60AA-AEA0-39EF62DE39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8066" y="1380759"/>
                  <a:ext cx="5735224" cy="1323439"/>
                </a:xfrm>
                <a:prstGeom prst="rect">
                  <a:avLst/>
                </a:prstGeom>
                <a:blipFill>
                  <a:blip r:embed="rId4"/>
                  <a:stretch>
                    <a:fillRect l="-1063" t="-1843" r="-106" b="-783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B2A9091-8B83-7DFC-B1FA-307220C73E9C}"/>
              </a:ext>
            </a:extLst>
          </p:cNvPr>
          <p:cNvGrpSpPr/>
          <p:nvPr/>
        </p:nvGrpSpPr>
        <p:grpSpPr>
          <a:xfrm>
            <a:off x="4463508" y="3685160"/>
            <a:ext cx="3548151" cy="572016"/>
            <a:chOff x="3226864" y="2692935"/>
            <a:chExt cx="3548151" cy="5720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3AE529A-4618-D635-8F02-C78636726699}"/>
                    </a:ext>
                  </a:extLst>
                </p:cNvPr>
                <p:cNvSpPr txBox="1"/>
                <p:nvPr/>
              </p:nvSpPr>
              <p:spPr>
                <a:xfrm>
                  <a:off x="4418216" y="2692935"/>
                  <a:ext cx="2356799" cy="5720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25" name="TextBox 1024">
                  <a:extLst>
                    <a:ext uri="{FF2B5EF4-FFF2-40B4-BE49-F238E27FC236}">
                      <a16:creationId xmlns:a16="http://schemas.microsoft.com/office/drawing/2014/main" id="{0F592F94-424E-4A28-6045-43FDC32037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8216" y="2692935"/>
                  <a:ext cx="2356799" cy="57201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3CA5E64-F870-7BCF-889C-3F441CEC055F}"/>
                </a:ext>
              </a:extLst>
            </p:cNvPr>
            <p:cNvSpPr txBox="1"/>
            <p:nvPr/>
          </p:nvSpPr>
          <p:spPr>
            <a:xfrm>
              <a:off x="3226864" y="2794277"/>
              <a:ext cx="1249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Usually let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75EB4B-7626-91EB-EB0B-A8414AA79537}"/>
                  </a:ext>
                </a:extLst>
              </p:cNvPr>
              <p:cNvSpPr txBox="1"/>
              <p:nvPr/>
            </p:nvSpPr>
            <p:spPr>
              <a:xfrm>
                <a:off x="5652198" y="4418394"/>
                <a:ext cx="1049775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𝑖𝑜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75EB4B-7626-91EB-EB0B-A8414AA79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98" y="4418394"/>
                <a:ext cx="1049775" cy="572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4F31C1-A1CD-57FD-8165-AAD5BEF45D3C}"/>
                  </a:ext>
                </a:extLst>
              </p:cNvPr>
              <p:cNvSpPr txBox="1"/>
              <p:nvPr/>
            </p:nvSpPr>
            <p:spPr>
              <a:xfrm>
                <a:off x="5587693" y="5101142"/>
                <a:ext cx="3971857" cy="610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(1/(1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4F31C1-A1CD-57FD-8165-AAD5BEF45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693" y="5101142"/>
                <a:ext cx="3971857" cy="6108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CFD471-10D8-7909-A043-F5A8EA3D737F}"/>
                  </a:ext>
                </a:extLst>
              </p:cNvPr>
              <p:cNvSpPr txBox="1"/>
              <p:nvPr/>
            </p:nvSpPr>
            <p:spPr>
              <a:xfrm>
                <a:off x="5693042" y="5879585"/>
                <a:ext cx="968086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CFD471-10D8-7909-A043-F5A8EA3D7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042" y="5879585"/>
                <a:ext cx="968086" cy="572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B620AE0-34FC-9F0B-CE80-2B75C16DF894}"/>
              </a:ext>
            </a:extLst>
          </p:cNvPr>
          <p:cNvSpPr txBox="1"/>
          <p:nvPr/>
        </p:nvSpPr>
        <p:spPr>
          <a:xfrm>
            <a:off x="8011659" y="3796396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(obtained previously)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6A3C6-7CFA-E6D3-AE5E-D1C0C5749351}"/>
                  </a:ext>
                </a:extLst>
              </p:cNvPr>
              <p:cNvSpPr txBox="1"/>
              <p:nvPr/>
            </p:nvSpPr>
            <p:spPr>
              <a:xfrm>
                <a:off x="348440" y="4462681"/>
                <a:ext cx="3381823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6A3C6-7CFA-E6D3-AE5E-D1C0C5749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40" y="4462681"/>
                <a:ext cx="3381823" cy="1754326"/>
              </a:xfrm>
              <a:prstGeom prst="rect">
                <a:avLst/>
              </a:prstGeom>
              <a:blipFill>
                <a:blip r:embed="rId10"/>
                <a:stretch>
                  <a:fillRect l="-1257" t="-1379" r="-359" b="-41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CF6D163-9FC6-8ABE-B2A7-887C7FF4CAE0}"/>
              </a:ext>
            </a:extLst>
          </p:cNvPr>
          <p:cNvSpPr txBox="1"/>
          <p:nvPr/>
        </p:nvSpPr>
        <p:spPr>
          <a:xfrm>
            <a:off x="4607843" y="643808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B3AC4D-89A2-58B5-ED82-BC72241E8173}"/>
                  </a:ext>
                </a:extLst>
              </p:cNvPr>
              <p:cNvSpPr txBox="1"/>
              <p:nvPr/>
            </p:nvSpPr>
            <p:spPr>
              <a:xfrm>
                <a:off x="5103649" y="6294539"/>
                <a:ext cx="451214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B3AC4D-89A2-58B5-ED82-BC72241E8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649" y="6294539"/>
                <a:ext cx="451214" cy="5720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39F199D-A62E-57F6-31D8-E291647FA243}"/>
              </a:ext>
            </a:extLst>
          </p:cNvPr>
          <p:cNvSpPr txBox="1"/>
          <p:nvPr/>
        </p:nvSpPr>
        <p:spPr>
          <a:xfrm>
            <a:off x="5587693" y="6434505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simplified 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D2A53C-8968-ADC9-11F8-9BCD910675F3}"/>
                  </a:ext>
                </a:extLst>
              </p:cNvPr>
              <p:cNvSpPr txBox="1"/>
              <p:nvPr/>
            </p:nvSpPr>
            <p:spPr>
              <a:xfrm>
                <a:off x="7747259" y="6480671"/>
                <a:ext cx="17783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D2A53C-8968-ADC9-11F8-9BCD91067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259" y="6480671"/>
                <a:ext cx="1778307" cy="276999"/>
              </a:xfrm>
              <a:prstGeom prst="rect">
                <a:avLst/>
              </a:prstGeom>
              <a:blipFill>
                <a:blip r:embed="rId12"/>
                <a:stretch>
                  <a:fillRect l="-4795" r="-1712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19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6" grpId="0"/>
      <p:bldP spid="17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2DE2-7156-08CB-7480-06174F47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Backward propagation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/>
              <p:nvPr/>
            </p:nvSpPr>
            <p:spPr>
              <a:xfrm>
                <a:off x="348440" y="1643896"/>
                <a:ext cx="414087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[0.35, 0.9]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output: [0.5]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function: Sigmoid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Error function: mean-squared-error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40" y="1643896"/>
                <a:ext cx="4140877" cy="1938992"/>
              </a:xfrm>
              <a:prstGeom prst="rect">
                <a:avLst/>
              </a:prstGeom>
              <a:blipFill>
                <a:blip r:embed="rId2"/>
                <a:stretch>
                  <a:fillRect l="-1473" t="-1572" r="-736" b="-50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2906110-1DD2-159A-740A-0F6381AF7321}"/>
              </a:ext>
            </a:extLst>
          </p:cNvPr>
          <p:cNvGrpSpPr/>
          <p:nvPr/>
        </p:nvGrpSpPr>
        <p:grpSpPr>
          <a:xfrm>
            <a:off x="506031" y="3599373"/>
            <a:ext cx="7155958" cy="2525613"/>
            <a:chOff x="786855" y="2906008"/>
            <a:chExt cx="7155958" cy="252561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5B63916-D97B-E685-6308-AF6387FC2855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B056C9-316C-F355-CD67-020092F80C1D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5C7F4311-CE72-F89D-AA68-0D96DFF7BAB2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C86B81E1-0ADC-1BBC-FFD8-397E6909CC44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E26190D5-A4E5-CD96-AAA3-54F9D02280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9004AB82-CE15-1852-BAD2-71596238CB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9" name="Group 38">
                          <a:extLst>
                            <a:ext uri="{FF2B5EF4-FFF2-40B4-BE49-F238E27FC236}">
                              <a16:creationId xmlns:a16="http://schemas.microsoft.com/office/drawing/2014/main" id="{09BAAB72-2AAA-C0CC-4A18-52C5E6610D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42" name="Group 41">
                            <a:extLst>
                              <a:ext uri="{FF2B5EF4-FFF2-40B4-BE49-F238E27FC236}">
                                <a16:creationId xmlns:a16="http://schemas.microsoft.com/office/drawing/2014/main" id="{795C9ACB-B9AC-AD6E-12DA-84173E9F5E9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9" name="Group 48">
                              <a:extLst>
                                <a:ext uri="{FF2B5EF4-FFF2-40B4-BE49-F238E27FC236}">
                                  <a16:creationId xmlns:a16="http://schemas.microsoft.com/office/drawing/2014/main" id="{A677245A-9E7A-420A-E585-156F0830BDF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51" name="Group 50">
                                <a:extLst>
                                  <a:ext uri="{FF2B5EF4-FFF2-40B4-BE49-F238E27FC236}">
                                    <a16:creationId xmlns:a16="http://schemas.microsoft.com/office/drawing/2014/main" id="{90050741-20CD-6B90-332C-D0D53CC78C6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3" name="Oval 52">
                                  <a:extLst>
                                    <a:ext uri="{FF2B5EF4-FFF2-40B4-BE49-F238E27FC236}">
                                      <a16:creationId xmlns:a16="http://schemas.microsoft.com/office/drawing/2014/main" id="{C9DB2A01-7379-86C9-E5DB-507635FFB87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4" name="Oval 53">
                                  <a:extLst>
                                    <a:ext uri="{FF2B5EF4-FFF2-40B4-BE49-F238E27FC236}">
                                      <a16:creationId xmlns:a16="http://schemas.microsoft.com/office/drawing/2014/main" id="{77E8464D-3657-3005-B3A7-89614D382B7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5" name="Oval 54">
                                  <a:extLst>
                                    <a:ext uri="{FF2B5EF4-FFF2-40B4-BE49-F238E27FC236}">
                                      <a16:creationId xmlns:a16="http://schemas.microsoft.com/office/drawing/2014/main" id="{6A012A76-4723-73A6-8404-6B6FADD71D4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52" name="Oval 51">
                                <a:extLst>
                                  <a:ext uri="{FF2B5EF4-FFF2-40B4-BE49-F238E27FC236}">
                                    <a16:creationId xmlns:a16="http://schemas.microsoft.com/office/drawing/2014/main" id="{7CBAD740-422A-9590-E2F3-E21BBA9A389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50" name="Oval 49">
                              <a:extLst>
                                <a:ext uri="{FF2B5EF4-FFF2-40B4-BE49-F238E27FC236}">
                                  <a16:creationId xmlns:a16="http://schemas.microsoft.com/office/drawing/2014/main" id="{8214293F-F2DE-8E39-BEED-B33E90CCD7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30FD875A-434B-D79F-FA7E-22DEEE23FF51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3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696BF4B1-373D-50E9-A35D-1C8204132C16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4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0F4E7FD5-433E-CD02-1249-50BA21460554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3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6" name="Straight Arrow Connector 45">
                            <a:extLst>
                              <a:ext uri="{FF2B5EF4-FFF2-40B4-BE49-F238E27FC236}">
                                <a16:creationId xmlns:a16="http://schemas.microsoft.com/office/drawing/2014/main" id="{4091A1A4-889E-F578-0E46-E2BF5EBF4F6D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4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7" name="Straight Arrow Connector 46">
                            <a:extLst>
                              <a:ext uri="{FF2B5EF4-FFF2-40B4-BE49-F238E27FC236}">
                                <a16:creationId xmlns:a16="http://schemas.microsoft.com/office/drawing/2014/main" id="{DD86EA81-9CDA-8498-6F1A-83EEA6EB00C6}"/>
                              </a:ext>
                            </a:extLst>
                          </p:cNvPr>
                          <p:cNvCxnSpPr>
                            <a:cxnSpLocks/>
                            <a:stCxn id="53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8" name="Straight Arrow Connector 47">
                            <a:extLst>
                              <a:ext uri="{FF2B5EF4-FFF2-40B4-BE49-F238E27FC236}">
                                <a16:creationId xmlns:a16="http://schemas.microsoft.com/office/drawing/2014/main" id="{7AEDB457-28CC-2ABB-2C28-9EFEDE70B511}"/>
                              </a:ext>
                            </a:extLst>
                          </p:cNvPr>
                          <p:cNvCxnSpPr>
                            <a:cxnSpLocks/>
                            <a:stCxn id="54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40" name="TextBox 39">
                          <a:extLst>
                            <a:ext uri="{FF2B5EF4-FFF2-40B4-BE49-F238E27FC236}">
                              <a16:creationId xmlns:a16="http://schemas.microsoft.com/office/drawing/2014/main" id="{5DAC70BD-41DC-3021-BCFB-79E4F80BB12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C0243EB9-5D33-7270-2ACA-5A00404F82B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E61C35C7-1970-A355-E3C1-8749D5DE38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AE22A612-5BD8-EFD9-77E8-C5C257AAB5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82940DAB-1D8E-FED2-0F85-1514BC1DF0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2E27B718-48ED-1CFB-EEE5-E5FAB9B9288B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02175C9-A615-E3E2-A88A-1CEBA5F48464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2AF6C5-2ED9-F62A-63DA-5C0EAF8AEBCC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BEF3632-2EB4-C5EF-4043-6E1F8209C564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0.0991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334F02A-8B07-D0DF-4C79-830F08A2BD80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0.4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1D8FF6-CDFD-5603-4EEB-BD149734A4B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6DD052D-9BE4-396D-5CAE-2CE07D16A627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6E0F6F-DB75-A4EF-3D8C-672D01948E38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0.2724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122313B-436A-1EE9-DD82-0B82985089D8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0.8731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54E99CE-300B-40EA-7726-D0EB4058D2A3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E66A0BBA-BE6C-2821-6576-C4BF8A59BD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AB1FC8C-9F70-FE52-ADED-3994CA3A87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983AC18-336F-D644-EDD5-243B8B5823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2B442F44-7AB4-3B32-19B0-8B2A71A1C4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0ADD7F85-6168-1013-7994-4A9CEA8696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FA9A71-DDBB-CAF3-3FFA-75A9B8AC69AF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82E9CD15-0474-A3BE-FF2B-E47413BC30B2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14557F5-81CB-E77B-3814-836DFCBD01BC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6B8D5D55-4FDA-F8BF-235F-31067F72E1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E24A9BB-22C7-4052-BD99-DD1C4D05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0E546575-CB71-7CC5-8AB6-1936980EF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5A57B0F-8D86-1BBC-545C-D4120BACF007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7FDC84C0-15D3-76A9-3143-BEB786506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4CE71A9-FFAD-BF16-9886-3735F24D1E2F}"/>
              </a:ext>
            </a:extLst>
          </p:cNvPr>
          <p:cNvSpPr txBox="1"/>
          <p:nvPr/>
        </p:nvSpPr>
        <p:spPr>
          <a:xfrm>
            <a:off x="3863261" y="440774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B91082-6E9A-B8B5-8D87-3E09315F5F38}"/>
              </a:ext>
            </a:extLst>
          </p:cNvPr>
          <p:cNvSpPr txBox="1"/>
          <p:nvPr/>
        </p:nvSpPr>
        <p:spPr>
          <a:xfrm>
            <a:off x="3751116" y="555341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0.6637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F81DDB-2825-060F-6CF4-8132377ABC94}"/>
              </a:ext>
            </a:extLst>
          </p:cNvPr>
          <p:cNvSpPr txBox="1"/>
          <p:nvPr/>
        </p:nvSpPr>
        <p:spPr>
          <a:xfrm>
            <a:off x="6054112" y="508115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0.69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A38F1B-A40E-E010-0FB7-1710CAE159A7}"/>
              </a:ext>
            </a:extLst>
          </p:cNvPr>
          <p:cNvGrpSpPr/>
          <p:nvPr/>
        </p:nvGrpSpPr>
        <p:grpSpPr>
          <a:xfrm>
            <a:off x="5054808" y="2098339"/>
            <a:ext cx="6155834" cy="1464831"/>
            <a:chOff x="3938066" y="1380759"/>
            <a:chExt cx="6155834" cy="14648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EC28307-4114-6DBE-BAE1-5A8D6594E380}"/>
                    </a:ext>
                  </a:extLst>
                </p:cNvPr>
                <p:cNvSpPr txBox="1"/>
                <p:nvPr/>
              </p:nvSpPr>
              <p:spPr>
                <a:xfrm>
                  <a:off x="5759701" y="2210031"/>
                  <a:ext cx="4334199" cy="6355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EC28307-4114-6DBE-BAE1-5A8D6594E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701" y="2210031"/>
                  <a:ext cx="4334199" cy="63555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EFE248A-F76E-E5A3-84CB-712FA59593D4}"/>
                    </a:ext>
                  </a:extLst>
                </p:cNvPr>
                <p:cNvSpPr txBox="1"/>
                <p:nvPr/>
              </p:nvSpPr>
              <p:spPr>
                <a:xfrm>
                  <a:off x="3938066" y="1380759"/>
                  <a:ext cx="5735224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How should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(at the hidden layer) be updated?</a:t>
                  </a:r>
                </a:p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How much a change in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affects the total error?</a:t>
                  </a:r>
                </a:p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By chain rule</a:t>
                  </a: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EFE248A-F76E-E5A3-84CB-712FA5959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8066" y="1380759"/>
                  <a:ext cx="5735224" cy="1323439"/>
                </a:xfrm>
                <a:prstGeom prst="rect">
                  <a:avLst/>
                </a:prstGeom>
                <a:blipFill>
                  <a:blip r:embed="rId16"/>
                  <a:stretch>
                    <a:fillRect l="-1063" t="-1843" r="-106" b="-783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43D98A-20E4-11F6-4D41-38DCC3EF9DEC}"/>
                  </a:ext>
                </a:extLst>
              </p:cNvPr>
              <p:cNvSpPr txBox="1"/>
              <p:nvPr/>
            </p:nvSpPr>
            <p:spPr>
              <a:xfrm>
                <a:off x="993098" y="6175624"/>
                <a:ext cx="8050152" cy="34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𝜂𝛿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=1×0.19×0.2139×0.3×0.68×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1−0.68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×0.35=9.286×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43D98A-20E4-11F6-4D41-38DCC3EF9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098" y="6175624"/>
                <a:ext cx="8050152" cy="342273"/>
              </a:xfrm>
              <a:prstGeom prst="rect">
                <a:avLst/>
              </a:prstGeom>
              <a:blipFill>
                <a:blip r:embed="rId17"/>
                <a:stretch>
                  <a:fillRect l="-758" b="-10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0439347-E1DE-DFA3-8F4A-B4652C222D9E}"/>
                  </a:ext>
                </a:extLst>
              </p:cNvPr>
              <p:cNvSpPr txBox="1"/>
              <p:nvPr/>
            </p:nvSpPr>
            <p:spPr>
              <a:xfrm>
                <a:off x="910511" y="6548282"/>
                <a:ext cx="435952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updated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=0.1−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9.286×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0.0991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0439347-E1DE-DFA3-8F4A-B4652C222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11" y="6548282"/>
                <a:ext cx="4359527" cy="215444"/>
              </a:xfrm>
              <a:prstGeom prst="rect">
                <a:avLst/>
              </a:prstGeom>
              <a:blipFill>
                <a:blip r:embed="rId18"/>
                <a:stretch>
                  <a:fillRect l="-838" r="-279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85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2DE2-7156-08CB-7480-06174F47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Backward propagation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/>
              <p:nvPr/>
            </p:nvSpPr>
            <p:spPr>
              <a:xfrm>
                <a:off x="348440" y="1643896"/>
                <a:ext cx="414087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[0.35, 0.9]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output: [0.5]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function: Sigmoid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Error function: mean-squared-error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40" y="1643896"/>
                <a:ext cx="4140877" cy="1938992"/>
              </a:xfrm>
              <a:prstGeom prst="rect">
                <a:avLst/>
              </a:prstGeom>
              <a:blipFill>
                <a:blip r:embed="rId2"/>
                <a:stretch>
                  <a:fillRect l="-1473" t="-1572" r="-736" b="-50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2906110-1DD2-159A-740A-0F6381AF7321}"/>
              </a:ext>
            </a:extLst>
          </p:cNvPr>
          <p:cNvGrpSpPr/>
          <p:nvPr/>
        </p:nvGrpSpPr>
        <p:grpSpPr>
          <a:xfrm>
            <a:off x="506031" y="3599373"/>
            <a:ext cx="7155958" cy="2525613"/>
            <a:chOff x="786855" y="2906008"/>
            <a:chExt cx="7155958" cy="252561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5B63916-D97B-E685-6308-AF6387FC2855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B056C9-316C-F355-CD67-020092F80C1D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5C7F4311-CE72-F89D-AA68-0D96DFF7BAB2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C86B81E1-0ADC-1BBC-FFD8-397E6909CC44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E26190D5-A4E5-CD96-AAA3-54F9D02280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9004AB82-CE15-1852-BAD2-71596238CB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9" name="Group 38">
                          <a:extLst>
                            <a:ext uri="{FF2B5EF4-FFF2-40B4-BE49-F238E27FC236}">
                              <a16:creationId xmlns:a16="http://schemas.microsoft.com/office/drawing/2014/main" id="{09BAAB72-2AAA-C0CC-4A18-52C5E6610D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42" name="Group 41">
                            <a:extLst>
                              <a:ext uri="{FF2B5EF4-FFF2-40B4-BE49-F238E27FC236}">
                                <a16:creationId xmlns:a16="http://schemas.microsoft.com/office/drawing/2014/main" id="{795C9ACB-B9AC-AD6E-12DA-84173E9F5E9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9" name="Group 48">
                              <a:extLst>
                                <a:ext uri="{FF2B5EF4-FFF2-40B4-BE49-F238E27FC236}">
                                  <a16:creationId xmlns:a16="http://schemas.microsoft.com/office/drawing/2014/main" id="{A677245A-9E7A-420A-E585-156F0830BDF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51" name="Group 50">
                                <a:extLst>
                                  <a:ext uri="{FF2B5EF4-FFF2-40B4-BE49-F238E27FC236}">
                                    <a16:creationId xmlns:a16="http://schemas.microsoft.com/office/drawing/2014/main" id="{90050741-20CD-6B90-332C-D0D53CC78C6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3" name="Oval 52">
                                  <a:extLst>
                                    <a:ext uri="{FF2B5EF4-FFF2-40B4-BE49-F238E27FC236}">
                                      <a16:creationId xmlns:a16="http://schemas.microsoft.com/office/drawing/2014/main" id="{C9DB2A01-7379-86C9-E5DB-507635FFB87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4" name="Oval 53">
                                  <a:extLst>
                                    <a:ext uri="{FF2B5EF4-FFF2-40B4-BE49-F238E27FC236}">
                                      <a16:creationId xmlns:a16="http://schemas.microsoft.com/office/drawing/2014/main" id="{77E8464D-3657-3005-B3A7-89614D382B7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5" name="Oval 54">
                                  <a:extLst>
                                    <a:ext uri="{FF2B5EF4-FFF2-40B4-BE49-F238E27FC236}">
                                      <a16:creationId xmlns:a16="http://schemas.microsoft.com/office/drawing/2014/main" id="{6A012A76-4723-73A6-8404-6B6FADD71D4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52" name="Oval 51">
                                <a:extLst>
                                  <a:ext uri="{FF2B5EF4-FFF2-40B4-BE49-F238E27FC236}">
                                    <a16:creationId xmlns:a16="http://schemas.microsoft.com/office/drawing/2014/main" id="{7CBAD740-422A-9590-E2F3-E21BBA9A389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50" name="Oval 49">
                              <a:extLst>
                                <a:ext uri="{FF2B5EF4-FFF2-40B4-BE49-F238E27FC236}">
                                  <a16:creationId xmlns:a16="http://schemas.microsoft.com/office/drawing/2014/main" id="{8214293F-F2DE-8E39-BEED-B33E90CCD7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30FD875A-434B-D79F-FA7E-22DEEE23FF51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3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696BF4B1-373D-50E9-A35D-1C8204132C16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4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0F4E7FD5-433E-CD02-1249-50BA21460554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3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6" name="Straight Arrow Connector 45">
                            <a:extLst>
                              <a:ext uri="{FF2B5EF4-FFF2-40B4-BE49-F238E27FC236}">
                                <a16:creationId xmlns:a16="http://schemas.microsoft.com/office/drawing/2014/main" id="{4091A1A4-889E-F578-0E46-E2BF5EBF4F6D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4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7" name="Straight Arrow Connector 46">
                            <a:extLst>
                              <a:ext uri="{FF2B5EF4-FFF2-40B4-BE49-F238E27FC236}">
                                <a16:creationId xmlns:a16="http://schemas.microsoft.com/office/drawing/2014/main" id="{DD86EA81-9CDA-8498-6F1A-83EEA6EB00C6}"/>
                              </a:ext>
                            </a:extLst>
                          </p:cNvPr>
                          <p:cNvCxnSpPr>
                            <a:cxnSpLocks/>
                            <a:stCxn id="53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8" name="Straight Arrow Connector 47">
                            <a:extLst>
                              <a:ext uri="{FF2B5EF4-FFF2-40B4-BE49-F238E27FC236}">
                                <a16:creationId xmlns:a16="http://schemas.microsoft.com/office/drawing/2014/main" id="{7AEDB457-28CC-2ABB-2C28-9EFEDE70B511}"/>
                              </a:ext>
                            </a:extLst>
                          </p:cNvPr>
                          <p:cNvCxnSpPr>
                            <a:cxnSpLocks/>
                            <a:stCxn id="54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40" name="TextBox 39">
                          <a:extLst>
                            <a:ext uri="{FF2B5EF4-FFF2-40B4-BE49-F238E27FC236}">
                              <a16:creationId xmlns:a16="http://schemas.microsoft.com/office/drawing/2014/main" id="{5DAC70BD-41DC-3021-BCFB-79E4F80BB12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C0243EB9-5D33-7270-2ACA-5A00404F82B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E61C35C7-1970-A355-E3C1-8749D5DE38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AE22A612-5BD8-EFD9-77E8-C5C257AAB5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82940DAB-1D8E-FED2-0F85-1514BC1DF0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2E27B718-48ED-1CFB-EEE5-E5FAB9B9288B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02175C9-A615-E3E2-A88A-1CEBA5F48464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2AF6C5-2ED9-F62A-63DA-5C0EAF8AEBCC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BEF3632-2EB4-C5EF-4043-6E1F8209C564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0.0991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334F02A-8B07-D0DF-4C79-830F08A2BD80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0.3971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1D8FF6-CDFD-5603-4EEB-BD149734A4B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0.7976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6DD052D-9BE4-396D-5CAE-2CE07D16A627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3"/>
                      </a:solidFill>
                    </a:rPr>
                    <a:t>0.5926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6E0F6F-DB75-A4EF-3D8C-672D01948E38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0.2724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122313B-436A-1EE9-DD82-0B82985089D8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0.8731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54E99CE-300B-40EA-7726-D0EB4058D2A3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E66A0BBA-BE6C-2821-6576-C4BF8A59BD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AB1FC8C-9F70-FE52-ADED-3994CA3A87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983AC18-336F-D644-EDD5-243B8B5823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2B442F44-7AB4-3B32-19B0-8B2A71A1C4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0ADD7F85-6168-1013-7994-4A9CEA8696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FA9A71-DDBB-CAF3-3FFA-75A9B8AC69AF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82E9CD15-0474-A3BE-FF2B-E47413BC30B2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82E9CD15-0474-A3BE-FF2B-E47413BC30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14557F5-81CB-E77B-3814-836DFCBD01BC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14557F5-81CB-E77B-3814-836DFCBD01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E24A9BB-22C7-4052-BD99-DD1C4D05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E24A9BB-22C7-4052-BD99-DD1C4D056C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434" r="-943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5A57B0F-8D86-1BBC-545C-D4120BACF007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5A57B0F-8D86-1BBC-545C-D4120BACF0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765" r="-7843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4CE71A9-FFAD-BF16-9886-3735F24D1E2F}"/>
              </a:ext>
            </a:extLst>
          </p:cNvPr>
          <p:cNvSpPr txBox="1"/>
          <p:nvPr/>
        </p:nvSpPr>
        <p:spPr>
          <a:xfrm>
            <a:off x="3863261" y="440774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B91082-6E9A-B8B5-8D87-3E09315F5F38}"/>
              </a:ext>
            </a:extLst>
          </p:cNvPr>
          <p:cNvSpPr txBox="1"/>
          <p:nvPr/>
        </p:nvSpPr>
        <p:spPr>
          <a:xfrm>
            <a:off x="3751116" y="555341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0.6637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F81DDB-2825-060F-6CF4-8132377ABC94}"/>
              </a:ext>
            </a:extLst>
          </p:cNvPr>
          <p:cNvSpPr txBox="1"/>
          <p:nvPr/>
        </p:nvSpPr>
        <p:spPr>
          <a:xfrm>
            <a:off x="6054112" y="508115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0.69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A38F1B-A40E-E010-0FB7-1710CAE159A7}"/>
              </a:ext>
            </a:extLst>
          </p:cNvPr>
          <p:cNvGrpSpPr/>
          <p:nvPr/>
        </p:nvGrpSpPr>
        <p:grpSpPr>
          <a:xfrm>
            <a:off x="5054808" y="2098339"/>
            <a:ext cx="6155834" cy="1464831"/>
            <a:chOff x="3938066" y="1380759"/>
            <a:chExt cx="6155834" cy="14648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EC28307-4114-6DBE-BAE1-5A8D6594E380}"/>
                    </a:ext>
                  </a:extLst>
                </p:cNvPr>
                <p:cNvSpPr txBox="1"/>
                <p:nvPr/>
              </p:nvSpPr>
              <p:spPr>
                <a:xfrm>
                  <a:off x="5759701" y="2210031"/>
                  <a:ext cx="4334199" cy="6355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EC28307-4114-6DBE-BAE1-5A8D6594E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701" y="2210031"/>
                  <a:ext cx="4334199" cy="63555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EFE248A-F76E-E5A3-84CB-712FA59593D4}"/>
                    </a:ext>
                  </a:extLst>
                </p:cNvPr>
                <p:cNvSpPr txBox="1"/>
                <p:nvPr/>
              </p:nvSpPr>
              <p:spPr>
                <a:xfrm>
                  <a:off x="3938066" y="1380759"/>
                  <a:ext cx="5735224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How should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(at the hidden layer) be updated?</a:t>
                  </a:r>
                </a:p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How much a change in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affects the total error?</a:t>
                  </a:r>
                </a:p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By chain rule</a:t>
                  </a: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EFE248A-F76E-E5A3-84CB-712FA5959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8066" y="1380759"/>
                  <a:ext cx="5735224" cy="1323439"/>
                </a:xfrm>
                <a:prstGeom prst="rect">
                  <a:avLst/>
                </a:prstGeom>
                <a:blipFill>
                  <a:blip r:embed="rId16"/>
                  <a:stretch>
                    <a:fillRect l="-1063" t="-1843" r="-106" b="-783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C1BA1B-34CC-F47F-8BBF-633B410B13A1}"/>
                  </a:ext>
                </a:extLst>
              </p:cNvPr>
              <p:cNvSpPr txBox="1"/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Symbol notes: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values in input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output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inputs to hidden neurons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outputs from hidden neurons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C1BA1B-34CC-F47F-8BBF-633B410B1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177" y="5068381"/>
                <a:ext cx="3381823" cy="1754326"/>
              </a:xfrm>
              <a:prstGeom prst="rect">
                <a:avLst/>
              </a:prstGeom>
              <a:blipFill>
                <a:blip r:embed="rId17"/>
                <a:stretch>
                  <a:fillRect l="-1257" t="-1379" r="-359" b="-41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37B97C9-E211-679C-262D-9BAC7DF8AE4A}"/>
                  </a:ext>
                </a:extLst>
              </p:cNvPr>
              <p:cNvSpPr txBox="1"/>
              <p:nvPr/>
            </p:nvSpPr>
            <p:spPr>
              <a:xfrm>
                <a:off x="2085927" y="6374469"/>
                <a:ext cx="31096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Similarly,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37B97C9-E211-679C-262D-9BAC7DF8A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927" y="6374469"/>
                <a:ext cx="3109697" cy="400110"/>
              </a:xfrm>
              <a:prstGeom prst="rect">
                <a:avLst/>
              </a:prstGeom>
              <a:blipFill>
                <a:blip r:embed="rId18"/>
                <a:stretch>
                  <a:fillRect l="-1961" t="-10769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705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2DE2-7156-08CB-7480-06174F47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Forward and backward propagation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/>
              <p:nvPr/>
            </p:nvSpPr>
            <p:spPr>
              <a:xfrm>
                <a:off x="348440" y="1643896"/>
                <a:ext cx="414087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[0.35, 0.9]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output: [0.5]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function: Sigmoid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Error function: mean-squared-error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FC5B0B-F773-0E97-C955-F2880D3EB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40" y="1643896"/>
                <a:ext cx="4140877" cy="1938992"/>
              </a:xfrm>
              <a:prstGeom prst="rect">
                <a:avLst/>
              </a:prstGeom>
              <a:blipFill>
                <a:blip r:embed="rId2"/>
                <a:stretch>
                  <a:fillRect l="-1473" t="-1572" r="-736" b="-50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2906110-1DD2-159A-740A-0F6381AF7321}"/>
              </a:ext>
            </a:extLst>
          </p:cNvPr>
          <p:cNvGrpSpPr/>
          <p:nvPr/>
        </p:nvGrpSpPr>
        <p:grpSpPr>
          <a:xfrm>
            <a:off x="506031" y="3599373"/>
            <a:ext cx="7155958" cy="2525613"/>
            <a:chOff x="786855" y="2906008"/>
            <a:chExt cx="7155958" cy="252561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5B63916-D97B-E685-6308-AF6387FC2855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B056C9-316C-F355-CD67-020092F80C1D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5C7F4311-CE72-F89D-AA68-0D96DFF7BAB2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C86B81E1-0ADC-1BBC-FFD8-397E6909CC44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E26190D5-A4E5-CD96-AAA3-54F9D02280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9004AB82-CE15-1852-BAD2-71596238CB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9" name="Group 38">
                          <a:extLst>
                            <a:ext uri="{FF2B5EF4-FFF2-40B4-BE49-F238E27FC236}">
                              <a16:creationId xmlns:a16="http://schemas.microsoft.com/office/drawing/2014/main" id="{09BAAB72-2AAA-C0CC-4A18-52C5E6610D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42" name="Group 41">
                            <a:extLst>
                              <a:ext uri="{FF2B5EF4-FFF2-40B4-BE49-F238E27FC236}">
                                <a16:creationId xmlns:a16="http://schemas.microsoft.com/office/drawing/2014/main" id="{795C9ACB-B9AC-AD6E-12DA-84173E9F5E9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9" name="Group 48">
                              <a:extLst>
                                <a:ext uri="{FF2B5EF4-FFF2-40B4-BE49-F238E27FC236}">
                                  <a16:creationId xmlns:a16="http://schemas.microsoft.com/office/drawing/2014/main" id="{A677245A-9E7A-420A-E585-156F0830BDF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51" name="Group 50">
                                <a:extLst>
                                  <a:ext uri="{FF2B5EF4-FFF2-40B4-BE49-F238E27FC236}">
                                    <a16:creationId xmlns:a16="http://schemas.microsoft.com/office/drawing/2014/main" id="{90050741-20CD-6B90-332C-D0D53CC78C6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53" name="Oval 52">
                                  <a:extLst>
                                    <a:ext uri="{FF2B5EF4-FFF2-40B4-BE49-F238E27FC236}">
                                      <a16:creationId xmlns:a16="http://schemas.microsoft.com/office/drawing/2014/main" id="{C9DB2A01-7379-86C9-E5DB-507635FFB87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4" name="Oval 53">
                                  <a:extLst>
                                    <a:ext uri="{FF2B5EF4-FFF2-40B4-BE49-F238E27FC236}">
                                      <a16:creationId xmlns:a16="http://schemas.microsoft.com/office/drawing/2014/main" id="{77E8464D-3657-3005-B3A7-89614D382B7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5" name="Oval 54">
                                  <a:extLst>
                                    <a:ext uri="{FF2B5EF4-FFF2-40B4-BE49-F238E27FC236}">
                                      <a16:creationId xmlns:a16="http://schemas.microsoft.com/office/drawing/2014/main" id="{6A012A76-4723-73A6-8404-6B6FADD71D4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52" name="Oval 51">
                                <a:extLst>
                                  <a:ext uri="{FF2B5EF4-FFF2-40B4-BE49-F238E27FC236}">
                                    <a16:creationId xmlns:a16="http://schemas.microsoft.com/office/drawing/2014/main" id="{7CBAD740-422A-9590-E2F3-E21BBA9A389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50" name="Oval 49">
                              <a:extLst>
                                <a:ext uri="{FF2B5EF4-FFF2-40B4-BE49-F238E27FC236}">
                                  <a16:creationId xmlns:a16="http://schemas.microsoft.com/office/drawing/2014/main" id="{8214293F-F2DE-8E39-BEED-B33E90CCD7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30FD875A-434B-D79F-FA7E-22DEEE23FF51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3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696BF4B1-373D-50E9-A35D-1C8204132C16}"/>
                              </a:ext>
                            </a:extLst>
                          </p:cNvPr>
                          <p:cNvCxnSpPr>
                            <a:cxnSpLocks/>
                            <a:stCxn id="52" idx="6"/>
                            <a:endCxn id="54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" name="Straight Arrow Connector 44">
                            <a:extLst>
                              <a:ext uri="{FF2B5EF4-FFF2-40B4-BE49-F238E27FC236}">
                                <a16:creationId xmlns:a16="http://schemas.microsoft.com/office/drawing/2014/main" id="{0F4E7FD5-433E-CD02-1249-50BA21460554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3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6" name="Straight Arrow Connector 45">
                            <a:extLst>
                              <a:ext uri="{FF2B5EF4-FFF2-40B4-BE49-F238E27FC236}">
                                <a16:creationId xmlns:a16="http://schemas.microsoft.com/office/drawing/2014/main" id="{4091A1A4-889E-F578-0E46-E2BF5EBF4F6D}"/>
                              </a:ext>
                            </a:extLst>
                          </p:cNvPr>
                          <p:cNvCxnSpPr>
                            <a:cxnSpLocks/>
                            <a:stCxn id="55" idx="6"/>
                            <a:endCxn id="54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7" name="Straight Arrow Connector 46">
                            <a:extLst>
                              <a:ext uri="{FF2B5EF4-FFF2-40B4-BE49-F238E27FC236}">
                                <a16:creationId xmlns:a16="http://schemas.microsoft.com/office/drawing/2014/main" id="{DD86EA81-9CDA-8498-6F1A-83EEA6EB00C6}"/>
                              </a:ext>
                            </a:extLst>
                          </p:cNvPr>
                          <p:cNvCxnSpPr>
                            <a:cxnSpLocks/>
                            <a:stCxn id="53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8" name="Straight Arrow Connector 47">
                            <a:extLst>
                              <a:ext uri="{FF2B5EF4-FFF2-40B4-BE49-F238E27FC236}">
                                <a16:creationId xmlns:a16="http://schemas.microsoft.com/office/drawing/2014/main" id="{7AEDB457-28CC-2ABB-2C28-9EFEDE70B511}"/>
                              </a:ext>
                            </a:extLst>
                          </p:cNvPr>
                          <p:cNvCxnSpPr>
                            <a:cxnSpLocks/>
                            <a:stCxn id="54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40" name="TextBox 39">
                          <a:extLst>
                            <a:ext uri="{FF2B5EF4-FFF2-40B4-BE49-F238E27FC236}">
                              <a16:creationId xmlns:a16="http://schemas.microsoft.com/office/drawing/2014/main" id="{5DAC70BD-41DC-3021-BCFB-79E4F80BB12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C0243EB9-5D33-7270-2ACA-5A00404F82B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E61C35C7-1970-A355-E3C1-8749D5DE38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AE22A612-5BD8-EFD9-77E8-C5C257AAB5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82940DAB-1D8E-FED2-0F85-1514BC1DF0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2E27B718-48ED-1CFB-EEE5-E5FAB9B9288B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02175C9-A615-E3E2-A88A-1CEBA5F48464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2AF6C5-2ED9-F62A-63DA-5C0EAF8AEBCC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BEF3632-2EB4-C5EF-4043-6E1F8209C564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0.0991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334F02A-8B07-D0DF-4C79-830F08A2BD80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0.3971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1D8FF6-CDFD-5603-4EEB-BD149734A4B9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0.7976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6DD052D-9BE4-396D-5CAE-2CE07D16A627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0.5926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C6E0F6F-DB75-A4EF-3D8C-672D01948E38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0.2724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122313B-436A-1EE9-DD82-0B82985089D8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827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0.8731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54E99CE-300B-40EA-7726-D0EB4058D2A3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E66A0BBA-BE6C-2821-6576-C4BF8A59BD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CAB1FC8C-9F70-FE52-ADED-3994CA3A87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983AC18-336F-D644-EDD5-243B8B5823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2B442F44-7AB4-3B32-19B0-8B2A71A1C4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0ADD7F85-6168-1013-7994-4A9CEA8696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FA9A71-DDBB-CAF3-3FFA-75A9B8AC69AF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82E9CD15-0474-A3BE-FF2B-E47413BC30B2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14557F5-81CB-E77B-3814-836DFCBD01BC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14557F5-81CB-E77B-3814-836DFCBD01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E24A9BB-22C7-4052-BD99-DD1C4D056C88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E24A9BB-22C7-4052-BD99-DD1C4D056C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434" r="-943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5A57B0F-8D86-1BBC-545C-D4120BACF007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5A57B0F-8D86-1BBC-545C-D4120BACF0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765" r="-7843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A54F03F-F285-5F5B-E46E-C55E7E73BE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5E42615C-A925-8A27-341C-6B89ED7D98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4CE71A9-FFAD-BF16-9886-3735F24D1E2F}"/>
              </a:ext>
            </a:extLst>
          </p:cNvPr>
          <p:cNvSpPr txBox="1"/>
          <p:nvPr/>
        </p:nvSpPr>
        <p:spPr>
          <a:xfrm>
            <a:off x="3863261" y="440774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B91082-6E9A-B8B5-8D87-3E09315F5F38}"/>
              </a:ext>
            </a:extLst>
          </p:cNvPr>
          <p:cNvSpPr txBox="1"/>
          <p:nvPr/>
        </p:nvSpPr>
        <p:spPr>
          <a:xfrm>
            <a:off x="3751116" y="555341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0.6637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F81DDB-2825-060F-6CF4-8132377ABC94}"/>
              </a:ext>
            </a:extLst>
          </p:cNvPr>
          <p:cNvSpPr txBox="1"/>
          <p:nvPr/>
        </p:nvSpPr>
        <p:spPr>
          <a:xfrm>
            <a:off x="5978630" y="508115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0.682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A38F1B-A40E-E010-0FB7-1710CAE159A7}"/>
              </a:ext>
            </a:extLst>
          </p:cNvPr>
          <p:cNvGrpSpPr/>
          <p:nvPr/>
        </p:nvGrpSpPr>
        <p:grpSpPr>
          <a:xfrm>
            <a:off x="5054808" y="2098339"/>
            <a:ext cx="6155834" cy="1464831"/>
            <a:chOff x="3938066" y="1380759"/>
            <a:chExt cx="6155834" cy="14648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EC28307-4114-6DBE-BAE1-5A8D6594E380}"/>
                    </a:ext>
                  </a:extLst>
                </p:cNvPr>
                <p:cNvSpPr txBox="1"/>
                <p:nvPr/>
              </p:nvSpPr>
              <p:spPr>
                <a:xfrm>
                  <a:off x="5759701" y="2210031"/>
                  <a:ext cx="4334199" cy="6355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𝑖𝑜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𝑖h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EC28307-4114-6DBE-BAE1-5A8D6594E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9701" y="2210031"/>
                  <a:ext cx="4334199" cy="63555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EFE248A-F76E-E5A3-84CB-712FA59593D4}"/>
                    </a:ext>
                  </a:extLst>
                </p:cNvPr>
                <p:cNvSpPr txBox="1"/>
                <p:nvPr/>
              </p:nvSpPr>
              <p:spPr>
                <a:xfrm>
                  <a:off x="3938066" y="1380759"/>
                  <a:ext cx="5735224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How should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(at the hidden layer) be updated?</a:t>
                  </a:r>
                </a:p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How much a change in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affects the total error?</a:t>
                  </a:r>
                </a:p>
                <a:p>
                  <a:pPr>
                    <a:spcAft>
                      <a:spcPts val="1200"/>
                    </a:spcAft>
                  </a:pPr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By chain rule</a:t>
                  </a: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EFE248A-F76E-E5A3-84CB-712FA5959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8066" y="1380759"/>
                  <a:ext cx="5735224" cy="1323439"/>
                </a:xfrm>
                <a:prstGeom prst="rect">
                  <a:avLst/>
                </a:prstGeom>
                <a:blipFill>
                  <a:blip r:embed="rId16"/>
                  <a:stretch>
                    <a:fillRect l="-1063" t="-1843" r="-106" b="-783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65283E-25F2-25EF-5F61-4BE6E4F558AD}"/>
                  </a:ext>
                </a:extLst>
              </p:cNvPr>
              <p:cNvSpPr txBox="1"/>
              <p:nvPr/>
            </p:nvSpPr>
            <p:spPr>
              <a:xfrm>
                <a:off x="1559746" y="6023200"/>
                <a:ext cx="4262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With all wights updated,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now 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0.682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65283E-25F2-25EF-5F61-4BE6E4F55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746" y="6023200"/>
                <a:ext cx="4262834" cy="369332"/>
              </a:xfrm>
              <a:prstGeom prst="rect">
                <a:avLst/>
              </a:prstGeom>
              <a:blipFill>
                <a:blip r:embed="rId17"/>
                <a:stretch>
                  <a:fillRect l="-1288" t="-8197" r="-28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995F35F-A644-5DAC-B926-5A999791D795}"/>
                  </a:ext>
                </a:extLst>
              </p:cNvPr>
              <p:cNvSpPr txBox="1"/>
              <p:nvPr/>
            </p:nvSpPr>
            <p:spPr>
              <a:xfrm>
                <a:off x="1637919" y="6372765"/>
                <a:ext cx="4532972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target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(0.6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82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−0.5)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=0.01656,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995F35F-A644-5DAC-B926-5A999791D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919" y="6372765"/>
                <a:ext cx="4532972" cy="46102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B9B9303-0043-7236-9650-5402B268655E}"/>
                  </a:ext>
                </a:extLst>
              </p:cNvPr>
              <p:cNvSpPr txBox="1"/>
              <p:nvPr/>
            </p:nvSpPr>
            <p:spPr>
              <a:xfrm>
                <a:off x="6120311" y="6418611"/>
                <a:ext cx="28360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previous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0.01805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B9B9303-0043-7236-9650-5402B2686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311" y="6418611"/>
                <a:ext cx="2836033" cy="369332"/>
              </a:xfrm>
              <a:prstGeom prst="rect">
                <a:avLst/>
              </a:prstGeom>
              <a:blipFill>
                <a:blip r:embed="rId19"/>
                <a:stretch>
                  <a:fillRect l="-1935" t="-9836" r="-860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9C68703-69F4-80FC-A43C-0428DB57ED72}"/>
              </a:ext>
            </a:extLst>
          </p:cNvPr>
          <p:cNvSpPr txBox="1"/>
          <p:nvPr/>
        </p:nvSpPr>
        <p:spPr>
          <a:xfrm>
            <a:off x="8988864" y="6418611"/>
            <a:ext cx="277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More iterations. </a:t>
            </a:r>
          </a:p>
        </p:txBody>
      </p:sp>
    </p:spTree>
    <p:extLst>
      <p:ext uri="{BB962C8B-B14F-4D97-AF65-F5344CB8AC3E}">
        <p14:creationId xmlns:p14="http://schemas.microsoft.com/office/powerpoint/2010/main" val="220367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1" grpId="0"/>
      <p:bldP spid="6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8228-D497-45CA-B5E4-4F7BB086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Prediction phase</a:t>
            </a:r>
            <a:br>
              <a:rPr lang="en-GB" dirty="0"/>
            </a:b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16BEF93-9960-2937-15C9-E5B3C23AA928}"/>
              </a:ext>
            </a:extLst>
          </p:cNvPr>
          <p:cNvGrpSpPr/>
          <p:nvPr/>
        </p:nvGrpSpPr>
        <p:grpSpPr>
          <a:xfrm>
            <a:off x="1585531" y="1859473"/>
            <a:ext cx="7155958" cy="2525613"/>
            <a:chOff x="786855" y="2906008"/>
            <a:chExt cx="7155958" cy="252561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B254809-BAED-A82E-1E98-4C6DDF9A8A94}"/>
                </a:ext>
              </a:extLst>
            </p:cNvPr>
            <p:cNvGrpSpPr/>
            <p:nvPr/>
          </p:nvGrpSpPr>
          <p:grpSpPr>
            <a:xfrm>
              <a:off x="786855" y="2906008"/>
              <a:ext cx="7155958" cy="2525613"/>
              <a:chOff x="786855" y="2906008"/>
              <a:chExt cx="7155958" cy="2525613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968296D-A4C0-5FFE-DA6E-3175380C25C0}"/>
                  </a:ext>
                </a:extLst>
              </p:cNvPr>
              <p:cNvGrpSpPr/>
              <p:nvPr/>
            </p:nvGrpSpPr>
            <p:grpSpPr>
              <a:xfrm>
                <a:off x="786855" y="2906008"/>
                <a:ext cx="7155958" cy="2525613"/>
                <a:chOff x="786855" y="2925058"/>
                <a:chExt cx="7155958" cy="2525613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7D57B7A-0EE3-E04F-1C0B-94FF07A614D8}"/>
                    </a:ext>
                  </a:extLst>
                </p:cNvPr>
                <p:cNvGrpSpPr/>
                <p:nvPr/>
              </p:nvGrpSpPr>
              <p:grpSpPr>
                <a:xfrm>
                  <a:off x="786855" y="2925058"/>
                  <a:ext cx="7155958" cy="2525613"/>
                  <a:chOff x="1830886" y="3375746"/>
                  <a:chExt cx="4968063" cy="1731173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3BF9EA7E-517B-61D8-2728-0FDD2263EF6F}"/>
                      </a:ext>
                    </a:extLst>
                  </p:cNvPr>
                  <p:cNvGrpSpPr/>
                  <p:nvPr/>
                </p:nvGrpSpPr>
                <p:grpSpPr>
                  <a:xfrm>
                    <a:off x="1830886" y="3375746"/>
                    <a:ext cx="4968063" cy="1731173"/>
                    <a:chOff x="1781829" y="2265259"/>
                    <a:chExt cx="4968063" cy="1731173"/>
                  </a:xfrm>
                </p:grpSpPr>
                <p:grpSp>
                  <p:nvGrpSpPr>
                    <p:cNvPr id="30" name="Group 29">
                      <a:extLst>
                        <a:ext uri="{FF2B5EF4-FFF2-40B4-BE49-F238E27FC236}">
                          <a16:creationId xmlns:a16="http://schemas.microsoft.com/office/drawing/2014/main" id="{E31AB491-E347-546E-AAA2-3078C015DF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1829" y="2265259"/>
                      <a:ext cx="4619866" cy="1731173"/>
                      <a:chOff x="787530" y="1927907"/>
                      <a:chExt cx="4619866" cy="1731173"/>
                    </a:xfrm>
                  </p:grpSpPr>
                  <p:grpSp>
                    <p:nvGrpSpPr>
                      <p:cNvPr id="32" name="Group 31">
                        <a:extLst>
                          <a:ext uri="{FF2B5EF4-FFF2-40B4-BE49-F238E27FC236}">
                            <a16:creationId xmlns:a16="http://schemas.microsoft.com/office/drawing/2014/main" id="{A5759071-FC1C-CE6C-09EA-9C4FF968529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87530" y="2355228"/>
                        <a:ext cx="4291772" cy="1303852"/>
                        <a:chOff x="787530" y="2355228"/>
                        <a:chExt cx="4291772" cy="1303852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19F4BA81-34A2-90CF-CB7D-23920DE2099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79590" y="2355228"/>
                          <a:ext cx="3399712" cy="1303852"/>
                          <a:chOff x="1679590" y="2355228"/>
                          <a:chExt cx="3399712" cy="1303852"/>
                        </a:xfrm>
                      </p:grpSpPr>
                      <p:grpSp>
                        <p:nvGrpSpPr>
                          <p:cNvPr id="38" name="Group 37">
                            <a:extLst>
                              <a:ext uri="{FF2B5EF4-FFF2-40B4-BE49-F238E27FC236}">
                                <a16:creationId xmlns:a16="http://schemas.microsoft.com/office/drawing/2014/main" id="{D9A31E4B-6FB1-F9BA-42F1-7C25716B97B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9590" y="2355228"/>
                            <a:ext cx="3399712" cy="1303852"/>
                            <a:chOff x="1679590" y="2355228"/>
                            <a:chExt cx="3399712" cy="1303852"/>
                          </a:xfrm>
                        </p:grpSpPr>
                        <p:grpSp>
                          <p:nvGrpSpPr>
                            <p:cNvPr id="45" name="Group 44">
                              <a:extLst>
                                <a:ext uri="{FF2B5EF4-FFF2-40B4-BE49-F238E27FC236}">
                                  <a16:creationId xmlns:a16="http://schemas.microsoft.com/office/drawing/2014/main" id="{97ADD4BD-E04C-12F9-7EAD-B1DFCBFE8C5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679590" y="2355228"/>
                              <a:ext cx="1898381" cy="1303852"/>
                              <a:chOff x="1457648" y="2195430"/>
                              <a:chExt cx="1898381" cy="1303852"/>
                            </a:xfrm>
                          </p:grpSpPr>
                          <p:grpSp>
                            <p:nvGrpSpPr>
                              <p:cNvPr id="47" name="Group 46">
                                <a:extLst>
                                  <a:ext uri="{FF2B5EF4-FFF2-40B4-BE49-F238E27FC236}">
                                    <a16:creationId xmlns:a16="http://schemas.microsoft.com/office/drawing/2014/main" id="{10EA1B54-7211-FDB0-9F95-B97C48C0A75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457648" y="2195430"/>
                                <a:ext cx="1898381" cy="1303852"/>
                                <a:chOff x="-60434" y="2239818"/>
                                <a:chExt cx="1898381" cy="1303852"/>
                              </a:xfrm>
                            </p:grpSpPr>
                            <p:sp>
                              <p:nvSpPr>
                                <p:cNvPr id="49" name="Oval 48">
                                  <a:extLst>
                                    <a:ext uri="{FF2B5EF4-FFF2-40B4-BE49-F238E27FC236}">
                                      <a16:creationId xmlns:a16="http://schemas.microsoft.com/office/drawing/2014/main" id="{DB54364B-EF40-9516-79BB-24072CF7DC6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25706" y="2239818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0" name="Oval 49">
                                  <a:extLst>
                                    <a:ext uri="{FF2B5EF4-FFF2-40B4-BE49-F238E27FC236}">
                                      <a16:creationId xmlns:a16="http://schemas.microsoft.com/office/drawing/2014/main" id="{942939C8-DB5D-018F-E04F-0D2787E5D568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330645" y="3030681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rgbClr val="002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  <p:sp>
                              <p:nvSpPr>
                                <p:cNvPr id="51" name="Oval 50">
                                  <a:extLst>
                                    <a:ext uri="{FF2B5EF4-FFF2-40B4-BE49-F238E27FC236}">
                                      <a16:creationId xmlns:a16="http://schemas.microsoft.com/office/drawing/2014/main" id="{68B0FBF0-15E5-877A-0B4F-1F01EE699EA5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60434" y="3036966"/>
                                  <a:ext cx="507302" cy="506704"/>
                                </a:xfrm>
                                <a:prstGeom prst="ellipse">
                                  <a:avLst/>
                                </a:prstGeom>
                                <a:ln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/>
                                </a:lnRef>
                                <a:fillRef idx="1">
                                  <a:schemeClr val="l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48" name="Oval 47">
                                <a:extLst>
                                  <a:ext uri="{FF2B5EF4-FFF2-40B4-BE49-F238E27FC236}">
                                    <a16:creationId xmlns:a16="http://schemas.microsoft.com/office/drawing/2014/main" id="{2945DCBA-AB2C-13E6-8497-65327845168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57648" y="2195430"/>
                                <a:ext cx="507302" cy="506704"/>
                              </a:xfrm>
                              <a:prstGeom prst="ellipse">
                                <a:avLst/>
                              </a:prstGeom>
                              <a:ln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1">
                                <a:schemeClr val="l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dk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 sz="700" dirty="0"/>
                              </a:p>
                            </p:txBody>
                          </p:sp>
                        </p:grpSp>
                        <p:sp>
                          <p:nvSpPr>
                            <p:cNvPr id="46" name="Oval 45">
                              <a:extLst>
                                <a:ext uri="{FF2B5EF4-FFF2-40B4-BE49-F238E27FC236}">
                                  <a16:creationId xmlns:a16="http://schemas.microsoft.com/office/drawing/2014/main" id="{FB2F9956-9595-5894-60C3-AD7E9FB3E6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572000" y="2804692"/>
                              <a:ext cx="507302" cy="506704"/>
                            </a:xfrm>
                            <a:prstGeom prst="ellipse">
                              <a:avLst/>
                            </a:prstGeom>
                            <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dirty="0"/>
                            </a:p>
                          </p:txBody>
                        </p:sp>
                      </p:grpSp>
                      <p:cxnSp>
                        <p:nvCxnSpPr>
                          <p:cNvPr id="39" name="Straight Arrow Connector 38">
                            <a:extLst>
                              <a:ext uri="{FF2B5EF4-FFF2-40B4-BE49-F238E27FC236}">
                                <a16:creationId xmlns:a16="http://schemas.microsoft.com/office/drawing/2014/main" id="{A1643CB9-B857-C677-0966-21FBCC0A4B9E}"/>
                              </a:ext>
                            </a:extLst>
                          </p:cNvPr>
                          <p:cNvCxnSpPr>
                            <a:cxnSpLocks/>
                            <a:stCxn id="48" idx="6"/>
                            <a:endCxn id="49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78838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0" name="Straight Arrow Connector 39">
                            <a:extLst>
                              <a:ext uri="{FF2B5EF4-FFF2-40B4-BE49-F238E27FC236}">
                                <a16:creationId xmlns:a16="http://schemas.microsoft.com/office/drawing/2014/main" id="{91AACD58-ED46-B7F6-ED92-4F9D44CA0E40}"/>
                              </a:ext>
                            </a:extLst>
                          </p:cNvPr>
                          <p:cNvCxnSpPr>
                            <a:cxnSpLocks/>
                            <a:stCxn id="48" idx="6"/>
                            <a:endCxn id="50" idx="2"/>
                          </p:cNvCxnSpPr>
                          <p:nvPr/>
                        </p:nvCxnSpPr>
                        <p:spPr>
                          <a:xfrm>
                            <a:off x="2186892" y="2608580"/>
                            <a:ext cx="883777" cy="790863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1" name="Straight Arrow Connector 40">
                            <a:extLst>
                              <a:ext uri="{FF2B5EF4-FFF2-40B4-BE49-F238E27FC236}">
                                <a16:creationId xmlns:a16="http://schemas.microsoft.com/office/drawing/2014/main" id="{0A4E23DC-74F9-DAB1-89D4-CBA1FB94A36E}"/>
                              </a:ext>
                            </a:extLst>
                          </p:cNvPr>
                          <p:cNvCxnSpPr>
                            <a:cxnSpLocks/>
                            <a:stCxn id="51" idx="6"/>
                            <a:endCxn id="49" idx="2"/>
                          </p:cNvCxnSpPr>
                          <p:nvPr/>
                        </p:nvCxnSpPr>
                        <p:spPr>
                          <a:xfrm flipV="1">
                            <a:off x="2186892" y="2608580"/>
                            <a:ext cx="878838" cy="797148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2" name="Straight Arrow Connector 41">
                            <a:extLst>
                              <a:ext uri="{FF2B5EF4-FFF2-40B4-BE49-F238E27FC236}">
                                <a16:creationId xmlns:a16="http://schemas.microsoft.com/office/drawing/2014/main" id="{26809782-949D-2E9B-DA40-0EAC650B50FE}"/>
                              </a:ext>
                            </a:extLst>
                          </p:cNvPr>
                          <p:cNvCxnSpPr>
                            <a:cxnSpLocks/>
                            <a:stCxn id="51" idx="6"/>
                            <a:endCxn id="50" idx="2"/>
                          </p:cNvCxnSpPr>
                          <p:nvPr/>
                        </p:nvCxnSpPr>
                        <p:spPr>
                          <a:xfrm flipV="1">
                            <a:off x="2186892" y="3399443"/>
                            <a:ext cx="883777" cy="6285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3" name="Straight Arrow Connector 42">
                            <a:extLst>
                              <a:ext uri="{FF2B5EF4-FFF2-40B4-BE49-F238E27FC236}">
                                <a16:creationId xmlns:a16="http://schemas.microsoft.com/office/drawing/2014/main" id="{61788A23-3465-1A78-8FC9-B62EF5538E49}"/>
                              </a:ext>
                            </a:extLst>
                          </p:cNvPr>
                          <p:cNvCxnSpPr>
                            <a:cxnSpLocks/>
                            <a:stCxn id="49" idx="6"/>
                            <a:endCxn id="46" idx="2"/>
                          </p:cNvCxnSpPr>
                          <p:nvPr/>
                        </p:nvCxnSpPr>
                        <p:spPr>
                          <a:xfrm>
                            <a:off x="3573032" y="2608580"/>
                            <a:ext cx="998968" cy="449464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4" name="Straight Arrow Connector 43">
                            <a:extLst>
                              <a:ext uri="{FF2B5EF4-FFF2-40B4-BE49-F238E27FC236}">
                                <a16:creationId xmlns:a16="http://schemas.microsoft.com/office/drawing/2014/main" id="{1DF66829-1769-93EB-2B61-2E53251ED53E}"/>
                              </a:ext>
                            </a:extLst>
                          </p:cNvPr>
                          <p:cNvCxnSpPr>
                            <a:cxnSpLocks/>
                            <a:stCxn id="50" idx="6"/>
                            <a:endCxn id="46" idx="2"/>
                          </p:cNvCxnSpPr>
                          <p:nvPr/>
                        </p:nvCxnSpPr>
                        <p:spPr>
                          <a:xfrm flipV="1">
                            <a:off x="3577971" y="3058044"/>
                            <a:ext cx="994029" cy="341399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rgbClr val="7030A0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6" name="TextBox 35">
                          <a:extLst>
                            <a:ext uri="{FF2B5EF4-FFF2-40B4-BE49-F238E27FC236}">
                              <a16:creationId xmlns:a16="http://schemas.microsoft.com/office/drawing/2014/main" id="{8C69F507-1107-6E15-D273-E7C803FAC90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87530" y="2423914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1</a:t>
                          </a:r>
                        </a:p>
                      </p:txBody>
                    </p:sp>
                    <p:sp>
                      <p:nvSpPr>
                        <p:cNvPr id="37" name="TextBox 36">
                          <a:extLst>
                            <a:ext uri="{FF2B5EF4-FFF2-40B4-BE49-F238E27FC236}">
                              <a16:creationId xmlns:a16="http://schemas.microsoft.com/office/drawing/2014/main" id="{9EA76306-ED7A-6BA7-84B3-EE0B0EBF333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7148" y="3214777"/>
                          <a:ext cx="617878" cy="25315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2</a:t>
                          </a:r>
                        </a:p>
                      </p:txBody>
                    </p:sp>
                  </p:grpSp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7BB7DC2A-FC1B-B7EE-0742-9B191F06A61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07729" y="1927907"/>
                        <a:ext cx="876070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Input layer</a:t>
                        </a:r>
                      </a:p>
                    </p:txBody>
                  </p:sp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5B9B0FED-AF22-07ED-098E-E4B7A3D80F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06682" y="1928512"/>
                        <a:ext cx="1000714" cy="25315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layer</a:t>
                        </a:r>
                      </a:p>
                    </p:txBody>
                  </p:sp>
                </p:grpSp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951A47E8-CBB2-AF4B-472C-D746407CAC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917" y="3211497"/>
                      <a:ext cx="608975" cy="25315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p:txBody>
                </p:sp>
              </p:grp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9384A4B6-2593-3E19-DDF8-90ED9DB7A8DA}"/>
                      </a:ext>
                    </a:extLst>
                  </p:cNvPr>
                  <p:cNvSpPr txBox="1"/>
                  <p:nvPr/>
                </p:nvSpPr>
                <p:spPr>
                  <a:xfrm>
                    <a:off x="3812674" y="3376564"/>
                    <a:ext cx="1027423" cy="2531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Hidden layer</a:t>
                    </a:r>
                  </a:p>
                </p:txBody>
              </p:sp>
            </p:grp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4F20057-8073-1536-92C2-2F8C815CF30F}"/>
                    </a:ext>
                  </a:extLst>
                </p:cNvPr>
                <p:cNvSpPr txBox="1"/>
                <p:nvPr/>
              </p:nvSpPr>
              <p:spPr>
                <a:xfrm>
                  <a:off x="2155270" y="3713774"/>
                  <a:ext cx="6335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060275D-9A42-D03A-3D7C-8A80F19EC903}"/>
                    </a:ext>
                  </a:extLst>
                </p:cNvPr>
                <p:cNvSpPr txBox="1"/>
                <p:nvPr/>
              </p:nvSpPr>
              <p:spPr>
                <a:xfrm>
                  <a:off x="2193539" y="4887219"/>
                  <a:ext cx="5052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0.9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5FC41DE-663C-B271-6188-3FCFE9807A75}"/>
                    </a:ext>
                  </a:extLst>
                </p:cNvPr>
                <p:cNvSpPr txBox="1"/>
                <p:nvPr/>
              </p:nvSpPr>
              <p:spPr>
                <a:xfrm>
                  <a:off x="3164995" y="3601257"/>
                  <a:ext cx="5469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-0.1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8949456-F4F2-4CD6-038C-71AB4D99BF2A}"/>
                    </a:ext>
                  </a:extLst>
                </p:cNvPr>
                <p:cNvSpPr txBox="1"/>
                <p:nvPr/>
              </p:nvSpPr>
              <p:spPr>
                <a:xfrm>
                  <a:off x="2748702" y="4125448"/>
                  <a:ext cx="5469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-0.2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0D0FCA2-5D01-1A01-1CB8-505DF38E873C}"/>
                    </a:ext>
                  </a:extLst>
                </p:cNvPr>
                <p:cNvSpPr txBox="1"/>
                <p:nvPr/>
              </p:nvSpPr>
              <p:spPr>
                <a:xfrm>
                  <a:off x="2753808" y="4495064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0.6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7213B4F-F688-1A0F-D9AA-F9FCDB68EA25}"/>
                    </a:ext>
                  </a:extLst>
                </p:cNvPr>
                <p:cNvSpPr txBox="1"/>
                <p:nvPr/>
              </p:nvSpPr>
              <p:spPr>
                <a:xfrm>
                  <a:off x="3147640" y="5019255"/>
                  <a:ext cx="5469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-0.8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714B4F8-A624-9530-9177-5723122B6789}"/>
                    </a:ext>
                  </a:extLst>
                </p:cNvPr>
                <p:cNvSpPr txBox="1"/>
                <p:nvPr/>
              </p:nvSpPr>
              <p:spPr>
                <a:xfrm>
                  <a:off x="5226019" y="3844990"/>
                  <a:ext cx="5469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-0.1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FB137BC-F63A-E1EE-5DE9-96FC602340C8}"/>
                    </a:ext>
                  </a:extLst>
                </p:cNvPr>
                <p:cNvSpPr txBox="1"/>
                <p:nvPr/>
              </p:nvSpPr>
              <p:spPr>
                <a:xfrm>
                  <a:off x="5226019" y="4880399"/>
                  <a:ext cx="476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0.2</a:t>
                  </a: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E92D94E-E449-46A5-9D8F-726966E50E61}"/>
                  </a:ext>
                </a:extLst>
              </p:cNvPr>
              <p:cNvGrpSpPr/>
              <p:nvPr/>
            </p:nvGrpSpPr>
            <p:grpSpPr>
              <a:xfrm>
                <a:off x="2327993" y="3258595"/>
                <a:ext cx="4404798" cy="1452360"/>
                <a:chOff x="2327993" y="3258595"/>
                <a:chExt cx="4404798" cy="14523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3DDF2CB0-959B-A8CB-413D-5ADC7C690B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B55D0A50-430D-FDC1-94A8-05F6CB6C2F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7993" y="3261917"/>
                      <a:ext cx="228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027" r="-810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7CCE8F67-9C08-1D8D-166E-C6BCF38D9C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656630EE-236A-081C-E7DE-4569C085DF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660" y="4433956"/>
                      <a:ext cx="233974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5641" r="-7692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C9F1072B-F81F-A5EC-05D7-F9AB215DF2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E8883222-3468-7A43-A6A9-D3EE8D87F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1710" y="4425954"/>
                      <a:ext cx="288477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0833" r="-6250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FD28724D-A5DE-4878-3B28-F27760E847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03F3DA8E-3045-7F8B-6F82-34F15B87F6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9250" y="3258595"/>
                      <a:ext cx="283154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77" r="-6383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8DAE9518-E612-13E9-9221-A38937B8F2C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5F16CF74-9B1C-10F6-A462-B68E4046B8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61755" y="3908153"/>
                      <a:ext cx="2710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3636" r="-6818" b="-152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19BB969-6B65-6831-EB2D-581BFD73BE3F}"/>
                </a:ext>
              </a:extLst>
            </p:cNvPr>
            <p:cNvGrpSpPr/>
            <p:nvPr/>
          </p:nvGrpSpPr>
          <p:grpSpPr>
            <a:xfrm>
              <a:off x="2825677" y="3400416"/>
              <a:ext cx="2807016" cy="1674326"/>
              <a:chOff x="2825677" y="3400416"/>
              <a:chExt cx="2807016" cy="16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D862408A-08A0-A588-9581-5C3342414B44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3A04FA15-7B9A-6F79-E37C-0DB966B518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172" y="3400416"/>
                    <a:ext cx="31713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576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2952FABF-1B9E-2104-D076-0BCA6BF1989C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2952FABF-1B9E-2104-D076-0BCA6BF198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5420" y="3908152"/>
                    <a:ext cx="32246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C94FB502-DF0F-0A93-3DFB-C22EAC0488C5}"/>
                      </a:ext>
                    </a:extLst>
                  </p:cNvPr>
                  <p:cNvSpPr txBox="1"/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C94FB502-DF0F-0A93-3DFB-C22EAC0488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5677" y="4321155"/>
                    <a:ext cx="3224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615" r="-9615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CC7F652-1962-A9C8-2620-5F94D0479DFD}"/>
                      </a:ext>
                    </a:extLst>
                  </p:cNvPr>
                  <p:cNvSpPr txBox="1"/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CC7F652-1962-A9C8-2620-5F94D0479D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7465" y="4797743"/>
                    <a:ext cx="31547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538" r="-5769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D3B3CA9B-BC80-1176-A21D-40CF88B35CFB}"/>
                      </a:ext>
                    </a:extLst>
                  </p:cNvPr>
                  <p:cNvSpPr txBox="1"/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D3B3CA9B-BC80-1176-A21D-40CF88B35C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8998" y="3645810"/>
                    <a:ext cx="32246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3C80D1F-7DDA-09A7-80C0-982878347450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3C80D1F-7DDA-09A7-80C0-9828783474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232" y="4664344"/>
                    <a:ext cx="32246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434" r="-943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AA5540E-F988-203B-64A1-1A367FEA41E5}"/>
              </a:ext>
            </a:extLst>
          </p:cNvPr>
          <p:cNvSpPr txBox="1"/>
          <p:nvPr/>
        </p:nvSpPr>
        <p:spPr>
          <a:xfrm>
            <a:off x="4819359" y="268222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0.6236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D19016-66BB-5F16-E8FF-C1A51F7EA73E}"/>
              </a:ext>
            </a:extLst>
          </p:cNvPr>
          <p:cNvSpPr txBox="1"/>
          <p:nvPr/>
        </p:nvSpPr>
        <p:spPr>
          <a:xfrm>
            <a:off x="4830616" y="381351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0.3122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0AA1E9-E851-5805-8FB7-464C3D011496}"/>
              </a:ext>
            </a:extLst>
          </p:cNvPr>
          <p:cNvSpPr txBox="1"/>
          <p:nvPr/>
        </p:nvSpPr>
        <p:spPr>
          <a:xfrm>
            <a:off x="6979962" y="329154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0.5002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F14113D-4A69-58E5-FC8C-F05FB26FDF1B}"/>
                  </a:ext>
                </a:extLst>
              </p:cNvPr>
              <p:cNvSpPr txBox="1"/>
              <p:nvPr/>
            </p:nvSpPr>
            <p:spPr>
              <a:xfrm>
                <a:off x="1599385" y="5086273"/>
                <a:ext cx="8787983" cy="9848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weights are optimized to [-0.1, -0.2, 0.6, 0.8, -0.1, 0.2]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 converges to 0.5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F14113D-4A69-58E5-FC8C-F05FB26FD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385" y="5086273"/>
                <a:ext cx="8787983" cy="984885"/>
              </a:xfrm>
              <a:prstGeom prst="rect">
                <a:avLst/>
              </a:prstGeom>
              <a:blipFill>
                <a:blip r:embed="rId15"/>
                <a:stretch>
                  <a:fillRect l="-1040" t="-4321" r="-139" b="-135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4773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26ECEE45-AA4E-49C8-BD16-F771092101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880811-BC00-471F-9D0C-9BD261276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986766-63A6-47A8-80A0-3C02CEC39E06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1971</TotalTime>
  <Words>1560</Words>
  <Application>Microsoft Office PowerPoint</Application>
  <PresentationFormat>Widescreen</PresentationFormat>
  <Paragraphs>502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Times New Roman</vt:lpstr>
      <vt:lpstr>Office Theme</vt:lpstr>
      <vt:lpstr>Backward Propagation</vt:lpstr>
      <vt:lpstr>Loss function</vt:lpstr>
      <vt:lpstr>The network example </vt:lpstr>
      <vt:lpstr>Forward propagation</vt:lpstr>
      <vt:lpstr>Forward and backward propagation</vt:lpstr>
      <vt:lpstr>Gradient descent algorithm </vt:lpstr>
      <vt:lpstr>Backward propagation </vt:lpstr>
      <vt:lpstr>Backward propagation </vt:lpstr>
      <vt:lpstr>Backward propagation </vt:lpstr>
      <vt:lpstr>Backward propagation </vt:lpstr>
      <vt:lpstr>Backward propagation </vt:lpstr>
      <vt:lpstr>Backward propagation </vt:lpstr>
      <vt:lpstr>Backward propagation </vt:lpstr>
      <vt:lpstr>Forward and backward propagation </vt:lpstr>
      <vt:lpstr>Prediction phase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70</cp:revision>
  <dcterms:created xsi:type="dcterms:W3CDTF">2021-01-06T14:22:07Z</dcterms:created>
  <dcterms:modified xsi:type="dcterms:W3CDTF">2024-07-17T11:16:51Z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