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uk.mathworks.com/help/deeplearning/ref/dividerand.html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uk.mathworks.com/help/deeplearning/ug/list-of-deep-learning-layers.html" TargetMode="External"/><Relationship Id="rId3" Type="http://schemas.openxmlformats.org/officeDocument/2006/relationships/hyperlink" Target="https://uk.mathworks.com/help/deeplearning/ref/nnet.cnn.layer.relulayer.html" TargetMode="External"/><Relationship Id="rId7" Type="http://schemas.openxmlformats.org/officeDocument/2006/relationships/hyperlink" Target="https://uk.mathworks.com/help/deeplearning/ref/trainnetwork.html" TargetMode="External"/><Relationship Id="rId2" Type="http://schemas.openxmlformats.org/officeDocument/2006/relationships/hyperlink" Target="https://uk.mathworks.com/help/deeplearning/ref/nnet.cnn.layer.featureinputlayer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k.mathworks.com/help/deeplearning/ref/trainingoptions.html" TargetMode="External"/><Relationship Id="rId5" Type="http://schemas.openxmlformats.org/officeDocument/2006/relationships/hyperlink" Target="https://uk.mathworks.com/help/deeplearning/ref/regressionlayer.html" TargetMode="External"/><Relationship Id="rId4" Type="http://schemas.openxmlformats.org/officeDocument/2006/relationships/hyperlink" Target="https://uk.mathworks.com/help/deeplearning/ref/nnet.cnn.layer.fullyconnectedlayer.html" TargetMode="External"/><Relationship Id="rId9" Type="http://schemas.openxmlformats.org/officeDocument/2006/relationships/hyperlink" Target="https://uk.mathworks.com/help/deeplearning/ref/nnet.cnn.trainingoptionsadam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matlab/ref/sqrt.html" TargetMode="External"/><Relationship Id="rId2" Type="http://schemas.openxmlformats.org/officeDocument/2006/relationships/hyperlink" Target="https://uk.mathworks.com/help/deeplearning/ref/seriesnetwork.predict.html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deeplearning/ref/nnet.cnn.layer.featureinputlayer.html#d124e74264:~:text=%7C%20function%20handle-,Data%20normalization,-to%20apply%20ever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deeplearning/ref/nnet.cnn.layer.featureinputlayer.html#d124e74264:~:text=%7C%20function%20handle-,Data%20normalization,-to%20apply%20every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Build an ANN Using MATLAB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Problem background and dataset description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A16C15-660C-8AF7-0411-9514B4AE02B4}"/>
              </a:ext>
            </a:extLst>
          </p:cNvPr>
          <p:cNvGrpSpPr/>
          <p:nvPr/>
        </p:nvGrpSpPr>
        <p:grpSpPr>
          <a:xfrm>
            <a:off x="266701" y="1422400"/>
            <a:ext cx="10334613" cy="4770537"/>
            <a:chOff x="-708168" y="596033"/>
            <a:chExt cx="10334613" cy="477053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91C6DA-C645-343D-407D-D4C4783DD23C}"/>
                </a:ext>
              </a:extLst>
            </p:cNvPr>
            <p:cNvSpPr txBox="1"/>
            <p:nvPr/>
          </p:nvSpPr>
          <p:spPr>
            <a:xfrm>
              <a:off x="-708168" y="596033"/>
              <a:ext cx="5829300" cy="4770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This problem has the following inputs:</a:t>
              </a:r>
            </a:p>
            <a:p>
              <a:pPr marL="342900" indent="-342900">
                <a:spcAft>
                  <a:spcPts val="600"/>
                </a:spcAft>
                <a:buAutoNum type="arabicPeriod"/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Frequency, in </a:t>
              </a:r>
              <a:r>
                <a:rPr lang="en-US" sz="2400" b="0" i="0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Hertzs</a:t>
              </a: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342900" indent="-342900">
                <a:spcAft>
                  <a:spcPts val="600"/>
                </a:spcAft>
                <a:buAutoNum type="arabicPeriod"/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Angle of attack, in degrees.</a:t>
              </a:r>
            </a:p>
            <a:p>
              <a:pPr marL="342900" indent="-342900">
                <a:spcAft>
                  <a:spcPts val="600"/>
                </a:spcAft>
                <a:buAutoNum type="arabicPeriod"/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Chord length, in meters.</a:t>
              </a:r>
            </a:p>
            <a:p>
              <a:pPr marL="342900" indent="-342900">
                <a:spcAft>
                  <a:spcPts val="600"/>
                </a:spcAft>
                <a:buAutoNum type="arabicPeriod"/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Free-stream velocity, in meters per second.</a:t>
              </a:r>
            </a:p>
            <a:p>
              <a:pPr marL="342900" indent="-342900">
                <a:spcAft>
                  <a:spcPts val="1200"/>
                </a:spcAft>
                <a:buAutoNum type="arabicPeriod"/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Suction side displacement thickness, in meters.</a:t>
              </a:r>
            </a:p>
            <a:p>
              <a:pPr>
                <a:spcAft>
                  <a:spcPts val="600"/>
                </a:spcAft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The only output is:</a:t>
              </a:r>
            </a:p>
            <a:p>
              <a:pPr marL="342900" indent="-342900">
                <a:spcAft>
                  <a:spcPts val="600"/>
                </a:spcAft>
                <a:buAutoNum type="arabicPeriod"/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Scaled sound pressure level, in decibels.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Picture 3" descr="A picture containing screenshot, line&#10;&#10;Description automatically generated">
              <a:extLst>
                <a:ext uri="{FF2B5EF4-FFF2-40B4-BE49-F238E27FC236}">
                  <a16:creationId xmlns:a16="http://schemas.microsoft.com/office/drawing/2014/main" id="{B865C79F-3B69-65C3-178A-CAA5D1A63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3945" y="1302834"/>
              <a:ext cx="4762500" cy="20193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81F2FB2-0279-EEE5-D84F-07FB288BA029}"/>
              </a:ext>
            </a:extLst>
          </p:cNvPr>
          <p:cNvGrpSpPr/>
          <p:nvPr/>
        </p:nvGrpSpPr>
        <p:grpSpPr>
          <a:xfrm>
            <a:off x="6238903" y="1786730"/>
            <a:ext cx="3833525" cy="2255993"/>
            <a:chOff x="4412555" y="3146825"/>
            <a:chExt cx="3833525" cy="225599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734535-74B0-4A26-8638-197CD7470771}"/>
                </a:ext>
              </a:extLst>
            </p:cNvPr>
            <p:cNvSpPr txBox="1"/>
            <p:nvPr/>
          </p:nvSpPr>
          <p:spPr>
            <a:xfrm>
              <a:off x="4469908" y="3146825"/>
              <a:ext cx="377617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Learn the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sound pressure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14F62B2-0118-B78D-64D8-EF584B72D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12555" y="3596057"/>
              <a:ext cx="3702745" cy="1806761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C96902-E864-DBB7-9C20-39FE8B2E3AD3}"/>
              </a:ext>
            </a:extLst>
          </p:cNvPr>
          <p:cNvGrpSpPr/>
          <p:nvPr/>
        </p:nvGrpSpPr>
        <p:grpSpPr>
          <a:xfrm>
            <a:off x="6096000" y="4573037"/>
            <a:ext cx="6065198" cy="2120681"/>
            <a:chOff x="1271094" y="4002721"/>
            <a:chExt cx="6065198" cy="2120681"/>
          </a:xfrm>
        </p:grpSpPr>
        <p:sp>
          <p:nvSpPr>
            <p:cNvPr id="22" name="矩形 8">
              <a:extLst>
                <a:ext uri="{FF2B5EF4-FFF2-40B4-BE49-F238E27FC236}">
                  <a16:creationId xmlns:a16="http://schemas.microsoft.com/office/drawing/2014/main" id="{ABCE4688-63C3-65FC-6F9E-026C32DCA3C7}"/>
                </a:ext>
              </a:extLst>
            </p:cNvPr>
            <p:cNvSpPr/>
            <p:nvPr/>
          </p:nvSpPr>
          <p:spPr>
            <a:xfrm>
              <a:off x="5599919" y="5754070"/>
              <a:ext cx="1736373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See live script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8DF472E-0A1A-D5F3-41D6-DBF077A48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1094" y="4002721"/>
              <a:ext cx="4119332" cy="193601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E645-2D02-C25C-11A9-CC9F3C1B6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Re-arranging dataset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37C70-23C6-85FD-14B3-25654C141CE4}"/>
              </a:ext>
            </a:extLst>
          </p:cNvPr>
          <p:cNvSpPr txBox="1"/>
          <p:nvPr/>
        </p:nvSpPr>
        <p:spPr>
          <a:xfrm>
            <a:off x="601651" y="1632972"/>
            <a:ext cx="784384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problem has the following inputs: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Frequency, in </a:t>
            </a:r>
            <a:r>
              <a:rPr lang="en-US" sz="2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Hertzs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Angle of attack, in degrees.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Chord length, in meters.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Free-stream velocity, in meters per second.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Suction side displacement thickness, in meters.</a:t>
            </a:r>
          </a:p>
          <a:p>
            <a:pPr>
              <a:spcAft>
                <a:spcPts val="600"/>
              </a:spcAft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only output is: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Scaled sound pressure level, in decibels.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73CC1-3344-27A5-7DD6-F69DB9762AF6}"/>
              </a:ext>
            </a:extLst>
          </p:cNvPr>
          <p:cNvSpPr txBox="1"/>
          <p:nvPr/>
        </p:nvSpPr>
        <p:spPr>
          <a:xfrm>
            <a:off x="8770505" y="2776998"/>
            <a:ext cx="2819844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dividerand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A59CB6-7855-FECA-F080-28D5B496D66E}"/>
              </a:ext>
            </a:extLst>
          </p:cNvPr>
          <p:cNvSpPr/>
          <p:nvPr/>
        </p:nvSpPr>
        <p:spPr>
          <a:xfrm>
            <a:off x="10201076" y="6324386"/>
            <a:ext cx="17599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D6085EF1-7DF8-3BAE-76FB-04D310024F71}"/>
              </a:ext>
            </a:extLst>
          </p:cNvPr>
          <p:cNvSpPr txBox="1"/>
          <p:nvPr/>
        </p:nvSpPr>
        <p:spPr>
          <a:xfrm>
            <a:off x="401227" y="5362252"/>
            <a:ext cx="9517473" cy="1171813"/>
          </a:xfrm>
          <a:prstGeom prst="roundRect">
            <a:avLst>
              <a:gd name="adj" fmla="val 5916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Spliting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the 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trainInd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~,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testInd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=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dividerand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(size(airfoil_self_noise,1), 0.8, 0, 0.2);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tblTrain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airfoil_self_noise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trainInd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,:);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Extracting training sample inputs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tblTest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airfoil_self_noise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testInd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,:);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Extracting testing sample inputs</a:t>
            </a:r>
          </a:p>
        </p:txBody>
      </p:sp>
    </p:spTree>
    <p:extLst>
      <p:ext uri="{BB962C8B-B14F-4D97-AF65-F5344CB8AC3E}">
        <p14:creationId xmlns:p14="http://schemas.microsoft.com/office/powerpoint/2010/main" val="424772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3288-098F-22A3-4DFA-C269C9E3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Construction and training of the network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21EDA-E0B6-6EE2-60EA-5456A5593445}"/>
              </a:ext>
            </a:extLst>
          </p:cNvPr>
          <p:cNvSpPr txBox="1"/>
          <p:nvPr/>
        </p:nvSpPr>
        <p:spPr>
          <a:xfrm>
            <a:off x="558855" y="1658571"/>
            <a:ext cx="643646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Neural network construction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simple regression task,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 inputs and 1 output.</a:t>
            </a:r>
          </a:p>
          <a:p>
            <a:pPr>
              <a:spcBef>
                <a:spcPts val="12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start with simple neural network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hidden layer with 20 neurons,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activation layers.</a:t>
            </a:r>
          </a:p>
        </p:txBody>
      </p:sp>
      <p:graphicFrame>
        <p:nvGraphicFramePr>
          <p:cNvPr id="4" name="Table 9">
            <a:extLst>
              <a:ext uri="{FF2B5EF4-FFF2-40B4-BE49-F238E27FC236}">
                <a16:creationId xmlns:a16="http://schemas.microsoft.com/office/drawing/2014/main" id="{33BC0652-6D88-3582-AFBD-84EB6D14B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052162"/>
              </p:ext>
            </p:extLst>
          </p:nvPr>
        </p:nvGraphicFramePr>
        <p:xfrm>
          <a:off x="7620000" y="3710005"/>
          <a:ext cx="240982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38">
                  <a:extLst>
                    <a:ext uri="{9D8B030D-6E8A-4147-A177-3AD203B41FA5}">
                      <a16:colId xmlns:a16="http://schemas.microsoft.com/office/drawing/2014/main" val="48302123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3344972307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1802606827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1070804984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3316741966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196426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80338"/>
                  </a:ext>
                </a:extLst>
              </a:tr>
            </a:tbl>
          </a:graphicData>
        </a:graphic>
      </p:graphicFrame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5F90614D-0689-46B1-D3DE-4741F887B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711985"/>
              </p:ext>
            </p:extLst>
          </p:nvPr>
        </p:nvGraphicFramePr>
        <p:xfrm>
          <a:off x="6865406" y="4616571"/>
          <a:ext cx="39190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1546528844"/>
                    </a:ext>
                  </a:extLst>
                </a:gridCol>
                <a:gridCol w="316444">
                  <a:extLst>
                    <a:ext uri="{9D8B030D-6E8A-4147-A177-3AD203B41FA5}">
                      <a16:colId xmlns:a16="http://schemas.microsoft.com/office/drawing/2014/main" val="1878357926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84629570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4173330354"/>
                    </a:ext>
                  </a:extLst>
                </a:gridCol>
                <a:gridCol w="325971">
                  <a:extLst>
                    <a:ext uri="{9D8B030D-6E8A-4147-A177-3AD203B41FA5}">
                      <a16:colId xmlns:a16="http://schemas.microsoft.com/office/drawing/2014/main" val="3612188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 … …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75274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B4B808B-6D61-2844-C127-850DF6C262E1}"/>
              </a:ext>
            </a:extLst>
          </p:cNvPr>
          <p:cNvSpPr/>
          <p:nvPr/>
        </p:nvSpPr>
        <p:spPr>
          <a:xfrm>
            <a:off x="8572500" y="5642096"/>
            <a:ext cx="447675" cy="365125"/>
          </a:xfrm>
          <a:prstGeom prst="rect">
            <a:avLst/>
          </a:prstGeom>
          <a:solidFill>
            <a:srgbClr val="0035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57954E-2CC5-0B4D-5414-B0AEAF490203}"/>
              </a:ext>
            </a:extLst>
          </p:cNvPr>
          <p:cNvCxnSpPr>
            <a:cxnSpLocks/>
          </p:cNvCxnSpPr>
          <p:nvPr/>
        </p:nvCxnSpPr>
        <p:spPr>
          <a:xfrm flipH="1">
            <a:off x="7010400" y="4080845"/>
            <a:ext cx="800100" cy="5357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233E5E-21C1-C89E-995B-5AFA1CD102B1}"/>
              </a:ext>
            </a:extLst>
          </p:cNvPr>
          <p:cNvCxnSpPr>
            <a:cxnSpLocks/>
          </p:cNvCxnSpPr>
          <p:nvPr/>
        </p:nvCxnSpPr>
        <p:spPr>
          <a:xfrm flipH="1">
            <a:off x="7331869" y="4080845"/>
            <a:ext cx="478631" cy="52774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EF86E9-F174-D5AA-1674-42E5843BCD48}"/>
              </a:ext>
            </a:extLst>
          </p:cNvPr>
          <p:cNvCxnSpPr>
            <a:cxnSpLocks/>
          </p:cNvCxnSpPr>
          <p:nvPr/>
        </p:nvCxnSpPr>
        <p:spPr>
          <a:xfrm>
            <a:off x="7810500" y="4080845"/>
            <a:ext cx="2486025" cy="52299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F36D5C-318A-2EDC-63DD-2F4B1D136825}"/>
              </a:ext>
            </a:extLst>
          </p:cNvPr>
          <p:cNvCxnSpPr>
            <a:cxnSpLocks/>
          </p:cNvCxnSpPr>
          <p:nvPr/>
        </p:nvCxnSpPr>
        <p:spPr>
          <a:xfrm>
            <a:off x="7810500" y="4080845"/>
            <a:ext cx="2805113" cy="5357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3E59B5-A3DC-4D0E-1954-90EE783B57C7}"/>
              </a:ext>
            </a:extLst>
          </p:cNvPr>
          <p:cNvCxnSpPr>
            <a:cxnSpLocks/>
          </p:cNvCxnSpPr>
          <p:nvPr/>
        </p:nvCxnSpPr>
        <p:spPr>
          <a:xfrm flipH="1">
            <a:off x="7010400" y="4072863"/>
            <a:ext cx="2809875" cy="54694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0D4722-BF83-E058-6A85-02A38F2EF6A5}"/>
              </a:ext>
            </a:extLst>
          </p:cNvPr>
          <p:cNvCxnSpPr>
            <a:cxnSpLocks/>
          </p:cNvCxnSpPr>
          <p:nvPr/>
        </p:nvCxnSpPr>
        <p:spPr>
          <a:xfrm flipH="1">
            <a:off x="7331869" y="4072863"/>
            <a:ext cx="2485763" cy="53421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3D2B3A-9A61-51C2-5710-1EF49F905D03}"/>
              </a:ext>
            </a:extLst>
          </p:cNvPr>
          <p:cNvCxnSpPr>
            <a:cxnSpLocks/>
          </p:cNvCxnSpPr>
          <p:nvPr/>
        </p:nvCxnSpPr>
        <p:spPr>
          <a:xfrm>
            <a:off x="9820275" y="4071783"/>
            <a:ext cx="475988" cy="52882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A4B503-3217-D662-E3F5-F0C2A555D27D}"/>
              </a:ext>
            </a:extLst>
          </p:cNvPr>
          <p:cNvCxnSpPr>
            <a:cxnSpLocks/>
          </p:cNvCxnSpPr>
          <p:nvPr/>
        </p:nvCxnSpPr>
        <p:spPr>
          <a:xfrm>
            <a:off x="9820275" y="4072863"/>
            <a:ext cx="795338" cy="54370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39FD08-E5C0-D323-DF03-995F9B6F76A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010400" y="4976194"/>
            <a:ext cx="1785938" cy="66590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0002CE-9066-9373-6F09-907C24BA6A2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331869" y="4979429"/>
            <a:ext cx="1464469" cy="66266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88D9F0-59FA-F674-DED3-D477E0566838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8796338" y="4973168"/>
            <a:ext cx="1500187" cy="6689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7438A0-F15F-E4A0-3CFD-AE2C4FC2B265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8796338" y="4976403"/>
            <a:ext cx="1828539" cy="66569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328DAC-C1DA-4B1A-2C20-1AE2727746D1}"/>
              </a:ext>
            </a:extLst>
          </p:cNvPr>
          <p:cNvCxnSpPr>
            <a:cxnSpLocks/>
          </p:cNvCxnSpPr>
          <p:nvPr/>
        </p:nvCxnSpPr>
        <p:spPr>
          <a:xfrm flipH="1">
            <a:off x="7007757" y="4077610"/>
            <a:ext cx="1212318" cy="54327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B4AC85-C843-12FC-6F93-05A615341682}"/>
              </a:ext>
            </a:extLst>
          </p:cNvPr>
          <p:cNvCxnSpPr>
            <a:cxnSpLocks/>
          </p:cNvCxnSpPr>
          <p:nvPr/>
        </p:nvCxnSpPr>
        <p:spPr>
          <a:xfrm flipH="1">
            <a:off x="7012519" y="4069931"/>
            <a:ext cx="1606284" cy="54437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A59335-598A-5618-5FD1-24D9B665B92F}"/>
              </a:ext>
            </a:extLst>
          </p:cNvPr>
          <p:cNvCxnSpPr>
            <a:cxnSpLocks/>
          </p:cNvCxnSpPr>
          <p:nvPr/>
        </p:nvCxnSpPr>
        <p:spPr>
          <a:xfrm flipH="1">
            <a:off x="7012257" y="4074375"/>
            <a:ext cx="2007918" cy="53992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805D94-8E7C-6FDA-1FEA-9DE423327758}"/>
              </a:ext>
            </a:extLst>
          </p:cNvPr>
          <p:cNvCxnSpPr>
            <a:cxnSpLocks/>
          </p:cNvCxnSpPr>
          <p:nvPr/>
        </p:nvCxnSpPr>
        <p:spPr>
          <a:xfrm flipH="1">
            <a:off x="7011995" y="4067148"/>
            <a:ext cx="2409552" cy="54639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E530C6-3320-9551-0A05-D378C5CB536D}"/>
              </a:ext>
            </a:extLst>
          </p:cNvPr>
          <p:cNvCxnSpPr>
            <a:cxnSpLocks/>
          </p:cNvCxnSpPr>
          <p:nvPr/>
        </p:nvCxnSpPr>
        <p:spPr>
          <a:xfrm flipH="1">
            <a:off x="7329226" y="4074586"/>
            <a:ext cx="895087" cy="52796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88F8F3-4926-FCAA-D181-1D9A17892E91}"/>
              </a:ext>
            </a:extLst>
          </p:cNvPr>
          <p:cNvCxnSpPr>
            <a:cxnSpLocks/>
          </p:cNvCxnSpPr>
          <p:nvPr/>
        </p:nvCxnSpPr>
        <p:spPr>
          <a:xfrm flipH="1">
            <a:off x="7326316" y="4074375"/>
            <a:ext cx="1292487" cy="53270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B30AA4-7F52-A801-7B6C-6BC34CB42C63}"/>
              </a:ext>
            </a:extLst>
          </p:cNvPr>
          <p:cNvCxnSpPr>
            <a:cxnSpLocks/>
          </p:cNvCxnSpPr>
          <p:nvPr/>
        </p:nvCxnSpPr>
        <p:spPr>
          <a:xfrm flipH="1">
            <a:off x="7323673" y="4077610"/>
            <a:ext cx="1702055" cy="52946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14BEBC-1D9D-19D2-AB12-D27EA2DB30C5}"/>
              </a:ext>
            </a:extLst>
          </p:cNvPr>
          <p:cNvCxnSpPr>
            <a:cxnSpLocks/>
          </p:cNvCxnSpPr>
          <p:nvPr/>
        </p:nvCxnSpPr>
        <p:spPr>
          <a:xfrm flipH="1">
            <a:off x="7326054" y="4070596"/>
            <a:ext cx="2098136" cy="53324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D810A7-2809-8BAF-2360-5231E11EDB86}"/>
              </a:ext>
            </a:extLst>
          </p:cNvPr>
          <p:cNvCxnSpPr>
            <a:cxnSpLocks/>
          </p:cNvCxnSpPr>
          <p:nvPr/>
        </p:nvCxnSpPr>
        <p:spPr>
          <a:xfrm>
            <a:off x="8224313" y="4072652"/>
            <a:ext cx="2071950" cy="52644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5D15D3-EED6-E820-0152-997B289B13B5}"/>
              </a:ext>
            </a:extLst>
          </p:cNvPr>
          <p:cNvCxnSpPr>
            <a:cxnSpLocks/>
          </p:cNvCxnSpPr>
          <p:nvPr/>
        </p:nvCxnSpPr>
        <p:spPr>
          <a:xfrm>
            <a:off x="8216771" y="4070596"/>
            <a:ext cx="2398842" cy="54295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FCF3C0-C9E2-0DD8-FD8E-0049FD2F6036}"/>
              </a:ext>
            </a:extLst>
          </p:cNvPr>
          <p:cNvCxnSpPr>
            <a:cxnSpLocks/>
          </p:cNvCxnSpPr>
          <p:nvPr/>
        </p:nvCxnSpPr>
        <p:spPr>
          <a:xfrm>
            <a:off x="8620660" y="4075440"/>
            <a:ext cx="1673222" cy="52774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132206-ED38-D8BD-C65D-561B960A0783}"/>
              </a:ext>
            </a:extLst>
          </p:cNvPr>
          <p:cNvCxnSpPr>
            <a:cxnSpLocks/>
          </p:cNvCxnSpPr>
          <p:nvPr/>
        </p:nvCxnSpPr>
        <p:spPr>
          <a:xfrm>
            <a:off x="8608481" y="4071351"/>
            <a:ext cx="2007132" cy="5341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D38C690-78CE-70A1-E211-31D4B7B248F3}"/>
              </a:ext>
            </a:extLst>
          </p:cNvPr>
          <p:cNvCxnSpPr>
            <a:cxnSpLocks/>
          </p:cNvCxnSpPr>
          <p:nvPr/>
        </p:nvCxnSpPr>
        <p:spPr>
          <a:xfrm>
            <a:off x="9017531" y="4077610"/>
            <a:ext cx="1276351" cy="52148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CBE5C8E-DE15-8A20-01AF-08ADB6890F01}"/>
              </a:ext>
            </a:extLst>
          </p:cNvPr>
          <p:cNvCxnSpPr>
            <a:cxnSpLocks/>
          </p:cNvCxnSpPr>
          <p:nvPr/>
        </p:nvCxnSpPr>
        <p:spPr>
          <a:xfrm>
            <a:off x="9024413" y="4079228"/>
            <a:ext cx="1591200" cy="52395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837375-F6B5-BB07-54D0-56B6B5BEE616}"/>
              </a:ext>
            </a:extLst>
          </p:cNvPr>
          <p:cNvCxnSpPr>
            <a:cxnSpLocks/>
          </p:cNvCxnSpPr>
          <p:nvPr/>
        </p:nvCxnSpPr>
        <p:spPr>
          <a:xfrm>
            <a:off x="9423928" y="4068970"/>
            <a:ext cx="876573" cy="53648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E76A9B-6320-E614-7275-97B8CF0F686D}"/>
              </a:ext>
            </a:extLst>
          </p:cNvPr>
          <p:cNvCxnSpPr>
            <a:cxnSpLocks/>
          </p:cNvCxnSpPr>
          <p:nvPr/>
        </p:nvCxnSpPr>
        <p:spPr>
          <a:xfrm>
            <a:off x="9431732" y="4065849"/>
            <a:ext cx="1183881" cy="54769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00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580A-3BA7-CCDD-F1C8-F471D204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Construction and training of the network</a:t>
            </a:r>
            <a:br>
              <a:rPr lang="en-GB" dirty="0"/>
            </a:b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00868-4928-5E69-A7A9-D0914A3536F4}"/>
              </a:ext>
            </a:extLst>
          </p:cNvPr>
          <p:cNvSpPr txBox="1"/>
          <p:nvPr/>
        </p:nvSpPr>
        <p:spPr>
          <a:xfrm>
            <a:off x="8972495" y="4098419"/>
            <a:ext cx="2489200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featureInputLayer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reluLayer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fullyConnectedLayer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regressionLayer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trainingOptions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trainNetwork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B52C0-8A15-4427-D13A-F8AE77124ACA}"/>
              </a:ext>
            </a:extLst>
          </p:cNvPr>
          <p:cNvSpPr txBox="1"/>
          <p:nvPr/>
        </p:nvSpPr>
        <p:spPr>
          <a:xfrm>
            <a:off x="755705" y="2251760"/>
            <a:ext cx="64524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Neural network 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simple regression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 inputs and 1 output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start with simple neural network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hidden layer with 20 neurons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activation layers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18674-D330-D78A-A48D-64D2DA017326}"/>
              </a:ext>
            </a:extLst>
          </p:cNvPr>
          <p:cNvSpPr txBox="1"/>
          <p:nvPr/>
        </p:nvSpPr>
        <p:spPr>
          <a:xfrm>
            <a:off x="8947095" y="3068608"/>
            <a:ext cx="248920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Useful docs:</a:t>
            </a:r>
          </a:p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deep learning layers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Adam optimizer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84716-D0C4-3307-6659-32D0FEEE03F7}"/>
              </a:ext>
            </a:extLst>
          </p:cNvPr>
          <p:cNvSpPr txBox="1"/>
          <p:nvPr/>
        </p:nvSpPr>
        <p:spPr>
          <a:xfrm>
            <a:off x="426689" y="1730932"/>
            <a:ext cx="6452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Neural network construction and configuration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93B4495D-A73F-3815-5807-0D6163A4BEBA}"/>
              </a:ext>
            </a:extLst>
          </p:cNvPr>
          <p:cNvSpPr txBox="1"/>
          <p:nvPr/>
        </p:nvSpPr>
        <p:spPr>
          <a:xfrm>
            <a:off x="546152" y="2171317"/>
            <a:ext cx="8048224" cy="1505903"/>
          </a:xfrm>
          <a:prstGeom prst="roundRect">
            <a:avLst>
              <a:gd name="adj" fmla="val 3667"/>
            </a:avLst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layers = [</a:t>
            </a:r>
          </a:p>
          <a:p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featureInputLayer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(size(tblTrain,2)-1) 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input layer: # dim, training data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fullyConnectedLayer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(20) 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hidden layer: an initial try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reluLayer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</a:t>
            </a:r>
            <a:r>
              <a:rPr lang="en-US" sz="1500" b="0" i="0" u="none" strike="noStrike" dirty="0" err="1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 activation </a:t>
            </a:r>
            <a:r>
              <a:rPr lang="en-US" sz="1500" b="0" i="0" u="none" strike="noStrike" dirty="0" err="1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. (not a new layer of neurons)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fullyConnectedLayer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(1) 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Output layer: # output dim.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regressionLayer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Name"</a:t>
            </a:r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"output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)];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1CCD8E3-36E8-8B91-4CC7-19DD6E949001}"/>
              </a:ext>
            </a:extLst>
          </p:cNvPr>
          <p:cNvSpPr txBox="1"/>
          <p:nvPr/>
        </p:nvSpPr>
        <p:spPr>
          <a:xfrm>
            <a:off x="546152" y="3836680"/>
            <a:ext cx="8166048" cy="1741200"/>
          </a:xfrm>
          <a:prstGeom prst="roundRect">
            <a:avLst>
              <a:gd name="adj" fmla="val 3667"/>
            </a:avLst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options = </a:t>
            </a:r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trainingOptions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adam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 % using </a:t>
            </a:r>
            <a:r>
              <a:rPr lang="en-US" sz="1500" b="0" i="0" u="none" strike="noStrike" dirty="0" err="1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adam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 optimizer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'MaxEpochs'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,4000, </a:t>
            </a:r>
            <a:r>
              <a:rPr lang="en-US" sz="15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 % number of epochs of training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MiniBatchSize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size(</a:t>
            </a:r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tblTrain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1), </a:t>
            </a:r>
            <a:r>
              <a:rPr lang="en-US" sz="15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 % batch training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Shuffle'</a:t>
            </a:r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'every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-epoch'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 % shuffling the training samples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Plots'</a:t>
            </a:r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'training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-progress'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 % visualizing the training process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ExecutionEnvironment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 % training on CPU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Verbose'</a:t>
            </a:r>
            <a:r>
              <a:rPr lang="en-US" sz="15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,false</a:t>
            </a:r>
            <a:r>
              <a:rPr lang="en-US" sz="15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5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hide notices while training</a:t>
            </a:r>
            <a:endParaRPr lang="en-US" sz="15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4DB1CF-4033-43AA-7487-795598021791}"/>
              </a:ext>
            </a:extLst>
          </p:cNvPr>
          <p:cNvGrpSpPr/>
          <p:nvPr/>
        </p:nvGrpSpPr>
        <p:grpSpPr>
          <a:xfrm>
            <a:off x="546152" y="5686347"/>
            <a:ext cx="5911795" cy="1007371"/>
            <a:chOff x="108956" y="4932560"/>
            <a:chExt cx="5911795" cy="100737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7D5AC3-0ED6-9B6C-755C-027919C1C9E4}"/>
                </a:ext>
              </a:extLst>
            </p:cNvPr>
            <p:cNvSpPr txBox="1"/>
            <p:nvPr/>
          </p:nvSpPr>
          <p:spPr>
            <a:xfrm>
              <a:off x="228419" y="4932560"/>
              <a:ext cx="33538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Neural network training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153CFD-BED4-49F1-9259-C4C71ED5DF89}"/>
                </a:ext>
              </a:extLst>
            </p:cNvPr>
            <p:cNvSpPr txBox="1"/>
            <p:nvPr/>
          </p:nvSpPr>
          <p:spPr>
            <a:xfrm>
              <a:off x="108956" y="5573010"/>
              <a:ext cx="5911795" cy="366921"/>
            </a:xfrm>
            <a:prstGeom prst="roundRect">
              <a:avLst>
                <a:gd name="adj" fmla="val 20534"/>
              </a:avLst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net = </a:t>
              </a:r>
              <a:r>
                <a:rPr lang="en-US" sz="1500" b="0" i="0" dirty="0" err="1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trainNetwork</a:t>
              </a:r>
              <a:r>
                <a:rPr lang="en-US" sz="1500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500" b="0" i="0" dirty="0" err="1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tblTrain</a:t>
              </a:r>
              <a:r>
                <a:rPr lang="en-US" sz="1500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, layers, options);</a:t>
              </a:r>
            </a:p>
          </p:txBody>
        </p:sp>
      </p:grpSp>
      <p:sp>
        <p:nvSpPr>
          <p:cNvPr id="14" name="矩形 8">
            <a:extLst>
              <a:ext uri="{FF2B5EF4-FFF2-40B4-BE49-F238E27FC236}">
                <a16:creationId xmlns:a16="http://schemas.microsoft.com/office/drawing/2014/main" id="{626F8785-70F4-E9EC-F45D-33D82DE6310D}"/>
              </a:ext>
            </a:extLst>
          </p:cNvPr>
          <p:cNvSpPr/>
          <p:nvPr/>
        </p:nvSpPr>
        <p:spPr>
          <a:xfrm>
            <a:off x="9725322" y="6324386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2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D315-79DE-A5A5-DDC1-4FC5F8D9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Prediction using the neural network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73B79-DCD8-CA2A-7763-F42D2095C1A3}"/>
              </a:ext>
            </a:extLst>
          </p:cNvPr>
          <p:cNvSpPr txBox="1"/>
          <p:nvPr/>
        </p:nvSpPr>
        <p:spPr>
          <a:xfrm>
            <a:off x="9093200" y="2956147"/>
            <a:ext cx="2188982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predict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sqrt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44B9F-9988-D68C-73D1-7EE41E2DD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026" y="5754410"/>
            <a:ext cx="1777985" cy="5699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3D12DF8-64F0-5167-CF76-927A74E0AB6A}"/>
              </a:ext>
            </a:extLst>
          </p:cNvPr>
          <p:cNvGrpSpPr/>
          <p:nvPr/>
        </p:nvGrpSpPr>
        <p:grpSpPr>
          <a:xfrm>
            <a:off x="319644" y="1727608"/>
            <a:ext cx="7165744" cy="1254012"/>
            <a:chOff x="218044" y="1296865"/>
            <a:chExt cx="7165744" cy="12540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DA2D1-9D18-060B-DB10-67AB1D6D360E}"/>
                </a:ext>
              </a:extLst>
            </p:cNvPr>
            <p:cNvSpPr txBox="1"/>
            <p:nvPr/>
          </p:nvSpPr>
          <p:spPr>
            <a:xfrm>
              <a:off x="218044" y="1296865"/>
              <a:ext cx="71657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Predicting the sound pressure levels of the test set </a:t>
              </a:r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1D96BC7F-AB78-425B-A2C1-048263BFABA2}"/>
                </a:ext>
              </a:extLst>
            </p:cNvPr>
            <p:cNvSpPr txBox="1"/>
            <p:nvPr/>
          </p:nvSpPr>
          <p:spPr>
            <a:xfrm>
              <a:off x="218044" y="1817035"/>
              <a:ext cx="4851350" cy="733842"/>
            </a:xfrm>
            <a:prstGeom prst="roundRect">
              <a:avLst>
                <a:gd name="adj" fmla="val 20534"/>
              </a:avLst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0" i="0" u="none" strike="noStrike" dirty="0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% Predicting y in the test set </a:t>
              </a:r>
              <a:endParaRPr lang="en-US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b="0" i="0" dirty="0" err="1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y_pred</a:t>
              </a:r>
              <a:r>
                <a:rPr lang="en-US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 = predict(</a:t>
              </a:r>
              <a:r>
                <a:rPr lang="en-US" b="0" i="0" dirty="0" err="1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net,tblTest</a:t>
              </a:r>
              <a:r>
                <a:rPr lang="en-US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2AB9D7-DB11-1094-C7A0-B6B1C501C32E}"/>
              </a:ext>
            </a:extLst>
          </p:cNvPr>
          <p:cNvGrpSpPr/>
          <p:nvPr/>
        </p:nvGrpSpPr>
        <p:grpSpPr>
          <a:xfrm>
            <a:off x="319644" y="3019015"/>
            <a:ext cx="8773556" cy="2480686"/>
            <a:chOff x="218044" y="2588272"/>
            <a:chExt cx="8773556" cy="248068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F8409F1-9730-A753-8C0D-29D5E4C75DF4}"/>
                </a:ext>
              </a:extLst>
            </p:cNvPr>
            <p:cNvGrpSpPr/>
            <p:nvPr/>
          </p:nvGrpSpPr>
          <p:grpSpPr>
            <a:xfrm>
              <a:off x="218044" y="2588272"/>
              <a:ext cx="8773556" cy="1550381"/>
              <a:chOff x="218043" y="2752373"/>
              <a:chExt cx="8773556" cy="155038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80D0D3-12CC-FB1B-21EF-0EFEB9DBBB56}"/>
                  </a:ext>
                </a:extLst>
              </p:cNvPr>
              <p:cNvSpPr txBox="1"/>
              <p:nvPr/>
            </p:nvSpPr>
            <p:spPr>
              <a:xfrm>
                <a:off x="218043" y="2752373"/>
                <a:ext cx="87735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Evaluating the network by calculating the RMSE for the test set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13E524D-1983-1C2C-DA7D-FC8472504AC1}"/>
                      </a:ext>
                    </a:extLst>
                  </p:cNvPr>
                  <p:cNvSpPr txBox="1"/>
                  <p:nvPr/>
                </p:nvSpPr>
                <p:spPr>
                  <a:xfrm>
                    <a:off x="218043" y="3211558"/>
                    <a:ext cx="3971600" cy="10911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RMSE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>
                                                  <a:latin typeface="Cambria Math" panose="02040503050406030204" pitchFamily="18" charset="0"/>
                                                </a:rPr>
                                                <m:t>pred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>
                                                  <a:latin typeface="Cambria Math" panose="02040503050406030204" pitchFamily="18" charset="0"/>
                                                </a:rPr>
                                                <m:t>test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nary>
                            </m:e>
                          </m:rad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13E524D-1983-1C2C-DA7D-FC8472504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8043" y="3211558"/>
                    <a:ext cx="3971600" cy="109119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38DF00B-D542-D3AE-51B8-AFA11A04DD9F}"/>
                </a:ext>
              </a:extLst>
            </p:cNvPr>
            <p:cNvSpPr txBox="1"/>
            <p:nvPr/>
          </p:nvSpPr>
          <p:spPr>
            <a:xfrm>
              <a:off x="218044" y="4020613"/>
              <a:ext cx="5986262" cy="1048345"/>
            </a:xfrm>
            <a:prstGeom prst="roundRect">
              <a:avLst>
                <a:gd name="adj" fmla="val 20534"/>
              </a:avLst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0" i="0" u="none" strike="noStrike" dirty="0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% Calculating the root-mean-</a:t>
              </a:r>
              <a:r>
                <a:rPr lang="en-US" b="0" i="0" u="none" strike="noStrike" dirty="0" err="1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squred</a:t>
              </a:r>
              <a:r>
                <a:rPr lang="en-US" b="0" i="0" u="none" strike="noStrike" dirty="0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-error</a:t>
              </a:r>
              <a:endParaRPr lang="en-US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b="0" i="0" dirty="0" err="1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rmse</a:t>
              </a:r>
              <a:r>
                <a:rPr lang="en-US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 = sqrt(sum((</a:t>
              </a:r>
              <a:r>
                <a:rPr lang="en-US" b="0" i="0" dirty="0" err="1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y_pred</a:t>
              </a:r>
              <a:r>
                <a:rPr lang="en-US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 - tblTest.Var6).^2, </a:t>
              </a:r>
              <a:r>
                <a:rPr lang="en-US" b="0" i="0" u="none" strike="noStrike" dirty="0">
                  <a:solidFill>
                    <a:srgbClr val="A709F5"/>
                  </a:solidFill>
                  <a:effectLst/>
                  <a:latin typeface="Consolas" panose="020B0609020204030204" pitchFamily="49" charset="0"/>
                </a:rPr>
                <a:t>'all'</a:t>
              </a:r>
              <a:r>
                <a:rPr lang="en-US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)/length(tblTest.Var6))</a:t>
              </a:r>
            </a:p>
          </p:txBody>
        </p:sp>
      </p:grpSp>
      <p:sp>
        <p:nvSpPr>
          <p:cNvPr id="15" name="矩形 8">
            <a:extLst>
              <a:ext uri="{FF2B5EF4-FFF2-40B4-BE49-F238E27FC236}">
                <a16:creationId xmlns:a16="http://schemas.microsoft.com/office/drawing/2014/main" id="{94C8F495-68AB-1825-9D12-77D9A713EE7D}"/>
              </a:ext>
            </a:extLst>
          </p:cNvPr>
          <p:cNvSpPr/>
          <p:nvPr/>
        </p:nvSpPr>
        <p:spPr>
          <a:xfrm>
            <a:off x="10023826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46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500F-B23E-A11A-E4B6-6CDCFBD9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Improving the network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FD32C-18AF-7440-07E4-EA25119A59C5}"/>
              </a:ext>
            </a:extLst>
          </p:cNvPr>
          <p:cNvSpPr txBox="1"/>
          <p:nvPr/>
        </p:nvSpPr>
        <p:spPr>
          <a:xfrm>
            <a:off x="345417" y="1422199"/>
            <a:ext cx="783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Improving the network structure by adding normalization</a:t>
            </a: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8DBC8C95-9991-E2FB-6B47-66E30E89E273}"/>
              </a:ext>
            </a:extLst>
          </p:cNvPr>
          <p:cNvSpPr/>
          <p:nvPr/>
        </p:nvSpPr>
        <p:spPr>
          <a:xfrm>
            <a:off x="10167564" y="623371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A9FAE6-1E58-1B49-D84B-BA3CBFF70851}"/>
              </a:ext>
            </a:extLst>
          </p:cNvPr>
          <p:cNvGrpSpPr/>
          <p:nvPr/>
        </p:nvGrpSpPr>
        <p:grpSpPr>
          <a:xfrm>
            <a:off x="6813841" y="5527108"/>
            <a:ext cx="4230160" cy="584137"/>
            <a:chOff x="1028685" y="5455193"/>
            <a:chExt cx="4230160" cy="58413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F20373-B80E-5C52-C41E-7FBF7213C7B2}"/>
                </a:ext>
              </a:extLst>
            </p:cNvPr>
            <p:cNvSpPr txBox="1"/>
            <p:nvPr/>
          </p:nvSpPr>
          <p:spPr>
            <a:xfrm>
              <a:off x="2900507" y="5577665"/>
              <a:ext cx="23583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RMSE reduced!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A3B5A26-B7F7-61D1-6139-01401F952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685" y="5455193"/>
              <a:ext cx="1871822" cy="57759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E6F53B5-E33B-F1B3-A48D-BF9D46A83CDD}"/>
              </a:ext>
            </a:extLst>
          </p:cNvPr>
          <p:cNvGrpSpPr/>
          <p:nvPr/>
        </p:nvGrpSpPr>
        <p:grpSpPr>
          <a:xfrm>
            <a:off x="462724" y="1883864"/>
            <a:ext cx="8218849" cy="3293796"/>
            <a:chOff x="589067" y="2961146"/>
            <a:chExt cx="8218849" cy="329379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1F77D62-5196-C686-493F-2C376CF8DB52}"/>
                </a:ext>
              </a:extLst>
            </p:cNvPr>
            <p:cNvGrpSpPr/>
            <p:nvPr/>
          </p:nvGrpSpPr>
          <p:grpSpPr>
            <a:xfrm>
              <a:off x="589067" y="2961146"/>
              <a:ext cx="8101542" cy="1425178"/>
              <a:chOff x="589067" y="2961146"/>
              <a:chExt cx="8101542" cy="1425178"/>
            </a:xfrm>
          </p:grpSpPr>
          <p:sp>
            <p:nvSpPr>
              <p:cNvPr id="40" name="TextBox 11">
                <a:extLst>
                  <a:ext uri="{FF2B5EF4-FFF2-40B4-BE49-F238E27FC236}">
                    <a16:creationId xmlns:a16="http://schemas.microsoft.com/office/drawing/2014/main" id="{0166ED56-488D-23E5-1007-FC813877723A}"/>
                  </a:ext>
                </a:extLst>
              </p:cNvPr>
              <p:cNvSpPr txBox="1"/>
              <p:nvPr/>
            </p:nvSpPr>
            <p:spPr>
              <a:xfrm>
                <a:off x="589067" y="2961146"/>
                <a:ext cx="8101542" cy="1425178"/>
              </a:xfrm>
              <a:prstGeom prst="roundRect">
                <a:avLst>
                  <a:gd name="adj" fmla="val 5916"/>
                </a:avLst>
              </a:prstGeom>
              <a:solidFill>
                <a:sysClr val="window" lastClr="FFFFFF">
                  <a:lumMod val="95000"/>
                </a:sysClr>
              </a:solidFill>
              <a:ln>
                <a:solidFill>
                  <a:sysClr val="windowText" lastClr="000000"/>
                </a:solidFill>
              </a:ln>
            </p:spPr>
            <p:txBody>
              <a:bodyPr wrap="square" lIns="91440" tIns="45720" rIns="91440" bIns="45720" rtlCol="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layers = [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featureInputLayer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(size(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tblTrain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, 2)-1,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"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Normalization"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,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"rescale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-zero-one"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fullyConnectedLayer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(20)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013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% hidden layer: an initial try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reluLayer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%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ReLU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activation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func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. (not a new layer of neurons)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fullyConnectedLayer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(1)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013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% Output layer: # output dim.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regressionLayer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(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"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Name"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,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"output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"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)];</a:t>
                </a: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79979C2-DC16-3215-A2AF-A8B458A86F88}"/>
                  </a:ext>
                </a:extLst>
              </p:cNvPr>
              <p:cNvSpPr/>
              <p:nvPr/>
            </p:nvSpPr>
            <p:spPr>
              <a:xfrm>
                <a:off x="4581183" y="3164688"/>
                <a:ext cx="3528289" cy="376828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482F648C-4BE6-9FB0-08D6-36EFCAC75CBD}"/>
                </a:ext>
              </a:extLst>
            </p:cNvPr>
            <p:cNvSpPr txBox="1"/>
            <p:nvPr/>
          </p:nvSpPr>
          <p:spPr>
            <a:xfrm>
              <a:off x="589067" y="4386375"/>
              <a:ext cx="8218849" cy="1868567"/>
            </a:xfrm>
            <a:prstGeom prst="roundRect">
              <a:avLst>
                <a:gd name="adj" fmla="val 5916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Configuring the training options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options =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trainingOptions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adam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', ...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using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adam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optimizer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'MaxEpochs'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,5000, ...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more epochs of training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MiniBatchSize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size(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tblTrain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1), ...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batch training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Shuffle'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'every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-epoch'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...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shuffling the training samples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Plots'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'training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-progress'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...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visualizing the training process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ExecutionEnvironment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cpu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...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training on CPU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Verbose'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,false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);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hide notices while training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6C13AF7-D785-6D6E-4EEE-81A0052EC35B}"/>
              </a:ext>
            </a:extLst>
          </p:cNvPr>
          <p:cNvSpPr txBox="1"/>
          <p:nvPr/>
        </p:nvSpPr>
        <p:spPr>
          <a:xfrm>
            <a:off x="8928921" y="3280288"/>
            <a:ext cx="2707689" cy="646331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Useful documentation: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normalization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A41D542-3D63-F757-BCE9-FD94F83CDACB}"/>
              </a:ext>
            </a:extLst>
          </p:cNvPr>
          <p:cNvGrpSpPr/>
          <p:nvPr/>
        </p:nvGrpSpPr>
        <p:grpSpPr>
          <a:xfrm>
            <a:off x="462724" y="5177660"/>
            <a:ext cx="5813840" cy="1546300"/>
            <a:chOff x="284923" y="4248761"/>
            <a:chExt cx="5813840" cy="1546300"/>
          </a:xfrm>
        </p:grpSpPr>
        <p:sp>
          <p:nvSpPr>
            <p:cNvPr id="44" name="TextBox 11">
              <a:extLst>
                <a:ext uri="{FF2B5EF4-FFF2-40B4-BE49-F238E27FC236}">
                  <a16:creationId xmlns:a16="http://schemas.microsoft.com/office/drawing/2014/main" id="{E94B3D00-702A-F00C-C98C-4CDB3FA9115A}"/>
                </a:ext>
              </a:extLst>
            </p:cNvPr>
            <p:cNvSpPr txBox="1"/>
            <p:nvPr/>
          </p:nvSpPr>
          <p:spPr>
            <a:xfrm>
              <a:off x="284923" y="4248761"/>
              <a:ext cx="5813839" cy="349448"/>
            </a:xfrm>
            <a:prstGeom prst="roundRect">
              <a:avLst>
                <a:gd name="adj" fmla="val 20534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net =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trainNetwork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tblTrain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layers, options);</a:t>
              </a:r>
            </a:p>
          </p:txBody>
        </p:sp>
        <p:sp>
          <p:nvSpPr>
            <p:cNvPr id="45" name="TextBox 11">
              <a:extLst>
                <a:ext uri="{FF2B5EF4-FFF2-40B4-BE49-F238E27FC236}">
                  <a16:creationId xmlns:a16="http://schemas.microsoft.com/office/drawing/2014/main" id="{5F490E1F-DE30-D35A-39F9-05576580EBF0}"/>
                </a:ext>
              </a:extLst>
            </p:cNvPr>
            <p:cNvSpPr txBox="1"/>
            <p:nvPr/>
          </p:nvSpPr>
          <p:spPr>
            <a:xfrm>
              <a:off x="284924" y="4568955"/>
              <a:ext cx="5813839" cy="1226106"/>
            </a:xfrm>
            <a:prstGeom prst="roundRect">
              <a:avLst>
                <a:gd name="adj" fmla="val 8061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Predicting y in the test set 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y_pred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= predict(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net,tblTest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Calculating the root-mean-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squred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-error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rmse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= sqrt(sum((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y_pred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- tblTest.Var6).^2,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'all'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)/length(tblTest.Var6))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133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2A34-3113-0513-4D6E-A8454663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Improving the network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1DB6C-0129-96C9-AAD6-95CB93F32515}"/>
              </a:ext>
            </a:extLst>
          </p:cNvPr>
          <p:cNvSpPr txBox="1"/>
          <p:nvPr/>
        </p:nvSpPr>
        <p:spPr>
          <a:xfrm>
            <a:off x="294617" y="1422400"/>
            <a:ext cx="8691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Improving the network structure by making it deeper and wider</a:t>
            </a:r>
          </a:p>
        </p:txBody>
      </p:sp>
      <p:sp>
        <p:nvSpPr>
          <p:cNvPr id="15" name="矩形 8">
            <a:extLst>
              <a:ext uri="{FF2B5EF4-FFF2-40B4-BE49-F238E27FC236}">
                <a16:creationId xmlns:a16="http://schemas.microsoft.com/office/drawing/2014/main" id="{8626764F-0C9B-CBB1-1918-36F2D6CE8FD4}"/>
              </a:ext>
            </a:extLst>
          </p:cNvPr>
          <p:cNvSpPr/>
          <p:nvPr/>
        </p:nvSpPr>
        <p:spPr>
          <a:xfrm>
            <a:off x="10216187" y="635537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21BE825-6629-E7D4-5AE3-FAAFE999BF06}"/>
              </a:ext>
            </a:extLst>
          </p:cNvPr>
          <p:cNvGrpSpPr/>
          <p:nvPr/>
        </p:nvGrpSpPr>
        <p:grpSpPr>
          <a:xfrm>
            <a:off x="7548332" y="5574729"/>
            <a:ext cx="4668878" cy="523649"/>
            <a:chOff x="642164" y="5578116"/>
            <a:chExt cx="4668878" cy="52364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8E0CBB-71D0-FE7B-D7B0-6412CB61FAFE}"/>
                </a:ext>
              </a:extLst>
            </p:cNvPr>
            <p:cNvSpPr txBox="1"/>
            <p:nvPr/>
          </p:nvSpPr>
          <p:spPr>
            <a:xfrm>
              <a:off x="1978078" y="5640100"/>
              <a:ext cx="3332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RMSE further reduced!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74782B3-2C90-6A64-1EF7-EFDFEE2E8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164" y="5578116"/>
              <a:ext cx="1191106" cy="40818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6C7AAF-28F4-915D-1AEB-E3BC70D1DD81}"/>
              </a:ext>
            </a:extLst>
          </p:cNvPr>
          <p:cNvGrpSpPr/>
          <p:nvPr/>
        </p:nvGrpSpPr>
        <p:grpSpPr>
          <a:xfrm>
            <a:off x="294616" y="1815133"/>
            <a:ext cx="7642883" cy="3357086"/>
            <a:chOff x="382802" y="1305263"/>
            <a:chExt cx="7642883" cy="3357086"/>
          </a:xfrm>
        </p:grpSpPr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4831423F-F023-DB88-DF57-0AA5E39C200E}"/>
                </a:ext>
              </a:extLst>
            </p:cNvPr>
            <p:cNvSpPr txBox="1"/>
            <p:nvPr/>
          </p:nvSpPr>
          <p:spPr>
            <a:xfrm>
              <a:off x="382802" y="1305263"/>
              <a:ext cx="7642883" cy="1615202"/>
            </a:xfrm>
            <a:prstGeom prst="roundRect">
              <a:avLst>
                <a:gd name="adj" fmla="val 5916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layers = [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featureInputLayer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(size(tblTrain,2)-1,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"Normalization"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"rescale-zero-one"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fullyConnectedLayer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(40)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more neurons in hidden layer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reluLayer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ReLU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activation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func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 (not a new layer of neurons)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fullyConnectedLayer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(40)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more neurons in hidden layer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reluLayer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ReLU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activation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func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 (not a new layer of neurons)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fullyConnectedLayer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(1)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Output layer: # output dim.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regressionLayer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"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Name"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"output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"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)];</a:t>
              </a:r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15EF5E79-E226-BF0E-61F2-8ABD767C2948}"/>
                </a:ext>
              </a:extLst>
            </p:cNvPr>
            <p:cNvSpPr txBox="1"/>
            <p:nvPr/>
          </p:nvSpPr>
          <p:spPr>
            <a:xfrm>
              <a:off x="382802" y="3047147"/>
              <a:ext cx="7642883" cy="1615202"/>
            </a:xfrm>
            <a:prstGeom prst="roundRect">
              <a:avLst>
                <a:gd name="adj" fmla="val 5916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Configuring the training options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options =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trainingOptions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adam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FF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...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'MaxEpochs'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,5000,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FF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...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% more epochs of training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MiniBatchSize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size(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tblTrain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1),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FF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...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% batch training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Shuffle'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'every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-epoch'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FF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...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% shuffling the training samples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Plots'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'training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-progress'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FF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...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% visualizing the training process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ExecutionEnvironment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cpu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FF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...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% training on CPU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Verbose'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,false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);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hide notices while training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70BCEA4-B547-72F6-16FE-148CBC026CA2}"/>
              </a:ext>
            </a:extLst>
          </p:cNvPr>
          <p:cNvSpPr txBox="1"/>
          <p:nvPr/>
        </p:nvSpPr>
        <p:spPr>
          <a:xfrm>
            <a:off x="8704032" y="3749322"/>
            <a:ext cx="2707689" cy="646331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Useful documentation: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normalization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1C8477-853A-B344-CCEC-60C88A1FBED8}"/>
              </a:ext>
            </a:extLst>
          </p:cNvPr>
          <p:cNvGrpSpPr/>
          <p:nvPr/>
        </p:nvGrpSpPr>
        <p:grpSpPr>
          <a:xfrm>
            <a:off x="294616" y="5266214"/>
            <a:ext cx="7071383" cy="1524754"/>
            <a:chOff x="382801" y="4353493"/>
            <a:chExt cx="7071383" cy="152475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E22CF1-74E3-2021-852F-1938B8DB71C3}"/>
                </a:ext>
              </a:extLst>
            </p:cNvPr>
            <p:cNvSpPr txBox="1"/>
            <p:nvPr/>
          </p:nvSpPr>
          <p:spPr>
            <a:xfrm>
              <a:off x="382802" y="4353493"/>
              <a:ext cx="4851350" cy="524173"/>
            </a:xfrm>
            <a:prstGeom prst="roundRect">
              <a:avLst>
                <a:gd name="adj" fmla="val 20534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Training the neural network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net =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trainNetwork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tblTrain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 layers, options);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0C7EA0A-DD0C-683A-C26F-68C2A9603CF4}"/>
                </a:ext>
              </a:extLst>
            </p:cNvPr>
            <p:cNvSpPr txBox="1"/>
            <p:nvPr/>
          </p:nvSpPr>
          <p:spPr>
            <a:xfrm>
              <a:off x="382801" y="5007067"/>
              <a:ext cx="7071383" cy="871180"/>
            </a:xfrm>
            <a:prstGeom prst="roundRect">
              <a:avLst>
                <a:gd name="adj" fmla="val 8556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% Predicting y in the test set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y_pred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= predict(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net,tblTest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);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% Calculating the root-mean-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squred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-error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rmse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= sqrt(sum((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y_pred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- tblTest.Var6).^2,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'all'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)/length(tblTest.Var6))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576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E15B2D-E719-4146-87B4-8A594331CA81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7704CCA4-620B-43DA-AFE3-47A04B6DDC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49E082-E56A-4E5C-8019-72B56B856D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1877</TotalTime>
  <Words>992</Words>
  <Application>Microsoft Office PowerPoint</Application>
  <PresentationFormat>Widescreen</PresentationFormat>
  <Paragraphs>146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Consolas</vt:lpstr>
      <vt:lpstr>Times New Roman</vt:lpstr>
      <vt:lpstr>Office Theme</vt:lpstr>
      <vt:lpstr>Build an ANN Using MATLAB</vt:lpstr>
      <vt:lpstr>Problem background and dataset description</vt:lpstr>
      <vt:lpstr>Re-arranging dataset </vt:lpstr>
      <vt:lpstr>Construction and training of the network </vt:lpstr>
      <vt:lpstr>Construction and training of the network </vt:lpstr>
      <vt:lpstr>Prediction using the neural network</vt:lpstr>
      <vt:lpstr>Improving the network</vt:lpstr>
      <vt:lpstr>Improving the network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61</cp:revision>
  <dcterms:created xsi:type="dcterms:W3CDTF">2021-01-06T14:22:07Z</dcterms:created>
  <dcterms:modified xsi:type="dcterms:W3CDTF">2024-07-22T11:55:45Z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