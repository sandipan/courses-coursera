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494" r:id="rId6"/>
    <p:sldId id="496" r:id="rId7"/>
    <p:sldId id="497" r:id="rId8"/>
    <p:sldId id="498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0.png"/><Relationship Id="rId10" Type="http://schemas.openxmlformats.org/officeDocument/2006/relationships/image" Target="../media/image14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Artificial Neural Network Structure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Major components and structure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ED911E-0B66-1345-C7A1-AADB6BBB8D9D}"/>
              </a:ext>
            </a:extLst>
          </p:cNvPr>
          <p:cNvSpPr txBox="1"/>
          <p:nvPr/>
        </p:nvSpPr>
        <p:spPr>
          <a:xfrm>
            <a:off x="711995" y="1643896"/>
            <a:ext cx="83304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Artificial neural networks: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 layer.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Hidden layers.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Output layer.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Connections.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BBD1956-F3EF-E27C-308E-E94AB0CC9F13}"/>
              </a:ext>
            </a:extLst>
          </p:cNvPr>
          <p:cNvGrpSpPr/>
          <p:nvPr/>
        </p:nvGrpSpPr>
        <p:grpSpPr>
          <a:xfrm>
            <a:off x="3262372" y="3984133"/>
            <a:ext cx="5407723" cy="2459941"/>
            <a:chOff x="1681116" y="1893254"/>
            <a:chExt cx="5407723" cy="245994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6146DED-2408-2173-51DD-ABC9712E4A8F}"/>
                </a:ext>
              </a:extLst>
            </p:cNvPr>
            <p:cNvGrpSpPr/>
            <p:nvPr/>
          </p:nvGrpSpPr>
          <p:grpSpPr>
            <a:xfrm>
              <a:off x="1681116" y="1893254"/>
              <a:ext cx="4907634" cy="2459941"/>
              <a:chOff x="686817" y="1555902"/>
              <a:chExt cx="4907634" cy="2459941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588E45CD-F5DF-BADC-CAA7-3EE281FEF438}"/>
                  </a:ext>
                </a:extLst>
              </p:cNvPr>
              <p:cNvGrpSpPr/>
              <p:nvPr/>
            </p:nvGrpSpPr>
            <p:grpSpPr>
              <a:xfrm>
                <a:off x="686817" y="2101876"/>
                <a:ext cx="4392485" cy="1913967"/>
                <a:chOff x="686817" y="2101876"/>
                <a:chExt cx="4392485" cy="1913967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38CDA252-DEA8-9D10-BA60-E7B938AEBFF2}"/>
                    </a:ext>
                  </a:extLst>
                </p:cNvPr>
                <p:cNvGrpSpPr/>
                <p:nvPr/>
              </p:nvGrpSpPr>
              <p:grpSpPr>
                <a:xfrm>
                  <a:off x="1679590" y="2101876"/>
                  <a:ext cx="3399712" cy="1913967"/>
                  <a:chOff x="1679590" y="2101876"/>
                  <a:chExt cx="3399712" cy="1913967"/>
                </a:xfrm>
              </p:grpSpPr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id="{EEFD0BB0-59ED-DD18-ECEE-F69D123798F5}"/>
                      </a:ext>
                    </a:extLst>
                  </p:cNvPr>
                  <p:cNvGrpSpPr/>
                  <p:nvPr/>
                </p:nvGrpSpPr>
                <p:grpSpPr>
                  <a:xfrm>
                    <a:off x="1679590" y="2101876"/>
                    <a:ext cx="3399712" cy="1913967"/>
                    <a:chOff x="1679590" y="2101876"/>
                    <a:chExt cx="3399712" cy="1913967"/>
                  </a:xfrm>
                </p:grpSpPr>
                <p:grpSp>
                  <p:nvGrpSpPr>
                    <p:cNvPr id="24" name="Group 23">
                      <a:extLst>
                        <a:ext uri="{FF2B5EF4-FFF2-40B4-BE49-F238E27FC236}">
                          <a16:creationId xmlns:a16="http://schemas.microsoft.com/office/drawing/2014/main" id="{B6E25A20-3A40-293F-01E6-A92A85509D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79590" y="2101876"/>
                      <a:ext cx="1944004" cy="1913967"/>
                      <a:chOff x="1457648" y="1942078"/>
                      <a:chExt cx="1944004" cy="1913967"/>
                    </a:xfrm>
                  </p:grpSpPr>
                  <p:grpSp>
                    <p:nvGrpSpPr>
                      <p:cNvPr id="26" name="Group 25">
                        <a:extLst>
                          <a:ext uri="{FF2B5EF4-FFF2-40B4-BE49-F238E27FC236}">
                            <a16:creationId xmlns:a16="http://schemas.microsoft.com/office/drawing/2014/main" id="{059971F2-B4AB-78B8-0FD9-828E9998C4A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57648" y="1942078"/>
                        <a:ext cx="1944004" cy="1913967"/>
                        <a:chOff x="-60434" y="1986466"/>
                        <a:chExt cx="1944004" cy="1913967"/>
                      </a:xfrm>
                    </p:grpSpPr>
                    <p:sp>
                      <p:nvSpPr>
                        <p:cNvPr id="28" name="Oval 27">
                          <a:extLst>
                            <a:ext uri="{FF2B5EF4-FFF2-40B4-BE49-F238E27FC236}">
                              <a16:creationId xmlns:a16="http://schemas.microsoft.com/office/drawing/2014/main" id="{0D3E5974-AF3E-38A6-860A-55A5958A05F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76268" y="1986466"/>
                          <a:ext cx="507302" cy="506704"/>
                        </a:xfrm>
                        <a:prstGeom prst="ellipse">
                          <a:avLst/>
                        </a:prstGeom>
                        <a:ln>
                          <a:solidFill>
                            <a:srgbClr val="002060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29" name="Oval 28">
                          <a:extLst>
                            <a:ext uri="{FF2B5EF4-FFF2-40B4-BE49-F238E27FC236}">
                              <a16:creationId xmlns:a16="http://schemas.microsoft.com/office/drawing/2014/main" id="{3BA2320B-C79B-181C-7F0B-5D8B3D9BCC1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76268" y="2689282"/>
                          <a:ext cx="507302" cy="506704"/>
                        </a:xfrm>
                        <a:prstGeom prst="ellipse">
                          <a:avLst/>
                        </a:prstGeom>
                        <a:ln>
                          <a:solidFill>
                            <a:srgbClr val="002060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0" name="Oval 29">
                          <a:extLst>
                            <a:ext uri="{FF2B5EF4-FFF2-40B4-BE49-F238E27FC236}">
                              <a16:creationId xmlns:a16="http://schemas.microsoft.com/office/drawing/2014/main" id="{A8FA29B1-0FAD-3EE0-840B-44DB35A0635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76268" y="3393729"/>
                          <a:ext cx="507302" cy="506704"/>
                        </a:xfrm>
                        <a:prstGeom prst="ellipse">
                          <a:avLst/>
                        </a:prstGeom>
                        <a:ln>
                          <a:solidFill>
                            <a:srgbClr val="002060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1" name="Oval 30">
                          <a:extLst>
                            <a:ext uri="{FF2B5EF4-FFF2-40B4-BE49-F238E27FC236}">
                              <a16:creationId xmlns:a16="http://schemas.microsoft.com/office/drawing/2014/main" id="{DEA03968-E029-B4B5-0D88-711F18D1999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-60434" y="3036966"/>
                          <a:ext cx="507302" cy="506704"/>
                        </a:xfrm>
                        <a:prstGeom prst="ellipse">
                          <a:avLst/>
                        </a:prstGeom>
                        <a:ln>
                          <a:solidFill>
                            <a:schemeClr val="accent6">
                              <a:lumMod val="5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</p:grpSp>
                  <p:sp>
                    <p:nvSpPr>
                      <p:cNvPr id="27" name="Oval 26">
                        <a:extLst>
                          <a:ext uri="{FF2B5EF4-FFF2-40B4-BE49-F238E27FC236}">
                            <a16:creationId xmlns:a16="http://schemas.microsoft.com/office/drawing/2014/main" id="{673B2692-1B3F-CFF7-7CC4-4AA0106393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57648" y="2195430"/>
                        <a:ext cx="507302" cy="506704"/>
                      </a:xfrm>
                      <a:prstGeom prst="ellipse">
                        <a:avLst/>
                      </a:prstGeom>
                      <a:ln>
                        <a:solidFill>
                          <a:schemeClr val="accent6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sp>
                  <p:nvSpPr>
                    <p:cNvPr id="25" name="Oval 24">
                      <a:extLst>
                        <a:ext uri="{FF2B5EF4-FFF2-40B4-BE49-F238E27FC236}">
                          <a16:creationId xmlns:a16="http://schemas.microsoft.com/office/drawing/2014/main" id="{A2C67E9C-D43C-DE2A-10C9-5CD360D613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2804692"/>
                      <a:ext cx="507302" cy="506704"/>
                    </a:xfrm>
                    <a:prstGeom prst="ellipse">
                      <a:avLst/>
                    </a:prstGeom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15" name="Straight Arrow Connector 14">
                    <a:extLst>
                      <a:ext uri="{FF2B5EF4-FFF2-40B4-BE49-F238E27FC236}">
                        <a16:creationId xmlns:a16="http://schemas.microsoft.com/office/drawing/2014/main" id="{D184D1D6-A8A5-36DD-8879-014B85A23D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86892" y="2362371"/>
                    <a:ext cx="929400" cy="253352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FFA609B8-88D8-FDEB-C44A-268B532F03BC}"/>
                      </a:ext>
                    </a:extLst>
                  </p:cNvPr>
                  <p:cNvCxnSpPr>
                    <a:cxnSpLocks/>
                    <a:stCxn id="27" idx="6"/>
                    <a:endCxn id="29" idx="2"/>
                  </p:cNvCxnSpPr>
                  <p:nvPr/>
                </p:nvCxnSpPr>
                <p:spPr>
                  <a:xfrm>
                    <a:off x="2186892" y="2608580"/>
                    <a:ext cx="929400" cy="449464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Arrow Connector 16">
                    <a:extLst>
                      <a:ext uri="{FF2B5EF4-FFF2-40B4-BE49-F238E27FC236}">
                        <a16:creationId xmlns:a16="http://schemas.microsoft.com/office/drawing/2014/main" id="{6F8D9B97-AA66-DEE8-4D85-2AD17C05766F}"/>
                      </a:ext>
                    </a:extLst>
                  </p:cNvPr>
                  <p:cNvCxnSpPr>
                    <a:cxnSpLocks/>
                    <a:stCxn id="27" idx="6"/>
                    <a:endCxn id="30" idx="2"/>
                  </p:cNvCxnSpPr>
                  <p:nvPr/>
                </p:nvCxnSpPr>
                <p:spPr>
                  <a:xfrm>
                    <a:off x="2186892" y="2608580"/>
                    <a:ext cx="929400" cy="1153911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3C4A93C1-E93B-0623-EB16-D974BB8CCABE}"/>
                      </a:ext>
                    </a:extLst>
                  </p:cNvPr>
                  <p:cNvCxnSpPr>
                    <a:cxnSpLocks/>
                    <a:stCxn id="31" idx="6"/>
                    <a:endCxn id="28" idx="2"/>
                  </p:cNvCxnSpPr>
                  <p:nvPr/>
                </p:nvCxnSpPr>
                <p:spPr>
                  <a:xfrm flipV="1">
                    <a:off x="2186892" y="2355228"/>
                    <a:ext cx="929400" cy="1050500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>
                    <a:extLst>
                      <a:ext uri="{FF2B5EF4-FFF2-40B4-BE49-F238E27FC236}">
                        <a16:creationId xmlns:a16="http://schemas.microsoft.com/office/drawing/2014/main" id="{1A3F4B27-8250-9D89-E7ED-DBAE809E4161}"/>
                      </a:ext>
                    </a:extLst>
                  </p:cNvPr>
                  <p:cNvCxnSpPr>
                    <a:cxnSpLocks/>
                    <a:stCxn id="31" idx="6"/>
                    <a:endCxn id="29" idx="2"/>
                  </p:cNvCxnSpPr>
                  <p:nvPr/>
                </p:nvCxnSpPr>
                <p:spPr>
                  <a:xfrm flipV="1">
                    <a:off x="2186892" y="3058044"/>
                    <a:ext cx="929400" cy="347684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Arrow Connector 19">
                    <a:extLst>
                      <a:ext uri="{FF2B5EF4-FFF2-40B4-BE49-F238E27FC236}">
                        <a16:creationId xmlns:a16="http://schemas.microsoft.com/office/drawing/2014/main" id="{41631274-23CD-7147-624F-C51F933E1083}"/>
                      </a:ext>
                    </a:extLst>
                  </p:cNvPr>
                  <p:cNvCxnSpPr>
                    <a:cxnSpLocks/>
                    <a:stCxn id="31" idx="6"/>
                    <a:endCxn id="30" idx="2"/>
                  </p:cNvCxnSpPr>
                  <p:nvPr/>
                </p:nvCxnSpPr>
                <p:spPr>
                  <a:xfrm>
                    <a:off x="2186892" y="3405728"/>
                    <a:ext cx="929400" cy="356763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Arrow Connector 20">
                    <a:extLst>
                      <a:ext uri="{FF2B5EF4-FFF2-40B4-BE49-F238E27FC236}">
                        <a16:creationId xmlns:a16="http://schemas.microsoft.com/office/drawing/2014/main" id="{A13CD91D-A7EE-6534-C3AD-EC7AE52BE947}"/>
                      </a:ext>
                    </a:extLst>
                  </p:cNvPr>
                  <p:cNvCxnSpPr>
                    <a:cxnSpLocks/>
                    <a:endCxn id="25" idx="2"/>
                  </p:cNvCxnSpPr>
                  <p:nvPr/>
                </p:nvCxnSpPr>
                <p:spPr>
                  <a:xfrm>
                    <a:off x="3623594" y="2355228"/>
                    <a:ext cx="948406" cy="702816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Arrow Connector 21">
                    <a:extLst>
                      <a:ext uri="{FF2B5EF4-FFF2-40B4-BE49-F238E27FC236}">
                        <a16:creationId xmlns:a16="http://schemas.microsoft.com/office/drawing/2014/main" id="{FE8DD14A-882E-AACC-3E17-F57E5F3862C8}"/>
                      </a:ext>
                    </a:extLst>
                  </p:cNvPr>
                  <p:cNvCxnSpPr>
                    <a:cxnSpLocks/>
                    <a:stCxn id="29" idx="6"/>
                    <a:endCxn id="25" idx="2"/>
                  </p:cNvCxnSpPr>
                  <p:nvPr/>
                </p:nvCxnSpPr>
                <p:spPr>
                  <a:xfrm>
                    <a:off x="3623594" y="3058044"/>
                    <a:ext cx="948406" cy="0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Arrow Connector 22">
                    <a:extLst>
                      <a:ext uri="{FF2B5EF4-FFF2-40B4-BE49-F238E27FC236}">
                        <a16:creationId xmlns:a16="http://schemas.microsoft.com/office/drawing/2014/main" id="{7295C1E7-0ECD-D89C-2C1B-539BB7F1A3FE}"/>
                      </a:ext>
                    </a:extLst>
                  </p:cNvPr>
                  <p:cNvCxnSpPr>
                    <a:cxnSpLocks/>
                    <a:stCxn id="30" idx="6"/>
                    <a:endCxn id="25" idx="2"/>
                  </p:cNvCxnSpPr>
                  <p:nvPr/>
                </p:nvCxnSpPr>
                <p:spPr>
                  <a:xfrm flipV="1">
                    <a:off x="3623594" y="3058044"/>
                    <a:ext cx="948406" cy="704447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C4E739B-E81A-3EB6-EC08-4ABB13DF5162}"/>
                    </a:ext>
                  </a:extLst>
                </p:cNvPr>
                <p:cNvSpPr txBox="1"/>
                <p:nvPr/>
              </p:nvSpPr>
              <p:spPr>
                <a:xfrm>
                  <a:off x="686817" y="2424828"/>
                  <a:ext cx="8899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Input 1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ADDB442-98CE-A484-3DAC-B64BA2EB7E5F}"/>
                    </a:ext>
                  </a:extLst>
                </p:cNvPr>
                <p:cNvSpPr txBox="1"/>
                <p:nvPr/>
              </p:nvSpPr>
              <p:spPr>
                <a:xfrm>
                  <a:off x="699272" y="3214777"/>
                  <a:ext cx="8899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Input 2</a:t>
                  </a:r>
                </a:p>
              </p:txBody>
            </p: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96E0D7-A3AA-C136-E2D3-C003C3B750FD}"/>
                  </a:ext>
                </a:extLst>
              </p:cNvPr>
              <p:cNvSpPr txBox="1"/>
              <p:nvPr/>
            </p:nvSpPr>
            <p:spPr>
              <a:xfrm>
                <a:off x="1337565" y="1555902"/>
                <a:ext cx="12618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Input layer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F5A81D-2B64-B926-340A-24C6B31566A0}"/>
                  </a:ext>
                </a:extLst>
              </p:cNvPr>
              <p:cNvSpPr txBox="1"/>
              <p:nvPr/>
            </p:nvSpPr>
            <p:spPr>
              <a:xfrm>
                <a:off x="2678087" y="1555902"/>
                <a:ext cx="1479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Hidden layer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929579-B28F-2713-D102-1F8F5A5195CB}"/>
                  </a:ext>
                </a:extLst>
              </p:cNvPr>
              <p:cNvSpPr txBox="1"/>
              <p:nvPr/>
            </p:nvSpPr>
            <p:spPr>
              <a:xfrm>
                <a:off x="4153031" y="1555902"/>
                <a:ext cx="14414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Output layer</a:t>
                </a: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7E8A27A-6274-4F81-F20C-F5EB20AA53AB}"/>
                </a:ext>
              </a:extLst>
            </p:cNvPr>
            <p:cNvSpPr txBox="1"/>
            <p:nvPr/>
          </p:nvSpPr>
          <p:spPr>
            <a:xfrm>
              <a:off x="6211676" y="320816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DA2BC7-7EE4-81C5-8CAB-9D7C403380D7}"/>
              </a:ext>
            </a:extLst>
          </p:cNvPr>
          <p:cNvGrpSpPr/>
          <p:nvPr/>
        </p:nvGrpSpPr>
        <p:grpSpPr>
          <a:xfrm>
            <a:off x="4033984" y="4634538"/>
            <a:ext cx="6053103" cy="1778989"/>
            <a:chOff x="2497284" y="3656310"/>
            <a:chExt cx="6053103" cy="1778989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93931C4-F33A-6168-7356-837A18241114}"/>
                </a:ext>
              </a:extLst>
            </p:cNvPr>
            <p:cNvGrpSpPr/>
            <p:nvPr/>
          </p:nvGrpSpPr>
          <p:grpSpPr>
            <a:xfrm>
              <a:off x="4409290" y="3656310"/>
              <a:ext cx="4141097" cy="1414878"/>
              <a:chOff x="4409290" y="3656310"/>
              <a:chExt cx="4141097" cy="1414878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02B0EAD-2289-88ED-72B4-0B4D8E6DFE23}"/>
                  </a:ext>
                </a:extLst>
              </p:cNvPr>
              <p:cNvSpPr txBox="1"/>
              <p:nvPr/>
            </p:nvSpPr>
            <p:spPr>
              <a:xfrm>
                <a:off x="4412045" y="4486413"/>
                <a:ext cx="41383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A neuron is activated and pass the bioelectric signal to the next neuron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633A0E9-E9DF-D3F2-D5D3-42A5E7A99A24}"/>
                  </a:ext>
                </a:extLst>
              </p:cNvPr>
              <p:cNvSpPr txBox="1"/>
              <p:nvPr/>
            </p:nvSpPr>
            <p:spPr>
              <a:xfrm>
                <a:off x="4409290" y="3656310"/>
                <a:ext cx="41383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A node is activated for calculation and then pass the results to the next node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BC73419-310D-77A5-D734-425B999C7748}"/>
                </a:ext>
              </a:extLst>
            </p:cNvPr>
            <p:cNvGrpSpPr/>
            <p:nvPr/>
          </p:nvGrpSpPr>
          <p:grpSpPr>
            <a:xfrm>
              <a:off x="2497284" y="3802531"/>
              <a:ext cx="1769444" cy="1632768"/>
              <a:chOff x="2497284" y="3802531"/>
              <a:chExt cx="1769444" cy="1632768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8C23D74E-E156-BB37-121C-341258F89B9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992" t="17942" r="16062" b="18809"/>
              <a:stretch/>
            </p:blipFill>
            <p:spPr>
              <a:xfrm rot="21161933" flipV="1">
                <a:off x="2497284" y="4167707"/>
                <a:ext cx="1769444" cy="1267592"/>
              </a:xfrm>
              <a:prstGeom prst="rect">
                <a:avLst/>
              </a:prstGeom>
            </p:spPr>
          </p:pic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C1FBA6C4-0340-BC2E-1BB8-26A75F86D49B}"/>
                  </a:ext>
                </a:extLst>
              </p:cNvPr>
              <p:cNvGrpSpPr/>
              <p:nvPr/>
            </p:nvGrpSpPr>
            <p:grpSpPr>
              <a:xfrm>
                <a:off x="2722946" y="3802531"/>
                <a:ext cx="1436702" cy="506704"/>
                <a:chOff x="2722946" y="3795388"/>
                <a:chExt cx="1436702" cy="506704"/>
              </a:xfrm>
            </p:grpSpPr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A4769C6A-C11B-5D11-F026-6C9A852C79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30248" y="3803067"/>
                  <a:ext cx="929400" cy="253352"/>
                </a:xfrm>
                <a:prstGeom prst="straightConnector1">
                  <a:avLst/>
                </a:prstGeom>
                <a:ln>
                  <a:solidFill>
                    <a:srgbClr val="7030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17568D4F-1090-4A1E-E5AC-19E8375325ED}"/>
                    </a:ext>
                  </a:extLst>
                </p:cNvPr>
                <p:cNvSpPr/>
                <p:nvPr/>
              </p:nvSpPr>
              <p:spPr>
                <a:xfrm>
                  <a:off x="2722946" y="3795388"/>
                  <a:ext cx="507302" cy="506704"/>
                </a:xfrm>
                <a:prstGeom prst="ellipse">
                  <a:avLst/>
                </a:prstGeom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5EBD331E-8757-A644-CDAF-8037D4176237}"/>
                    </a:ext>
                  </a:extLst>
                </p:cNvPr>
                <p:cNvCxnSpPr/>
                <p:nvPr/>
              </p:nvCxnSpPr>
              <p:spPr>
                <a:xfrm flipV="1">
                  <a:off x="3230248" y="3803067"/>
                  <a:ext cx="929400" cy="253352"/>
                </a:xfrm>
                <a:prstGeom prst="straightConnector1">
                  <a:avLst/>
                </a:prstGeom>
                <a:ln>
                  <a:solidFill>
                    <a:srgbClr val="7030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C2357-C877-E883-946A-F0CEE04A0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Major components and structure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2176C9-D611-CF44-477B-4932E3D880D7}"/>
              </a:ext>
            </a:extLst>
          </p:cNvPr>
          <p:cNvSpPr txBox="1"/>
          <p:nvPr/>
        </p:nvSpPr>
        <p:spPr>
          <a:xfrm>
            <a:off x="877095" y="1643896"/>
            <a:ext cx="834310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Artificial neural networks (sometime called neural networks, or neural nets)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 layer.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Hidden layers.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Output layer.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Connections.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6D1061-FAB0-8E44-568E-EA102F93FE16}"/>
              </a:ext>
            </a:extLst>
          </p:cNvPr>
          <p:cNvSpPr txBox="1"/>
          <p:nvPr/>
        </p:nvSpPr>
        <p:spPr>
          <a:xfrm>
            <a:off x="4700792" y="3198167"/>
            <a:ext cx="533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 is processed and passed between neurons </a:t>
            </a:r>
            <a:endParaRPr lang="en-GB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06630CC-A532-9864-871E-842620A1B80A}"/>
              </a:ext>
            </a:extLst>
          </p:cNvPr>
          <p:cNvGrpSpPr/>
          <p:nvPr/>
        </p:nvGrpSpPr>
        <p:grpSpPr>
          <a:xfrm>
            <a:off x="3164386" y="4095941"/>
            <a:ext cx="5307010" cy="2459941"/>
            <a:chOff x="1781829" y="1893254"/>
            <a:chExt cx="5307010" cy="245994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06451E7-11B1-7420-3C0B-8A61D03A251C}"/>
                </a:ext>
              </a:extLst>
            </p:cNvPr>
            <p:cNvGrpSpPr/>
            <p:nvPr/>
          </p:nvGrpSpPr>
          <p:grpSpPr>
            <a:xfrm>
              <a:off x="1781829" y="1893254"/>
              <a:ext cx="4806921" cy="2459941"/>
              <a:chOff x="787530" y="1555902"/>
              <a:chExt cx="4806921" cy="245994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A7D732EE-36BC-3298-48D3-BD2EF2CF15DF}"/>
                  </a:ext>
                </a:extLst>
              </p:cNvPr>
              <p:cNvGrpSpPr/>
              <p:nvPr/>
            </p:nvGrpSpPr>
            <p:grpSpPr>
              <a:xfrm>
                <a:off x="787530" y="2101876"/>
                <a:ext cx="4291772" cy="1913967"/>
                <a:chOff x="787530" y="2101876"/>
                <a:chExt cx="4291772" cy="1913967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9738E732-1AE5-607C-F800-747F7FF1B930}"/>
                    </a:ext>
                  </a:extLst>
                </p:cNvPr>
                <p:cNvGrpSpPr/>
                <p:nvPr/>
              </p:nvGrpSpPr>
              <p:grpSpPr>
                <a:xfrm>
                  <a:off x="1679590" y="2101876"/>
                  <a:ext cx="3399712" cy="1913967"/>
                  <a:chOff x="1679590" y="2101876"/>
                  <a:chExt cx="3399712" cy="1913967"/>
                </a:xfrm>
              </p:grpSpPr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6DB4376A-8BA7-ECBD-3753-2C688A0E108F}"/>
                      </a:ext>
                    </a:extLst>
                  </p:cNvPr>
                  <p:cNvGrpSpPr/>
                  <p:nvPr/>
                </p:nvGrpSpPr>
                <p:grpSpPr>
                  <a:xfrm>
                    <a:off x="1679590" y="2101876"/>
                    <a:ext cx="3399712" cy="1913967"/>
                    <a:chOff x="1679590" y="2101876"/>
                    <a:chExt cx="3399712" cy="1913967"/>
                  </a:xfrm>
                </p:grpSpPr>
                <p:grpSp>
                  <p:nvGrpSpPr>
                    <p:cNvPr id="25" name="Group 24">
                      <a:extLst>
                        <a:ext uri="{FF2B5EF4-FFF2-40B4-BE49-F238E27FC236}">
                          <a16:creationId xmlns:a16="http://schemas.microsoft.com/office/drawing/2014/main" id="{F58FFD5F-BD7A-4DC7-9B53-3FE67055E3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79590" y="2101876"/>
                      <a:ext cx="1944004" cy="1913967"/>
                      <a:chOff x="1457648" y="1942078"/>
                      <a:chExt cx="1944004" cy="1913967"/>
                    </a:xfrm>
                  </p:grpSpPr>
                  <p:grpSp>
                    <p:nvGrpSpPr>
                      <p:cNvPr id="27" name="Group 26">
                        <a:extLst>
                          <a:ext uri="{FF2B5EF4-FFF2-40B4-BE49-F238E27FC236}">
                            <a16:creationId xmlns:a16="http://schemas.microsoft.com/office/drawing/2014/main" id="{6DF63332-5C29-90DA-006F-E4B53948FEC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57648" y="1942078"/>
                        <a:ext cx="1944004" cy="1913967"/>
                        <a:chOff x="-60434" y="1986466"/>
                        <a:chExt cx="1944004" cy="1913967"/>
                      </a:xfrm>
                    </p:grpSpPr>
                    <p:sp>
                      <p:nvSpPr>
                        <p:cNvPr id="29" name="Oval 28">
                          <a:extLst>
                            <a:ext uri="{FF2B5EF4-FFF2-40B4-BE49-F238E27FC236}">
                              <a16:creationId xmlns:a16="http://schemas.microsoft.com/office/drawing/2014/main" id="{C45E7F48-F5E9-A4D7-6BBF-406B22DCE68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76268" y="1986466"/>
                          <a:ext cx="507302" cy="506704"/>
                        </a:xfrm>
                        <a:prstGeom prst="ellipse">
                          <a:avLst/>
                        </a:prstGeom>
                        <a:ln>
                          <a:solidFill>
                            <a:srgbClr val="002060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0" name="Oval 29">
                          <a:extLst>
                            <a:ext uri="{FF2B5EF4-FFF2-40B4-BE49-F238E27FC236}">
                              <a16:creationId xmlns:a16="http://schemas.microsoft.com/office/drawing/2014/main" id="{7662A1FA-B0FE-6143-F507-E288EF2CF8E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76268" y="2689282"/>
                          <a:ext cx="507302" cy="506704"/>
                        </a:xfrm>
                        <a:prstGeom prst="ellipse">
                          <a:avLst/>
                        </a:prstGeom>
                        <a:ln>
                          <a:solidFill>
                            <a:srgbClr val="002060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1" name="Oval 30">
                          <a:extLst>
                            <a:ext uri="{FF2B5EF4-FFF2-40B4-BE49-F238E27FC236}">
                              <a16:creationId xmlns:a16="http://schemas.microsoft.com/office/drawing/2014/main" id="{A3459B76-07FB-605F-DAFE-49A58F3A711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76268" y="3393729"/>
                          <a:ext cx="507302" cy="506704"/>
                        </a:xfrm>
                        <a:prstGeom prst="ellipse">
                          <a:avLst/>
                        </a:prstGeom>
                        <a:ln>
                          <a:solidFill>
                            <a:srgbClr val="002060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32" name="Oval 31">
                          <a:extLst>
                            <a:ext uri="{FF2B5EF4-FFF2-40B4-BE49-F238E27FC236}">
                              <a16:creationId xmlns:a16="http://schemas.microsoft.com/office/drawing/2014/main" id="{6FA32157-844E-FF0E-E816-3703E8EFC14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-60434" y="3036966"/>
                          <a:ext cx="507302" cy="506704"/>
                        </a:xfrm>
                        <a:prstGeom prst="ellipse">
                          <a:avLst/>
                        </a:prstGeom>
                        <a:ln>
                          <a:solidFill>
                            <a:schemeClr val="accent6">
                              <a:lumMod val="5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1">
                          <a:schemeClr val="lt1"/>
                        </a:fillRef>
                        <a:effectRef idx="0">
                          <a:schemeClr val="accent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</p:grpSp>
                  <p:sp>
                    <p:nvSpPr>
                      <p:cNvPr id="28" name="Oval 27">
                        <a:extLst>
                          <a:ext uri="{FF2B5EF4-FFF2-40B4-BE49-F238E27FC236}">
                            <a16:creationId xmlns:a16="http://schemas.microsoft.com/office/drawing/2014/main" id="{FFD4431A-9A4E-3D1C-30A1-D69F43F85B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57648" y="2195430"/>
                        <a:ext cx="507302" cy="506704"/>
                      </a:xfrm>
                      <a:prstGeom prst="ellipse">
                        <a:avLst/>
                      </a:prstGeom>
                      <a:ln>
                        <a:solidFill>
                          <a:schemeClr val="accent6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dirty="0"/>
                      </a:p>
                    </p:txBody>
                  </p:sp>
                </p:grpSp>
                <p:sp>
                  <p:nvSpPr>
                    <p:cNvPr id="26" name="Oval 25">
                      <a:extLst>
                        <a:ext uri="{FF2B5EF4-FFF2-40B4-BE49-F238E27FC236}">
                          <a16:creationId xmlns:a16="http://schemas.microsoft.com/office/drawing/2014/main" id="{B5DDEFF8-86A9-E3A3-5A3C-7B0B7B65CF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0" y="2804692"/>
                      <a:ext cx="507302" cy="506704"/>
                    </a:xfrm>
                    <a:prstGeom prst="ellipse">
                      <a:avLst/>
                    </a:prstGeom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1">
                      <a:schemeClr val="lt1"/>
                    </a:fillRef>
                    <a:effectRef idx="0">
                      <a:schemeClr val="accent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DB704489-9E44-F91E-DDD6-5F2DBCBA6B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186892" y="2362371"/>
                    <a:ext cx="929400" cy="253352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Arrow Connector 16">
                    <a:extLst>
                      <a:ext uri="{FF2B5EF4-FFF2-40B4-BE49-F238E27FC236}">
                        <a16:creationId xmlns:a16="http://schemas.microsoft.com/office/drawing/2014/main" id="{1EE5C21F-8903-DC45-5032-A1FBA932E574}"/>
                      </a:ext>
                    </a:extLst>
                  </p:cNvPr>
                  <p:cNvCxnSpPr>
                    <a:cxnSpLocks/>
                    <a:stCxn id="28" idx="6"/>
                    <a:endCxn id="30" idx="2"/>
                  </p:cNvCxnSpPr>
                  <p:nvPr/>
                </p:nvCxnSpPr>
                <p:spPr>
                  <a:xfrm>
                    <a:off x="2186892" y="2608580"/>
                    <a:ext cx="929400" cy="449464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9187F84A-39F5-EDD0-F477-FA33E5F89977}"/>
                      </a:ext>
                    </a:extLst>
                  </p:cNvPr>
                  <p:cNvCxnSpPr>
                    <a:cxnSpLocks/>
                    <a:stCxn id="28" idx="6"/>
                    <a:endCxn id="31" idx="2"/>
                  </p:cNvCxnSpPr>
                  <p:nvPr/>
                </p:nvCxnSpPr>
                <p:spPr>
                  <a:xfrm>
                    <a:off x="2186892" y="2608580"/>
                    <a:ext cx="929400" cy="1153911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>
                    <a:extLst>
                      <a:ext uri="{FF2B5EF4-FFF2-40B4-BE49-F238E27FC236}">
                        <a16:creationId xmlns:a16="http://schemas.microsoft.com/office/drawing/2014/main" id="{C0B8CB21-697D-55EE-FF4A-A59C2DF7E91C}"/>
                      </a:ext>
                    </a:extLst>
                  </p:cNvPr>
                  <p:cNvCxnSpPr>
                    <a:cxnSpLocks/>
                    <a:stCxn id="32" idx="6"/>
                    <a:endCxn id="29" idx="2"/>
                  </p:cNvCxnSpPr>
                  <p:nvPr/>
                </p:nvCxnSpPr>
                <p:spPr>
                  <a:xfrm flipV="1">
                    <a:off x="2186892" y="2355228"/>
                    <a:ext cx="929400" cy="1050500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Arrow Connector 19">
                    <a:extLst>
                      <a:ext uri="{FF2B5EF4-FFF2-40B4-BE49-F238E27FC236}">
                        <a16:creationId xmlns:a16="http://schemas.microsoft.com/office/drawing/2014/main" id="{1B958F70-20A3-CC05-52DF-10C224C706EA}"/>
                      </a:ext>
                    </a:extLst>
                  </p:cNvPr>
                  <p:cNvCxnSpPr>
                    <a:cxnSpLocks/>
                    <a:stCxn id="32" idx="6"/>
                    <a:endCxn id="30" idx="2"/>
                  </p:cNvCxnSpPr>
                  <p:nvPr/>
                </p:nvCxnSpPr>
                <p:spPr>
                  <a:xfrm flipV="1">
                    <a:off x="2186892" y="3058044"/>
                    <a:ext cx="929400" cy="347684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Arrow Connector 20">
                    <a:extLst>
                      <a:ext uri="{FF2B5EF4-FFF2-40B4-BE49-F238E27FC236}">
                        <a16:creationId xmlns:a16="http://schemas.microsoft.com/office/drawing/2014/main" id="{1F1490D3-905C-DED1-DD52-CAC877D065D5}"/>
                      </a:ext>
                    </a:extLst>
                  </p:cNvPr>
                  <p:cNvCxnSpPr>
                    <a:cxnSpLocks/>
                    <a:stCxn id="32" idx="6"/>
                    <a:endCxn id="31" idx="2"/>
                  </p:cNvCxnSpPr>
                  <p:nvPr/>
                </p:nvCxnSpPr>
                <p:spPr>
                  <a:xfrm>
                    <a:off x="2186892" y="3405728"/>
                    <a:ext cx="929400" cy="356763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Arrow Connector 21">
                    <a:extLst>
                      <a:ext uri="{FF2B5EF4-FFF2-40B4-BE49-F238E27FC236}">
                        <a16:creationId xmlns:a16="http://schemas.microsoft.com/office/drawing/2014/main" id="{56A0E04B-4935-9D49-8612-5AEF9E9DBECD}"/>
                      </a:ext>
                    </a:extLst>
                  </p:cNvPr>
                  <p:cNvCxnSpPr>
                    <a:cxnSpLocks/>
                    <a:endCxn id="26" idx="2"/>
                  </p:cNvCxnSpPr>
                  <p:nvPr/>
                </p:nvCxnSpPr>
                <p:spPr>
                  <a:xfrm>
                    <a:off x="3623594" y="2355228"/>
                    <a:ext cx="948406" cy="702816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Arrow Connector 22">
                    <a:extLst>
                      <a:ext uri="{FF2B5EF4-FFF2-40B4-BE49-F238E27FC236}">
                        <a16:creationId xmlns:a16="http://schemas.microsoft.com/office/drawing/2014/main" id="{7FC932DA-B71A-96AC-3199-3AA35F2CA2C1}"/>
                      </a:ext>
                    </a:extLst>
                  </p:cNvPr>
                  <p:cNvCxnSpPr>
                    <a:cxnSpLocks/>
                    <a:stCxn id="30" idx="6"/>
                    <a:endCxn id="26" idx="2"/>
                  </p:cNvCxnSpPr>
                  <p:nvPr/>
                </p:nvCxnSpPr>
                <p:spPr>
                  <a:xfrm>
                    <a:off x="3623594" y="3058044"/>
                    <a:ext cx="948406" cy="0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Arrow Connector 23">
                    <a:extLst>
                      <a:ext uri="{FF2B5EF4-FFF2-40B4-BE49-F238E27FC236}">
                        <a16:creationId xmlns:a16="http://schemas.microsoft.com/office/drawing/2014/main" id="{355EC8F6-FB3F-31FA-AB9A-5A4E5C42FE99}"/>
                      </a:ext>
                    </a:extLst>
                  </p:cNvPr>
                  <p:cNvCxnSpPr>
                    <a:cxnSpLocks/>
                    <a:stCxn id="31" idx="6"/>
                    <a:endCxn id="26" idx="2"/>
                  </p:cNvCxnSpPr>
                  <p:nvPr/>
                </p:nvCxnSpPr>
                <p:spPr>
                  <a:xfrm flipV="1">
                    <a:off x="3623594" y="3058044"/>
                    <a:ext cx="948406" cy="704447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F95605F-FE56-9F36-AA94-E776AFBE9B0D}"/>
                    </a:ext>
                  </a:extLst>
                </p:cNvPr>
                <p:cNvSpPr txBox="1"/>
                <p:nvPr/>
              </p:nvSpPr>
              <p:spPr>
                <a:xfrm>
                  <a:off x="787530" y="2423914"/>
                  <a:ext cx="8899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Input 1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ECB0FFE-0DED-3C19-548E-AF36E11BEE4F}"/>
                    </a:ext>
                  </a:extLst>
                </p:cNvPr>
                <p:cNvSpPr txBox="1"/>
                <p:nvPr/>
              </p:nvSpPr>
              <p:spPr>
                <a:xfrm>
                  <a:off x="797148" y="3214777"/>
                  <a:ext cx="8899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Input 2</a:t>
                  </a: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E01E68-0467-501B-F847-E68F4FFFC77A}"/>
                  </a:ext>
                </a:extLst>
              </p:cNvPr>
              <p:cNvSpPr txBox="1"/>
              <p:nvPr/>
            </p:nvSpPr>
            <p:spPr>
              <a:xfrm>
                <a:off x="1337565" y="1555902"/>
                <a:ext cx="12618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Input layer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3ADD97-4715-1644-4578-8ED2AA59084E}"/>
                  </a:ext>
                </a:extLst>
              </p:cNvPr>
              <p:cNvSpPr txBox="1"/>
              <p:nvPr/>
            </p:nvSpPr>
            <p:spPr>
              <a:xfrm>
                <a:off x="2678087" y="1555902"/>
                <a:ext cx="1479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Hidden layer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6073B8-5640-011F-5810-E2720A3D2512}"/>
                  </a:ext>
                </a:extLst>
              </p:cNvPr>
              <p:cNvSpPr txBox="1"/>
              <p:nvPr/>
            </p:nvSpPr>
            <p:spPr>
              <a:xfrm>
                <a:off x="4153031" y="1555902"/>
                <a:ext cx="14414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Output layer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C4DF8F-01C3-E9ED-B568-4BC66123BE53}"/>
                </a:ext>
              </a:extLst>
            </p:cNvPr>
            <p:cNvSpPr txBox="1"/>
            <p:nvPr/>
          </p:nvSpPr>
          <p:spPr>
            <a:xfrm>
              <a:off x="6211676" y="320816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1158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74E9B-3D5D-3C32-C4E3-B37F18753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Processes and activation within a neuron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BF9438-903A-7A82-9CB1-8B4D578F1703}"/>
                  </a:ext>
                </a:extLst>
              </p:cNvPr>
              <p:cNvSpPr txBox="1"/>
              <p:nvPr/>
            </p:nvSpPr>
            <p:spPr>
              <a:xfrm>
                <a:off x="807554" y="1595600"/>
                <a:ext cx="6587060" cy="37726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Activation functions (to introduce non-linearity):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sigmoid, usually </a:t>
                </a:r>
                <a:r>
                  <a:rPr lang="en-US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sigm</a:t>
                </a:r>
                <a:r>
                  <a:rPr lang="en-US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𝑠𝑖𝑔𝑚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tangent hyperbolic, usually </a:t>
                </a:r>
                <a:r>
                  <a:rPr lang="en-US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tanh.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𝑡𝑎𝑛h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Rectified linear unit, usually </a:t>
                </a:r>
                <a:r>
                  <a:rPr lang="en-US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ReLU</a:t>
                </a:r>
                <a:r>
                  <a:rPr lang="en-US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𝑅𝑒𝐿𝑈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0</m:t>
                            </m:r>
                          </m:e>
                        </m:eqArr>
                      </m:e>
                    </m:d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BF9438-903A-7A82-9CB1-8B4D578F1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54" y="1595600"/>
                <a:ext cx="6587060" cy="3772636"/>
              </a:xfrm>
              <a:prstGeom prst="rect">
                <a:avLst/>
              </a:prstGeom>
              <a:blipFill>
                <a:blip r:embed="rId2"/>
                <a:stretch>
                  <a:fillRect l="-1388" t="-1131" r="-7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1A461E-6158-3330-69AD-DE601C73D442}"/>
                  </a:ext>
                </a:extLst>
              </p:cNvPr>
              <p:cNvSpPr txBox="1"/>
              <p:nvPr/>
            </p:nvSpPr>
            <p:spPr>
              <a:xfrm>
                <a:off x="3713619" y="4524179"/>
                <a:ext cx="150393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otherwise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1A461E-6158-3330-69AD-DE601C73D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619" y="4524179"/>
                <a:ext cx="1503938" cy="830997"/>
              </a:xfrm>
              <a:prstGeom prst="rect">
                <a:avLst/>
              </a:prstGeom>
              <a:blipFill>
                <a:blip r:embed="rId3"/>
                <a:stretch>
                  <a:fillRect l="-6073" t="-5882" r="-5668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1E6FB67C-9CE0-AF21-66E3-FD83F14561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559" b="5007"/>
          <a:stretch/>
        </p:blipFill>
        <p:spPr>
          <a:xfrm>
            <a:off x="6944583" y="2004586"/>
            <a:ext cx="2335003" cy="17995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3B1E46-4CB9-88CC-9573-223C125C9A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894" b="5007"/>
          <a:stretch/>
        </p:blipFill>
        <p:spPr>
          <a:xfrm>
            <a:off x="6944583" y="3906641"/>
            <a:ext cx="2351819" cy="17995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8C5F7D-2DAE-EA15-82B4-F35F10F1AB1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056" b="4785"/>
          <a:stretch/>
        </p:blipFill>
        <p:spPr>
          <a:xfrm>
            <a:off x="2525715" y="5317843"/>
            <a:ext cx="1939873" cy="15401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6C93C8-0F70-4079-8CD5-3E4FBB4482ED}"/>
              </a:ext>
            </a:extLst>
          </p:cNvPr>
          <p:cNvSpPr txBox="1"/>
          <p:nvPr/>
        </p:nvSpPr>
        <p:spPr>
          <a:xfrm>
            <a:off x="9279586" y="2675804"/>
            <a:ext cx="2742470" cy="15696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Related functions:</a:t>
            </a:r>
          </a:p>
          <a:p>
            <a:pPr algn="r"/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sigm_mooc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r"/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tanh_mooc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relu_mooc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824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7D3CC-E7DC-73A6-2F46-929BC7FFE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Processes and activation within a neuron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D7E29-8C66-7F39-979C-3DBF458FFB84}"/>
              </a:ext>
            </a:extLst>
          </p:cNvPr>
          <p:cNvSpPr txBox="1"/>
          <p:nvPr/>
        </p:nvSpPr>
        <p:spPr>
          <a:xfrm>
            <a:off x="739180" y="3701307"/>
            <a:ext cx="3558988" cy="18004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calculations include: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Multiplication.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Addition.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Activation.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FA33A4-5B8D-47EF-898D-9585C17B0D8C}"/>
                  </a:ext>
                </a:extLst>
              </p:cNvPr>
              <p:cNvSpPr txBox="1"/>
              <p:nvPr/>
            </p:nvSpPr>
            <p:spPr>
              <a:xfrm>
                <a:off x="739180" y="1720449"/>
                <a:ext cx="3057247" cy="18004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neuron uses: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Weight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Bias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285750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Activation function.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FA33A4-5B8D-47EF-898D-9585C17B0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80" y="1720449"/>
                <a:ext cx="3057247" cy="1800493"/>
              </a:xfrm>
              <a:prstGeom prst="rect">
                <a:avLst/>
              </a:prstGeom>
              <a:blipFill>
                <a:blip r:embed="rId2"/>
                <a:stretch>
                  <a:fillRect l="-2988" t="-2365" r="-2590" b="-67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4FDAF806-F39D-E05E-2EE3-721CC95F58D2}"/>
              </a:ext>
            </a:extLst>
          </p:cNvPr>
          <p:cNvGrpSpPr/>
          <p:nvPr/>
        </p:nvGrpSpPr>
        <p:grpSpPr>
          <a:xfrm>
            <a:off x="4983782" y="3437937"/>
            <a:ext cx="4387758" cy="683999"/>
            <a:chOff x="4059502" y="5014610"/>
            <a:chExt cx="4387758" cy="6839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7BF3516-1E54-7F61-4E6E-FBA99D7D510E}"/>
                    </a:ext>
                  </a:extLst>
                </p:cNvPr>
                <p:cNvSpPr txBox="1"/>
                <p:nvPr/>
              </p:nvSpPr>
              <p:spPr>
                <a:xfrm>
                  <a:off x="4059502" y="5014610"/>
                  <a:ext cx="347255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0.25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0.8+0.12=0.32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653F533-8F51-F79C-E77F-1E35B63115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9502" y="5014610"/>
                  <a:ext cx="3472554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DDDD1D0-6E12-8B42-D372-E0C78969067C}"/>
                    </a:ext>
                  </a:extLst>
                </p:cNvPr>
                <p:cNvSpPr txBox="1"/>
                <p:nvPr/>
              </p:nvSpPr>
              <p:spPr>
                <a:xfrm>
                  <a:off x="4182695" y="5349667"/>
                  <a:ext cx="4264565" cy="3489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600" b="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Activated output: </a:t>
                  </a:r>
                  <a14:m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𝑠𝑖𝑔𝑚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0.32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−0.32</m:t>
                              </m:r>
                            </m:sup>
                          </m:sSup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=0.579</m:t>
                      </m:r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DDDD1D0-6E12-8B42-D372-E0C7896906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2695" y="5349667"/>
                  <a:ext cx="4264565" cy="348942"/>
                </a:xfrm>
                <a:prstGeom prst="rect">
                  <a:avLst/>
                </a:prstGeom>
                <a:blipFill>
                  <a:blip r:embed="rId6"/>
                  <a:stretch>
                    <a:fillRect l="-3004" t="-5263" r="-715" b="-1929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57A46D0-5CC8-526F-381C-9FA8E22544D1}"/>
              </a:ext>
            </a:extLst>
          </p:cNvPr>
          <p:cNvGrpSpPr/>
          <p:nvPr/>
        </p:nvGrpSpPr>
        <p:grpSpPr>
          <a:xfrm>
            <a:off x="4855364" y="1422400"/>
            <a:ext cx="3805094" cy="1776074"/>
            <a:chOff x="1716368" y="4247230"/>
            <a:chExt cx="3805094" cy="177607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7723B16-2797-FF81-82A7-641A1B055CAD}"/>
                </a:ext>
              </a:extLst>
            </p:cNvPr>
            <p:cNvGrpSpPr/>
            <p:nvPr/>
          </p:nvGrpSpPr>
          <p:grpSpPr>
            <a:xfrm>
              <a:off x="1716368" y="4247230"/>
              <a:ext cx="3077471" cy="1776074"/>
              <a:chOff x="1266635" y="2998929"/>
              <a:chExt cx="3077471" cy="1776074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49878E3-6038-1E54-A272-4AEED0060D9C}"/>
                  </a:ext>
                </a:extLst>
              </p:cNvPr>
              <p:cNvGrpSpPr/>
              <p:nvPr/>
            </p:nvGrpSpPr>
            <p:grpSpPr>
              <a:xfrm>
                <a:off x="2821710" y="3813786"/>
                <a:ext cx="507302" cy="961217"/>
                <a:chOff x="2821710" y="3806643"/>
                <a:chExt cx="507302" cy="961217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9FC68B68-FD4E-90A8-FC35-695DDA72DBA8}"/>
                    </a:ext>
                  </a:extLst>
                </p:cNvPr>
                <p:cNvSpPr/>
                <p:nvPr/>
              </p:nvSpPr>
              <p:spPr>
                <a:xfrm>
                  <a:off x="2821710" y="3806643"/>
                  <a:ext cx="507302" cy="506704"/>
                </a:xfrm>
                <a:prstGeom prst="ellipse">
                  <a:avLst/>
                </a:prstGeom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6D12D7A3-8434-1BD7-7D4E-E87AF7800C47}"/>
                    </a:ext>
                  </a:extLst>
                </p:cNvPr>
                <p:cNvCxnSpPr>
                  <a:cxnSpLocks/>
                  <a:stCxn id="15" idx="4"/>
                </p:cNvCxnSpPr>
                <p:nvPr/>
              </p:nvCxnSpPr>
              <p:spPr>
                <a:xfrm>
                  <a:off x="3075361" y="4313347"/>
                  <a:ext cx="0" cy="454513"/>
                </a:xfrm>
                <a:prstGeom prst="straightConnector1">
                  <a:avLst/>
                </a:prstGeom>
                <a:ln>
                  <a:solidFill>
                    <a:srgbClr val="7030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EBE4A5FA-95D8-D4F5-31FE-A574A9E20078}"/>
                  </a:ext>
                </a:extLst>
              </p:cNvPr>
              <p:cNvCxnSpPr>
                <a:cxnSpLocks/>
                <a:endCxn id="15" idx="0"/>
              </p:cNvCxnSpPr>
              <p:nvPr/>
            </p:nvCxnSpPr>
            <p:spPr>
              <a:xfrm>
                <a:off x="3075361" y="3359273"/>
                <a:ext cx="0" cy="454513"/>
              </a:xfrm>
              <a:prstGeom prst="straightConnector1">
                <a:avLst/>
              </a:prstGeom>
              <a:ln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9A75A146-2B3D-844B-273B-6D47DEBC2380}"/>
                      </a:ext>
                    </a:extLst>
                  </p:cNvPr>
                  <p:cNvSpPr txBox="1"/>
                  <p:nvPr/>
                </p:nvSpPr>
                <p:spPr>
                  <a:xfrm>
                    <a:off x="1266635" y="3913075"/>
                    <a:ext cx="1559273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Weight</a:t>
                    </a:r>
                    <a:r>
                      <a: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</m:t>
                        </m:r>
                        <m:r>
                          <a:rPr lang="en-US" sz="1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oMath>
                    </a14:m>
                    <a:endPara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9A75A146-2B3D-844B-273B-6D47DEBC23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66635" y="3913075"/>
                    <a:ext cx="1559273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172" t="-1961" b="-19608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833D5263-C871-99C5-1D62-424DE118C038}"/>
                      </a:ext>
                    </a:extLst>
                  </p:cNvPr>
                  <p:cNvSpPr txBox="1"/>
                  <p:nvPr/>
                </p:nvSpPr>
                <p:spPr>
                  <a:xfrm>
                    <a:off x="2009364" y="2998929"/>
                    <a:ext cx="233474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4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Input</m:t>
                              </m:r>
                              <m:r>
                                <m:rPr>
                                  <m:nor/>
                                </m:rPr>
                                <a:rPr lang="en-US" sz="14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4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to</m:t>
                              </m:r>
                              <m:r>
                                <m:rPr>
                                  <m:nor/>
                                </m:rPr>
                                <a:rPr lang="en-US" sz="14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4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the</m:t>
                              </m:r>
                              <m:r>
                                <m:rPr>
                                  <m:nor/>
                                </m:rPr>
                                <a:rPr lang="en-US" sz="14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4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neuron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0.8</m:t>
                          </m:r>
                        </m:oMath>
                      </m:oMathPara>
                    </a14:m>
                    <a:endPara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833D5263-C871-99C5-1D62-424DE118C0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09364" y="2998929"/>
                    <a:ext cx="2334742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9804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E7EC887-67C4-005E-A327-FBAC2AD76125}"/>
                    </a:ext>
                  </a:extLst>
                </p:cNvPr>
                <p:cNvSpPr txBox="1"/>
                <p:nvPr/>
              </p:nvSpPr>
              <p:spPr>
                <a:xfrm>
                  <a:off x="3778745" y="5132923"/>
                  <a:ext cx="174271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Bias</a:t>
                  </a:r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=0.12</m:t>
                      </m:r>
                    </m:oMath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E7EC887-67C4-005E-A327-FBAC2AD761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8745" y="5132923"/>
                  <a:ext cx="1742717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1049" t="-4000" b="-20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4336BBF-397A-1E74-4C22-B877DFCC7C16}"/>
                  </a:ext>
                </a:extLst>
              </p:cNvPr>
              <p:cNvSpPr txBox="1"/>
              <p:nvPr/>
            </p:nvSpPr>
            <p:spPr>
              <a:xfrm>
                <a:off x="4636926" y="3242095"/>
                <a:ext cx="423064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Output from the last neuron as input to next neuron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0.579</m:t>
                    </m:r>
                  </m:oMath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4336BBF-397A-1E74-4C22-B877DFCC7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926" y="3242095"/>
                <a:ext cx="4230646" cy="523220"/>
              </a:xfrm>
              <a:prstGeom prst="rect">
                <a:avLst/>
              </a:prstGeom>
              <a:blipFill>
                <a:blip r:embed="rId10"/>
                <a:stretch>
                  <a:fillRect t="-23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D832E9FD-9A6A-37A4-1C05-1F44EEDCF1C1}"/>
              </a:ext>
            </a:extLst>
          </p:cNvPr>
          <p:cNvGrpSpPr/>
          <p:nvPr/>
        </p:nvGrpSpPr>
        <p:grpSpPr>
          <a:xfrm>
            <a:off x="4927990" y="3823437"/>
            <a:ext cx="3746360" cy="1415730"/>
            <a:chOff x="3974689" y="4483164"/>
            <a:chExt cx="3746360" cy="141573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2CA2595-2B03-A7BA-0C61-479C0049C76C}"/>
                </a:ext>
              </a:extLst>
            </p:cNvPr>
            <p:cNvGrpSpPr/>
            <p:nvPr/>
          </p:nvGrpSpPr>
          <p:grpSpPr>
            <a:xfrm>
              <a:off x="5457138" y="4937677"/>
              <a:ext cx="507302" cy="961217"/>
              <a:chOff x="2821710" y="3806643"/>
              <a:chExt cx="507302" cy="96121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6357FFE-0E34-0D3F-AAC1-57DCA4B3B836}"/>
                  </a:ext>
                </a:extLst>
              </p:cNvPr>
              <p:cNvSpPr/>
              <p:nvPr/>
            </p:nvSpPr>
            <p:spPr>
              <a:xfrm>
                <a:off x="2821710" y="3806643"/>
                <a:ext cx="507302" cy="506704"/>
              </a:xfrm>
              <a:prstGeom prst="ellipse">
                <a:avLst/>
              </a:prstGeom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C6891320-780D-0D04-80C8-34671AB3C81A}"/>
                  </a:ext>
                </a:extLst>
              </p:cNvPr>
              <p:cNvCxnSpPr>
                <a:cxnSpLocks/>
                <a:stCxn id="23" idx="4"/>
              </p:cNvCxnSpPr>
              <p:nvPr/>
            </p:nvCxnSpPr>
            <p:spPr>
              <a:xfrm>
                <a:off x="3075361" y="4313347"/>
                <a:ext cx="0" cy="454513"/>
              </a:xfrm>
              <a:prstGeom prst="straightConnector1">
                <a:avLst/>
              </a:prstGeom>
              <a:ln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3AFF0FA-EA8F-3981-FA02-1BC264B4DC26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5710789" y="4483164"/>
              <a:ext cx="0" cy="454513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0041998-02D8-AD63-6EBD-AE9DD583D963}"/>
                    </a:ext>
                  </a:extLst>
                </p:cNvPr>
                <p:cNvSpPr txBox="1"/>
                <p:nvPr/>
              </p:nvSpPr>
              <p:spPr>
                <a:xfrm>
                  <a:off x="3974689" y="5038751"/>
                  <a:ext cx="157434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Weight</a:t>
                  </a:r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0.14</m:t>
                      </m:r>
                    </m:oMath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0041998-02D8-AD63-6EBD-AE9DD583D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4689" y="5038751"/>
                  <a:ext cx="1574342" cy="307777"/>
                </a:xfrm>
                <a:prstGeom prst="rect">
                  <a:avLst/>
                </a:prstGeom>
                <a:blipFill>
                  <a:blip r:embed="rId11"/>
                  <a:stretch>
                    <a:fillRect l="-1158" t="-1961" b="-1960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463DC16-259B-922B-BC59-7B97C09CF0BA}"/>
                    </a:ext>
                  </a:extLst>
                </p:cNvPr>
                <p:cNvSpPr txBox="1"/>
                <p:nvPr/>
              </p:nvSpPr>
              <p:spPr>
                <a:xfrm>
                  <a:off x="5978332" y="5031823"/>
                  <a:ext cx="1742717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Bias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</a14:m>
                  <a:endPara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B5119E4-3730-7E65-F171-91BF32E8B9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8332" y="5031823"/>
                  <a:ext cx="1742717" cy="307777"/>
                </a:xfrm>
                <a:prstGeom prst="rect">
                  <a:avLst/>
                </a:prstGeom>
                <a:blipFill>
                  <a:blip r:embed="rId12"/>
                  <a:stretch>
                    <a:fillRect l="-1053" t="-4000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2AFD4B5-C801-6ED1-CC3A-CA79B4FCC7F4}"/>
              </a:ext>
            </a:extLst>
          </p:cNvPr>
          <p:cNvGrpSpPr/>
          <p:nvPr/>
        </p:nvGrpSpPr>
        <p:grpSpPr>
          <a:xfrm>
            <a:off x="4983005" y="5294949"/>
            <a:ext cx="5024150" cy="683999"/>
            <a:chOff x="4059502" y="5014610"/>
            <a:chExt cx="5024150" cy="6839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92AA5D8-C47F-7218-83FA-DEB2279EA591}"/>
                    </a:ext>
                  </a:extLst>
                </p:cNvPr>
                <p:cNvSpPr txBox="1"/>
                <p:nvPr/>
              </p:nvSpPr>
              <p:spPr>
                <a:xfrm>
                  <a:off x="4059502" y="5014610"/>
                  <a:ext cx="405995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0.14×0.579−0.3=−0.2189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BEB29E9-8276-9B29-ADBA-4483CB94CD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9502" y="5014610"/>
                  <a:ext cx="4059958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D02C960-1950-1BBE-3922-B795165123BA}"/>
                    </a:ext>
                  </a:extLst>
                </p:cNvPr>
                <p:cNvSpPr txBox="1"/>
                <p:nvPr/>
              </p:nvSpPr>
              <p:spPr>
                <a:xfrm>
                  <a:off x="4182695" y="5349667"/>
                  <a:ext cx="4900957" cy="34894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1600" b="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Activated output</a:t>
                  </a:r>
                  <a:r>
                    <a:rPr lang="en-US" sz="16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 </a:t>
                  </a:r>
                  <a14:m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𝑠𝑖𝑔𝑚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−0.2189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−0.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2189</m:t>
                              </m:r>
                            </m:sup>
                          </m:sSup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=0.4455</m:t>
                      </m:r>
                    </m:oMath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D02C960-1950-1BBE-3922-B795165123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2695" y="5349667"/>
                  <a:ext cx="4900957" cy="348942"/>
                </a:xfrm>
                <a:prstGeom prst="rect">
                  <a:avLst/>
                </a:prstGeom>
                <a:blipFill>
                  <a:blip r:embed="rId14"/>
                  <a:stretch>
                    <a:fillRect l="-2612" t="-5263" r="-373" b="-1929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3594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1456ABF9-6D43-48F7-9049-4ADC643BA3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83E1F1-8B12-425A-930C-2B30113E5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AE0CCE5-3DFF-4D92-B679-417F407D864F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1902</TotalTime>
  <Words>291</Words>
  <Application>Microsoft Office PowerPoint</Application>
  <PresentationFormat>Widescreen</PresentationFormat>
  <Paragraphs>70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</vt:lpstr>
      <vt:lpstr>Cambria Math</vt:lpstr>
      <vt:lpstr>Times New Roman</vt:lpstr>
      <vt:lpstr>Office Theme</vt:lpstr>
      <vt:lpstr>Artificial Neural Network Structure</vt:lpstr>
      <vt:lpstr>Major components and structure</vt:lpstr>
      <vt:lpstr>Major components and structure </vt:lpstr>
      <vt:lpstr>Processes and activation within a neuron </vt:lpstr>
      <vt:lpstr>Processes and activation within a neuron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65</cp:revision>
  <dcterms:created xsi:type="dcterms:W3CDTF">2021-01-06T14:22:07Z</dcterms:created>
  <dcterms:modified xsi:type="dcterms:W3CDTF">2024-07-16T16:07:16Z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