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56" r:id="rId5"/>
    <p:sldId id="497" r:id="rId6"/>
    <p:sldId id="498" r:id="rId7"/>
    <p:sldId id="499" r:id="rId8"/>
    <p:sldId id="500" r:id="rId9"/>
    <p:sldId id="501" r:id="rId10"/>
    <p:sldId id="502" r:id="rId11"/>
    <p:sldId id="27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04" autoAdjust="0"/>
    <p:restoredTop sz="96327"/>
  </p:normalViewPr>
  <p:slideViewPr>
    <p:cSldViewPr snapToGrid="0">
      <p:cViewPr varScale="1">
        <p:scale>
          <a:sx n="156" d="100"/>
          <a:sy n="156" d="100"/>
        </p:scale>
        <p:origin x="316" y="96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7/22/2024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22/07/2024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uk.mathworks.com/help/matlab/ref/double.head.html" TargetMode="Externa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uk.mathworks.com/help/deeplearning/ref/dividerand.html" TargetMode="Externa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uk.mathworks.com/help/deeplearning/ref/classificationlayer.html" TargetMode="External"/><Relationship Id="rId3" Type="http://schemas.openxmlformats.org/officeDocument/2006/relationships/hyperlink" Target="https://uk.mathworks.com/help/deeplearning/ref/nnet.cnn.trainingoptionsadam.html" TargetMode="External"/><Relationship Id="rId7" Type="http://schemas.openxmlformats.org/officeDocument/2006/relationships/hyperlink" Target="https://uk.mathworks.com/help/deeplearning/ref/nnet.cnn.layer.fullyconnectedlayer.html" TargetMode="External"/><Relationship Id="rId2" Type="http://schemas.openxmlformats.org/officeDocument/2006/relationships/hyperlink" Target="https://uk.mathworks.com/help/deeplearning/ug/list-of-deep-learning-layers.html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uk.mathworks.com/help/deeplearning/ref/nnet.cnn.layer.relulayer.html" TargetMode="External"/><Relationship Id="rId5" Type="http://schemas.openxmlformats.org/officeDocument/2006/relationships/hyperlink" Target="https://uk.mathworks.com/help/deeplearning/ref/softmax.html" TargetMode="External"/><Relationship Id="rId10" Type="http://schemas.openxmlformats.org/officeDocument/2006/relationships/hyperlink" Target="https://uk.mathworks.com/help/deeplearning/ref/trainnetwork.html" TargetMode="External"/><Relationship Id="rId4" Type="http://schemas.openxmlformats.org/officeDocument/2006/relationships/hyperlink" Target="https://uk.mathworks.com/help/deeplearning/ref/nnet.cnn.layer.featureinputlayer.html" TargetMode="External"/><Relationship Id="rId9" Type="http://schemas.openxmlformats.org/officeDocument/2006/relationships/hyperlink" Target="https://uk.mathworks.com/help/deeplearning/ref/trainingoptions.html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uk.mathworks.com/help/deeplearning/ref/softmax.html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uk.mathworks.com/help/matlab/ref/categorical.html" TargetMode="External"/><Relationship Id="rId2" Type="http://schemas.openxmlformats.org/officeDocument/2006/relationships/hyperlink" Target="https://uk.mathworks.com/help/deeplearning/ref/seriesnetwork.predict.html" TargetMode="Externa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Case Study: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Diabetes Diagnosis</a:t>
            </a:r>
            <a:r>
              <a:rPr lang="en-GB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63288-098F-22A3-4DFA-C269C9E3D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7" y="533614"/>
            <a:ext cx="7732910" cy="888786"/>
          </a:xfrm>
        </p:spPr>
        <p:txBody>
          <a:bodyPr>
            <a:noAutofit/>
          </a:bodyPr>
          <a:lstStyle/>
          <a:p>
            <a:r>
              <a:rPr lang="en-GB" dirty="0"/>
              <a:t>Problem background and dataset description</a:t>
            </a:r>
            <a:br>
              <a:rPr lang="en-GB" dirty="0"/>
            </a:br>
            <a:endParaRPr lang="en-GB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20EF010-2F3E-D177-5D1C-2A7A059A2105}"/>
              </a:ext>
            </a:extLst>
          </p:cNvPr>
          <p:cNvGrpSpPr/>
          <p:nvPr/>
        </p:nvGrpSpPr>
        <p:grpSpPr>
          <a:xfrm>
            <a:off x="372924" y="1883012"/>
            <a:ext cx="10550890" cy="2908489"/>
            <a:chOff x="425318" y="959872"/>
            <a:chExt cx="7023581" cy="2908489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294D898-06DA-F646-C80B-C7B9B1C306CF}"/>
                </a:ext>
              </a:extLst>
            </p:cNvPr>
            <p:cNvSpPr txBox="1"/>
            <p:nvPr/>
          </p:nvSpPr>
          <p:spPr>
            <a:xfrm>
              <a:off x="425318" y="959872"/>
              <a:ext cx="3895169" cy="290848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300"/>
                </a:spcAft>
              </a:pPr>
              <a:r>
                <a:rPr lang="en-US" sz="24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This problem has the following inputs:</a:t>
              </a:r>
            </a:p>
            <a:p>
              <a:pPr marL="342900" indent="-342900">
                <a:spcAft>
                  <a:spcPts val="300"/>
                </a:spcAft>
                <a:buFontTx/>
                <a:buAutoNum type="arabicPeriod"/>
              </a:pP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Number of pregnancy.</a:t>
              </a:r>
            </a:p>
            <a:p>
              <a:pPr marL="342900" indent="-342900">
                <a:spcAft>
                  <a:spcPts val="300"/>
                </a:spcAft>
                <a:buFontTx/>
                <a:buAutoNum type="arabicPeriod"/>
              </a:pP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Glucose.</a:t>
              </a:r>
            </a:p>
            <a:p>
              <a:pPr marL="342900" indent="-342900">
                <a:spcAft>
                  <a:spcPts val="300"/>
                </a:spcAft>
                <a:buFontTx/>
                <a:buAutoNum type="arabicPeriod"/>
              </a:pP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Blood pressure.</a:t>
              </a:r>
            </a:p>
            <a:p>
              <a:pPr marL="342900" indent="-342900">
                <a:spcAft>
                  <a:spcPts val="300"/>
                </a:spcAft>
                <a:buFontTx/>
                <a:buAutoNum type="arabicPeriod"/>
              </a:pP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Skin thickness.</a:t>
              </a:r>
            </a:p>
            <a:p>
              <a:pPr>
                <a:spcAft>
                  <a:spcPts val="300"/>
                </a:spcAft>
              </a:pPr>
              <a:r>
                <a:rPr lang="en-US" sz="24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The only output is:</a:t>
              </a:r>
            </a:p>
            <a:p>
              <a:pPr marL="342900" indent="-342900">
                <a:spcAft>
                  <a:spcPts val="300"/>
                </a:spcAft>
                <a:buFontTx/>
                <a:buAutoNum type="arabicPeriod"/>
              </a:pP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diabetes diagnosis (binary).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8BBBF14-526B-22B1-B39B-A13A1B5E189C}"/>
                </a:ext>
              </a:extLst>
            </p:cNvPr>
            <p:cNvSpPr txBox="1"/>
            <p:nvPr/>
          </p:nvSpPr>
          <p:spPr>
            <a:xfrm>
              <a:off x="2838799" y="1421537"/>
              <a:ext cx="4610100" cy="16850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spcAft>
                  <a:spcPts val="300"/>
                </a:spcAft>
                <a:buFont typeface="+mj-lt"/>
                <a:buAutoNum type="arabicPeriod" startAt="5"/>
              </a:pP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Insulin.</a:t>
              </a:r>
            </a:p>
            <a:p>
              <a:pPr marL="342900" indent="-342900">
                <a:spcAft>
                  <a:spcPts val="300"/>
                </a:spcAft>
                <a:buFont typeface="+mj-lt"/>
                <a:buAutoNum type="arabicPeriod" startAt="5"/>
              </a:pP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BMI.</a:t>
              </a:r>
            </a:p>
            <a:p>
              <a:pPr marL="342900" indent="-342900">
                <a:spcAft>
                  <a:spcPts val="300"/>
                </a:spcAft>
                <a:buFont typeface="+mj-lt"/>
                <a:buAutoNum type="arabicPeriod" startAt="5"/>
              </a:pP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Diabetes pedigree function.</a:t>
              </a:r>
            </a:p>
            <a:p>
              <a:pPr marL="342900" indent="-342900">
                <a:spcAft>
                  <a:spcPts val="300"/>
                </a:spcAft>
                <a:buFont typeface="+mj-lt"/>
                <a:buAutoNum type="arabicPeriod" startAt="5"/>
              </a:pP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Age</a:t>
              </a: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33F4CC8D-5788-7F7E-907E-998EB7B9B9E2}"/>
              </a:ext>
            </a:extLst>
          </p:cNvPr>
          <p:cNvSpPr txBox="1"/>
          <p:nvPr/>
        </p:nvSpPr>
        <p:spPr>
          <a:xfrm>
            <a:off x="372924" y="1422400"/>
            <a:ext cx="80403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Diabetes diagnosis (classification)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EBC7935-1DFC-50B3-73B7-83310CCD28E0}"/>
              </a:ext>
            </a:extLst>
          </p:cNvPr>
          <p:cNvSpPr txBox="1"/>
          <p:nvPr/>
        </p:nvSpPr>
        <p:spPr>
          <a:xfrm>
            <a:off x="8014607" y="1849440"/>
            <a:ext cx="3308476" cy="83099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Related functions:</a:t>
            </a:r>
          </a:p>
          <a:p>
            <a:pPr algn="r"/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head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矩形 8">
            <a:extLst>
              <a:ext uri="{FF2B5EF4-FFF2-40B4-BE49-F238E27FC236}">
                <a16:creationId xmlns:a16="http://schemas.microsoft.com/office/drawing/2014/main" id="{89478215-C0D0-DB01-1F31-989A8C51D84D}"/>
              </a:ext>
            </a:extLst>
          </p:cNvPr>
          <p:cNvSpPr/>
          <p:nvPr/>
        </p:nvSpPr>
        <p:spPr>
          <a:xfrm>
            <a:off x="10216187" y="6283622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BA3B9A55-15DB-2E11-BA67-6A3EFEA687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880" y="4791501"/>
            <a:ext cx="7343294" cy="186145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691004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40" grpId="0" animBg="1"/>
      <p:bldP spid="4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7A0F6-C801-8FDB-344D-13C9B6C59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Re-arranging dataset</a:t>
            </a:r>
            <a:br>
              <a:rPr lang="en-US" dirty="0"/>
            </a:br>
            <a:endParaRPr lang="en-CN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10DD9D0-753D-C22F-77C0-2280BC4D4E70}"/>
              </a:ext>
            </a:extLst>
          </p:cNvPr>
          <p:cNvGrpSpPr/>
          <p:nvPr/>
        </p:nvGrpSpPr>
        <p:grpSpPr>
          <a:xfrm>
            <a:off x="623501" y="1647547"/>
            <a:ext cx="12237451" cy="2607354"/>
            <a:chOff x="329587" y="883202"/>
            <a:chExt cx="6991380" cy="260735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DEBF726-EFA0-6ACA-3FEE-2E0359967A5D}"/>
                </a:ext>
              </a:extLst>
            </p:cNvPr>
            <p:cNvSpPr txBox="1"/>
            <p:nvPr/>
          </p:nvSpPr>
          <p:spPr>
            <a:xfrm>
              <a:off x="2710867" y="1805479"/>
              <a:ext cx="4610100" cy="16850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spcAft>
                  <a:spcPts val="300"/>
                </a:spcAft>
                <a:buFont typeface="+mj-lt"/>
                <a:buAutoNum type="arabicPeriod" startAt="5"/>
              </a:pP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insulin.</a:t>
              </a:r>
            </a:p>
            <a:p>
              <a:pPr marL="342900" indent="-342900">
                <a:spcAft>
                  <a:spcPts val="300"/>
                </a:spcAft>
                <a:buFont typeface="+mj-lt"/>
                <a:buAutoNum type="arabicPeriod" startAt="5"/>
              </a:pP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BMI.</a:t>
              </a:r>
            </a:p>
            <a:p>
              <a:pPr marL="342900" indent="-342900">
                <a:spcAft>
                  <a:spcPts val="300"/>
                </a:spcAft>
                <a:buFont typeface="+mj-lt"/>
                <a:buAutoNum type="arabicPeriod" startAt="5"/>
              </a:pP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Diabetes pedigree function.</a:t>
              </a:r>
            </a:p>
            <a:p>
              <a:pPr marL="342900" indent="-342900">
                <a:spcAft>
                  <a:spcPts val="300"/>
                </a:spcAft>
                <a:buFont typeface="+mj-lt"/>
                <a:buAutoNum type="arabicPeriod" startAt="5"/>
              </a:pP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Age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B2EBE45-F7F3-3584-C8AA-470DCA438676}"/>
                </a:ext>
              </a:extLst>
            </p:cNvPr>
            <p:cNvSpPr txBox="1"/>
            <p:nvPr/>
          </p:nvSpPr>
          <p:spPr>
            <a:xfrm>
              <a:off x="329587" y="883202"/>
              <a:ext cx="482696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Diabetes diagnosis (classification)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A4FD381-3014-3DFF-E1B3-97EEFE8A4212}"/>
              </a:ext>
            </a:extLst>
          </p:cNvPr>
          <p:cNvSpPr txBox="1"/>
          <p:nvPr/>
        </p:nvSpPr>
        <p:spPr>
          <a:xfrm>
            <a:off x="623501" y="2108159"/>
            <a:ext cx="6817959" cy="2908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This problem has the following inputs:</a:t>
            </a:r>
          </a:p>
          <a:p>
            <a:pPr marL="342900" indent="-342900">
              <a:spcAft>
                <a:spcPts val="300"/>
              </a:spcAft>
              <a:buFontTx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Number of pregnancy.</a:t>
            </a:r>
          </a:p>
          <a:p>
            <a:pPr marL="342900" indent="-342900">
              <a:spcAft>
                <a:spcPts val="300"/>
              </a:spcAft>
              <a:buFontTx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Glucose.</a:t>
            </a:r>
          </a:p>
          <a:p>
            <a:pPr marL="342900" indent="-342900">
              <a:spcAft>
                <a:spcPts val="300"/>
              </a:spcAft>
              <a:buFontTx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Blood pressure.</a:t>
            </a:r>
          </a:p>
          <a:p>
            <a:pPr marL="342900" indent="-342900">
              <a:spcAft>
                <a:spcPts val="300"/>
              </a:spcAft>
              <a:buFontTx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Skin thickness.</a:t>
            </a:r>
          </a:p>
          <a:p>
            <a:pPr>
              <a:spcAft>
                <a:spcPts val="300"/>
              </a:spcAft>
            </a:pP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only output is:</a:t>
            </a:r>
          </a:p>
          <a:p>
            <a:pPr marL="342900" indent="-342900">
              <a:spcAft>
                <a:spcPts val="300"/>
              </a:spcAft>
              <a:buFontTx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diabetes diagnosis (binary).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02705D-C94C-CC43-EDEC-0A29D6AE4365}"/>
              </a:ext>
            </a:extLst>
          </p:cNvPr>
          <p:cNvSpPr txBox="1"/>
          <p:nvPr/>
        </p:nvSpPr>
        <p:spPr>
          <a:xfrm>
            <a:off x="6518640" y="2334359"/>
            <a:ext cx="3476616" cy="83099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Related functions:</a:t>
            </a:r>
          </a:p>
          <a:p>
            <a:pPr algn="r"/>
            <a:r>
              <a:rPr lang="en-GB" sz="2400" dirty="0" err="1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dividerand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815D78E-865C-8E25-787E-95A893364F8C}"/>
              </a:ext>
            </a:extLst>
          </p:cNvPr>
          <p:cNvGrpSpPr/>
          <p:nvPr/>
        </p:nvGrpSpPr>
        <p:grpSpPr>
          <a:xfrm>
            <a:off x="623501" y="5141685"/>
            <a:ext cx="10944998" cy="1552033"/>
            <a:chOff x="329587" y="3848870"/>
            <a:chExt cx="10944998" cy="1552033"/>
          </a:xfrm>
        </p:grpSpPr>
        <p:sp>
          <p:nvSpPr>
            <p:cNvPr id="12" name="矩形 8">
              <a:extLst>
                <a:ext uri="{FF2B5EF4-FFF2-40B4-BE49-F238E27FC236}">
                  <a16:creationId xmlns:a16="http://schemas.microsoft.com/office/drawing/2014/main" id="{BCCC0F4C-682A-F6BD-0D0F-81E377ABE2F0}"/>
                </a:ext>
              </a:extLst>
            </p:cNvPr>
            <p:cNvSpPr/>
            <p:nvPr/>
          </p:nvSpPr>
          <p:spPr>
            <a:xfrm>
              <a:off x="9730573" y="5031571"/>
              <a:ext cx="1544012" cy="369332"/>
            </a:xfrm>
            <a:prstGeom prst="rect">
              <a:avLst/>
            </a:prstGeom>
            <a:solidFill>
              <a:srgbClr val="E7E6E6"/>
            </a:solidFill>
            <a:ln w="19050">
              <a:solidFill>
                <a:srgbClr val="FF0000"/>
              </a:solidFill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等线" panose="02010600030101010101" pitchFamily="2" charset="-122"/>
                  <a:cs typeface="Times New Roman" pitchFamily="18" charset="0"/>
                </a:rPr>
                <a:t>See live script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" name="TextBox 11">
              <a:extLst>
                <a:ext uri="{FF2B5EF4-FFF2-40B4-BE49-F238E27FC236}">
                  <a16:creationId xmlns:a16="http://schemas.microsoft.com/office/drawing/2014/main" id="{2E5850AF-8A61-3D86-E54E-52856B4CA3BA}"/>
                </a:ext>
              </a:extLst>
            </p:cNvPr>
            <p:cNvSpPr txBox="1"/>
            <p:nvPr/>
          </p:nvSpPr>
          <p:spPr>
            <a:xfrm>
              <a:off x="329587" y="3848870"/>
              <a:ext cx="9075670" cy="1361837"/>
            </a:xfrm>
            <a:prstGeom prst="roundRect">
              <a:avLst>
                <a:gd name="adj" fmla="val 5916"/>
              </a:avLst>
            </a:prstGeom>
            <a:solidFill>
              <a:sysClr val="window" lastClr="FFFFFF">
                <a:lumMod val="95000"/>
              </a:sysClr>
            </a:solidFill>
            <a:ln>
              <a:solidFill>
                <a:sysClr val="windowText" lastClr="000000"/>
              </a:solidFill>
            </a:ln>
          </p:spPr>
          <p:txBody>
            <a:bodyPr wrap="square" lIns="91440" tIns="45720" rIns="91440" bIns="4572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13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%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8013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Spliting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13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 the dataset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[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trainInd,valInd,testInd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] =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dividerand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(size(diabetes,1), 0.7, 0.15, 0.15);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tblTrain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 = diabetes(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trainInd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,:); 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13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% Extracting training sample inputs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tblValid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 = diabetes(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valInd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,:); 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13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% Extracting validation sample inputs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tblTest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 = diabetes(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testInd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,:); 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13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% Extracting testing sample inputs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07044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9D9D1-E6E2-008F-66DE-0225B53D6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Construction and training of the network</a:t>
            </a:r>
            <a:br>
              <a:rPr lang="en-US" dirty="0"/>
            </a:br>
            <a:endParaRPr lang="en-C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15C9E9-104F-A703-0C37-09203C333690}"/>
              </a:ext>
            </a:extLst>
          </p:cNvPr>
          <p:cNvSpPr txBox="1"/>
          <p:nvPr/>
        </p:nvSpPr>
        <p:spPr>
          <a:xfrm>
            <a:off x="289586" y="1422400"/>
            <a:ext cx="6503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Neural network construction and configuration</a:t>
            </a:r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45F71723-C7BC-0EEA-2462-C6C72E97EC97}"/>
              </a:ext>
            </a:extLst>
          </p:cNvPr>
          <p:cNvSpPr txBox="1"/>
          <p:nvPr/>
        </p:nvSpPr>
        <p:spPr>
          <a:xfrm>
            <a:off x="289586" y="1884065"/>
            <a:ext cx="7662428" cy="1805226"/>
          </a:xfrm>
          <a:prstGeom prst="roundRect">
            <a:avLst>
              <a:gd name="adj" fmla="val 5916"/>
            </a:avLst>
          </a:prstGeom>
          <a:solidFill>
            <a:sysClr val="window" lastClr="FFFFFF">
              <a:lumMod val="95000"/>
            </a:sysClr>
          </a:solidFill>
          <a:ln>
            <a:solidFill>
              <a:sysClr val="windowText" lastClr="000000"/>
            </a:solidFill>
          </a:ln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layers = [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featureInputLayer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(size(tblTrain,2)-1,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"Normalization"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"rescale-zero-one"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fullyConnectedLayer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(40)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% increased hidden layer neurons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reluLayer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%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ReLU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activation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func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 (not a new layer of neurons)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fullyConnectedLayer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(40)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% additional hidden layer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reluLayer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%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ReLU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activation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func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 (not a new layer of neurons)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fullyConnectedLayer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numClasses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% Output layer: # output dim.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softmaxLayer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%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softmax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layer for classification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classificationLayer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Name"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"output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)];</a:t>
            </a: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6CD69A0B-823E-B413-F10C-313C8EB1CE7E}"/>
              </a:ext>
            </a:extLst>
          </p:cNvPr>
          <p:cNvSpPr txBox="1"/>
          <p:nvPr/>
        </p:nvSpPr>
        <p:spPr>
          <a:xfrm>
            <a:off x="289586" y="3689291"/>
            <a:ext cx="7662428" cy="2248614"/>
          </a:xfrm>
          <a:prstGeom prst="roundRect">
            <a:avLst>
              <a:gd name="adj" fmla="val 5916"/>
            </a:avLst>
          </a:prstGeom>
          <a:solidFill>
            <a:sysClr val="window" lastClr="FFFFFF">
              <a:lumMod val="95000"/>
            </a:sysClr>
          </a:solidFill>
          <a:ln>
            <a:solidFill>
              <a:sysClr val="windowText" lastClr="000000"/>
            </a:solidFill>
          </a:ln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options =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trainingOptions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adam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...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% using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adam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optimizer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'MaxEpochs'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,6000,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...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% number of epochs of training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MiniBatchSize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size(tblTrain,1),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...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% batch training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'L2Regularization'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1e-3,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...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% L2 Regularization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Shuffle'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'every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-epoch'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...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% shuffling the training samples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'ValidationFrequency'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,40,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...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% Computing validation accuracy every 40 epoch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'ValidationPatience'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,20,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...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% Stop the training if acc not improve for 20 valid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lvl="0"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ValidationData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Consolas" panose="020B0609020204030204" pitchFamily="49" charset="0"/>
              </a:rPr>
              <a:t>tblValid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...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% Validation set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Plots'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'training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-progress'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...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% visualizing the training process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ExecutionEnvironment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cpu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...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% training on CPU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Verbose'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,false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% hide notice while training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E5209D-2BD2-A5BB-405F-0876842B6AA1}"/>
              </a:ext>
            </a:extLst>
          </p:cNvPr>
          <p:cNvSpPr txBox="1"/>
          <p:nvPr/>
        </p:nvSpPr>
        <p:spPr>
          <a:xfrm>
            <a:off x="289586" y="5874564"/>
            <a:ext cx="33538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Neural network training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8819EE-FD14-78A4-01A7-25328A2CBD0A}"/>
              </a:ext>
            </a:extLst>
          </p:cNvPr>
          <p:cNvSpPr txBox="1"/>
          <p:nvPr/>
        </p:nvSpPr>
        <p:spPr>
          <a:xfrm>
            <a:off x="289586" y="6336229"/>
            <a:ext cx="7662428" cy="346472"/>
          </a:xfrm>
          <a:prstGeom prst="roundRect">
            <a:avLst>
              <a:gd name="adj" fmla="val 19433"/>
            </a:avLst>
          </a:prstGeom>
          <a:solidFill>
            <a:sysClr val="window" lastClr="FFFFFF">
              <a:lumMod val="95000"/>
            </a:sysClr>
          </a:solidFill>
          <a:ln>
            <a:solidFill>
              <a:sysClr val="windowText" lastClr="000000"/>
            </a:solidFill>
          </a:ln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net =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trainNetwork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tblTrain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layers, options);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8B447B-46A1-944B-7771-2FCD9292E933}"/>
              </a:ext>
            </a:extLst>
          </p:cNvPr>
          <p:cNvSpPr txBox="1"/>
          <p:nvPr/>
        </p:nvSpPr>
        <p:spPr>
          <a:xfrm>
            <a:off x="7952014" y="2344352"/>
            <a:ext cx="3135086" cy="110799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Useful docs:</a:t>
            </a:r>
          </a:p>
          <a:p>
            <a:pPr algn="r"/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deep learning layers</a:t>
            </a:r>
            <a:endParaRPr lang="en-GB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Adam optimizer</a:t>
            </a:r>
            <a:endParaRPr lang="en-GB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5129FA-FE0B-B292-6AF2-26577B0D3D2D}"/>
              </a:ext>
            </a:extLst>
          </p:cNvPr>
          <p:cNvSpPr txBox="1"/>
          <p:nvPr/>
        </p:nvSpPr>
        <p:spPr>
          <a:xfrm>
            <a:off x="7952014" y="3473349"/>
            <a:ext cx="3135086" cy="280076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Related functions:</a:t>
            </a:r>
          </a:p>
          <a:p>
            <a:pPr algn="r"/>
            <a:r>
              <a:rPr lang="en-GB" sz="2200" dirty="0" err="1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featureInputLayer</a:t>
            </a:r>
            <a:endParaRPr lang="en-GB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GB" sz="2200" dirty="0" err="1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softmax</a:t>
            </a:r>
            <a:endParaRPr lang="en-GB" sz="2200" dirty="0">
              <a:latin typeface="Arial" panose="020B0604020202020204" pitchFamily="34" charset="0"/>
              <a:cs typeface="Arial" panose="020B0604020202020204" pitchFamily="34" charset="0"/>
              <a:hlinkClick r:id="rId6"/>
            </a:endParaRPr>
          </a:p>
          <a:p>
            <a:pPr algn="r"/>
            <a:r>
              <a:rPr lang="en-GB" sz="2200" dirty="0" err="1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reluLayer</a:t>
            </a:r>
            <a:endParaRPr lang="en-GB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GB" sz="2200" dirty="0" err="1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fullyConnectedLayer</a:t>
            </a:r>
            <a:endParaRPr lang="en-GB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GB" sz="2200" dirty="0" err="1">
                <a:latin typeface="Arial" panose="020B0604020202020204" pitchFamily="34" charset="0"/>
                <a:cs typeface="Arial" panose="020B0604020202020204" pitchFamily="34" charset="0"/>
                <a:hlinkClick r:id="rId8"/>
              </a:rPr>
              <a:t>classificationLayer</a:t>
            </a:r>
            <a:endParaRPr lang="en-GB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GB" sz="2200" dirty="0" err="1">
                <a:latin typeface="Arial" panose="020B0604020202020204" pitchFamily="34" charset="0"/>
                <a:cs typeface="Arial" panose="020B0604020202020204" pitchFamily="34" charset="0"/>
                <a:hlinkClick r:id="rId9"/>
              </a:rPr>
              <a:t>trainingOptions</a:t>
            </a:r>
            <a:endParaRPr lang="en-GB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GB" sz="2200" dirty="0" err="1">
                <a:latin typeface="Arial" panose="020B0604020202020204" pitchFamily="34" charset="0"/>
                <a:cs typeface="Arial" panose="020B0604020202020204" pitchFamily="34" charset="0"/>
                <a:hlinkClick r:id="rId10"/>
              </a:rPr>
              <a:t>trainNetwork</a:t>
            </a:r>
            <a:endParaRPr lang="en-GB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矩形 8">
            <a:extLst>
              <a:ext uri="{FF2B5EF4-FFF2-40B4-BE49-F238E27FC236}">
                <a16:creationId xmlns:a16="http://schemas.microsoft.com/office/drawing/2014/main" id="{B581D1D6-6884-B1AC-60A3-94C5C5C1DD52}"/>
              </a:ext>
            </a:extLst>
          </p:cNvPr>
          <p:cNvSpPr/>
          <p:nvPr/>
        </p:nvSpPr>
        <p:spPr>
          <a:xfrm>
            <a:off x="10315094" y="6338711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3544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8E46A-1B23-3C5A-98DE-03C0A73BC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Construction and training of the network</a:t>
            </a:r>
            <a:br>
              <a:rPr lang="en-US" dirty="0"/>
            </a:br>
            <a:endParaRPr lang="en-CN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D570DC8-107F-A5D2-AA33-350E2941FD65}"/>
              </a:ext>
            </a:extLst>
          </p:cNvPr>
          <p:cNvGrpSpPr/>
          <p:nvPr/>
        </p:nvGrpSpPr>
        <p:grpSpPr>
          <a:xfrm>
            <a:off x="1343011" y="1877548"/>
            <a:ext cx="7196832" cy="1615202"/>
            <a:chOff x="-777046" y="3122851"/>
            <a:chExt cx="7196832" cy="1615202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91DFDBC-41C1-91C7-F15E-64CA2A0015EF}"/>
                </a:ext>
              </a:extLst>
            </p:cNvPr>
            <p:cNvSpPr txBox="1"/>
            <p:nvPr/>
          </p:nvSpPr>
          <p:spPr>
            <a:xfrm>
              <a:off x="-699471" y="3122851"/>
              <a:ext cx="7119257" cy="1615202"/>
            </a:xfrm>
            <a:prstGeom prst="roundRect">
              <a:avLst>
                <a:gd name="adj" fmla="val 5916"/>
              </a:avLst>
            </a:prstGeom>
            <a:solidFill>
              <a:sysClr val="window" lastClr="FFFFFF">
                <a:lumMod val="95000"/>
              </a:sysClr>
            </a:solidFill>
            <a:ln>
              <a:solidFill>
                <a:sysClr val="windowText" lastClr="000000"/>
              </a:solidFill>
            </a:ln>
          </p:spPr>
          <p:txBody>
            <a:bodyPr wrap="square" lIns="91440" tIns="45720" rIns="91440" bIns="4572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fullyConnectedLayer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(40) 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13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% additional hidden layer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reluLayer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13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%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8013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ReLU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13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 activation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8013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func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13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. (not a new layer of neurons)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fullyConnectedLayer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(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numClasses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) 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13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% Output layer: # output dim.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softmaxLayer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13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%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8013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softmax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13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 layer for classification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classificationLayer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(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A709F5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"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A709F5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Name"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,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A709F5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"output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A709F5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"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)];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41E2E93-B277-F5D2-BF50-954174720C3E}"/>
                </a:ext>
              </a:extLst>
            </p:cNvPr>
            <p:cNvSpPr/>
            <p:nvPr/>
          </p:nvSpPr>
          <p:spPr>
            <a:xfrm>
              <a:off x="-777046" y="4085547"/>
              <a:ext cx="2057400" cy="385425"/>
            </a:xfrm>
            <a:prstGeom prst="ellips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C979F97-1001-9E45-205D-BB766E7CE622}"/>
              </a:ext>
            </a:extLst>
          </p:cNvPr>
          <p:cNvGrpSpPr/>
          <p:nvPr/>
        </p:nvGrpSpPr>
        <p:grpSpPr>
          <a:xfrm>
            <a:off x="1029453" y="3752772"/>
            <a:ext cx="7901522" cy="2823303"/>
            <a:chOff x="328065" y="3521284"/>
            <a:chExt cx="6339590" cy="2296054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84F60167-5EC7-FA79-08B4-280DAAA47F87}"/>
                </a:ext>
              </a:extLst>
            </p:cNvPr>
            <p:cNvGrpSpPr/>
            <p:nvPr/>
          </p:nvGrpSpPr>
          <p:grpSpPr>
            <a:xfrm>
              <a:off x="1028700" y="3954027"/>
              <a:ext cx="3734373" cy="1863311"/>
              <a:chOff x="1028700" y="3532787"/>
              <a:chExt cx="3734373" cy="1863311"/>
            </a:xfrm>
          </p:grpSpPr>
          <p:pic>
            <p:nvPicPr>
              <p:cNvPr id="26" name="Picture 25" descr="A diagram of a softmax function&#10;&#10;Description automatically generated">
                <a:extLst>
                  <a:ext uri="{FF2B5EF4-FFF2-40B4-BE49-F238E27FC236}">
                    <a16:creationId xmlns:a16="http://schemas.microsoft.com/office/drawing/2014/main" id="{4A1C88CB-32F6-CF66-52D6-4CB474AB2F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28700" y="3532787"/>
                <a:ext cx="3734373" cy="1863311"/>
              </a:xfrm>
              <a:prstGeom prst="rect">
                <a:avLst/>
              </a:prstGeom>
            </p:spPr>
          </p:pic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5E828D9-C76C-1AF0-EC42-4965A29B2968}"/>
                  </a:ext>
                </a:extLst>
              </p:cNvPr>
              <p:cNvSpPr txBox="1"/>
              <p:nvPr/>
            </p:nvSpPr>
            <p:spPr>
              <a:xfrm>
                <a:off x="1404992" y="3563609"/>
                <a:ext cx="2744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DC7A0B3-8749-4014-0D35-89A7F80D2CA9}"/>
                </a:ext>
              </a:extLst>
            </p:cNvPr>
            <p:cNvSpPr txBox="1"/>
            <p:nvPr/>
          </p:nvSpPr>
          <p:spPr>
            <a:xfrm>
              <a:off x="328065" y="3521284"/>
              <a:ext cx="6339590" cy="3754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E.g., network outputs 5 values for a 5-class classification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A2416E82-701F-EC1A-4A81-857DCDA936B8}"/>
              </a:ext>
            </a:extLst>
          </p:cNvPr>
          <p:cNvSpPr txBox="1"/>
          <p:nvPr/>
        </p:nvSpPr>
        <p:spPr>
          <a:xfrm>
            <a:off x="8791271" y="2417735"/>
            <a:ext cx="2968928" cy="830997"/>
          </a:xfrm>
          <a:prstGeom prst="rect">
            <a:avLst/>
          </a:prstGeom>
          <a:noFill/>
          <a:ln w="12700"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Related functions:</a:t>
            </a: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softmax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5E66F47-E1A9-5A52-36C8-6737AFB9ECD9}"/>
              </a:ext>
            </a:extLst>
          </p:cNvPr>
          <p:cNvGrpSpPr/>
          <p:nvPr/>
        </p:nvGrpSpPr>
        <p:grpSpPr>
          <a:xfrm>
            <a:off x="930728" y="2594533"/>
            <a:ext cx="8098971" cy="830997"/>
            <a:chOff x="-309652" y="2407532"/>
            <a:chExt cx="7408184" cy="830997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18134C8B-0510-35CB-AD7C-2D516ED6F162}"/>
                </a:ext>
              </a:extLst>
            </p:cNvPr>
            <p:cNvGrpSpPr/>
            <p:nvPr/>
          </p:nvGrpSpPr>
          <p:grpSpPr>
            <a:xfrm>
              <a:off x="-309652" y="2407532"/>
              <a:ext cx="4162709" cy="830997"/>
              <a:chOff x="1813310" y="3143933"/>
              <a:chExt cx="4035040" cy="830997"/>
            </a:xfrm>
          </p:grpSpPr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F777C2B-F187-DDAE-AC27-934F95F57B05}"/>
                  </a:ext>
                </a:extLst>
              </p:cNvPr>
              <p:cNvSpPr txBox="1"/>
              <p:nvPr/>
            </p:nvSpPr>
            <p:spPr>
              <a:xfrm>
                <a:off x="1813310" y="3143933"/>
                <a:ext cx="2650297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Vector of values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(regression outputs) </a:t>
                </a:r>
              </a:p>
            </p:txBody>
          </p:sp>
          <p:sp>
            <p:nvSpPr>
              <p:cNvPr id="33" name="Arrow: Right 19">
                <a:extLst>
                  <a:ext uri="{FF2B5EF4-FFF2-40B4-BE49-F238E27FC236}">
                    <a16:creationId xmlns:a16="http://schemas.microsoft.com/office/drawing/2014/main" id="{6A301827-450B-DD67-7150-E4D71BF94CDF}"/>
                  </a:ext>
                </a:extLst>
              </p:cNvPr>
              <p:cNvSpPr/>
              <p:nvPr/>
            </p:nvSpPr>
            <p:spPr>
              <a:xfrm>
                <a:off x="4431664" y="3328748"/>
                <a:ext cx="1416686" cy="276703"/>
              </a:xfrm>
              <a:prstGeom prst="rightArrow">
                <a:avLst>
                  <a:gd name="adj1" fmla="val 22484"/>
                  <a:gd name="adj2" fmla="val 182239"/>
                </a:avLst>
              </a:prstGeom>
              <a:solidFill>
                <a:srgbClr val="4472C4"/>
              </a:solidFill>
              <a:ln w="12700" cap="flat" cmpd="sng" algn="ctr">
                <a:solidFill>
                  <a:srgbClr val="4472C4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70B4250-F670-562E-3415-36164B26928B}"/>
                </a:ext>
              </a:extLst>
            </p:cNvPr>
            <p:cNvSpPr txBox="1"/>
            <p:nvPr/>
          </p:nvSpPr>
          <p:spPr>
            <a:xfrm>
              <a:off x="3938306" y="2521190"/>
              <a:ext cx="316022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Vector of probabilities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927D573-5BA8-AEC6-A536-E2CF47CC2F78}"/>
              </a:ext>
            </a:extLst>
          </p:cNvPr>
          <p:cNvGrpSpPr/>
          <p:nvPr/>
        </p:nvGrpSpPr>
        <p:grpSpPr>
          <a:xfrm>
            <a:off x="6353352" y="4922903"/>
            <a:ext cx="5613954" cy="657864"/>
            <a:chOff x="4472407" y="4457033"/>
            <a:chExt cx="5613954" cy="657864"/>
          </a:xfrm>
        </p:grpSpPr>
        <p:pic>
          <p:nvPicPr>
            <p:cNvPr id="35" name="Picture 2" descr="Check Symbols Copy and Paste ✓ ✓ ✓ ✘ ❌ ✖ ✕ ❎ ☓ ✗">
              <a:extLst>
                <a:ext uri="{FF2B5EF4-FFF2-40B4-BE49-F238E27FC236}">
                  <a16:creationId xmlns:a16="http://schemas.microsoft.com/office/drawing/2014/main" id="{997E77AB-0C78-BB3E-8C2F-220F2ADA24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72407" y="4457033"/>
              <a:ext cx="677909" cy="6578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8BF4FF8-2357-02B8-34A0-1FA528A1D6F1}"/>
                </a:ext>
              </a:extLst>
            </p:cNvPr>
            <p:cNvSpPr txBox="1"/>
            <p:nvPr/>
          </p:nvSpPr>
          <p:spPr>
            <a:xfrm>
              <a:off x="4935592" y="4633831"/>
              <a:ext cx="515076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Choose the one with max probability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52868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2.59259E-6 L 0.00017 -0.1537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6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34302-A20C-6F0D-F7FA-C0A7CB4FC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Prediction using the neural network</a:t>
            </a:r>
            <a:br>
              <a:rPr lang="en-US" dirty="0"/>
            </a:br>
            <a:endParaRPr lang="en-CN" dirty="0"/>
          </a:p>
        </p:txBody>
      </p:sp>
      <p:sp>
        <p:nvSpPr>
          <p:cNvPr id="4" name="TextBox 11">
            <a:extLst>
              <a:ext uri="{FF2B5EF4-FFF2-40B4-BE49-F238E27FC236}">
                <a16:creationId xmlns:a16="http://schemas.microsoft.com/office/drawing/2014/main" id="{9286B28F-2B17-DBCF-C87C-116E41ECA359}"/>
              </a:ext>
            </a:extLst>
          </p:cNvPr>
          <p:cNvSpPr txBox="1"/>
          <p:nvPr/>
        </p:nvSpPr>
        <p:spPr>
          <a:xfrm>
            <a:off x="478016" y="1871062"/>
            <a:ext cx="7359697" cy="696337"/>
          </a:xfrm>
          <a:prstGeom prst="roundRect">
            <a:avLst>
              <a:gd name="adj" fmla="val 12992"/>
            </a:avLst>
          </a:prstGeom>
          <a:solidFill>
            <a:sysClr val="window" lastClr="FFFFFF">
              <a:lumMod val="95000"/>
            </a:sysClr>
          </a:solidFill>
          <a:ln>
            <a:solidFill>
              <a:sysClr val="windowText" lastClr="000000"/>
            </a:solidFill>
          </a:ln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% Predicting test set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y_pred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predict(net, tblTest,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'ReturnCategorical'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,1)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F9571E-3A71-DD6A-A434-855602E5BB38}"/>
              </a:ext>
            </a:extLst>
          </p:cNvPr>
          <p:cNvSpPr txBox="1"/>
          <p:nvPr/>
        </p:nvSpPr>
        <p:spPr>
          <a:xfrm>
            <a:off x="8164285" y="2344929"/>
            <a:ext cx="2343893" cy="92333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Related functions:</a:t>
            </a:r>
          </a:p>
          <a:p>
            <a:pPr algn="r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predict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categorical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5128AF-D1C1-6E5D-1E5B-26F06BA911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156" y="2950747"/>
            <a:ext cx="2191332" cy="228720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TextBox 11">
            <a:extLst>
              <a:ext uri="{FF2B5EF4-FFF2-40B4-BE49-F238E27FC236}">
                <a16:creationId xmlns:a16="http://schemas.microsoft.com/office/drawing/2014/main" id="{C97E8D92-8402-BB26-1CA2-52C983CC3284}"/>
              </a:ext>
            </a:extLst>
          </p:cNvPr>
          <p:cNvSpPr txBox="1"/>
          <p:nvPr/>
        </p:nvSpPr>
        <p:spPr>
          <a:xfrm>
            <a:off x="3025294" y="3696441"/>
            <a:ext cx="5922763" cy="1293197"/>
          </a:xfrm>
          <a:prstGeom prst="roundRect">
            <a:avLst>
              <a:gd name="adj" fmla="val 12992"/>
            </a:avLst>
          </a:prstGeom>
          <a:solidFill>
            <a:sysClr val="window" lastClr="FFFFFF">
              <a:lumMod val="95000"/>
            </a:sysClr>
          </a:solidFill>
          <a:ln>
            <a:solidFill>
              <a:sysClr val="windowText" lastClr="000000"/>
            </a:solidFill>
          </a:ln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% number of correct predictions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acc_temp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nnz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y_pred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(:,1) ==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tblTest.Outcome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acc =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acc_temp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./ size(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tblTest.Outcome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1)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F1631E6-AAE1-D55C-093A-DC261FE67F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9847" y="5237950"/>
            <a:ext cx="1781424" cy="3715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矩形 8">
            <a:extLst>
              <a:ext uri="{FF2B5EF4-FFF2-40B4-BE49-F238E27FC236}">
                <a16:creationId xmlns:a16="http://schemas.microsoft.com/office/drawing/2014/main" id="{3FCDA3E8-8FE8-F96B-6D91-6CD7D197111D}"/>
              </a:ext>
            </a:extLst>
          </p:cNvPr>
          <p:cNvSpPr/>
          <p:nvPr/>
        </p:nvSpPr>
        <p:spPr>
          <a:xfrm>
            <a:off x="9966729" y="6139720"/>
            <a:ext cx="1736373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See live script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7653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9E441-ECAD-B9E2-1BD5-CC9D1DE3F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Network construction guideline recap</a:t>
            </a:r>
            <a:br>
              <a:rPr lang="en-US" dirty="0"/>
            </a:br>
            <a:endParaRPr lang="en-C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0DD8A0-BBC8-17DB-C956-7C3BD257961F}"/>
              </a:ext>
            </a:extLst>
          </p:cNvPr>
          <p:cNvSpPr txBox="1"/>
          <p:nvPr/>
        </p:nvSpPr>
        <p:spPr>
          <a:xfrm>
            <a:off x="621508" y="1422400"/>
            <a:ext cx="14481026" cy="269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For simple tasks: start with simple structures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 or 2 hidden layers.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Number of neurons: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two times number of inputs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or multiple tens, in each layer.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ReLU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/ tanh / sigmoid activation.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regression output layer, for regression task.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softmax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output layer, for classification task.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6D7FAB-1CC5-549C-3851-11D01F85D15F}"/>
              </a:ext>
            </a:extLst>
          </p:cNvPr>
          <p:cNvSpPr txBox="1"/>
          <p:nvPr/>
        </p:nvSpPr>
        <p:spPr>
          <a:xfrm>
            <a:off x="671159" y="4215972"/>
            <a:ext cx="7689735" cy="269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Tuning structure for the better performance: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More layers.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More neurons in each layer.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Normalization layers.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Switch activation functions.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Change batch size.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45504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Props1.xml><?xml version="1.0" encoding="utf-8"?>
<ds:datastoreItem xmlns:ds="http://schemas.openxmlformats.org/officeDocument/2006/customXml" ds:itemID="{A149E082-E56A-4E5C-8019-72B56B856D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704CCA4-620B-43DA-AFE3-47A04B6DDCD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6E15B2D-E719-4146-87B4-8A594331CA81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1935</TotalTime>
  <Words>679</Words>
  <Application>Microsoft Office PowerPoint</Application>
  <PresentationFormat>Widescreen</PresentationFormat>
  <Paragraphs>118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Consolas</vt:lpstr>
      <vt:lpstr>Times New Roman</vt:lpstr>
      <vt:lpstr>Office Theme</vt:lpstr>
      <vt:lpstr>Case Study: Diabetes Diagnosis </vt:lpstr>
      <vt:lpstr>Problem background and dataset description </vt:lpstr>
      <vt:lpstr>Re-arranging dataset </vt:lpstr>
      <vt:lpstr>Construction and training of the network </vt:lpstr>
      <vt:lpstr>Construction and training of the network </vt:lpstr>
      <vt:lpstr>Prediction using the neural network </vt:lpstr>
      <vt:lpstr>Network construction guideline recap 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Liangyue Yu (PGR)</dc:creator>
  <cp:keywords/>
  <dc:description/>
  <cp:lastModifiedBy>Bo Liu</cp:lastModifiedBy>
  <cp:revision>68</cp:revision>
  <dcterms:created xsi:type="dcterms:W3CDTF">2021-01-06T14:22:07Z</dcterms:created>
  <dcterms:modified xsi:type="dcterms:W3CDTF">2024-07-22T14:58:41Z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  <property fmtid="{D5CDD505-2E9C-101B-9397-08002B2CF9AE}" pid="3" name="MediaServiceImageTags">
    <vt:lpwstr/>
  </property>
</Properties>
</file>