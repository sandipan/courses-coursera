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2"/>
  </p:notesMasterIdLst>
  <p:sldIdLst>
    <p:sldId id="256" r:id="rId5"/>
    <p:sldId id="494" r:id="rId6"/>
    <p:sldId id="496" r:id="rId7"/>
    <p:sldId id="497" r:id="rId8"/>
    <p:sldId id="499" r:id="rId9"/>
    <p:sldId id="500" r:id="rId10"/>
    <p:sldId id="273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348" autoAdjust="0"/>
    <p:restoredTop sz="96327"/>
  </p:normalViewPr>
  <p:slideViewPr>
    <p:cSldViewPr snapToGrid="0">
      <p:cViewPr varScale="1">
        <p:scale>
          <a:sx n="136" d="100"/>
          <a:sy n="136" d="100"/>
        </p:scale>
        <p:origin x="96" y="532"/>
      </p:cViewPr>
      <p:guideLst/>
    </p:cSldViewPr>
  </p:slideViewPr>
  <p:outlineViewPr>
    <p:cViewPr>
      <p:scale>
        <a:sx n="30" d="100"/>
        <a:sy n="30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295AE2-43AC-144B-AE88-DCB376799F11}" type="datetimeFigureOut">
              <a:rPr lang="en-US" smtClean="0"/>
              <a:t>7/22/2024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24E5BB-E6B0-B84A-ABCD-9A3E9C2D78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7427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95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2024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74946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83BB4406-02B4-284F-84C5-A21F22E6B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5FEA054A-F191-E34B-8C26-BA11F3F0C09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85750" y="1627188"/>
            <a:ext cx="11474450" cy="460692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928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a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08667"/>
            <a:ext cx="5181600" cy="456829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08667"/>
            <a:ext cx="5181600" cy="456829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EE31514-F8EA-5D4E-B45D-65DD78DBE3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125246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91D55F9-A3F2-1242-A5F3-5AAACC9DB3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494081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0418" y="1657926"/>
            <a:ext cx="6629400" cy="789709"/>
          </a:xfrm>
        </p:spPr>
        <p:txBody>
          <a:bodyPr anchor="t">
            <a:normAutofit/>
          </a:bodyPr>
          <a:lstStyle>
            <a:lvl1pPr algn="l">
              <a:defRPr sz="28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90418" y="3015529"/>
            <a:ext cx="5680364" cy="623598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842734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F97420DD-2415-454D-AA0F-DBDA719CBD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012830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1680" y="2123676"/>
            <a:ext cx="4027169" cy="1600200"/>
          </a:xfrm>
        </p:spPr>
        <p:txBody>
          <a:bodyPr anchor="t">
            <a:normAutofit/>
          </a:bodyPr>
          <a:lstStyle>
            <a:lvl1pPr algn="l">
              <a:defRPr sz="2800"/>
            </a:lvl1pPr>
          </a:lstStyle>
          <a:p>
            <a:r>
              <a:rPr lang="en-GB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1680" y="3934224"/>
            <a:ext cx="4030345" cy="1934763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280398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6A65B24-645B-1746-9651-55C209C5E25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810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511800" y="681037"/>
            <a:ext cx="5842000" cy="100965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624FB1-CB24-4B4C-BFD4-AD276D9A4059}" type="datetimeFigureOut">
              <a:rPr lang="en-GB" smtClean="0"/>
              <a:t>22/07/2024</a:t>
            </a:fld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19F3F6-C255-4AC5-91C2-3F61B6509B36}" type="slidenum">
              <a:rPr lang="en-GB" smtClean="0"/>
              <a:t>‹#›</a:t>
            </a:fld>
            <a:endParaRPr lang="en-GB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6262A0F-9E49-6B4D-94F3-647B33A25A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5699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52" r:id="rId2"/>
    <p:sldLayoutId id="2147483653" r:id="rId3"/>
    <p:sldLayoutId id="2147483649" r:id="rId4"/>
    <p:sldLayoutId id="2147483654" r:id="rId5"/>
    <p:sldLayoutId id="2147483656" r:id="rId6"/>
    <p:sldLayoutId id="2147483684" r:id="rId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9.png"/><Relationship Id="rId4" Type="http://schemas.openxmlformats.org/officeDocument/2006/relationships/image" Target="../media/image4.png"/><Relationship Id="rId9" Type="http://schemas.openxmlformats.org/officeDocument/2006/relationships/hyperlink" Target="https://uk.mathworks.com/discovery/regularization.html" TargetMode="External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30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12" Type="http://schemas.openxmlformats.org/officeDocument/2006/relationships/image" Target="../media/image50.png"/><Relationship Id="rId17" Type="http://schemas.openxmlformats.org/officeDocument/2006/relationships/image" Target="../media/image16.png"/><Relationship Id="rId2" Type="http://schemas.openxmlformats.org/officeDocument/2006/relationships/image" Target="../media/image10.png"/><Relationship Id="rId16" Type="http://schemas.openxmlformats.org/officeDocument/2006/relationships/image" Target="../media/image1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4.png"/><Relationship Id="rId15" Type="http://schemas.openxmlformats.org/officeDocument/2006/relationships/image" Target="../media/image19.png"/><Relationship Id="rId4" Type="http://schemas.openxmlformats.org/officeDocument/2006/relationships/image" Target="../media/image12.png"/><Relationship Id="rId14" Type="http://schemas.openxmlformats.org/officeDocument/2006/relationships/image" Target="../media/image17.png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4.png"/><Relationship Id="rId3" Type="http://schemas.openxmlformats.org/officeDocument/2006/relationships/image" Target="../media/image18.png"/><Relationship Id="rId12" Type="http://schemas.openxmlformats.org/officeDocument/2006/relationships/image" Target="../media/image2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Relationship Id="rId11" Type="http://schemas.openxmlformats.org/officeDocument/2006/relationships/image" Target="../media/image22.png"/><Relationship Id="rId15" Type="http://schemas.openxmlformats.org/officeDocument/2006/relationships/image" Target="../media/image25.png"/><Relationship Id="rId10" Type="http://schemas.openxmlformats.org/officeDocument/2006/relationships/image" Target="../media/image21.png"/><Relationship Id="rId14" Type="http://schemas.openxmlformats.org/officeDocument/2006/relationships/image" Target="../media/image20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The Gilbert Scott Building">
            <a:extLst>
              <a:ext uri="{FF2B5EF4-FFF2-40B4-BE49-F238E27FC236}">
                <a16:creationId xmlns:a16="http://schemas.microsoft.com/office/drawing/2014/main" id="{BAB3C4BD-A67A-4D47-6D5C-637F167E7C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0418" y="1657926"/>
            <a:ext cx="8210986" cy="789709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A Few Methods to Improve Overfitting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FFC54586-8882-6804-A250-091EB79369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0418" y="2576945"/>
            <a:ext cx="5680364" cy="1062182"/>
          </a:xfrm>
        </p:spPr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Professor Bo Liu</a:t>
            </a:r>
          </a:p>
          <a:p>
            <a:r>
              <a:rPr lang="en-GB" dirty="0">
                <a:solidFill>
                  <a:schemeClr val="tx1"/>
                </a:solidFill>
              </a:rPr>
              <a:t>James Watt School of Engineering</a:t>
            </a:r>
          </a:p>
        </p:txBody>
      </p:sp>
    </p:spTree>
    <p:extLst>
      <p:ext uri="{BB962C8B-B14F-4D97-AF65-F5344CB8AC3E}">
        <p14:creationId xmlns:p14="http://schemas.microsoft.com/office/powerpoint/2010/main" val="42441715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/>
              <a:t>Regularization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E8EB937-C197-34B9-3C77-37279FDE496A}"/>
                  </a:ext>
                </a:extLst>
              </p:cNvPr>
              <p:cNvSpPr txBox="1"/>
              <p:nvPr/>
            </p:nvSpPr>
            <p:spPr>
              <a:xfrm>
                <a:off x="1215797" y="2156129"/>
                <a:ext cx="5150045" cy="89620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min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  <m:nary>
                        <m:naryPr>
                          <m:chr m:val="∑"/>
                          <m:supHide m:val="on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E8EB937-C197-34B9-3C77-37279FDE49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5797" y="2156129"/>
                <a:ext cx="5150045" cy="89620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F7E9462-0D9D-4A94-4EE0-EBCDDE524526}"/>
                  </a:ext>
                </a:extLst>
              </p:cNvPr>
              <p:cNvSpPr txBox="1"/>
              <p:nvPr/>
            </p:nvSpPr>
            <p:spPr>
              <a:xfrm>
                <a:off x="725984" y="1516053"/>
                <a:ext cx="6470643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A weighted regularization term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is added to the loss function,</a:t>
                </a: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F7E9462-0D9D-4A94-4EE0-EBCDDE5245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5984" y="1516053"/>
                <a:ext cx="6470643" cy="830997"/>
              </a:xfrm>
              <a:prstGeom prst="rect">
                <a:avLst/>
              </a:prstGeom>
              <a:blipFill>
                <a:blip r:embed="rId4"/>
                <a:stretch>
                  <a:fillRect l="-1412" t="-5147" b="-1691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3E9EF40-0D2C-9F79-064C-5D4ADCA1667F}"/>
                  </a:ext>
                </a:extLst>
              </p:cNvPr>
              <p:cNvSpPr txBox="1"/>
              <p:nvPr/>
            </p:nvSpPr>
            <p:spPr>
              <a:xfrm>
                <a:off x="1180787" y="3059668"/>
                <a:ext cx="657891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: error function</a:t>
                </a: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3E9EF40-0D2C-9F79-064C-5D4ADCA166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0787" y="3059668"/>
                <a:ext cx="6578913" cy="461665"/>
              </a:xfrm>
              <a:prstGeom prst="rect">
                <a:avLst/>
              </a:prstGeom>
              <a:blipFill>
                <a:blip r:embed="rId5"/>
                <a:stretch>
                  <a:fillRect l="-278" t="-9211" b="-3026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B2066F3-8C60-760B-2726-D8DB8D8A125A}"/>
                  </a:ext>
                </a:extLst>
              </p:cNvPr>
              <p:cNvSpPr txBox="1"/>
              <p:nvPr/>
            </p:nvSpPr>
            <p:spPr>
              <a:xfrm>
                <a:off x="702525" y="5757140"/>
                <a:ext cx="7055437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: penalty on the complexity of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, so generalized to new data samples.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B2066F3-8C60-760B-2726-D8DB8D8A12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525" y="5757140"/>
                <a:ext cx="7055437" cy="830997"/>
              </a:xfrm>
              <a:prstGeom prst="rect">
                <a:avLst/>
              </a:prstGeom>
              <a:blipFill>
                <a:blip r:embed="rId6"/>
                <a:stretch>
                  <a:fillRect l="-1295" t="-5109" b="-1605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Group 9">
            <a:extLst>
              <a:ext uri="{FF2B5EF4-FFF2-40B4-BE49-F238E27FC236}">
                <a16:creationId xmlns:a16="http://schemas.microsoft.com/office/drawing/2014/main" id="{2504A39C-42A2-69C1-C545-71EB8E6CA141}"/>
              </a:ext>
            </a:extLst>
          </p:cNvPr>
          <p:cNvGrpSpPr/>
          <p:nvPr/>
        </p:nvGrpSpPr>
        <p:grpSpPr>
          <a:xfrm>
            <a:off x="696889" y="3808179"/>
            <a:ext cx="9105410" cy="1240813"/>
            <a:chOff x="457200" y="3508310"/>
            <a:chExt cx="6960560" cy="1240813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3CD2F530-CFC6-1DA3-0BED-3A77523CF9BC}"/>
                </a:ext>
              </a:extLst>
            </p:cNvPr>
            <p:cNvSpPr txBox="1"/>
            <p:nvPr/>
          </p:nvSpPr>
          <p:spPr>
            <a:xfrm>
              <a:off x="457200" y="3508310"/>
              <a:ext cx="696056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latin typeface="Arial" panose="020B0604020202020204" pitchFamily="34" charset="0"/>
                  <a:cs typeface="Arial" panose="020B0604020202020204" pitchFamily="34" charset="0"/>
                </a:rPr>
                <a:t>If without the regularization term, the loss function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A96757DC-2B3C-D302-3734-3BB0D3B655A7}"/>
                    </a:ext>
                  </a:extLst>
                </p:cNvPr>
                <p:cNvSpPr txBox="1"/>
                <p:nvPr/>
              </p:nvSpPr>
              <p:spPr>
                <a:xfrm>
                  <a:off x="827112" y="3852916"/>
                  <a:ext cx="2772106" cy="89620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400" b="0" i="0" smtClean="0">
                                <a:latin typeface="Cambria Math" panose="02040503050406030204" pitchFamily="18" charset="0"/>
                              </a:rPr>
                              <m:t>min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sub>
                        </m:sSub>
                        <m:nary>
                          <m:naryPr>
                            <m:chr m:val="∑"/>
                            <m:supHide m:val="on"/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7"/>
                              </m:r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/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  <m:d>
                              <m:d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d>
                                  <m:d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</m:e>
                        </m:nary>
                      </m:oMath>
                    </m:oMathPara>
                  </a14:m>
                  <a:endParaRPr lang="en-US" sz="240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A96757DC-2B3C-D302-3734-3BB0D3B655A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7112" y="3852916"/>
                  <a:ext cx="2772106" cy="896207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B8596A2-7168-4451-275E-DD80BADBCD59}"/>
                  </a:ext>
                </a:extLst>
              </p:cNvPr>
              <p:cNvSpPr txBox="1"/>
              <p:nvPr/>
            </p:nvSpPr>
            <p:spPr>
              <a:xfrm>
                <a:off x="696889" y="4896618"/>
                <a:ext cx="7121107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Complex model that “memorizes” all the </a:t>
                </a:r>
                <a14:m>
                  <m:oMath xmlns:m="http://schemas.openxmlformats.org/officeDocument/2006/math"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, so overfitting.</a:t>
                </a:r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B8596A2-7168-4451-275E-DD80BADBCD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6889" y="4896618"/>
                <a:ext cx="7121107" cy="830997"/>
              </a:xfrm>
              <a:prstGeom prst="rect">
                <a:avLst/>
              </a:prstGeom>
              <a:blipFill>
                <a:blip r:embed="rId8"/>
                <a:stretch>
                  <a:fillRect l="-1284" t="-5109" r="-1284" b="-1605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51ABEBF4-82FE-5F16-FF29-872782AD0633}"/>
              </a:ext>
            </a:extLst>
          </p:cNvPr>
          <p:cNvSpPr txBox="1"/>
          <p:nvPr/>
        </p:nvSpPr>
        <p:spPr>
          <a:xfrm>
            <a:off x="7902059" y="2254346"/>
            <a:ext cx="3800479" cy="830997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r"/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Useful documentation:</a:t>
            </a:r>
          </a:p>
          <a:p>
            <a:pPr algn="r"/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  <a:hlinkClick r:id="rId9"/>
              </a:rPr>
              <a:t>regularization</a:t>
            </a:r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2A5821FE-631C-D051-1880-60F5B2674755}"/>
              </a:ext>
            </a:extLst>
          </p:cNvPr>
          <p:cNvGrpSpPr/>
          <p:nvPr/>
        </p:nvGrpSpPr>
        <p:grpSpPr>
          <a:xfrm>
            <a:off x="7700448" y="3220682"/>
            <a:ext cx="4203699" cy="3553161"/>
            <a:chOff x="4699550" y="2837155"/>
            <a:chExt cx="4582520" cy="3727910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4C596EE9-8A0E-0AE7-F873-04D93AA8C8F3}"/>
                </a:ext>
              </a:extLst>
            </p:cNvPr>
            <p:cNvSpPr txBox="1"/>
            <p:nvPr/>
          </p:nvSpPr>
          <p:spPr>
            <a:xfrm>
              <a:off x="4699550" y="5822364"/>
              <a:ext cx="4582520" cy="74270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000" b="0" i="0" dirty="0"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What regularization does to a function y=f(x)</a:t>
              </a:r>
              <a:endParaRPr lang="en-US" sz="2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5585F3E7-67FF-8A19-00E4-DF854F39135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1634" t="10313" r="13346" b="10791"/>
            <a:stretch/>
          </p:blipFill>
          <p:spPr>
            <a:xfrm>
              <a:off x="4699550" y="2837155"/>
              <a:ext cx="3594412" cy="304936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760153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4" grpId="0"/>
      <p:bldP spid="7" grpId="0"/>
      <p:bldP spid="11" grpId="0"/>
      <p:bldP spid="1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FF1C9C-A4A9-48FB-CBE9-E6AA4EF592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L1 Regularization</a:t>
            </a:r>
            <a:br>
              <a:rPr lang="en-GB" dirty="0"/>
            </a:b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8ECA0F5-A9D3-E476-E7B9-767B47AA1B8E}"/>
                  </a:ext>
                </a:extLst>
              </p:cNvPr>
              <p:cNvSpPr txBox="1"/>
              <p:nvPr/>
            </p:nvSpPr>
            <p:spPr>
              <a:xfrm>
                <a:off x="221590" y="1629835"/>
                <a:ext cx="1024321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: penalty on the complexity of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, so generalized to new data samples.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8ECA0F5-A9D3-E476-E7B9-767B47AA1B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590" y="1629835"/>
                <a:ext cx="10243210" cy="461665"/>
              </a:xfrm>
              <a:prstGeom prst="rect">
                <a:avLst/>
              </a:prstGeom>
              <a:blipFill>
                <a:blip r:embed="rId2"/>
                <a:stretch>
                  <a:fillRect l="-119" t="-9211" b="-3026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F59EBAD-0647-DCEA-3812-EFC307BFBBAC}"/>
                  </a:ext>
                </a:extLst>
              </p:cNvPr>
              <p:cNvSpPr txBox="1"/>
              <p:nvPr/>
            </p:nvSpPr>
            <p:spPr>
              <a:xfrm>
                <a:off x="4839086" y="5392098"/>
                <a:ext cx="6336301" cy="12972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Contour lines in red: optimization landscape</a:t>
                </a:r>
              </a:p>
              <a:p>
                <a:pPr>
                  <a:spcAft>
                    <a:spcPts val="600"/>
                  </a:spcAft>
                </a:pP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</m:acc>
                  </m:oMath>
                </a14:m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: model parameter coefficients with minimum loss, given training set</a:t>
                </a: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F59EBAD-0647-DCEA-3812-EFC307BFBB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39086" y="5392098"/>
                <a:ext cx="6336301" cy="1297278"/>
              </a:xfrm>
              <a:prstGeom prst="rect">
                <a:avLst/>
              </a:prstGeom>
              <a:blipFill>
                <a:blip r:embed="rId3"/>
                <a:stretch>
                  <a:fillRect l="-1540" t="-3302" b="-1037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Group 4">
            <a:extLst>
              <a:ext uri="{FF2B5EF4-FFF2-40B4-BE49-F238E27FC236}">
                <a16:creationId xmlns:a16="http://schemas.microsoft.com/office/drawing/2014/main" id="{A1563042-9A52-CD13-2418-BB39FF9D7C1F}"/>
              </a:ext>
            </a:extLst>
          </p:cNvPr>
          <p:cNvGrpSpPr/>
          <p:nvPr/>
        </p:nvGrpSpPr>
        <p:grpSpPr>
          <a:xfrm>
            <a:off x="4839086" y="2754821"/>
            <a:ext cx="6499867" cy="1328619"/>
            <a:chOff x="4087906" y="3906525"/>
            <a:chExt cx="5056094" cy="1328619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3CEF907F-F8A6-3C5E-6B75-D320C2DF1BE8}"/>
                </a:ext>
              </a:extLst>
            </p:cNvPr>
            <p:cNvSpPr txBox="1"/>
            <p:nvPr/>
          </p:nvSpPr>
          <p:spPr>
            <a:xfrm>
              <a:off x="4130413" y="3906525"/>
              <a:ext cx="5013587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2400" dirty="0">
                  <a:latin typeface="Arial" panose="020B0604020202020204" pitchFamily="34" charset="0"/>
                  <a:cs typeface="Arial" panose="020B0604020202020204" pitchFamily="34" charset="0"/>
                </a:rPr>
                <a:t>Minimize the penalized loss function, 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04B5D41E-D848-EF6D-822D-52CA71E121B8}"/>
                    </a:ext>
                  </a:extLst>
                </p:cNvPr>
                <p:cNvSpPr txBox="1"/>
                <p:nvPr/>
              </p:nvSpPr>
              <p:spPr>
                <a:xfrm>
                  <a:off x="4087906" y="4439285"/>
                  <a:ext cx="1342305" cy="79585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𝑅</m:t>
                        </m:r>
                        <m:d>
                          <m:d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</m:d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=</m:t>
                        </m:r>
                        <m:nary>
                          <m:naryPr>
                            <m:chr m:val="∑"/>
                            <m:supHide m:val="on"/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7"/>
                              </m:r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  <m:sup/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|</m:t>
                            </m:r>
                            <m:sSub>
                              <m:sSubPr>
                                <m:ctrlPr>
                                  <a:rPr lang="en-US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  <m:sub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</m:nary>
                      </m:oMath>
                    </m:oMathPara>
                  </a14:m>
                  <a:endPara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04B5D41E-D848-EF6D-822D-52CA71E121B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87906" y="4439285"/>
                  <a:ext cx="1342305" cy="795859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8C168946-D240-6D51-23D7-58BA64210F96}"/>
              </a:ext>
            </a:extLst>
          </p:cNvPr>
          <p:cNvGrpSpPr/>
          <p:nvPr/>
        </p:nvGrpSpPr>
        <p:grpSpPr>
          <a:xfrm>
            <a:off x="221590" y="2162595"/>
            <a:ext cx="7043047" cy="1160488"/>
            <a:chOff x="-883406" y="2267219"/>
            <a:chExt cx="6749548" cy="104029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7A54CD2C-C437-2A9C-1BFB-C321E8041C0A}"/>
                    </a:ext>
                  </a:extLst>
                </p:cNvPr>
                <p:cNvSpPr txBox="1"/>
                <p:nvPr/>
              </p:nvSpPr>
              <p:spPr>
                <a:xfrm>
                  <a:off x="-96033" y="2594082"/>
                  <a:ext cx="1653691" cy="71343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𝑅</m:t>
                        </m:r>
                        <m:d>
                          <m:d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</m:d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=</m:t>
                        </m:r>
                        <m:nary>
                          <m:naryPr>
                            <m:chr m:val="∑"/>
                            <m:supHide m:val="on"/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7"/>
                              </m:r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  <m:sup/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|</m:t>
                            </m:r>
                            <m:sSub>
                              <m:sSubPr>
                                <m:ctrlPr>
                                  <a:rPr lang="en-US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  <m:sub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</m:nary>
                      </m:oMath>
                    </m:oMathPara>
                  </a14:m>
                  <a:endPara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7A54CD2C-C437-2A9C-1BFB-C321E8041C0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96033" y="2594082"/>
                  <a:ext cx="1653691" cy="71343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510F1973-C02C-BBF3-800F-5A87057AFF77}"/>
                </a:ext>
              </a:extLst>
            </p:cNvPr>
            <p:cNvSpPr txBox="1"/>
            <p:nvPr/>
          </p:nvSpPr>
          <p:spPr>
            <a:xfrm>
              <a:off x="-883406" y="2267219"/>
              <a:ext cx="6749548" cy="4138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400" dirty="0">
                  <a:latin typeface="Arial" panose="020B0604020202020204" pitchFamily="34" charset="0"/>
                  <a:cs typeface="Arial" panose="020B0604020202020204" pitchFamily="34" charset="0"/>
                </a:rPr>
                <a:t>L1 regularization, a.k.a. Lasso regression: 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89D2C05-4895-58F5-5455-AB71A271BB24}"/>
                  </a:ext>
                </a:extLst>
              </p:cNvPr>
              <p:cNvSpPr txBox="1"/>
              <p:nvPr/>
            </p:nvSpPr>
            <p:spPr>
              <a:xfrm>
                <a:off x="881989" y="5935221"/>
                <a:ext cx="3334493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Less important coefficients (here,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0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) are shrunk to 0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89D2C05-4895-58F5-5455-AB71A271BB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989" y="5935221"/>
                <a:ext cx="3334493" cy="707886"/>
              </a:xfrm>
              <a:prstGeom prst="rect">
                <a:avLst/>
              </a:prstGeom>
              <a:blipFill>
                <a:blip r:embed="rId7"/>
                <a:stretch>
                  <a:fillRect l="-2011" t="-4310" b="-1551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" name="Group 11">
            <a:extLst>
              <a:ext uri="{FF2B5EF4-FFF2-40B4-BE49-F238E27FC236}">
                <a16:creationId xmlns:a16="http://schemas.microsoft.com/office/drawing/2014/main" id="{7B74C2D1-9DB5-0833-B34E-A9501F395377}"/>
              </a:ext>
            </a:extLst>
          </p:cNvPr>
          <p:cNvGrpSpPr/>
          <p:nvPr/>
        </p:nvGrpSpPr>
        <p:grpSpPr>
          <a:xfrm>
            <a:off x="1290016" y="3675484"/>
            <a:ext cx="2692947" cy="2261631"/>
            <a:chOff x="4029044" y="1078150"/>
            <a:chExt cx="3626727" cy="3134983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68E653DB-6DB7-D2A1-BCBE-F2BF557B2D2B}"/>
                </a:ext>
              </a:extLst>
            </p:cNvPr>
            <p:cNvGrpSpPr/>
            <p:nvPr/>
          </p:nvGrpSpPr>
          <p:grpSpPr>
            <a:xfrm>
              <a:off x="4029044" y="1078150"/>
              <a:ext cx="3626727" cy="3134983"/>
              <a:chOff x="4136994" y="1046400"/>
              <a:chExt cx="3626727" cy="3134983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6" name="TextBox 15">
                    <a:extLst>
                      <a:ext uri="{FF2B5EF4-FFF2-40B4-BE49-F238E27FC236}">
                        <a16:creationId xmlns:a16="http://schemas.microsoft.com/office/drawing/2014/main" id="{19EDB994-0066-3644-6764-156ABBAB5B84}"/>
                      </a:ext>
                    </a:extLst>
                  </p:cNvPr>
                  <p:cNvSpPr txBox="1"/>
                  <p:nvPr/>
                </p:nvSpPr>
                <p:spPr>
                  <a:xfrm>
                    <a:off x="6054998" y="1191048"/>
                    <a:ext cx="154529" cy="227113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acc>
                            <m:accPr>
                              <m:chr m:val="̂"/>
                              <m:ctrlPr>
                                <a:rPr lang="en-US" sz="14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oMath>
                      </m:oMathPara>
                    </a14:m>
                    <a:endParaRPr lang="en-US" sz="1400" i="1" dirty="0"/>
                  </a:p>
                </p:txBody>
              </p:sp>
            </mc:Choice>
            <mc:Fallback xmlns="">
              <p:sp>
                <p:nvSpPr>
                  <p:cNvPr id="16" name="TextBox 15">
                    <a:extLst>
                      <a:ext uri="{FF2B5EF4-FFF2-40B4-BE49-F238E27FC236}">
                        <a16:creationId xmlns:a16="http://schemas.microsoft.com/office/drawing/2014/main" id="{427FAE6A-7ADA-7DB3-732E-E430710B88D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054998" y="1191048"/>
                    <a:ext cx="154529" cy="227113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 l="-73684" t="-22222" r="-84211" b="-81481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403B7FF1-9C7F-F9C9-9FFD-E6EC31761963}"/>
                  </a:ext>
                </a:extLst>
              </p:cNvPr>
              <p:cNvSpPr/>
              <p:nvPr/>
            </p:nvSpPr>
            <p:spPr>
              <a:xfrm>
                <a:off x="5966529" y="1385873"/>
                <a:ext cx="63662" cy="64576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A100B128-13DF-CEEE-2A96-9A2F8A149E70}"/>
                  </a:ext>
                </a:extLst>
              </p:cNvPr>
              <p:cNvSpPr/>
              <p:nvPr/>
            </p:nvSpPr>
            <p:spPr>
              <a:xfrm rot="2706182">
                <a:off x="4615667" y="2482696"/>
                <a:ext cx="1066763" cy="1064576"/>
              </a:xfrm>
              <a:prstGeom prst="rect">
                <a:avLst/>
              </a:prstGeom>
              <a:solidFill>
                <a:srgbClr val="92D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9" name="Straight Arrow Connector 18">
                <a:extLst>
                  <a:ext uri="{FF2B5EF4-FFF2-40B4-BE49-F238E27FC236}">
                    <a16:creationId xmlns:a16="http://schemas.microsoft.com/office/drawing/2014/main" id="{749BD355-3D8A-4100-34F8-72A2E999382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149049" y="1074198"/>
                <a:ext cx="0" cy="3107185"/>
              </a:xfrm>
              <a:prstGeom prst="straightConnector1">
                <a:avLst/>
              </a:prstGeom>
              <a:ln w="1905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0" name="Straight Arrow Connector 19">
                <a:extLst>
                  <a:ext uri="{FF2B5EF4-FFF2-40B4-BE49-F238E27FC236}">
                    <a16:creationId xmlns:a16="http://schemas.microsoft.com/office/drawing/2014/main" id="{FD4F2750-687A-3303-3275-7FA62F22A2A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136994" y="3017784"/>
                <a:ext cx="3187083" cy="0"/>
              </a:xfrm>
              <a:prstGeom prst="straightConnector1">
                <a:avLst/>
              </a:prstGeom>
              <a:ln w="1905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A8987144-7ADA-E66C-B228-2C1609FED40E}"/>
                  </a:ext>
                </a:extLst>
              </p:cNvPr>
              <p:cNvSpPr/>
              <p:nvPr/>
            </p:nvSpPr>
            <p:spPr>
              <a:xfrm rot="8352991">
                <a:off x="4736826" y="1046400"/>
                <a:ext cx="2385060" cy="779101"/>
              </a:xfrm>
              <a:prstGeom prst="ellipse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E06A661D-AFC8-95DC-8E96-C0DD40C7C50A}"/>
                  </a:ext>
                </a:extLst>
              </p:cNvPr>
              <p:cNvSpPr/>
              <p:nvPr/>
            </p:nvSpPr>
            <p:spPr>
              <a:xfrm rot="8352991">
                <a:off x="5012166" y="1144612"/>
                <a:ext cx="1854108" cy="574839"/>
              </a:xfrm>
              <a:prstGeom prst="ellipse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C52C630B-C3D0-4900-1282-8A463AEADBA4}"/>
                  </a:ext>
                </a:extLst>
              </p:cNvPr>
              <p:cNvSpPr/>
              <p:nvPr/>
            </p:nvSpPr>
            <p:spPr>
              <a:xfrm rot="8352991">
                <a:off x="5306100" y="1262996"/>
                <a:ext cx="1246510" cy="376666"/>
              </a:xfrm>
              <a:prstGeom prst="ellipse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4" name="Straight Arrow Connector 23">
                <a:extLst>
                  <a:ext uri="{FF2B5EF4-FFF2-40B4-BE49-F238E27FC236}">
                    <a16:creationId xmlns:a16="http://schemas.microsoft.com/office/drawing/2014/main" id="{1107621C-F3C4-2061-0032-FB95B76A81BA}"/>
                  </a:ext>
                </a:extLst>
              </p:cNvPr>
              <p:cNvCxnSpPr>
                <a:cxnSpLocks/>
                <a:stCxn id="17" idx="3"/>
              </p:cNvCxnSpPr>
              <p:nvPr/>
            </p:nvCxnSpPr>
            <p:spPr>
              <a:xfrm flipH="1">
                <a:off x="5149048" y="1440992"/>
                <a:ext cx="826804" cy="820449"/>
              </a:xfrm>
              <a:prstGeom prst="straightConnector1">
                <a:avLst/>
              </a:prstGeom>
              <a:ln w="12700">
                <a:solidFill>
                  <a:srgbClr val="00B05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5" name="TextBox 24">
                    <a:extLst>
                      <a:ext uri="{FF2B5EF4-FFF2-40B4-BE49-F238E27FC236}">
                        <a16:creationId xmlns:a16="http://schemas.microsoft.com/office/drawing/2014/main" id="{A912FB65-0E9A-F070-1946-1660AC8A2955}"/>
                      </a:ext>
                    </a:extLst>
                  </p:cNvPr>
                  <p:cNvSpPr txBox="1"/>
                  <p:nvPr/>
                </p:nvSpPr>
                <p:spPr>
                  <a:xfrm>
                    <a:off x="5975852" y="1949005"/>
                    <a:ext cx="1787869" cy="341302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d>
                            <m:dPr>
                              <m:begChr m:val="|"/>
                              <m:endChr m:val="|"/>
                              <m:ctrlPr>
                                <a:rPr lang="en-US" sz="16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6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≤</m:t>
                          </m:r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oMath>
                      </m:oMathPara>
                    </a14:m>
                    <a:endParaRPr lang="en-US" sz="1600" i="1" dirty="0"/>
                  </a:p>
                </p:txBody>
              </p:sp>
            </mc:Choice>
            <mc:Fallback xmlns="">
              <p:sp>
                <p:nvSpPr>
                  <p:cNvPr id="30" name="TextBox 29">
                    <a:extLst>
                      <a:ext uri="{FF2B5EF4-FFF2-40B4-BE49-F238E27FC236}">
                        <a16:creationId xmlns:a16="http://schemas.microsoft.com/office/drawing/2014/main" id="{95C4C182-613C-4161-02C3-ECFAD046A71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975852" y="1949005"/>
                    <a:ext cx="1787869" cy="341302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 r="-1376" b="-3250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D221F4C9-DEC8-6C74-2AEB-DB34047EB914}"/>
                  </a:ext>
                </a:extLst>
              </p:cNvPr>
              <p:cNvSpPr/>
              <p:nvPr/>
            </p:nvSpPr>
            <p:spPr>
              <a:xfrm>
                <a:off x="5117216" y="2248989"/>
                <a:ext cx="63662" cy="64576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6E99C0D2-F958-8C47-6B6A-1CEC69C13CEB}"/>
                    </a:ext>
                  </a:extLst>
                </p:cNvPr>
                <p:cNvSpPr txBox="1"/>
                <p:nvPr/>
              </p:nvSpPr>
              <p:spPr>
                <a:xfrm>
                  <a:off x="7027581" y="3084277"/>
                  <a:ext cx="216277" cy="21544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1400" i="1" dirty="0"/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0C65A319-692A-8C1C-A6AA-D584C462602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27581" y="3084277"/>
                  <a:ext cx="216277" cy="215444"/>
                </a:xfrm>
                <a:prstGeom prst="rect">
                  <a:avLst/>
                </a:prstGeom>
                <a:blipFill>
                  <a:blip r:embed="rId14"/>
                  <a:stretch>
                    <a:fillRect l="-53846" r="-30769" b="-84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A27FC6D2-55C4-1167-0CF0-3084AE96132C}"/>
                    </a:ext>
                  </a:extLst>
                </p:cNvPr>
                <p:cNvSpPr txBox="1"/>
                <p:nvPr/>
              </p:nvSpPr>
              <p:spPr>
                <a:xfrm>
                  <a:off x="4788820" y="1198531"/>
                  <a:ext cx="220445" cy="21544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1400" i="1" dirty="0"/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031DC696-316F-D096-5484-80574889C64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88820" y="1198531"/>
                  <a:ext cx="220445" cy="215444"/>
                </a:xfrm>
                <a:prstGeom prst="rect">
                  <a:avLst/>
                </a:prstGeom>
                <a:blipFill>
                  <a:blip r:embed="rId15"/>
                  <a:stretch>
                    <a:fillRect l="-51852" r="-29630" b="-8076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D1352DD-36D8-9D99-11DF-E4209F5C8D29}"/>
                  </a:ext>
                </a:extLst>
              </p:cNvPr>
              <p:cNvSpPr txBox="1"/>
              <p:nvPr/>
            </p:nvSpPr>
            <p:spPr>
              <a:xfrm>
                <a:off x="4893731" y="3943679"/>
                <a:ext cx="60960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a:rPr lang="en-US" sz="1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𝛽</m:t>
                    </m:r>
                  </m:oMath>
                </a14:m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</a:rPr>
                  <a:t>: model parameter coefficients</a:t>
                </a:r>
                <a:endParaRPr lang="en-US" sz="1800" i="1" dirty="0">
                  <a:latin typeface="Arial" panose="020B0604020202020204" pitchFamily="34" charset="0"/>
                  <a:ea typeface="Cambria Math" panose="02040503050406030204" pitchFamily="18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D1352DD-36D8-9D99-11DF-E4209F5C8D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3731" y="3943679"/>
                <a:ext cx="6096000" cy="369332"/>
              </a:xfrm>
              <a:prstGeom prst="rect">
                <a:avLst/>
              </a:prstGeom>
              <a:blipFill>
                <a:blip r:embed="rId16"/>
                <a:stretch>
                  <a:fillRect l="-300" t="-9836" b="-2459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A7980AAB-7366-AB85-B69C-605A8EA4F707}"/>
                  </a:ext>
                </a:extLst>
              </p:cNvPr>
              <p:cNvSpPr txBox="1"/>
              <p:nvPr/>
            </p:nvSpPr>
            <p:spPr>
              <a:xfrm>
                <a:off x="4414279" y="4422877"/>
                <a:ext cx="5150045" cy="89620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min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  <m:nary>
                        <m:naryPr>
                          <m:chr m:val="∑"/>
                          <m:supHide m:val="on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A7980AAB-7366-AB85-B69C-605A8EA4F7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4279" y="4422877"/>
                <a:ext cx="5150045" cy="896207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133468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11" grpId="0"/>
      <p:bldP spid="28" grpId="0"/>
      <p:bldP spid="2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69CBD-44C0-4FF9-D0F3-D07A29463B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L2 Regularization</a:t>
            </a:r>
            <a:br>
              <a:rPr lang="en-GB" dirty="0"/>
            </a:b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6568A55-D64F-C977-C687-C0AF12A053D4}"/>
                  </a:ext>
                </a:extLst>
              </p:cNvPr>
              <p:cNvSpPr txBox="1"/>
              <p:nvPr/>
            </p:nvSpPr>
            <p:spPr>
              <a:xfrm>
                <a:off x="221590" y="1629835"/>
                <a:ext cx="1024321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: penalty on the complexity of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, so generalized to new data samples.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6568A55-D64F-C977-C687-C0AF12A053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590" y="1629835"/>
                <a:ext cx="10243210" cy="461665"/>
              </a:xfrm>
              <a:prstGeom prst="rect">
                <a:avLst/>
              </a:prstGeom>
              <a:blipFill>
                <a:blip r:embed="rId2"/>
                <a:stretch>
                  <a:fillRect l="-119" t="-9211" b="-3026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8C0E5096-DFF7-36C1-FAC5-EE426F93D261}"/>
              </a:ext>
            </a:extLst>
          </p:cNvPr>
          <p:cNvSpPr txBox="1"/>
          <p:nvPr/>
        </p:nvSpPr>
        <p:spPr>
          <a:xfrm>
            <a:off x="244574" y="2298935"/>
            <a:ext cx="616892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L2 regularization, a.k.a. Ridge regression: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819AF73-0443-2F65-DD81-326B580D41F6}"/>
                  </a:ext>
                </a:extLst>
              </p:cNvPr>
              <p:cNvSpPr txBox="1"/>
              <p:nvPr/>
            </p:nvSpPr>
            <p:spPr>
              <a:xfrm>
                <a:off x="817822" y="2835150"/>
                <a:ext cx="1839350" cy="79585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d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819AF73-0443-2F65-DD81-326B580D41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7822" y="2835150"/>
                <a:ext cx="1839350" cy="79585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Group 5">
            <a:extLst>
              <a:ext uri="{FF2B5EF4-FFF2-40B4-BE49-F238E27FC236}">
                <a16:creationId xmlns:a16="http://schemas.microsoft.com/office/drawing/2014/main" id="{8406CC6E-92CC-7145-81F2-867EE9C3B1BF}"/>
              </a:ext>
            </a:extLst>
          </p:cNvPr>
          <p:cNvGrpSpPr/>
          <p:nvPr/>
        </p:nvGrpSpPr>
        <p:grpSpPr>
          <a:xfrm>
            <a:off x="1125799" y="3844462"/>
            <a:ext cx="2334862" cy="2321313"/>
            <a:chOff x="4029044" y="1105948"/>
            <a:chExt cx="3214814" cy="3107185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D05643E0-2A72-EF88-5CDC-CCBAC929E37C}"/>
                </a:ext>
              </a:extLst>
            </p:cNvPr>
            <p:cNvSpPr/>
            <p:nvPr/>
          </p:nvSpPr>
          <p:spPr>
            <a:xfrm>
              <a:off x="4301269" y="2309852"/>
              <a:ext cx="1480405" cy="1468398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60BF1E5B-3493-2B44-10C4-2DB1BBB204E2}"/>
                </a:ext>
              </a:extLst>
            </p:cNvPr>
            <p:cNvGrpSpPr/>
            <p:nvPr/>
          </p:nvGrpSpPr>
          <p:grpSpPr>
            <a:xfrm>
              <a:off x="4029044" y="1105948"/>
              <a:ext cx="3214814" cy="3107185"/>
              <a:chOff x="4029044" y="1105948"/>
              <a:chExt cx="3214814" cy="3107185"/>
            </a:xfrm>
          </p:grpSpPr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EB0D6082-805C-015F-4AC5-29FA64598951}"/>
                  </a:ext>
                </a:extLst>
              </p:cNvPr>
              <p:cNvGrpSpPr/>
              <p:nvPr/>
            </p:nvGrpSpPr>
            <p:grpSpPr>
              <a:xfrm>
                <a:off x="4029044" y="1105948"/>
                <a:ext cx="3197491" cy="3107185"/>
                <a:chOff x="4136994" y="1074198"/>
                <a:chExt cx="3197491" cy="3107185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2" name="TextBox 11">
                      <a:extLst>
                        <a:ext uri="{FF2B5EF4-FFF2-40B4-BE49-F238E27FC236}">
                          <a16:creationId xmlns:a16="http://schemas.microsoft.com/office/drawing/2014/main" id="{FC6005EA-E104-8FDD-989F-DBB02992A69A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245503" y="1219626"/>
                      <a:ext cx="154529" cy="227113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acc>
                              <m:accPr>
                                <m:chr m:val="̂"/>
                                <m:ctrlPr>
                                  <a:rPr lang="en-US" sz="140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14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</m:acc>
                          </m:oMath>
                        </m:oMathPara>
                      </a14:m>
                      <a:endParaRPr lang="en-US" sz="1400" i="1" dirty="0"/>
                    </a:p>
                  </p:txBody>
                </p:sp>
              </mc:Choice>
              <mc:Fallback xmlns="">
                <p:sp>
                  <p:nvSpPr>
                    <p:cNvPr id="18" name="TextBox 17">
                      <a:extLst>
                        <a:ext uri="{FF2B5EF4-FFF2-40B4-BE49-F238E27FC236}">
                          <a16:creationId xmlns:a16="http://schemas.microsoft.com/office/drawing/2014/main" id="{0229942E-6358-B854-E212-7D67220220A9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245503" y="1219626"/>
                      <a:ext cx="154529" cy="227113"/>
                    </a:xfrm>
                    <a:prstGeom prst="rect">
                      <a:avLst/>
                    </a:prstGeom>
                    <a:blipFill>
                      <a:blip r:embed="rId10"/>
                      <a:stretch>
                        <a:fillRect l="-68421" t="-25000" r="-84211" b="-71429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13" name="Oval 12">
                  <a:extLst>
                    <a:ext uri="{FF2B5EF4-FFF2-40B4-BE49-F238E27FC236}">
                      <a16:creationId xmlns:a16="http://schemas.microsoft.com/office/drawing/2014/main" id="{23C7A0D9-19BD-F626-31E3-2D0BA4E57D31}"/>
                    </a:ext>
                  </a:extLst>
                </p:cNvPr>
                <p:cNvSpPr/>
                <p:nvPr/>
              </p:nvSpPr>
              <p:spPr>
                <a:xfrm>
                  <a:off x="6157034" y="1414451"/>
                  <a:ext cx="63662" cy="64576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14" name="Straight Arrow Connector 13">
                  <a:extLst>
                    <a:ext uri="{FF2B5EF4-FFF2-40B4-BE49-F238E27FC236}">
                      <a16:creationId xmlns:a16="http://schemas.microsoft.com/office/drawing/2014/main" id="{FBE9F7F5-8AEF-5209-DFB1-10F24A4ACD8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149049" y="1074198"/>
                  <a:ext cx="0" cy="3107185"/>
                </a:xfrm>
                <a:prstGeom prst="straightConnector1">
                  <a:avLst/>
                </a:prstGeom>
                <a:ln w="19050"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5" name="Straight Arrow Connector 14">
                  <a:extLst>
                    <a:ext uri="{FF2B5EF4-FFF2-40B4-BE49-F238E27FC236}">
                      <a16:creationId xmlns:a16="http://schemas.microsoft.com/office/drawing/2014/main" id="{778382C2-EB16-5EF8-FC7E-6978DC50A81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136994" y="3017784"/>
                  <a:ext cx="3187083" cy="0"/>
                </a:xfrm>
                <a:prstGeom prst="straightConnector1">
                  <a:avLst/>
                </a:prstGeom>
                <a:ln w="19050"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6" name="Oval 15">
                  <a:extLst>
                    <a:ext uri="{FF2B5EF4-FFF2-40B4-BE49-F238E27FC236}">
                      <a16:creationId xmlns:a16="http://schemas.microsoft.com/office/drawing/2014/main" id="{F20F4EBD-C32B-73A0-D58A-08A2C8079990}"/>
                    </a:ext>
                  </a:extLst>
                </p:cNvPr>
                <p:cNvSpPr/>
                <p:nvPr/>
              </p:nvSpPr>
              <p:spPr>
                <a:xfrm rot="8352991">
                  <a:off x="4927331" y="1106768"/>
                  <a:ext cx="2385061" cy="779101"/>
                </a:xfrm>
                <a:prstGeom prst="ellipse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" name="Oval 16">
                  <a:extLst>
                    <a:ext uri="{FF2B5EF4-FFF2-40B4-BE49-F238E27FC236}">
                      <a16:creationId xmlns:a16="http://schemas.microsoft.com/office/drawing/2014/main" id="{FD016487-F81E-5BE0-C5E1-1D96D3C19BCE}"/>
                    </a:ext>
                  </a:extLst>
                </p:cNvPr>
                <p:cNvSpPr/>
                <p:nvPr/>
              </p:nvSpPr>
              <p:spPr>
                <a:xfrm rot="8352991">
                  <a:off x="5202671" y="1173190"/>
                  <a:ext cx="1854108" cy="574839"/>
                </a:xfrm>
                <a:prstGeom prst="ellipse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" name="Oval 17">
                  <a:extLst>
                    <a:ext uri="{FF2B5EF4-FFF2-40B4-BE49-F238E27FC236}">
                      <a16:creationId xmlns:a16="http://schemas.microsoft.com/office/drawing/2014/main" id="{EDF05D15-B15B-1E16-BF06-1DE143A9BC2B}"/>
                    </a:ext>
                  </a:extLst>
                </p:cNvPr>
                <p:cNvSpPr/>
                <p:nvPr/>
              </p:nvSpPr>
              <p:spPr>
                <a:xfrm rot="8352991">
                  <a:off x="5496605" y="1291574"/>
                  <a:ext cx="1246510" cy="376666"/>
                </a:xfrm>
                <a:prstGeom prst="ellipse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19" name="Straight Arrow Connector 18">
                  <a:extLst>
                    <a:ext uri="{FF2B5EF4-FFF2-40B4-BE49-F238E27FC236}">
                      <a16:creationId xmlns:a16="http://schemas.microsoft.com/office/drawing/2014/main" id="{8882CD7D-8193-F0CE-D5D1-5A4C162FD09A}"/>
                    </a:ext>
                  </a:extLst>
                </p:cNvPr>
                <p:cNvCxnSpPr>
                  <a:cxnSpLocks/>
                  <a:stCxn id="13" idx="3"/>
                </p:cNvCxnSpPr>
                <p:nvPr/>
              </p:nvCxnSpPr>
              <p:spPr>
                <a:xfrm flipH="1">
                  <a:off x="5339553" y="1469570"/>
                  <a:ext cx="826804" cy="820449"/>
                </a:xfrm>
                <a:prstGeom prst="straightConnector1">
                  <a:avLst/>
                </a:prstGeom>
                <a:ln w="12700">
                  <a:solidFill>
                    <a:srgbClr val="00B05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0" name="TextBox 19">
                      <a:extLst>
                        <a:ext uri="{FF2B5EF4-FFF2-40B4-BE49-F238E27FC236}">
                          <a16:creationId xmlns:a16="http://schemas.microsoft.com/office/drawing/2014/main" id="{B3ED5871-6A40-B129-A9DE-129213F56ABC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924494" y="2093289"/>
                      <a:ext cx="1409991" cy="295115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Sup>
                              <m:sSubSupPr>
                                <m:ctrlPr>
                                  <a:rPr lang="en-US" sz="160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16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  <m:sub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Sup>
                              <m:sSubSupPr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1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  <m:sub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≤</m:t>
                            </m:r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</m:t>
                            </m:r>
                          </m:oMath>
                        </m:oMathPara>
                      </a14:m>
                      <a:endParaRPr lang="en-US" sz="1600" i="1" dirty="0"/>
                    </a:p>
                  </p:txBody>
                </p:sp>
              </mc:Choice>
              <mc:Fallback xmlns="">
                <p:sp>
                  <p:nvSpPr>
                    <p:cNvPr id="29" name="TextBox 28">
                      <a:extLst>
                        <a:ext uri="{FF2B5EF4-FFF2-40B4-BE49-F238E27FC236}">
                          <a16:creationId xmlns:a16="http://schemas.microsoft.com/office/drawing/2014/main" id="{F584AF13-A3FF-4FD1-4020-103B39CA83B2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924494" y="2093289"/>
                      <a:ext cx="1409991" cy="295115"/>
                    </a:xfrm>
                    <a:prstGeom prst="rect">
                      <a:avLst/>
                    </a:prstGeom>
                    <a:blipFill>
                      <a:blip r:embed="rId11"/>
                      <a:stretch>
                        <a:fillRect l="-9524" r="-7143" b="-52778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21" name="Oval 20">
                  <a:extLst>
                    <a:ext uri="{FF2B5EF4-FFF2-40B4-BE49-F238E27FC236}">
                      <a16:creationId xmlns:a16="http://schemas.microsoft.com/office/drawing/2014/main" id="{6F1A638F-3E9A-EB81-168F-C6AA09873401}"/>
                    </a:ext>
                  </a:extLst>
                </p:cNvPr>
                <p:cNvSpPr/>
                <p:nvPr/>
              </p:nvSpPr>
              <p:spPr>
                <a:xfrm>
                  <a:off x="5303827" y="2259825"/>
                  <a:ext cx="63662" cy="64576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" name="TextBox 9">
                    <a:extLst>
                      <a:ext uri="{FF2B5EF4-FFF2-40B4-BE49-F238E27FC236}">
                        <a16:creationId xmlns:a16="http://schemas.microsoft.com/office/drawing/2014/main" id="{EE6FE844-EB73-3F26-703D-402EF783A132}"/>
                      </a:ext>
                    </a:extLst>
                  </p:cNvPr>
                  <p:cNvSpPr txBox="1"/>
                  <p:nvPr/>
                </p:nvSpPr>
                <p:spPr>
                  <a:xfrm>
                    <a:off x="7027581" y="3084277"/>
                    <a:ext cx="216277" cy="215444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US" sz="1400" i="1" dirty="0"/>
                  </a:p>
                </p:txBody>
              </p:sp>
            </mc:Choice>
            <mc:Fallback xmlns="">
              <p:sp>
                <p:nvSpPr>
                  <p:cNvPr id="16" name="TextBox 15">
                    <a:extLst>
                      <a:ext uri="{FF2B5EF4-FFF2-40B4-BE49-F238E27FC236}">
                        <a16:creationId xmlns:a16="http://schemas.microsoft.com/office/drawing/2014/main" id="{30EB8025-0E24-856E-59DF-D5800E9E0C1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027581" y="3084277"/>
                    <a:ext cx="216277" cy="215444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 l="-50000" r="-30769" b="-7692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" name="TextBox 10">
                    <a:extLst>
                      <a:ext uri="{FF2B5EF4-FFF2-40B4-BE49-F238E27FC236}">
                        <a16:creationId xmlns:a16="http://schemas.microsoft.com/office/drawing/2014/main" id="{D0E40F2A-7143-D21A-8F2B-3E31F260C24C}"/>
                      </a:ext>
                    </a:extLst>
                  </p:cNvPr>
                  <p:cNvSpPr txBox="1"/>
                  <p:nvPr/>
                </p:nvSpPr>
                <p:spPr>
                  <a:xfrm>
                    <a:off x="4734627" y="1120158"/>
                    <a:ext cx="220445" cy="215444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US" sz="1400" i="1" dirty="0"/>
                  </a:p>
                </p:txBody>
              </p:sp>
            </mc:Choice>
            <mc:Fallback xmlns="">
              <p:sp>
                <p:nvSpPr>
                  <p:cNvPr id="17" name="TextBox 16">
                    <a:extLst>
                      <a:ext uri="{FF2B5EF4-FFF2-40B4-BE49-F238E27FC236}">
                        <a16:creationId xmlns:a16="http://schemas.microsoft.com/office/drawing/2014/main" id="{1DD129E3-7BCA-7648-4610-A4BA382497F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734627" y="1120158"/>
                    <a:ext cx="220445" cy="215444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 l="-50000" r="-34615" b="-7692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9FD85BC1-0F08-901D-9A6B-616659E4300E}"/>
                  </a:ext>
                </a:extLst>
              </p:cNvPr>
              <p:cNvSpPr txBox="1"/>
              <p:nvPr/>
            </p:nvSpPr>
            <p:spPr>
              <a:xfrm>
                <a:off x="4703225" y="4224986"/>
                <a:ext cx="6280870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L2 draws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𝛽</m:t>
                    </m:r>
                  </m:oMath>
                </a14:m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back toward </a:t>
                </a:r>
                <a:r>
                  <a:rPr lang="en-US" sz="24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origin evenly </a:t>
                </a: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(the least overfit) </a:t>
                </a:r>
              </a:p>
            </p:txBody>
          </p:sp>
        </mc:Choice>
        <mc:Fallback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9FD85BC1-0F08-901D-9A6B-616659E430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03225" y="4224986"/>
                <a:ext cx="6280870" cy="830997"/>
              </a:xfrm>
              <a:prstGeom prst="rect">
                <a:avLst/>
              </a:prstGeom>
              <a:blipFill>
                <a:blip r:embed="rId14"/>
                <a:stretch>
                  <a:fillRect l="-1553" t="-5147" b="-1691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2E8CD77D-DE59-92A0-5711-98354900EECE}"/>
                  </a:ext>
                </a:extLst>
              </p:cNvPr>
              <p:cNvSpPr txBox="1"/>
              <p:nvPr/>
            </p:nvSpPr>
            <p:spPr>
              <a:xfrm>
                <a:off x="3048000" y="2973577"/>
                <a:ext cx="60960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a:rPr lang="en-US" sz="1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𝛽</m:t>
                    </m:r>
                  </m:oMath>
                </a14:m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</a:rPr>
                  <a:t>: model parameter coefficients</a:t>
                </a:r>
                <a:endParaRPr lang="en-US" sz="1800" i="1" dirty="0">
                  <a:latin typeface="Arial" panose="020B0604020202020204" pitchFamily="34" charset="0"/>
                  <a:ea typeface="Cambria Math" panose="02040503050406030204" pitchFamily="18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2E8CD77D-DE59-92A0-5711-98354900EE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0" y="2973577"/>
                <a:ext cx="6096000" cy="369332"/>
              </a:xfrm>
              <a:prstGeom prst="rect">
                <a:avLst/>
              </a:prstGeom>
              <a:blipFill>
                <a:blip r:embed="rId15"/>
                <a:stretch>
                  <a:fillRect l="-300" t="-10000" b="-26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432878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22" grpId="0"/>
      <p:bldP spid="2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392548-8FB5-90D8-C638-777279D944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Training-validation-test splitting</a:t>
            </a:r>
            <a:br>
              <a:rPr lang="en-GB" dirty="0"/>
            </a:br>
            <a:endParaRPr lang="en-GB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0079A9B-17AA-7CDD-EA3E-60B216B2E5ED}"/>
              </a:ext>
            </a:extLst>
          </p:cNvPr>
          <p:cNvSpPr txBox="1"/>
          <p:nvPr/>
        </p:nvSpPr>
        <p:spPr>
          <a:xfrm>
            <a:off x="416976" y="1433370"/>
            <a:ext cx="47916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Evaluate the model while training: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E799BE41-2BB6-FAF7-6910-C8CE8395F299}"/>
              </a:ext>
            </a:extLst>
          </p:cNvPr>
          <p:cNvGrpSpPr/>
          <p:nvPr/>
        </p:nvGrpSpPr>
        <p:grpSpPr>
          <a:xfrm>
            <a:off x="1599366" y="1904490"/>
            <a:ext cx="8530249" cy="4146892"/>
            <a:chOff x="503128" y="1625575"/>
            <a:chExt cx="8530249" cy="4146892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63381BCE-0A70-E1F9-248E-8DBC9626653A}"/>
                </a:ext>
              </a:extLst>
            </p:cNvPr>
            <p:cNvGrpSpPr/>
            <p:nvPr/>
          </p:nvGrpSpPr>
          <p:grpSpPr>
            <a:xfrm>
              <a:off x="503128" y="1625575"/>
              <a:ext cx="6786113" cy="4146892"/>
              <a:chOff x="503128" y="1625575"/>
              <a:chExt cx="6786113" cy="4146892"/>
            </a:xfrm>
          </p:grpSpPr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E3E8C830-6BAE-79CC-A5EC-69F39F23B3C7}"/>
                  </a:ext>
                </a:extLst>
              </p:cNvPr>
              <p:cNvGrpSpPr/>
              <p:nvPr/>
            </p:nvGrpSpPr>
            <p:grpSpPr>
              <a:xfrm>
                <a:off x="503128" y="1625575"/>
                <a:ext cx="5396983" cy="4146892"/>
                <a:chOff x="503128" y="2229964"/>
                <a:chExt cx="5396983" cy="4146892"/>
              </a:xfrm>
            </p:grpSpPr>
            <p:grpSp>
              <p:nvGrpSpPr>
                <p:cNvPr id="16" name="Group 15">
                  <a:extLst>
                    <a:ext uri="{FF2B5EF4-FFF2-40B4-BE49-F238E27FC236}">
                      <a16:creationId xmlns:a16="http://schemas.microsoft.com/office/drawing/2014/main" id="{7301CB11-50C8-A2BF-0C0D-91D9171F8C24}"/>
                    </a:ext>
                  </a:extLst>
                </p:cNvPr>
                <p:cNvGrpSpPr/>
                <p:nvPr/>
              </p:nvGrpSpPr>
              <p:grpSpPr>
                <a:xfrm>
                  <a:off x="503128" y="2229964"/>
                  <a:ext cx="5396983" cy="4146892"/>
                  <a:chOff x="667823" y="1228090"/>
                  <a:chExt cx="5396983" cy="4146892"/>
                </a:xfrm>
              </p:grpSpPr>
              <p:grpSp>
                <p:nvGrpSpPr>
                  <p:cNvPr id="23" name="Group 22">
                    <a:extLst>
                      <a:ext uri="{FF2B5EF4-FFF2-40B4-BE49-F238E27FC236}">
                        <a16:creationId xmlns:a16="http://schemas.microsoft.com/office/drawing/2014/main" id="{E9C97ADD-7CA4-26D4-855C-BA4D68F1C0BE}"/>
                      </a:ext>
                    </a:extLst>
                  </p:cNvPr>
                  <p:cNvGrpSpPr/>
                  <p:nvPr/>
                </p:nvGrpSpPr>
                <p:grpSpPr>
                  <a:xfrm>
                    <a:off x="667823" y="1228090"/>
                    <a:ext cx="3748717" cy="3776127"/>
                    <a:chOff x="667823" y="1228090"/>
                    <a:chExt cx="3748717" cy="3776127"/>
                  </a:xfrm>
                </p:grpSpPr>
                <p:grpSp>
                  <p:nvGrpSpPr>
                    <p:cNvPr id="25" name="Group 24">
                      <a:extLst>
                        <a:ext uri="{FF2B5EF4-FFF2-40B4-BE49-F238E27FC236}">
                          <a16:creationId xmlns:a16="http://schemas.microsoft.com/office/drawing/2014/main" id="{ADC0E801-14C4-0A92-6DEA-83FABDE93E6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667823" y="1315092"/>
                      <a:ext cx="1540169" cy="3603150"/>
                      <a:chOff x="811659" y="1315092"/>
                      <a:chExt cx="1540169" cy="3603150"/>
                    </a:xfrm>
                  </p:grpSpPr>
                  <p:sp>
                    <p:nvSpPr>
                      <p:cNvPr id="33" name="Rectangle 32">
                        <a:extLst>
                          <a:ext uri="{FF2B5EF4-FFF2-40B4-BE49-F238E27FC236}">
                            <a16:creationId xmlns:a16="http://schemas.microsoft.com/office/drawing/2014/main" id="{2FBE89B8-5C06-32B6-0DD3-A17A7C51C3C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11659" y="1315092"/>
                        <a:ext cx="1463154" cy="3226085"/>
                      </a:xfrm>
                      <a:prstGeom prst="rect">
                        <a:avLst/>
                      </a:prstGeom>
                      <a:solidFill>
                        <a:srgbClr val="92D050"/>
                      </a:solidFill>
                      <a:ln>
                        <a:solidFill>
                          <a:schemeClr val="bg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>
                          <a:latin typeface="Arial" panose="020B0604020202020204" pitchFamily="34" charset="0"/>
                          <a:cs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34" name="TextBox 33">
                        <a:extLst>
                          <a:ext uri="{FF2B5EF4-FFF2-40B4-BE49-F238E27FC236}">
                            <a16:creationId xmlns:a16="http://schemas.microsoft.com/office/drawing/2014/main" id="{64FA8111-27CD-5DB2-C58B-A1BAF9314C55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841478" y="4518132"/>
                        <a:ext cx="1510350" cy="400110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r>
                          <a:rPr lang="en-US" sz="2000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Full dataset</a:t>
                        </a:r>
                      </a:p>
                    </p:txBody>
                  </p:sp>
                </p:grpSp>
                <p:grpSp>
                  <p:nvGrpSpPr>
                    <p:cNvPr id="26" name="Group 25">
                      <a:extLst>
                        <a:ext uri="{FF2B5EF4-FFF2-40B4-BE49-F238E27FC236}">
                          <a16:creationId xmlns:a16="http://schemas.microsoft.com/office/drawing/2014/main" id="{F2669969-3EF1-909B-5DCE-73B58DEA042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347960" y="1228090"/>
                      <a:ext cx="2068580" cy="3776127"/>
                      <a:chOff x="2347960" y="1228090"/>
                      <a:chExt cx="2068580" cy="3776127"/>
                    </a:xfrm>
                  </p:grpSpPr>
                  <p:grpSp>
                    <p:nvGrpSpPr>
                      <p:cNvPr id="27" name="Group 26">
                        <a:extLst>
                          <a:ext uri="{FF2B5EF4-FFF2-40B4-BE49-F238E27FC236}">
                            <a16:creationId xmlns:a16="http://schemas.microsoft.com/office/drawing/2014/main" id="{96B85BF2-56E1-9E5D-0302-62E957EDCFAE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2347960" y="1228090"/>
                        <a:ext cx="2068580" cy="3776127"/>
                        <a:chOff x="2543166" y="1228090"/>
                        <a:chExt cx="2068580" cy="3776127"/>
                      </a:xfrm>
                    </p:grpSpPr>
                    <p:sp>
                      <p:nvSpPr>
                        <p:cNvPr id="30" name="Rectangle 29">
                          <a:extLst>
                            <a:ext uri="{FF2B5EF4-FFF2-40B4-BE49-F238E27FC236}">
                              <a16:creationId xmlns:a16="http://schemas.microsoft.com/office/drawing/2014/main" id="{374334ED-7D98-2EAC-2DAA-DF59A199CBFB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2718526" y="1228090"/>
                          <a:ext cx="1528401" cy="3447527"/>
                        </a:xfrm>
                        <a:prstGeom prst="rect">
                          <a:avLst/>
                        </a:prstGeom>
                        <a:solidFill>
                          <a:srgbClr val="92D050"/>
                        </a:solidFill>
                        <a:ln>
                          <a:solidFill>
                            <a:schemeClr val="bg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p:txBody>
                    </p:sp>
                    <p:sp>
                      <p:nvSpPr>
                        <p:cNvPr id="31" name="TextBox 30">
                          <a:extLst>
                            <a:ext uri="{FF2B5EF4-FFF2-40B4-BE49-F238E27FC236}">
                              <a16:creationId xmlns:a16="http://schemas.microsoft.com/office/drawing/2014/main" id="{28041F1E-AC4E-3247-4C67-FE16CEFC4F77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2543166" y="4665663"/>
                          <a:ext cx="2068580" cy="338554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none" rtlCol="0">
                          <a:spAutoFit/>
                        </a:bodyPr>
                        <a:lstStyle/>
                        <a:p>
                          <a:r>
                            <a:rPr lang="en-US" sz="16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Training-test splitting</a:t>
                          </a:r>
                        </a:p>
                      </p:txBody>
                    </p:sp>
                    <p:sp>
                      <p:nvSpPr>
                        <p:cNvPr id="32" name="Rectangle 31">
                          <a:extLst>
                            <a:ext uri="{FF2B5EF4-FFF2-40B4-BE49-F238E27FC236}">
                              <a16:creationId xmlns:a16="http://schemas.microsoft.com/office/drawing/2014/main" id="{B43268F9-1842-AAE7-A146-36D3AEFEE09D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2718526" y="3765803"/>
                          <a:ext cx="1528401" cy="196241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>
                          <a:solidFill>
                            <a:schemeClr val="bg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p:txBody>
                    </p:sp>
                  </p:grpSp>
                  <p:sp>
                    <p:nvSpPr>
                      <p:cNvPr id="28" name="TextBox 27">
                        <a:extLst>
                          <a:ext uri="{FF2B5EF4-FFF2-40B4-BE49-F238E27FC236}">
                            <a16:creationId xmlns:a16="http://schemas.microsoft.com/office/drawing/2014/main" id="{FC565AA8-DDD2-B92F-9B85-56EBC75BAD3C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2749513" y="2327670"/>
                        <a:ext cx="1247842" cy="338554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r>
                          <a:rPr lang="en-US" sz="1600" dirty="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Training set</a:t>
                        </a:r>
                      </a:p>
                    </p:txBody>
                  </p:sp>
                  <p:sp>
                    <p:nvSpPr>
                      <p:cNvPr id="29" name="TextBox 28">
                        <a:extLst>
                          <a:ext uri="{FF2B5EF4-FFF2-40B4-BE49-F238E27FC236}">
                            <a16:creationId xmlns:a16="http://schemas.microsoft.com/office/drawing/2014/main" id="{6876C898-58BA-84C0-56BC-AFA4B666E8EC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2884941" y="4082615"/>
                        <a:ext cx="892873" cy="338554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r>
                          <a:rPr lang="en-US" sz="1600" dirty="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Test set</a:t>
                        </a:r>
                      </a:p>
                    </p:txBody>
                  </p:sp>
                </p:grpSp>
              </p:grpSp>
              <p:sp>
                <p:nvSpPr>
                  <p:cNvPr id="24" name="TextBox 23">
                    <a:extLst>
                      <a:ext uri="{FF2B5EF4-FFF2-40B4-BE49-F238E27FC236}">
                        <a16:creationId xmlns:a16="http://schemas.microsoft.com/office/drawing/2014/main" id="{698F805E-4F9A-8DB2-1C6E-03062AA22DF4}"/>
                      </a:ext>
                    </a:extLst>
                  </p:cNvPr>
                  <p:cNvSpPr txBox="1"/>
                  <p:nvPr/>
                </p:nvSpPr>
                <p:spPr>
                  <a:xfrm>
                    <a:off x="2523320" y="5005650"/>
                    <a:ext cx="3541486" cy="369332"/>
                  </a:xfrm>
                  <a:prstGeom prst="rect">
                    <a:avLst/>
                  </a:prstGeom>
                  <a:noFill/>
                  <a:ln>
                    <a:solidFill>
                      <a:srgbClr val="003561"/>
                    </a:solidFill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Randomly sampled </a:t>
                    </a:r>
                  </a:p>
                </p:txBody>
              </p:sp>
            </p:grpSp>
            <p:sp>
              <p:nvSpPr>
                <p:cNvPr id="17" name="Rectangle 16">
                  <a:extLst>
                    <a:ext uri="{FF2B5EF4-FFF2-40B4-BE49-F238E27FC236}">
                      <a16:creationId xmlns:a16="http://schemas.microsoft.com/office/drawing/2014/main" id="{655635D6-5085-93A8-98A8-E2967A4E309A}"/>
                    </a:ext>
                  </a:extLst>
                </p:cNvPr>
                <p:cNvSpPr/>
                <p:nvPr/>
              </p:nvSpPr>
              <p:spPr>
                <a:xfrm>
                  <a:off x="4371710" y="2229964"/>
                  <a:ext cx="1528401" cy="3447527"/>
                </a:xfrm>
                <a:prstGeom prst="rect">
                  <a:avLst/>
                </a:prstGeom>
                <a:solidFill>
                  <a:srgbClr val="92D050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8" name="Rectangle 17">
                  <a:extLst>
                    <a:ext uri="{FF2B5EF4-FFF2-40B4-BE49-F238E27FC236}">
                      <a16:creationId xmlns:a16="http://schemas.microsoft.com/office/drawing/2014/main" id="{B24715E2-8AD5-B944-2BAD-4A52A19E0B0C}"/>
                    </a:ext>
                  </a:extLst>
                </p:cNvPr>
                <p:cNvSpPr/>
                <p:nvPr/>
              </p:nvSpPr>
              <p:spPr>
                <a:xfrm>
                  <a:off x="4371710" y="4959309"/>
                  <a:ext cx="1528401" cy="196241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9" name="Rectangle 18">
                  <a:extLst>
                    <a:ext uri="{FF2B5EF4-FFF2-40B4-BE49-F238E27FC236}">
                      <a16:creationId xmlns:a16="http://schemas.microsoft.com/office/drawing/2014/main" id="{F20EB14D-5B25-A632-3134-85F485319414}"/>
                    </a:ext>
                  </a:extLst>
                </p:cNvPr>
                <p:cNvSpPr/>
                <p:nvPr/>
              </p:nvSpPr>
              <p:spPr>
                <a:xfrm>
                  <a:off x="4358476" y="4202628"/>
                  <a:ext cx="1528401" cy="196241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96E188AD-E335-E3A9-5A76-D62B525F1B60}"/>
                    </a:ext>
                  </a:extLst>
                </p:cNvPr>
                <p:cNvSpPr txBox="1"/>
                <p:nvPr/>
              </p:nvSpPr>
              <p:spPr>
                <a:xfrm>
                  <a:off x="4720097" y="5246027"/>
                  <a:ext cx="892873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dirty="0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Test set</a:t>
                  </a:r>
                </a:p>
              </p:txBody>
            </p:sp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1F36B81A-F204-9468-18F1-5B71CEB8853A}"/>
                    </a:ext>
                  </a:extLst>
                </p:cNvPr>
                <p:cNvSpPr txBox="1"/>
                <p:nvPr/>
              </p:nvSpPr>
              <p:spPr>
                <a:xfrm>
                  <a:off x="4467047" y="4501796"/>
                  <a:ext cx="1398909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dirty="0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Validation set</a:t>
                  </a:r>
                </a:p>
              </p:txBody>
            </p:sp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67CFF44E-E0D6-4377-1A51-94342CB78515}"/>
                    </a:ext>
                  </a:extLst>
                </p:cNvPr>
                <p:cNvSpPr txBox="1"/>
                <p:nvPr/>
              </p:nvSpPr>
              <p:spPr>
                <a:xfrm>
                  <a:off x="4544806" y="3326470"/>
                  <a:ext cx="1247842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dirty="0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Training set</a:t>
                  </a:r>
                </a:p>
              </p:txBody>
            </p:sp>
          </p:grp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C35000D-DCC9-659C-9A53-289BEC78303D}"/>
                  </a:ext>
                </a:extLst>
              </p:cNvPr>
              <p:cNvSpPr txBox="1"/>
              <p:nvPr/>
            </p:nvSpPr>
            <p:spPr>
              <a:xfrm>
                <a:off x="4644222" y="5043292"/>
                <a:ext cx="2645019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latin typeface="Arial" panose="020B0604020202020204" pitchFamily="34" charset="0"/>
                    <a:cs typeface="Arial" panose="020B0604020202020204" pitchFamily="34" charset="0"/>
                  </a:rPr>
                  <a:t>Training-validation-test splitting</a:t>
                </a:r>
              </a:p>
            </p:txBody>
          </p:sp>
        </p:grp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8BA1AAA7-DCE1-21EA-EB1E-6C3866E3D756}"/>
                </a:ext>
              </a:extLst>
            </p:cNvPr>
            <p:cNvSpPr txBox="1"/>
            <p:nvPr/>
          </p:nvSpPr>
          <p:spPr>
            <a:xfrm>
              <a:off x="5967751" y="2097065"/>
              <a:ext cx="1838965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Used for training </a:t>
              </a:r>
            </a:p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model parameters</a:t>
              </a:r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6661AE95-6C73-A05C-2873-EBC03A48BD82}"/>
                </a:ext>
              </a:extLst>
            </p:cNvPr>
            <p:cNvGrpSpPr/>
            <p:nvPr/>
          </p:nvGrpSpPr>
          <p:grpSpPr>
            <a:xfrm>
              <a:off x="6006246" y="1625575"/>
              <a:ext cx="3027131" cy="3447527"/>
              <a:chOff x="6006246" y="1215370"/>
              <a:chExt cx="3027131" cy="3447527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61266497-737E-39BA-A057-AA2987B94EF1}"/>
                  </a:ext>
                </a:extLst>
              </p:cNvPr>
              <p:cNvSpPr/>
              <p:nvPr/>
            </p:nvSpPr>
            <p:spPr>
              <a:xfrm>
                <a:off x="7677188" y="1215370"/>
                <a:ext cx="1356189" cy="344752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ML model </a:t>
                </a:r>
              </a:p>
            </p:txBody>
          </p:sp>
          <p:cxnSp>
            <p:nvCxnSpPr>
              <p:cNvPr id="13" name="Straight Arrow Connector 12">
                <a:extLst>
                  <a:ext uri="{FF2B5EF4-FFF2-40B4-BE49-F238E27FC236}">
                    <a16:creationId xmlns:a16="http://schemas.microsoft.com/office/drawing/2014/main" id="{C9085590-B23E-6245-5268-CF87D314F66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006246" y="4433134"/>
                <a:ext cx="1579758" cy="0"/>
              </a:xfrm>
              <a:prstGeom prst="straightConnector1">
                <a:avLst/>
              </a:prstGeom>
              <a:ln w="38100">
                <a:solidFill>
                  <a:srgbClr val="003561"/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C172D5E-8920-EBBD-2E9C-2671F230B422}"/>
                </a:ext>
              </a:extLst>
            </p:cNvPr>
            <p:cNvSpPr txBox="1"/>
            <p:nvPr/>
          </p:nvSpPr>
          <p:spPr>
            <a:xfrm>
              <a:off x="5920379" y="4519598"/>
              <a:ext cx="181652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Used for final testing</a:t>
              </a:r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5DAE839F-62EC-D4AE-CA10-E6338EA144A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91295" y="4196919"/>
              <a:ext cx="1564085" cy="5799"/>
            </a:xfrm>
            <a:prstGeom prst="straightConnector1">
              <a:avLst/>
            </a:prstGeom>
            <a:ln w="38100">
              <a:solidFill>
                <a:srgbClr val="00356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95C3D48C-1D14-1FF0-6407-68D62AC243C7}"/>
                </a:ext>
              </a:extLst>
            </p:cNvPr>
            <p:cNvCxnSpPr>
              <a:cxnSpLocks/>
            </p:cNvCxnSpPr>
            <p:nvPr/>
          </p:nvCxnSpPr>
          <p:spPr>
            <a:xfrm>
              <a:off x="5991295" y="2686292"/>
              <a:ext cx="1564085" cy="79"/>
            </a:xfrm>
            <a:prstGeom prst="straightConnector1">
              <a:avLst/>
            </a:prstGeom>
            <a:ln w="38100">
              <a:solidFill>
                <a:srgbClr val="00356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C8718172-5E15-9A4E-3C0E-57182A87F77F}"/>
                </a:ext>
              </a:extLst>
            </p:cNvPr>
            <p:cNvSpPr txBox="1"/>
            <p:nvPr/>
          </p:nvSpPr>
          <p:spPr>
            <a:xfrm>
              <a:off x="5935281" y="3627228"/>
              <a:ext cx="177644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Used for evaluating </a:t>
              </a:r>
            </a:p>
            <a:p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model while training</a:t>
              </a: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66452D3A-5861-929C-DDA7-40EBF5ADAE1C}"/>
              </a:ext>
            </a:extLst>
          </p:cNvPr>
          <p:cNvGrpSpPr/>
          <p:nvPr/>
        </p:nvGrpSpPr>
        <p:grpSpPr>
          <a:xfrm>
            <a:off x="5441480" y="3642472"/>
            <a:ext cx="7291971" cy="3215528"/>
            <a:chOff x="3689824" y="3008445"/>
            <a:chExt cx="7291971" cy="3215528"/>
          </a:xfrm>
        </p:grpSpPr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010BA5A5-4287-D752-A269-CC6ECB8F13B3}"/>
                </a:ext>
              </a:extLst>
            </p:cNvPr>
            <p:cNvSpPr/>
            <p:nvPr/>
          </p:nvSpPr>
          <p:spPr>
            <a:xfrm>
              <a:off x="3689824" y="3008445"/>
              <a:ext cx="4040155" cy="1295822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0E4CC3E0-6533-D778-8999-13B65E8FF25F}"/>
                </a:ext>
              </a:extLst>
            </p:cNvPr>
            <p:cNvSpPr txBox="1"/>
            <p:nvPr/>
          </p:nvSpPr>
          <p:spPr>
            <a:xfrm>
              <a:off x="6678318" y="5023644"/>
              <a:ext cx="4303477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Stop the training when validation error remains unchanged or goes up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199670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2842FB-38F3-95D0-6D28-67119006C4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Overfitting - training curve</a:t>
            </a:r>
            <a:br>
              <a:rPr lang="en-GB" dirty="0"/>
            </a:br>
            <a:endParaRPr lang="en-GB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08247CE-F477-B151-09A2-6A4985B091D1}"/>
              </a:ext>
            </a:extLst>
          </p:cNvPr>
          <p:cNvSpPr txBox="1"/>
          <p:nvPr/>
        </p:nvSpPr>
        <p:spPr>
          <a:xfrm>
            <a:off x="3012435" y="5602694"/>
            <a:ext cx="2137124" cy="46166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Early stopping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DD81B958-8536-3704-318D-DA5851367643}"/>
              </a:ext>
            </a:extLst>
          </p:cNvPr>
          <p:cNvGrpSpPr/>
          <p:nvPr/>
        </p:nvGrpSpPr>
        <p:grpSpPr>
          <a:xfrm>
            <a:off x="1322678" y="2404045"/>
            <a:ext cx="6097891" cy="3199214"/>
            <a:chOff x="1309978" y="1417890"/>
            <a:chExt cx="6097891" cy="3199214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156F4344-5983-6413-3152-5DCF19B76B0E}"/>
                </a:ext>
              </a:extLst>
            </p:cNvPr>
            <p:cNvSpPr txBox="1"/>
            <p:nvPr/>
          </p:nvSpPr>
          <p:spPr>
            <a:xfrm>
              <a:off x="5396164" y="2205598"/>
              <a:ext cx="201170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latin typeface="Arial" panose="020B0604020202020204" pitchFamily="34" charset="0"/>
                  <a:cs typeface="Arial" panose="020B0604020202020204" pitchFamily="34" charset="0"/>
                </a:rPr>
                <a:t>Validation set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F9808881-8204-F7EE-D8F2-3F3B680C1F29}"/>
                </a:ext>
              </a:extLst>
            </p:cNvPr>
            <p:cNvSpPr txBox="1"/>
            <p:nvPr/>
          </p:nvSpPr>
          <p:spPr>
            <a:xfrm>
              <a:off x="5396164" y="3681495"/>
              <a:ext cx="178266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latin typeface="Arial" panose="020B0604020202020204" pitchFamily="34" charset="0"/>
                  <a:cs typeface="Arial" panose="020B0604020202020204" pitchFamily="34" charset="0"/>
                </a:rPr>
                <a:t>Training set</a:t>
              </a:r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BF67106E-5819-CE45-33AF-770222A98C10}"/>
                </a:ext>
              </a:extLst>
            </p:cNvPr>
            <p:cNvGrpSpPr/>
            <p:nvPr/>
          </p:nvGrpSpPr>
          <p:grpSpPr>
            <a:xfrm>
              <a:off x="2286318" y="1417890"/>
              <a:ext cx="3373276" cy="461665"/>
              <a:chOff x="2188590" y="1233224"/>
              <a:chExt cx="3373276" cy="461665"/>
            </a:xfrm>
          </p:grpSpPr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F2E6145-428C-E1FD-88F8-01DA52B1A35F}"/>
                  </a:ext>
                </a:extLst>
              </p:cNvPr>
              <p:cNvSpPr txBox="1"/>
              <p:nvPr/>
            </p:nvSpPr>
            <p:spPr>
              <a:xfrm>
                <a:off x="2188590" y="1233224"/>
                <a:ext cx="176041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Underfitting</a:t>
                </a: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906A321-B391-8601-2665-99A15A2499A6}"/>
                  </a:ext>
                </a:extLst>
              </p:cNvPr>
              <p:cNvSpPr txBox="1"/>
              <p:nvPr/>
            </p:nvSpPr>
            <p:spPr>
              <a:xfrm>
                <a:off x="3974572" y="1233224"/>
                <a:ext cx="158729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Overfitting</a:t>
                </a:r>
              </a:p>
            </p:txBody>
          </p:sp>
        </p:grp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151A2EA-2124-DBE8-F4B0-7109F4B65662}"/>
                </a:ext>
              </a:extLst>
            </p:cNvPr>
            <p:cNvSpPr txBox="1"/>
            <p:nvPr/>
          </p:nvSpPr>
          <p:spPr>
            <a:xfrm>
              <a:off x="1309978" y="2710921"/>
              <a:ext cx="83548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latin typeface="Arial" panose="020B0604020202020204" pitchFamily="34" charset="0"/>
                  <a:cs typeface="Arial" panose="020B0604020202020204" pitchFamily="34" charset="0"/>
                </a:rPr>
                <a:t>Loss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C2DC54E8-71E2-19ED-4C6F-8420368FC7EB}"/>
                </a:ext>
              </a:extLst>
            </p:cNvPr>
            <p:cNvSpPr txBox="1"/>
            <p:nvPr/>
          </p:nvSpPr>
          <p:spPr>
            <a:xfrm>
              <a:off x="4920927" y="4155439"/>
              <a:ext cx="121219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latin typeface="Arial" panose="020B0604020202020204" pitchFamily="34" charset="0"/>
                  <a:cs typeface="Arial" panose="020B0604020202020204" pitchFamily="34" charset="0"/>
                </a:rPr>
                <a:t>Epochs</a:t>
              </a:r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CF42DE81-7B1B-C37E-F0A4-F4AD66EBDA70}"/>
              </a:ext>
            </a:extLst>
          </p:cNvPr>
          <p:cNvSpPr txBox="1"/>
          <p:nvPr/>
        </p:nvSpPr>
        <p:spPr>
          <a:xfrm>
            <a:off x="770651" y="1569266"/>
            <a:ext cx="74094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Early-stopping, by learning curve of the validation set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BBF2D85-37C7-D4EF-2DE7-A33AF5391E4E}"/>
              </a:ext>
            </a:extLst>
          </p:cNvPr>
          <p:cNvSpPr txBox="1"/>
          <p:nvPr/>
        </p:nvSpPr>
        <p:spPr>
          <a:xfrm>
            <a:off x="812800" y="6223579"/>
            <a:ext cx="93586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 model parameter update stops at the minimum validation loss. 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F48C7A0-FF7C-4974-A777-B4E78B5F5456}"/>
              </a:ext>
            </a:extLst>
          </p:cNvPr>
          <p:cNvGrpSpPr/>
          <p:nvPr/>
        </p:nvGrpSpPr>
        <p:grpSpPr>
          <a:xfrm>
            <a:off x="1952497" y="2964804"/>
            <a:ext cx="3568823" cy="2483533"/>
            <a:chOff x="2175029" y="3543887"/>
            <a:chExt cx="3568823" cy="2483533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C9358D2C-DBAB-C938-143C-230E9D3CFA69}"/>
                </a:ext>
              </a:extLst>
            </p:cNvPr>
            <p:cNvCxnSpPr/>
            <p:nvPr/>
          </p:nvCxnSpPr>
          <p:spPr>
            <a:xfrm>
              <a:off x="2175029" y="5717219"/>
              <a:ext cx="3568823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3A2BFEF0-BC9E-B62A-27BD-C3F9640F1EF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80695" y="3543887"/>
              <a:ext cx="0" cy="2387875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AA8007B6-CC3D-DC91-23ED-D08077D766F2}"/>
                </a:ext>
              </a:extLst>
            </p:cNvPr>
            <p:cNvSpPr/>
            <p:nvPr/>
          </p:nvSpPr>
          <p:spPr>
            <a:xfrm>
              <a:off x="2586362" y="3766009"/>
              <a:ext cx="3045040" cy="1748901"/>
            </a:xfrm>
            <a:custGeom>
              <a:avLst/>
              <a:gdLst>
                <a:gd name="connsiteX0" fmla="*/ 0 w 3045040"/>
                <a:gd name="connsiteY0" fmla="*/ 0 h 1748901"/>
                <a:gd name="connsiteX1" fmla="*/ 763479 w 3045040"/>
                <a:gd name="connsiteY1" fmla="*/ 1376039 h 1748901"/>
                <a:gd name="connsiteX2" fmla="*/ 3045040 w 3045040"/>
                <a:gd name="connsiteY2" fmla="*/ 1748901 h 17489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45040" h="1748901">
                  <a:moveTo>
                    <a:pt x="0" y="0"/>
                  </a:moveTo>
                  <a:cubicBezTo>
                    <a:pt x="127986" y="542278"/>
                    <a:pt x="255972" y="1084556"/>
                    <a:pt x="763479" y="1376039"/>
                  </a:cubicBezTo>
                  <a:cubicBezTo>
                    <a:pt x="1270986" y="1667522"/>
                    <a:pt x="2652943" y="1689717"/>
                    <a:pt x="3045040" y="1748901"/>
                  </a:cubicBezTo>
                </a:path>
              </a:pathLst>
            </a:custGeom>
            <a:noFill/>
            <a:ln w="28575"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" name="Freeform: Shape 22">
              <a:extLst>
                <a:ext uri="{FF2B5EF4-FFF2-40B4-BE49-F238E27FC236}">
                  <a16:creationId xmlns:a16="http://schemas.microsoft.com/office/drawing/2014/main" id="{2280527D-DBB2-1B32-8B78-BED88F91115E}"/>
                </a:ext>
              </a:extLst>
            </p:cNvPr>
            <p:cNvSpPr/>
            <p:nvPr/>
          </p:nvSpPr>
          <p:spPr>
            <a:xfrm>
              <a:off x="2586361" y="3609299"/>
              <a:ext cx="3045035" cy="1227565"/>
            </a:xfrm>
            <a:custGeom>
              <a:avLst/>
              <a:gdLst>
                <a:gd name="connsiteX0" fmla="*/ 0 w 2781300"/>
                <a:gd name="connsiteY0" fmla="*/ 0 h 1227565"/>
                <a:gd name="connsiteX1" fmla="*/ 1303020 w 2781300"/>
                <a:gd name="connsiteY1" fmla="*/ 1219200 h 1227565"/>
                <a:gd name="connsiteX2" fmla="*/ 2781300 w 2781300"/>
                <a:gd name="connsiteY2" fmla="*/ 441960 h 1227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781300" h="1227565">
                  <a:moveTo>
                    <a:pt x="0" y="0"/>
                  </a:moveTo>
                  <a:cubicBezTo>
                    <a:pt x="419735" y="572770"/>
                    <a:pt x="839470" y="1145540"/>
                    <a:pt x="1303020" y="1219200"/>
                  </a:cubicBezTo>
                  <a:cubicBezTo>
                    <a:pt x="1766570" y="1292860"/>
                    <a:pt x="2273935" y="867410"/>
                    <a:pt x="2781300" y="441960"/>
                  </a:cubicBez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B9C7763A-1F60-9C8A-CCB4-7D4571646603}"/>
                </a:ext>
              </a:extLst>
            </p:cNvPr>
            <p:cNvCxnSpPr>
              <a:cxnSpLocks/>
            </p:cNvCxnSpPr>
            <p:nvPr/>
          </p:nvCxnSpPr>
          <p:spPr>
            <a:xfrm>
              <a:off x="4058206" y="3543887"/>
              <a:ext cx="0" cy="2483533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C9AAB9E0-DF38-D7CE-2C72-9835A05DC31F}"/>
              </a:ext>
            </a:extLst>
          </p:cNvPr>
          <p:cNvSpPr txBox="1"/>
          <p:nvPr/>
        </p:nvSpPr>
        <p:spPr>
          <a:xfrm>
            <a:off x="7957040" y="3785905"/>
            <a:ext cx="415359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Some common splitting ratios (training : validation : test)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8:1:1	   7:1.5:1.5	     6:2:2	       7:2:1</a:t>
            </a:r>
          </a:p>
        </p:txBody>
      </p:sp>
    </p:spTree>
    <p:extLst>
      <p:ext uri="{BB962C8B-B14F-4D97-AF65-F5344CB8AC3E}">
        <p14:creationId xmlns:p14="http://schemas.microsoft.com/office/powerpoint/2010/main" val="38403573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3" grpId="0"/>
      <p:bldP spid="3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he University at sunset">
            <a:extLst>
              <a:ext uri="{FF2B5EF4-FFF2-40B4-BE49-F238E27FC236}">
                <a16:creationId xmlns:a16="http://schemas.microsoft.com/office/drawing/2014/main" id="{11FDCD37-95D4-D94F-8143-5384ADC6A6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175F20C-468E-F742-9149-B8A5FEBC291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45886" y="1889351"/>
            <a:ext cx="5842000" cy="1931535"/>
          </a:xfrm>
        </p:spPr>
        <p:txBody>
          <a:bodyPr>
            <a:noAutofit/>
          </a:bodyPr>
          <a:lstStyle/>
          <a:p>
            <a:pPr algn="l"/>
            <a:r>
              <a:rPr lang="en-GB">
                <a:solidFill>
                  <a:schemeClr val="bg1"/>
                </a:solidFill>
              </a:rPr>
              <a:t>Thanks!</a:t>
            </a:r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22ED6EA-1EF6-E99C-8D46-A77E8079F0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8385228" y="5699322"/>
            <a:ext cx="3413095" cy="854153"/>
            <a:chOff x="8385228" y="5699322"/>
            <a:chExt cx="3413095" cy="854153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44E80E0-21D5-A09C-9C43-3B822C05837D}"/>
                </a:ext>
              </a:extLst>
            </p:cNvPr>
            <p:cNvSpPr txBox="1"/>
            <p:nvPr/>
          </p:nvSpPr>
          <p:spPr>
            <a:xfrm>
              <a:off x="8385228" y="5699322"/>
              <a:ext cx="3413095" cy="461665"/>
            </a:xfrm>
            <a:prstGeom prst="rect">
              <a:avLst/>
            </a:prstGeom>
            <a:noFill/>
            <a:effectLst>
              <a:outerShdw blurRad="1270000" dist="50800" dir="5400000" sx="200000" sy="200000" algn="ctr" rotWithShape="0">
                <a:schemeClr val="tx1"/>
              </a:outerShdw>
            </a:effectLst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#</a:t>
              </a:r>
              <a:r>
                <a:rPr lang="en-US" sz="2400" b="1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UofGWorldChangers</a:t>
              </a:r>
              <a:endParaRPr lang="en-US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92BBCD2-E264-1B57-0E93-92E9DB639953}"/>
                </a:ext>
              </a:extLst>
            </p:cNvPr>
            <p:cNvSpPr txBox="1"/>
            <p:nvPr/>
          </p:nvSpPr>
          <p:spPr>
            <a:xfrm>
              <a:off x="9098531" y="6091810"/>
              <a:ext cx="269979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b="1" dirty="0">
                  <a:solidFill>
                    <a:schemeClr val="bg1"/>
                  </a:solidFill>
                  <a:latin typeface="Arial" panose="020B0604020202020204" pitchFamily="34" charset="0"/>
                  <a:ea typeface="Arial" charset="0"/>
                  <a:cs typeface="Arial" panose="020B0604020202020204" pitchFamily="34" charset="0"/>
                </a:rPr>
                <a:t>@</a:t>
              </a:r>
              <a:r>
                <a:rPr lang="en-US" sz="2400" b="1" dirty="0" err="1">
                  <a:solidFill>
                    <a:schemeClr val="bg1"/>
                  </a:solidFill>
                  <a:latin typeface="Arial" panose="020B0604020202020204" pitchFamily="34" charset="0"/>
                  <a:ea typeface="Arial" charset="0"/>
                  <a:cs typeface="Arial" panose="020B0604020202020204" pitchFamily="34" charset="0"/>
                </a:rPr>
                <a:t>UofGlasgow</a:t>
              </a:r>
              <a:endParaRPr lang="en-US" sz="2400" b="1" dirty="0">
                <a:solidFill>
                  <a:schemeClr val="bg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endParaRPr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4EA5A01-D67E-B5A8-4983-B4E38F735C71}"/>
                </a:ext>
              </a:extLst>
            </p:cNvPr>
            <p:cNvGrpSpPr/>
            <p:nvPr/>
          </p:nvGrpSpPr>
          <p:grpSpPr>
            <a:xfrm>
              <a:off x="8516481" y="6162367"/>
              <a:ext cx="841333" cy="347112"/>
              <a:chOff x="8601252" y="6162367"/>
              <a:chExt cx="841333" cy="347112"/>
            </a:xfrm>
          </p:grpSpPr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8049EAA7-B259-E0CF-6188-D83E4A7650D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778761" y="6162367"/>
                <a:ext cx="475023" cy="347112"/>
              </a:xfrm>
              <a:prstGeom prst="rect">
                <a:avLst/>
              </a:prstGeom>
            </p:spPr>
          </p:pic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C9EF044C-8E77-0253-404C-AEACFCC1AE0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9194185" y="6223334"/>
                <a:ext cx="248400" cy="248399"/>
              </a:xfrm>
              <a:prstGeom prst="rect">
                <a:avLst/>
              </a:prstGeom>
            </p:spPr>
          </p:pic>
          <p:pic>
            <p:nvPicPr>
              <p:cNvPr id="17" name="Picture 16">
                <a:extLst>
                  <a:ext uri="{FF2B5EF4-FFF2-40B4-BE49-F238E27FC236}">
                    <a16:creationId xmlns:a16="http://schemas.microsoft.com/office/drawing/2014/main" id="{1EFBA2B9-08B7-B52F-FE3B-91DCAC58DCD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8601252" y="6221141"/>
                <a:ext cx="239105" cy="239106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0063787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UofG colours">
      <a:dk1>
        <a:srgbClr val="003865"/>
      </a:dk1>
      <a:lt1>
        <a:srgbClr val="FFFFFE"/>
      </a:lt1>
      <a:dk2>
        <a:srgbClr val="000000"/>
      </a:dk2>
      <a:lt2>
        <a:srgbClr val="7D2238"/>
      </a:lt2>
      <a:accent1>
        <a:srgbClr val="0075B0"/>
      </a:accent1>
      <a:accent2>
        <a:srgbClr val="5B4D93"/>
      </a:accent2>
      <a:accent3>
        <a:srgbClr val="CF1C20"/>
      </a:accent3>
      <a:accent4>
        <a:srgbClr val="00833C"/>
      </a:accent4>
      <a:accent5>
        <a:srgbClr val="BE4D00"/>
      </a:accent5>
      <a:accent6>
        <a:srgbClr val="951271"/>
      </a:accent6>
      <a:hlink>
        <a:srgbClr val="584B3D"/>
      </a:hlink>
      <a:folHlink>
        <a:srgbClr val="0068A9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A61AF5F2-503D-2641-86A1-09AD8919EA9C}" vid="{A816E7D6-9491-074F-A4D5-6596497DAC1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C3DDD16490E0A48848881CB6EECDF92" ma:contentTypeVersion="14" ma:contentTypeDescription="Create a new document." ma:contentTypeScope="" ma:versionID="7257862a4d6c3825659cc59ecdb78f01">
  <xsd:schema xmlns:xsd="http://www.w3.org/2001/XMLSchema" xmlns:xs="http://www.w3.org/2001/XMLSchema" xmlns:p="http://schemas.microsoft.com/office/2006/metadata/properties" xmlns:ns2="1cc9bed8-8410-44eb-bf25-ca1ea4636418" xmlns:ns3="dfc159fb-6789-415c-9027-b0bc58ba83c2" targetNamespace="http://schemas.microsoft.com/office/2006/metadata/properties" ma:root="true" ma:fieldsID="e75013956d80933023b8c9f213f858d3" ns2:_="" ns3:_="">
    <xsd:import namespace="1cc9bed8-8410-44eb-bf25-ca1ea4636418"/>
    <xsd:import namespace="dfc159fb-6789-415c-9027-b0bc58ba83c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SearchProperties" minOccurs="0"/>
                <xsd:element ref="ns2:MediaServiceDateTake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cc9bed8-8410-44eb-bf25-ca1ea463641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7306b285-ac2c-4225-b56d-e54690cf9c9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fc159fb-6789-415c-9027-b0bc58ba83c2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79eadc21-23c5-47b9-90bf-40474c6df852}" ma:internalName="TaxCatchAll" ma:showField="CatchAllData" ma:web="dfc159fb-6789-415c-9027-b0bc58ba83c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cc9bed8-8410-44eb-bf25-ca1ea4636418">
      <Terms xmlns="http://schemas.microsoft.com/office/infopath/2007/PartnerControls"/>
    </lcf76f155ced4ddcb4097134ff3c332f>
    <TaxCatchAll xmlns="dfc159fb-6789-415c-9027-b0bc58ba83c2" xsi:nil="true"/>
  </documentManagement>
</p:properties>
</file>

<file path=customXml/itemProps1.xml><?xml version="1.0" encoding="utf-8"?>
<ds:datastoreItem xmlns:ds="http://schemas.openxmlformats.org/officeDocument/2006/customXml" ds:itemID="{6D05F089-DBA0-481D-B91B-E9F7D8DA425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cc9bed8-8410-44eb-bf25-ca1ea4636418"/>
    <ds:schemaRef ds:uri="dfc159fb-6789-415c-9027-b0bc58ba83c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AB269C0-5D63-430A-BF39-58F8F4B36D6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3D44B79-03E9-4AFB-8FC0-1D26BACA9466}">
  <ds:schemaRefs>
    <ds:schemaRef ds:uri="http://schemas.microsoft.com/office/2006/metadata/properties"/>
    <ds:schemaRef ds:uri="http://schemas.microsoft.com/office/infopath/2007/PartnerControls"/>
    <ds:schemaRef ds:uri="1cc9bed8-8410-44eb-bf25-ca1ea4636418"/>
    <ds:schemaRef ds:uri="dfc159fb-6789-415c-9027-b0bc58ba83c2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1925</TotalTime>
  <Words>373</Words>
  <Application>Microsoft Office PowerPoint</Application>
  <PresentationFormat>Widescreen</PresentationFormat>
  <Paragraphs>75</Paragraphs>
  <Slides>7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Cambria Math</vt:lpstr>
      <vt:lpstr>Times New Roman</vt:lpstr>
      <vt:lpstr>Office Theme</vt:lpstr>
      <vt:lpstr>A Few Methods to Improve Overfitting</vt:lpstr>
      <vt:lpstr>Regularization</vt:lpstr>
      <vt:lpstr>L1 Regularization </vt:lpstr>
      <vt:lpstr>L2 Regularization </vt:lpstr>
      <vt:lpstr>Training-validation-test splitting </vt:lpstr>
      <vt:lpstr>Overfitting - training curve </vt:lpstr>
      <vt:lpstr>Thanks!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Liangyue Yu (PGR)</dc:creator>
  <cp:keywords/>
  <dc:description/>
  <cp:lastModifiedBy>Bo Liu</cp:lastModifiedBy>
  <cp:revision>68</cp:revision>
  <dcterms:created xsi:type="dcterms:W3CDTF">2021-01-06T14:22:07Z</dcterms:created>
  <dcterms:modified xsi:type="dcterms:W3CDTF">2024-07-22T11:31:28Z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0x0101009C3DDD16490E0A48848881CB6EECDF92</vt:lpwstr>
  </property>
  <property fmtid="{D5CDD505-2E9C-101B-9397-08002B2CF9AE}" pid="3" name="MediaServiceImageTags">
    <vt:lpwstr/>
  </property>
</Properties>
</file>