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496" r:id="rId6"/>
    <p:sldId id="499" r:id="rId7"/>
    <p:sldId id="500" r:id="rId8"/>
    <p:sldId id="494" r:id="rId9"/>
    <p:sldId id="497" r:id="rId10"/>
    <p:sldId id="2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9696"/>
    <a:srgbClr val="B2B2B2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0846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646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19/07/2024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More on Neural Network Training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5F392-F67E-23CF-3DA5-1A67E4CB8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epochs and batch training</a:t>
            </a:r>
            <a:br>
              <a:rPr lang="en-GB" dirty="0"/>
            </a:b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4733AC-515C-6E16-4291-8D63CEF121A2}"/>
                  </a:ext>
                </a:extLst>
              </p:cNvPr>
              <p:cNvSpPr txBox="1"/>
              <p:nvPr/>
            </p:nvSpPr>
            <p:spPr>
              <a:xfrm>
                <a:off x="804327" y="1833411"/>
                <a:ext cx="9558873" cy="1723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Model parameter update using one training sample: 1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forward and 1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 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backward propagations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One epoch: number of training samples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(forward + backward propagation)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4733AC-515C-6E16-4291-8D63CEF12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27" y="1833411"/>
                <a:ext cx="9558873" cy="1723549"/>
              </a:xfrm>
              <a:prstGeom prst="rect">
                <a:avLst/>
              </a:prstGeom>
              <a:blipFill>
                <a:blip r:embed="rId2"/>
                <a:stretch>
                  <a:fillRect l="-1020" t="-2482" r="-255" b="-78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77590D1-217F-1495-AF11-AC77D4DEAD9B}"/>
              </a:ext>
            </a:extLst>
          </p:cNvPr>
          <p:cNvSpPr txBox="1"/>
          <p:nvPr/>
        </p:nvSpPr>
        <p:spPr>
          <a:xfrm>
            <a:off x="804327" y="3967971"/>
            <a:ext cx="10066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Batch training: model updated based on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averaged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loss, sometimes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, mini-batch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645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Mini-batch gradient descent (MBGD)</a:t>
            </a:r>
          </a:p>
        </p:txBody>
      </p:sp>
      <p:sp>
        <p:nvSpPr>
          <p:cNvPr id="2" name="文本框 4">
            <a:extLst>
              <a:ext uri="{FF2B5EF4-FFF2-40B4-BE49-F238E27FC236}">
                <a16:creationId xmlns:a16="http://schemas.microsoft.com/office/drawing/2014/main" id="{C59E846C-096B-0645-25CB-CD9AFAFC996F}"/>
              </a:ext>
            </a:extLst>
          </p:cNvPr>
          <p:cNvSpPr txBox="1"/>
          <p:nvPr/>
        </p:nvSpPr>
        <p:spPr>
          <a:xfrm>
            <a:off x="620610" y="1648489"/>
            <a:ext cx="87804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 BGD we use all samples at a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 SGD we use only one sample at a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MBGD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we use a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mini-batch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at a time.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89AE5B8-6FC1-91B4-2D70-2842F140A345}"/>
                  </a:ext>
                </a:extLst>
              </p:cNvPr>
              <p:cNvSpPr txBox="1"/>
              <p:nvPr/>
            </p:nvSpPr>
            <p:spPr>
              <a:xfrm>
                <a:off x="620610" y="2943732"/>
                <a:ext cx="8996689" cy="1231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 </a:t>
                </a: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mini-batch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fixed number of </a:t>
                </a:r>
                <a14:m>
                  <m:oMath xmlns:m="http://schemas.openxmlformats.org/officeDocument/2006/math">
                    <m:r>
                      <a:rPr lang="en-GB" altLang="zh-CN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training samples with </a:t>
                </a:r>
                <a:r>
                  <a:rPr lang="en-US" altLang="zh-CN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b="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  <a:r>
                  <a:rPr lang="en-US" altLang="zh-CN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is called the</a:t>
                </a:r>
                <a:r>
                  <a:rPr lang="en-US" altLang="zh-CN" sz="2400" b="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batch size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89AE5B8-6FC1-91B4-2D70-2842F140A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610" y="2943732"/>
                <a:ext cx="8996689" cy="1231940"/>
              </a:xfrm>
              <a:prstGeom prst="rect">
                <a:avLst/>
              </a:prstGeom>
              <a:blipFill>
                <a:blip r:embed="rId3"/>
                <a:stretch>
                  <a:fillRect l="-949" t="-3465" b="-84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10">
            <a:extLst>
              <a:ext uri="{FF2B5EF4-FFF2-40B4-BE49-F238E27FC236}">
                <a16:creationId xmlns:a16="http://schemas.microsoft.com/office/drawing/2014/main" id="{14898AA9-DA19-468D-7266-544CDD1145C4}"/>
              </a:ext>
            </a:extLst>
          </p:cNvPr>
          <p:cNvSpPr txBox="1"/>
          <p:nvPr/>
        </p:nvSpPr>
        <p:spPr>
          <a:xfrm>
            <a:off x="620610" y="4289052"/>
            <a:ext cx="86061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MBGD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Split the dataset into a number of mini-batches.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Take a mini-batch from the training set.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Calculate mean gradient of the mini-batch.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Update the model according to the mean gradient.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Repeat b) to d) for all the batches.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471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Mini-batch gradient descent (MBGD)</a:t>
            </a:r>
          </a:p>
        </p:txBody>
      </p:sp>
      <p:sp>
        <p:nvSpPr>
          <p:cNvPr id="2" name="文本框 9">
            <a:extLst>
              <a:ext uri="{FF2B5EF4-FFF2-40B4-BE49-F238E27FC236}">
                <a16:creationId xmlns:a16="http://schemas.microsoft.com/office/drawing/2014/main" id="{7024EDF1-CB02-928E-6D69-2D3370A3C454}"/>
              </a:ext>
            </a:extLst>
          </p:cNvPr>
          <p:cNvSpPr txBox="1"/>
          <p:nvPr/>
        </p:nvSpPr>
        <p:spPr>
          <a:xfrm>
            <a:off x="629128" y="4246956"/>
            <a:ext cx="92613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MBGD is a combination of BGD and SGD, so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It can avoid converging to local minima to some extent.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Less memory is required.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Fast convergence.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7">
                <a:extLst>
                  <a:ext uri="{FF2B5EF4-FFF2-40B4-BE49-F238E27FC236}">
                    <a16:creationId xmlns:a16="http://schemas.microsoft.com/office/drawing/2014/main" id="{DC17EDC5-CD42-2A19-4EC9-F5D5AF5240C0}"/>
                  </a:ext>
                </a:extLst>
              </p:cNvPr>
              <p:cNvSpPr txBox="1"/>
              <p:nvPr/>
            </p:nvSpPr>
            <p:spPr>
              <a:xfrm>
                <a:off x="629128" y="1641548"/>
                <a:ext cx="96625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 MBGD, </a:t>
                </a:r>
                <a14:m>
                  <m:oMath xmlns:m="http://schemas.openxmlformats.org/officeDocument/2006/math">
                    <m:r>
                      <a:rPr lang="en-GB" altLang="zh-CN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 a </a:t>
                </a: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hyperparameter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that affects the learning process. 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文本框 7">
                <a:extLst>
                  <a:ext uri="{FF2B5EF4-FFF2-40B4-BE49-F238E27FC236}">
                    <a16:creationId xmlns:a16="http://schemas.microsoft.com/office/drawing/2014/main" id="{DC17EDC5-CD42-2A19-4EC9-F5D5AF524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28" y="1641548"/>
                <a:ext cx="9662537" cy="461665"/>
              </a:xfrm>
              <a:prstGeom prst="rect">
                <a:avLst/>
              </a:prstGeom>
              <a:blipFill>
                <a:blip r:embed="rId3"/>
                <a:stretch>
                  <a:fillRect l="-946" t="-9211" b="-302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8">
                <a:extLst>
                  <a:ext uri="{FF2B5EF4-FFF2-40B4-BE49-F238E27FC236}">
                    <a16:creationId xmlns:a16="http://schemas.microsoft.com/office/drawing/2014/main" id="{0E82EDA6-AC3A-4BDF-8021-AD5A9AE95744}"/>
                  </a:ext>
                </a:extLst>
              </p:cNvPr>
              <p:cNvSpPr txBox="1"/>
              <p:nvPr/>
            </p:nvSpPr>
            <p:spPr>
              <a:xfrm>
                <a:off x="629128" y="2322361"/>
                <a:ext cx="809363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Small </a:t>
                </a:r>
                <a14:m>
                  <m:oMath xmlns:m="http://schemas.openxmlformats.org/officeDocument/2006/math">
                    <m:r>
                      <a:rPr lang="en-GB" altLang="zh-CN" sz="2400" b="1" i="1" smtClean="0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like SGD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Large </a:t>
                </a:r>
                <a14:m>
                  <m:oMath xmlns:m="http://schemas.openxmlformats.org/officeDocument/2006/math">
                    <m:r>
                      <a:rPr lang="en-GB" altLang="zh-CN" sz="2400" b="1" i="1" smtClean="0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like BGD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8">
                <a:extLst>
                  <a:ext uri="{FF2B5EF4-FFF2-40B4-BE49-F238E27FC236}">
                    <a16:creationId xmlns:a16="http://schemas.microsoft.com/office/drawing/2014/main" id="{0E82EDA6-AC3A-4BDF-8021-AD5A9AE95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28" y="2322361"/>
                <a:ext cx="8093638" cy="830997"/>
              </a:xfrm>
              <a:prstGeom prst="rect">
                <a:avLst/>
              </a:prstGeom>
              <a:blipFill>
                <a:blip r:embed="rId4"/>
                <a:stretch>
                  <a:fillRect l="-979" t="-5147" b="-169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11">
                <a:extLst>
                  <a:ext uri="{FF2B5EF4-FFF2-40B4-BE49-F238E27FC236}">
                    <a16:creationId xmlns:a16="http://schemas.microsoft.com/office/drawing/2014/main" id="{FA206BB3-5B25-CD49-F8DF-35434D9B7716}"/>
                  </a:ext>
                </a:extLst>
              </p:cNvPr>
              <p:cNvSpPr txBox="1"/>
              <p:nvPr/>
            </p:nvSpPr>
            <p:spPr>
              <a:xfrm>
                <a:off x="629128" y="3429000"/>
                <a:ext cx="52879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 good default for </a:t>
                </a:r>
                <a14:m>
                  <m:oMath xmlns:m="http://schemas.openxmlformats.org/officeDocument/2006/math">
                    <m:r>
                      <a:rPr lang="en-GB" altLang="zh-CN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 32.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11">
                <a:extLst>
                  <a:ext uri="{FF2B5EF4-FFF2-40B4-BE49-F238E27FC236}">
                    <a16:creationId xmlns:a16="http://schemas.microsoft.com/office/drawing/2014/main" id="{FA206BB3-5B25-CD49-F8DF-35434D9B7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28" y="3429000"/>
                <a:ext cx="5287925" cy="461665"/>
              </a:xfrm>
              <a:prstGeom prst="rect">
                <a:avLst/>
              </a:prstGeom>
              <a:blipFill>
                <a:blip r:embed="rId5"/>
                <a:stretch>
                  <a:fillRect l="-1728" t="-9333" b="-30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8122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The Adam optimizer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40FC9CE-847A-60EA-DD40-392AA6FCAB5E}"/>
              </a:ext>
            </a:extLst>
          </p:cNvPr>
          <p:cNvSpPr txBox="1"/>
          <p:nvPr/>
        </p:nvSpPr>
        <p:spPr>
          <a:xfrm>
            <a:off x="670579" y="1715813"/>
            <a:ext cx="7508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Gradient descent: learning rate, universal, unchanged</a:t>
            </a:r>
          </a:p>
        </p:txBody>
      </p: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27B71709-741C-2933-F037-8496589D8205}"/>
              </a:ext>
            </a:extLst>
          </p:cNvPr>
          <p:cNvCxnSpPr>
            <a:cxnSpLocks/>
          </p:cNvCxnSpPr>
          <p:nvPr/>
        </p:nvCxnSpPr>
        <p:spPr>
          <a:xfrm flipH="1" flipV="1">
            <a:off x="5256926" y="3489804"/>
            <a:ext cx="4647" cy="724954"/>
          </a:xfrm>
          <a:prstGeom prst="line">
            <a:avLst/>
          </a:prstGeom>
          <a:noFill/>
          <a:ln w="12700" cap="flat" cmpd="sng" algn="ctr">
            <a:solidFill>
              <a:srgbClr val="A5A5A5">
                <a:lumMod val="75000"/>
              </a:srgbClr>
            </a:solidFill>
            <a:prstDash val="solid"/>
            <a:miter lim="800000"/>
          </a:ln>
          <a:effectLst/>
        </p:spPr>
      </p:cxn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1C6488E4-E1C3-E9E4-BCAA-A6A9806BD7FB}"/>
              </a:ext>
            </a:extLst>
          </p:cNvPr>
          <p:cNvGrpSpPr/>
          <p:nvPr/>
        </p:nvGrpSpPr>
        <p:grpSpPr>
          <a:xfrm>
            <a:off x="2195814" y="1444938"/>
            <a:ext cx="2241447" cy="2798902"/>
            <a:chOff x="2348309" y="2394535"/>
            <a:chExt cx="2962831" cy="3537227"/>
          </a:xfrm>
        </p:grpSpPr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0ACFC250-83ED-1FDA-2E96-487CC3AFA1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57835" y="3863340"/>
              <a:ext cx="0" cy="206842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A6DA07DB-0687-34AE-3E85-16E6FB26D868}"/>
                </a:ext>
              </a:extLst>
            </p:cNvPr>
            <p:cNvCxnSpPr>
              <a:cxnSpLocks/>
            </p:cNvCxnSpPr>
            <p:nvPr/>
          </p:nvCxnSpPr>
          <p:spPr>
            <a:xfrm>
              <a:off x="2611364" y="3962400"/>
              <a:ext cx="277092" cy="1209675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</p:cxnSp>
        <p:grpSp>
          <p:nvGrpSpPr>
            <p:cNvPr id="252" name="Group 251">
              <a:extLst>
                <a:ext uri="{FF2B5EF4-FFF2-40B4-BE49-F238E27FC236}">
                  <a16:creationId xmlns:a16="http://schemas.microsoft.com/office/drawing/2014/main" id="{8638D854-20A1-8F2F-EB46-8D8DFEE09026}"/>
                </a:ext>
              </a:extLst>
            </p:cNvPr>
            <p:cNvGrpSpPr/>
            <p:nvPr/>
          </p:nvGrpSpPr>
          <p:grpSpPr>
            <a:xfrm>
              <a:off x="2348309" y="2394535"/>
              <a:ext cx="2962831" cy="3528957"/>
              <a:chOff x="2348309" y="2394535"/>
              <a:chExt cx="2962831" cy="3528957"/>
            </a:xfrm>
          </p:grpSpPr>
          <p:cxnSp>
            <p:nvCxnSpPr>
              <p:cNvPr id="254" name="Straight Connector 253">
                <a:extLst>
                  <a:ext uri="{FF2B5EF4-FFF2-40B4-BE49-F238E27FC236}">
                    <a16:creationId xmlns:a16="http://schemas.microsoft.com/office/drawing/2014/main" id="{AFED1E4A-9517-1AC5-6214-D50617C1CF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48309" y="5923492"/>
                <a:ext cx="2962831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311B14B3-14A3-33E6-B906-C0F887EC8881}"/>
                  </a:ext>
                </a:extLst>
              </p:cNvPr>
              <p:cNvSpPr/>
              <p:nvPr/>
            </p:nvSpPr>
            <p:spPr>
              <a:xfrm>
                <a:off x="2697259" y="2394535"/>
                <a:ext cx="2237173" cy="3329122"/>
              </a:xfrm>
              <a:prstGeom prst="arc">
                <a:avLst>
                  <a:gd name="adj1" fmla="val 213073"/>
                  <a:gd name="adj2" fmla="val 10668910"/>
                </a:avLst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253" name="Oval 252">
              <a:extLst>
                <a:ext uri="{FF2B5EF4-FFF2-40B4-BE49-F238E27FC236}">
                  <a16:creationId xmlns:a16="http://schemas.microsoft.com/office/drawing/2014/main" id="{C2950380-D014-A18C-C6CA-711D6534C5C4}"/>
                </a:ext>
              </a:extLst>
            </p:cNvPr>
            <p:cNvSpPr/>
            <p:nvPr/>
          </p:nvSpPr>
          <p:spPr>
            <a:xfrm>
              <a:off x="2730595" y="4558461"/>
              <a:ext cx="45719" cy="45719"/>
            </a:xfrm>
            <a:prstGeom prst="ellipse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85ACA430-15B9-D72B-005A-80769E136F5A}"/>
              </a:ext>
            </a:extLst>
          </p:cNvPr>
          <p:cNvGrpSpPr/>
          <p:nvPr/>
        </p:nvGrpSpPr>
        <p:grpSpPr>
          <a:xfrm>
            <a:off x="4865415" y="1438492"/>
            <a:ext cx="2241447" cy="2798902"/>
            <a:chOff x="2625308" y="2394535"/>
            <a:chExt cx="2962831" cy="3537227"/>
          </a:xfrm>
        </p:grpSpPr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BE955171-678B-D04F-ECBC-C0A86A62EE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34834" y="3863339"/>
              <a:ext cx="0" cy="2068423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3D042571-8D5C-FADB-698C-8A0C57B08635}"/>
                </a:ext>
              </a:extLst>
            </p:cNvPr>
            <p:cNvCxnSpPr>
              <a:cxnSpLocks/>
            </p:cNvCxnSpPr>
            <p:nvPr/>
          </p:nvCxnSpPr>
          <p:spPr>
            <a:xfrm>
              <a:off x="2888363" y="3962400"/>
              <a:ext cx="277092" cy="1209675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</p:cxnSp>
        <p:grpSp>
          <p:nvGrpSpPr>
            <p:cNvPr id="246" name="Group 245">
              <a:extLst>
                <a:ext uri="{FF2B5EF4-FFF2-40B4-BE49-F238E27FC236}">
                  <a16:creationId xmlns:a16="http://schemas.microsoft.com/office/drawing/2014/main" id="{4DD81931-10E6-CF94-908D-95F793C49D28}"/>
                </a:ext>
              </a:extLst>
            </p:cNvPr>
            <p:cNvGrpSpPr/>
            <p:nvPr/>
          </p:nvGrpSpPr>
          <p:grpSpPr>
            <a:xfrm>
              <a:off x="2625308" y="2394535"/>
              <a:ext cx="2962831" cy="3528957"/>
              <a:chOff x="2625308" y="2394535"/>
              <a:chExt cx="2962831" cy="3528957"/>
            </a:xfrm>
          </p:grpSpPr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F724D19E-7B52-4260-2C3B-6AAF28CCF2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5308" y="5923492"/>
                <a:ext cx="2962831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249" name="Arc 248">
                <a:extLst>
                  <a:ext uri="{FF2B5EF4-FFF2-40B4-BE49-F238E27FC236}">
                    <a16:creationId xmlns:a16="http://schemas.microsoft.com/office/drawing/2014/main" id="{B0075E18-0724-90B9-CB70-2223AD192C29}"/>
                  </a:ext>
                </a:extLst>
              </p:cNvPr>
              <p:cNvSpPr/>
              <p:nvPr/>
            </p:nvSpPr>
            <p:spPr>
              <a:xfrm>
                <a:off x="2974258" y="2394535"/>
                <a:ext cx="2237173" cy="3329123"/>
              </a:xfrm>
              <a:prstGeom prst="arc">
                <a:avLst>
                  <a:gd name="adj1" fmla="val 213073"/>
                  <a:gd name="adj2" fmla="val 10668910"/>
                </a:avLst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247" name="Oval 246">
              <a:extLst>
                <a:ext uri="{FF2B5EF4-FFF2-40B4-BE49-F238E27FC236}">
                  <a16:creationId xmlns:a16="http://schemas.microsoft.com/office/drawing/2014/main" id="{BDF83A97-1BE0-C3D7-B775-7CF78ABD86F0}"/>
                </a:ext>
              </a:extLst>
            </p:cNvPr>
            <p:cNvSpPr/>
            <p:nvPr/>
          </p:nvSpPr>
          <p:spPr>
            <a:xfrm>
              <a:off x="3008637" y="4558461"/>
              <a:ext cx="45718" cy="45719"/>
            </a:xfrm>
            <a:prstGeom prst="ellipse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D1E9507E-ADB6-005E-046C-03018CE4E1E5}"/>
              </a:ext>
            </a:extLst>
          </p:cNvPr>
          <p:cNvGrpSpPr/>
          <p:nvPr/>
        </p:nvGrpSpPr>
        <p:grpSpPr>
          <a:xfrm>
            <a:off x="7503345" y="1427186"/>
            <a:ext cx="2241447" cy="2798902"/>
            <a:chOff x="2809966" y="2394535"/>
            <a:chExt cx="2962831" cy="3537227"/>
          </a:xfrm>
        </p:grpSpPr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0A0858F2-E7C2-A5A3-578D-4AF703F12E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9491" y="3863339"/>
              <a:ext cx="0" cy="2068423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47616C3C-A10B-38C2-CFB8-EDB8674DBAF2}"/>
                </a:ext>
              </a:extLst>
            </p:cNvPr>
            <p:cNvCxnSpPr>
              <a:cxnSpLocks/>
            </p:cNvCxnSpPr>
            <p:nvPr/>
          </p:nvCxnSpPr>
          <p:spPr>
            <a:xfrm>
              <a:off x="3073021" y="3962400"/>
              <a:ext cx="277092" cy="1209675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</p:cxnSp>
        <p:grpSp>
          <p:nvGrpSpPr>
            <p:cNvPr id="240" name="Group 239">
              <a:extLst>
                <a:ext uri="{FF2B5EF4-FFF2-40B4-BE49-F238E27FC236}">
                  <a16:creationId xmlns:a16="http://schemas.microsoft.com/office/drawing/2014/main" id="{9BD4775A-971A-6A2E-B944-98E5D5EF75CE}"/>
                </a:ext>
              </a:extLst>
            </p:cNvPr>
            <p:cNvGrpSpPr/>
            <p:nvPr/>
          </p:nvGrpSpPr>
          <p:grpSpPr>
            <a:xfrm>
              <a:off x="2809966" y="2394535"/>
              <a:ext cx="2962831" cy="3522938"/>
              <a:chOff x="2809966" y="2394535"/>
              <a:chExt cx="2962831" cy="3522938"/>
            </a:xfrm>
          </p:grpSpPr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7AF17A97-E69C-C5D9-66EB-AAA30A927C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09966" y="5917473"/>
                <a:ext cx="2962831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243" name="Arc 242">
                <a:extLst>
                  <a:ext uri="{FF2B5EF4-FFF2-40B4-BE49-F238E27FC236}">
                    <a16:creationId xmlns:a16="http://schemas.microsoft.com/office/drawing/2014/main" id="{324E8FD0-F0A7-6053-8CEC-F402EA304D54}"/>
                  </a:ext>
                </a:extLst>
              </p:cNvPr>
              <p:cNvSpPr/>
              <p:nvPr/>
            </p:nvSpPr>
            <p:spPr>
              <a:xfrm>
                <a:off x="3158916" y="2394535"/>
                <a:ext cx="2237173" cy="3329123"/>
              </a:xfrm>
              <a:prstGeom prst="arc">
                <a:avLst>
                  <a:gd name="adj1" fmla="val 213073"/>
                  <a:gd name="adj2" fmla="val 10668910"/>
                </a:avLst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912D7F02-CDAD-D807-2CA3-60B5818E5583}"/>
                </a:ext>
              </a:extLst>
            </p:cNvPr>
            <p:cNvSpPr/>
            <p:nvPr/>
          </p:nvSpPr>
          <p:spPr>
            <a:xfrm>
              <a:off x="3192248" y="4558461"/>
              <a:ext cx="45718" cy="45719"/>
            </a:xfrm>
            <a:prstGeom prst="ellipse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E906299D-A2DF-807C-85AF-E1ABC87C8723}"/>
              </a:ext>
            </a:extLst>
          </p:cNvPr>
          <p:cNvCxnSpPr>
            <a:cxnSpLocks/>
          </p:cNvCxnSpPr>
          <p:nvPr/>
        </p:nvCxnSpPr>
        <p:spPr>
          <a:xfrm>
            <a:off x="2563676" y="3183838"/>
            <a:ext cx="295232" cy="627076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29" name="Oval 228">
            <a:extLst>
              <a:ext uri="{FF2B5EF4-FFF2-40B4-BE49-F238E27FC236}">
                <a16:creationId xmlns:a16="http://schemas.microsoft.com/office/drawing/2014/main" id="{C625E278-0847-FC08-5ACB-0D89412FF058}"/>
              </a:ext>
            </a:extLst>
          </p:cNvPr>
          <p:cNvSpPr/>
          <p:nvPr/>
        </p:nvSpPr>
        <p:spPr>
          <a:xfrm>
            <a:off x="2853401" y="3870665"/>
            <a:ext cx="34587" cy="36176"/>
          </a:xfrm>
          <a:prstGeom prst="ellips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71E3FEE6-6516-7775-EE16-892CE7CA6F8D}"/>
              </a:ext>
            </a:extLst>
          </p:cNvPr>
          <p:cNvCxnSpPr>
            <a:cxnSpLocks/>
          </p:cNvCxnSpPr>
          <p:nvPr/>
        </p:nvCxnSpPr>
        <p:spPr>
          <a:xfrm flipV="1">
            <a:off x="2499634" y="3186582"/>
            <a:ext cx="0" cy="1044268"/>
          </a:xfrm>
          <a:prstGeom prst="line">
            <a:avLst/>
          </a:prstGeom>
          <a:noFill/>
          <a:ln w="12700" cap="flat" cmpd="sng" algn="ctr">
            <a:solidFill>
              <a:srgbClr val="A5A5A5">
                <a:lumMod val="75000"/>
              </a:srgbClr>
            </a:solidFill>
            <a:prstDash val="solid"/>
            <a:miter lim="800000"/>
          </a:ln>
          <a:effectLst/>
        </p:spPr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D6F58FC2-10D3-AAC8-810F-C70275FF45FE}"/>
              </a:ext>
            </a:extLst>
          </p:cNvPr>
          <p:cNvCxnSpPr>
            <a:cxnSpLocks/>
          </p:cNvCxnSpPr>
          <p:nvPr/>
        </p:nvCxnSpPr>
        <p:spPr>
          <a:xfrm flipH="1">
            <a:off x="2490108" y="4303486"/>
            <a:ext cx="393117" cy="0"/>
          </a:xfrm>
          <a:prstGeom prst="line">
            <a:avLst/>
          </a:prstGeom>
          <a:noFill/>
          <a:ln w="12700" cap="flat" cmpd="sng" algn="ctr">
            <a:solidFill>
              <a:srgbClr val="A5A5A5">
                <a:lumMod val="75000"/>
              </a:srgbClr>
            </a:solidFill>
            <a:prstDash val="solid"/>
            <a:miter lim="800000"/>
            <a:headEnd type="arrow" w="med" len="med"/>
            <a:tailEnd type="arrow" w="med" len="med"/>
          </a:ln>
          <a:effectLst/>
        </p:spPr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55565BC9-BD60-294E-697D-BF87CFBDFC8E}"/>
              </a:ext>
            </a:extLst>
          </p:cNvPr>
          <p:cNvCxnSpPr>
            <a:cxnSpLocks/>
            <a:endCxn id="229" idx="4"/>
          </p:cNvCxnSpPr>
          <p:nvPr/>
        </p:nvCxnSpPr>
        <p:spPr>
          <a:xfrm flipV="1">
            <a:off x="2870694" y="3906841"/>
            <a:ext cx="1" cy="326642"/>
          </a:xfrm>
          <a:prstGeom prst="line">
            <a:avLst/>
          </a:prstGeom>
          <a:noFill/>
          <a:ln w="12700" cap="flat" cmpd="sng" algn="ctr">
            <a:solidFill>
              <a:srgbClr val="A5A5A5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233" name="Oval 232">
            <a:extLst>
              <a:ext uri="{FF2B5EF4-FFF2-40B4-BE49-F238E27FC236}">
                <a16:creationId xmlns:a16="http://schemas.microsoft.com/office/drawing/2014/main" id="{89C0EEF4-AF55-52E2-26CE-367E7D14E9E6}"/>
              </a:ext>
            </a:extLst>
          </p:cNvPr>
          <p:cNvSpPr/>
          <p:nvPr/>
        </p:nvSpPr>
        <p:spPr>
          <a:xfrm>
            <a:off x="3225008" y="4055005"/>
            <a:ext cx="34587" cy="36176"/>
          </a:xfrm>
          <a:prstGeom prst="ellips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B2165B40-86D1-2FAC-AE93-D696956C1573}"/>
              </a:ext>
            </a:extLst>
          </p:cNvPr>
          <p:cNvCxnSpPr>
            <a:cxnSpLocks/>
          </p:cNvCxnSpPr>
          <p:nvPr/>
        </p:nvCxnSpPr>
        <p:spPr>
          <a:xfrm>
            <a:off x="2919126" y="3861379"/>
            <a:ext cx="326180" cy="16112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FF57481C-7C32-B9BA-3823-47049240DFF4}"/>
                  </a:ext>
                </a:extLst>
              </p:cNvPr>
              <p:cNvSpPr txBox="1"/>
              <p:nvPr/>
            </p:nvSpPr>
            <p:spPr>
              <a:xfrm>
                <a:off x="2570409" y="4329281"/>
                <a:ext cx="1803827" cy="161583"/>
              </a:xfrm>
              <a:prstGeom prst="rect">
                <a:avLst/>
              </a:prstGeom>
              <a:noFill/>
              <a:ln w="12700" cap="flat" cmpd="sng" algn="ctr">
                <a:solidFill>
                  <a:srgbClr val="A5A5A5">
                    <a:lumMod val="75000"/>
                  </a:srgbClr>
                </a:solidFill>
                <a:prstDash val="solid"/>
                <a:miter lim="800000"/>
                <a:headEnd type="arrow" w="med" len="med"/>
                <a:tailEnd type="arrow" w="med" len="med"/>
              </a:ln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5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kumimoji="0" lang="en-US" sz="105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kumimoji="0" lang="en-US" sz="105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0" lang="en-US" sz="105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learning</m:t>
                      </m:r>
                      <m:r>
                        <a:rPr kumimoji="0" lang="en-US" sz="105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sz="105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rate</m:t>
                      </m:r>
                      <m:r>
                        <a:rPr kumimoji="0" lang="en-US" sz="105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kumimoji="0" lang="en-US" sz="105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gradient</m:t>
                      </m:r>
                    </m:oMath>
                  </m:oMathPara>
                </a14:m>
                <a:endPara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FF57481C-7C32-B9BA-3823-47049240D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409" y="4329281"/>
                <a:ext cx="1803827" cy="161583"/>
              </a:xfrm>
              <a:prstGeom prst="rect">
                <a:avLst/>
              </a:prstGeom>
              <a:blipFill>
                <a:blip r:embed="rId3"/>
                <a:stretch>
                  <a:fillRect l="-1007" r="-2013" b="-31034"/>
                </a:stretch>
              </a:blipFill>
              <a:ln w="12700" cap="flat" cmpd="sng" algn="ctr">
                <a:solidFill>
                  <a:srgbClr val="A5A5A5">
                    <a:lumMod val="75000"/>
                  </a:srgbClr>
                </a:solidFill>
                <a:prstDash val="solid"/>
                <a:miter lim="800000"/>
                <a:headEnd type="arrow" w="med" len="med"/>
                <a:tailEnd type="arrow" w="med" len="med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6" name="TextBox 235">
            <a:extLst>
              <a:ext uri="{FF2B5EF4-FFF2-40B4-BE49-F238E27FC236}">
                <a16:creationId xmlns:a16="http://schemas.microsoft.com/office/drawing/2014/main" id="{A31644A1-3E3B-73FC-CB0E-29C5918A34F5}"/>
              </a:ext>
            </a:extLst>
          </p:cNvPr>
          <p:cNvSpPr txBox="1"/>
          <p:nvPr/>
        </p:nvSpPr>
        <p:spPr>
          <a:xfrm>
            <a:off x="2431930" y="4412514"/>
            <a:ext cx="18453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Optimal learning rate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AD05D6EF-ACD7-199B-CB3D-7BC6FF9166CC}"/>
              </a:ext>
            </a:extLst>
          </p:cNvPr>
          <p:cNvSpPr txBox="1"/>
          <p:nvPr/>
        </p:nvSpPr>
        <p:spPr>
          <a:xfrm rot="16200000">
            <a:off x="1534418" y="3255406"/>
            <a:ext cx="1040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Cost (loss)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37567B88-6845-39DD-F18D-5DD94149B26E}"/>
              </a:ext>
            </a:extLst>
          </p:cNvPr>
          <p:cNvSpPr/>
          <p:nvPr/>
        </p:nvSpPr>
        <p:spPr>
          <a:xfrm>
            <a:off x="1950132" y="2509611"/>
            <a:ext cx="2547185" cy="2210678"/>
          </a:xfrm>
          <a:prstGeom prst="rect">
            <a:avLst/>
          </a:prstGeom>
          <a:noFill/>
          <a:ln w="12700" cap="flat" cmpd="sng" algn="ctr">
            <a:solidFill>
              <a:srgbClr val="A5A5A5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CCCC7165-6036-8860-9C3C-EF330A0DA2BF}"/>
              </a:ext>
            </a:extLst>
          </p:cNvPr>
          <p:cNvSpPr/>
          <p:nvPr/>
        </p:nvSpPr>
        <p:spPr>
          <a:xfrm>
            <a:off x="4616728" y="2510486"/>
            <a:ext cx="2547185" cy="2210678"/>
          </a:xfrm>
          <a:prstGeom prst="rect">
            <a:avLst/>
          </a:prstGeom>
          <a:noFill/>
          <a:ln w="12700" cap="flat" cmpd="sng" algn="ctr">
            <a:solidFill>
              <a:srgbClr val="A5A5A5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3D18C696-4AAD-3A60-056D-0F0B08E8D137}"/>
              </a:ext>
            </a:extLst>
          </p:cNvPr>
          <p:cNvSpPr/>
          <p:nvPr/>
        </p:nvSpPr>
        <p:spPr>
          <a:xfrm>
            <a:off x="7283324" y="2509611"/>
            <a:ext cx="2547185" cy="2210678"/>
          </a:xfrm>
          <a:prstGeom prst="rect">
            <a:avLst/>
          </a:prstGeom>
          <a:noFill/>
          <a:ln w="12700" cap="flat" cmpd="sng" algn="ctr">
            <a:solidFill>
              <a:srgbClr val="A5A5A5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C76CF8DF-12C9-CB76-5B5E-B3F0200FE47E}"/>
              </a:ext>
            </a:extLst>
          </p:cNvPr>
          <p:cNvSpPr txBox="1"/>
          <p:nvPr/>
        </p:nvSpPr>
        <p:spPr>
          <a:xfrm>
            <a:off x="5101531" y="4412513"/>
            <a:ext cx="16770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Small learning rate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07CD85FE-FFA4-F2BF-70F8-B2D9EF450A15}"/>
              </a:ext>
            </a:extLst>
          </p:cNvPr>
          <p:cNvSpPr txBox="1"/>
          <p:nvPr/>
        </p:nvSpPr>
        <p:spPr>
          <a:xfrm>
            <a:off x="7767333" y="4413638"/>
            <a:ext cx="16850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Large learning rate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FC9BA61-F62A-231D-76DD-2B166264E13C}"/>
              </a:ext>
            </a:extLst>
          </p:cNvPr>
          <p:cNvSpPr txBox="1"/>
          <p:nvPr/>
        </p:nvSpPr>
        <p:spPr>
          <a:xfrm rot="16200000">
            <a:off x="4213687" y="3253858"/>
            <a:ext cx="1040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Cost (loss)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82903A85-CA5C-8037-4C9D-54768242BE2D}"/>
              </a:ext>
            </a:extLst>
          </p:cNvPr>
          <p:cNvSpPr txBox="1"/>
          <p:nvPr/>
        </p:nvSpPr>
        <p:spPr>
          <a:xfrm rot="16200000">
            <a:off x="6851105" y="3248173"/>
            <a:ext cx="1040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Cost (loss)</a:t>
            </a:r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84223671-237B-7ADB-A9D0-834D7E9E7CF3}"/>
              </a:ext>
            </a:extLst>
          </p:cNvPr>
          <p:cNvSpPr/>
          <p:nvPr/>
        </p:nvSpPr>
        <p:spPr>
          <a:xfrm>
            <a:off x="5252099" y="3461200"/>
            <a:ext cx="34587" cy="36176"/>
          </a:xfrm>
          <a:prstGeom prst="ellips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95BB1DFB-A0A8-257F-388B-086516F72EB4}"/>
              </a:ext>
            </a:extLst>
          </p:cNvPr>
          <p:cNvSpPr/>
          <p:nvPr/>
        </p:nvSpPr>
        <p:spPr>
          <a:xfrm>
            <a:off x="5331692" y="3618189"/>
            <a:ext cx="34587" cy="36176"/>
          </a:xfrm>
          <a:prstGeom prst="ellips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6F3F3C31-1612-1205-A8B6-20F4464E5627}"/>
              </a:ext>
            </a:extLst>
          </p:cNvPr>
          <p:cNvSpPr/>
          <p:nvPr/>
        </p:nvSpPr>
        <p:spPr>
          <a:xfrm>
            <a:off x="5398204" y="3722449"/>
            <a:ext cx="34587" cy="36176"/>
          </a:xfrm>
          <a:prstGeom prst="ellips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40A4A5F9-9815-0722-224D-8E20A943B899}"/>
              </a:ext>
            </a:extLst>
          </p:cNvPr>
          <p:cNvSpPr/>
          <p:nvPr/>
        </p:nvSpPr>
        <p:spPr>
          <a:xfrm>
            <a:off x="5455153" y="3793787"/>
            <a:ext cx="34587" cy="36176"/>
          </a:xfrm>
          <a:prstGeom prst="ellips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84E69ADA-7875-FCDD-6CD5-79BD8FE01A62}"/>
              </a:ext>
            </a:extLst>
          </p:cNvPr>
          <p:cNvSpPr/>
          <p:nvPr/>
        </p:nvSpPr>
        <p:spPr>
          <a:xfrm>
            <a:off x="5505083" y="3848529"/>
            <a:ext cx="34587" cy="36176"/>
          </a:xfrm>
          <a:prstGeom prst="ellips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34D55D3C-92DE-714C-F882-A11DB0272574}"/>
              </a:ext>
            </a:extLst>
          </p:cNvPr>
          <p:cNvSpPr/>
          <p:nvPr/>
        </p:nvSpPr>
        <p:spPr>
          <a:xfrm>
            <a:off x="5546876" y="3887899"/>
            <a:ext cx="34587" cy="36176"/>
          </a:xfrm>
          <a:prstGeom prst="ellips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163947F1-99F6-F680-7B88-9AE4760873E4}"/>
              </a:ext>
            </a:extLst>
          </p:cNvPr>
          <p:cNvSpPr/>
          <p:nvPr/>
        </p:nvSpPr>
        <p:spPr>
          <a:xfrm>
            <a:off x="5591081" y="3923851"/>
            <a:ext cx="34587" cy="36176"/>
          </a:xfrm>
          <a:prstGeom prst="ellips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1B1191BC-B1D3-AD2A-08A0-B1C0BE83E451}"/>
              </a:ext>
            </a:extLst>
          </p:cNvPr>
          <p:cNvCxnSpPr>
            <a:cxnSpLocks/>
          </p:cNvCxnSpPr>
          <p:nvPr/>
        </p:nvCxnSpPr>
        <p:spPr>
          <a:xfrm>
            <a:off x="5234217" y="3162106"/>
            <a:ext cx="88588" cy="28194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0D50E3BF-58CE-0CF2-9D13-93E4CC662BAD}"/>
              </a:ext>
            </a:extLst>
          </p:cNvPr>
          <p:cNvCxnSpPr>
            <a:cxnSpLocks/>
          </p:cNvCxnSpPr>
          <p:nvPr/>
        </p:nvCxnSpPr>
        <p:spPr>
          <a:xfrm>
            <a:off x="5330683" y="3459618"/>
            <a:ext cx="62776" cy="15202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17E9199B-FA20-5B82-B12A-BE282AF8FA30}"/>
              </a:ext>
            </a:extLst>
          </p:cNvPr>
          <p:cNvCxnSpPr>
            <a:cxnSpLocks/>
          </p:cNvCxnSpPr>
          <p:nvPr/>
        </p:nvCxnSpPr>
        <p:spPr>
          <a:xfrm>
            <a:off x="5400585" y="3618189"/>
            <a:ext cx="49975" cy="97717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ECBA1B89-18D1-A460-3A2F-117D0F146B98}"/>
              </a:ext>
            </a:extLst>
          </p:cNvPr>
          <p:cNvCxnSpPr>
            <a:cxnSpLocks/>
          </p:cNvCxnSpPr>
          <p:nvPr/>
        </p:nvCxnSpPr>
        <p:spPr>
          <a:xfrm>
            <a:off x="5450374" y="3710640"/>
            <a:ext cx="53824" cy="83147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96" name="TextBox 195">
            <a:extLst>
              <a:ext uri="{FF2B5EF4-FFF2-40B4-BE49-F238E27FC236}">
                <a16:creationId xmlns:a16="http://schemas.microsoft.com/office/drawing/2014/main" id="{7A9701B9-C53E-54AD-89DE-DDE960266E89}"/>
              </a:ext>
            </a:extLst>
          </p:cNvPr>
          <p:cNvSpPr txBox="1"/>
          <p:nvPr/>
        </p:nvSpPr>
        <p:spPr>
          <a:xfrm rot="2754757">
            <a:off x="5441914" y="3609042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…</a:t>
            </a:r>
          </a:p>
        </p:txBody>
      </p: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9A4CE5FA-0E6E-2A8A-48AB-4CDEFFA1F017}"/>
              </a:ext>
            </a:extLst>
          </p:cNvPr>
          <p:cNvCxnSpPr>
            <a:cxnSpLocks/>
          </p:cNvCxnSpPr>
          <p:nvPr/>
        </p:nvCxnSpPr>
        <p:spPr>
          <a:xfrm flipV="1">
            <a:off x="5158822" y="3175755"/>
            <a:ext cx="0" cy="1044268"/>
          </a:xfrm>
          <a:prstGeom prst="line">
            <a:avLst/>
          </a:prstGeom>
          <a:noFill/>
          <a:ln w="12700" cap="flat" cmpd="sng" algn="ctr">
            <a:solidFill>
              <a:srgbClr val="A5A5A5">
                <a:lumMod val="75000"/>
              </a:srgbClr>
            </a:solidFill>
            <a:prstDash val="solid"/>
            <a:miter lim="800000"/>
          </a:ln>
          <a:effectLst/>
        </p:spPr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04183C5D-2010-47FD-0635-8E765808907A}"/>
              </a:ext>
            </a:extLst>
          </p:cNvPr>
          <p:cNvCxnSpPr>
            <a:cxnSpLocks/>
          </p:cNvCxnSpPr>
          <p:nvPr/>
        </p:nvCxnSpPr>
        <p:spPr>
          <a:xfrm flipH="1" flipV="1">
            <a:off x="5142618" y="4280730"/>
            <a:ext cx="140133" cy="3570"/>
          </a:xfrm>
          <a:prstGeom prst="line">
            <a:avLst/>
          </a:prstGeom>
          <a:noFill/>
          <a:ln w="12700" cap="flat" cmpd="sng" algn="ctr">
            <a:solidFill>
              <a:srgbClr val="A5A5A5">
                <a:lumMod val="75000"/>
              </a:srgbClr>
            </a:solidFill>
            <a:prstDash val="solid"/>
            <a:miter lim="800000"/>
            <a:headEnd type="arrow" w="sm" len="sm"/>
            <a:tailEnd type="arrow" w="sm" len="sm"/>
          </a:ln>
          <a:effectLst/>
        </p:spPr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CC82CFD1-0715-CE19-AD61-DFD582DC5794}"/>
              </a:ext>
            </a:extLst>
          </p:cNvPr>
          <p:cNvCxnSpPr>
            <a:cxnSpLocks/>
          </p:cNvCxnSpPr>
          <p:nvPr/>
        </p:nvCxnSpPr>
        <p:spPr>
          <a:xfrm flipV="1">
            <a:off x="7796752" y="3165102"/>
            <a:ext cx="0" cy="1044268"/>
          </a:xfrm>
          <a:prstGeom prst="line">
            <a:avLst/>
          </a:prstGeom>
          <a:noFill/>
          <a:ln w="12700" cap="flat" cmpd="sng" algn="ctr">
            <a:solidFill>
              <a:srgbClr val="A5A5A5">
                <a:lumMod val="75000"/>
              </a:srgbClr>
            </a:solidFill>
            <a:prstDash val="solid"/>
            <a:miter lim="800000"/>
          </a:ln>
          <a:effectLst/>
        </p:spPr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22CE8769-C9C9-FFB5-B620-5F3C3F24401D}"/>
              </a:ext>
            </a:extLst>
          </p:cNvPr>
          <p:cNvCxnSpPr>
            <a:cxnSpLocks/>
          </p:cNvCxnSpPr>
          <p:nvPr/>
        </p:nvCxnSpPr>
        <p:spPr>
          <a:xfrm flipH="1" flipV="1">
            <a:off x="7782137" y="4314575"/>
            <a:ext cx="1649524" cy="9920"/>
          </a:xfrm>
          <a:prstGeom prst="line">
            <a:avLst/>
          </a:prstGeom>
          <a:noFill/>
          <a:ln w="12700" cap="flat" cmpd="sng" algn="ctr">
            <a:solidFill>
              <a:srgbClr val="A5A5A5">
                <a:lumMod val="75000"/>
              </a:srgbClr>
            </a:solidFill>
            <a:prstDash val="solid"/>
            <a:miter lim="800000"/>
            <a:headEnd type="arrow" w="med" len="med"/>
            <a:tailEnd type="arrow" w="med" len="med"/>
          </a:ln>
          <a:effectLst/>
        </p:spPr>
      </p:cxnSp>
      <p:sp>
        <p:nvSpPr>
          <p:cNvPr id="201" name="Oval 200">
            <a:extLst>
              <a:ext uri="{FF2B5EF4-FFF2-40B4-BE49-F238E27FC236}">
                <a16:creationId xmlns:a16="http://schemas.microsoft.com/office/drawing/2014/main" id="{EC9FCEA6-4BD4-AB13-E35D-59FF2C1383BA}"/>
              </a:ext>
            </a:extLst>
          </p:cNvPr>
          <p:cNvSpPr/>
          <p:nvPr/>
        </p:nvSpPr>
        <p:spPr>
          <a:xfrm>
            <a:off x="9414804" y="2963200"/>
            <a:ext cx="34587" cy="36176"/>
          </a:xfrm>
          <a:prstGeom prst="ellips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9D29B158-2845-2EA0-BD14-0C6A28A07597}"/>
              </a:ext>
            </a:extLst>
          </p:cNvPr>
          <p:cNvCxnSpPr>
            <a:cxnSpLocks/>
          </p:cNvCxnSpPr>
          <p:nvPr/>
        </p:nvCxnSpPr>
        <p:spPr>
          <a:xfrm flipH="1" flipV="1">
            <a:off x="9431661" y="2987638"/>
            <a:ext cx="436" cy="1221732"/>
          </a:xfrm>
          <a:prstGeom prst="line">
            <a:avLst/>
          </a:prstGeom>
          <a:noFill/>
          <a:ln w="12700" cap="flat" cmpd="sng" algn="ctr">
            <a:solidFill>
              <a:srgbClr val="A5A5A5">
                <a:lumMod val="75000"/>
              </a:srgbClr>
            </a:solidFill>
            <a:prstDash val="solid"/>
            <a:miter lim="800000"/>
          </a:ln>
          <a:effectLst/>
        </p:spPr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66DC0194-3E86-73B7-B405-A41EC76DFE8B}"/>
              </a:ext>
            </a:extLst>
          </p:cNvPr>
          <p:cNvCxnSpPr>
            <a:cxnSpLocks/>
          </p:cNvCxnSpPr>
          <p:nvPr/>
        </p:nvCxnSpPr>
        <p:spPr>
          <a:xfrm flipV="1">
            <a:off x="7835774" y="2983527"/>
            <a:ext cx="1558439" cy="1657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A22AE36E-A936-6154-FE15-E37112446FA4}"/>
              </a:ext>
            </a:extLst>
          </p:cNvPr>
          <p:cNvCxnSpPr>
            <a:cxnSpLocks/>
          </p:cNvCxnSpPr>
          <p:nvPr/>
        </p:nvCxnSpPr>
        <p:spPr>
          <a:xfrm flipH="1" flipV="1">
            <a:off x="7768657" y="2592519"/>
            <a:ext cx="1596981" cy="36413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56" name="TextBox 255">
            <a:extLst>
              <a:ext uri="{FF2B5EF4-FFF2-40B4-BE49-F238E27FC236}">
                <a16:creationId xmlns:a16="http://schemas.microsoft.com/office/drawing/2014/main" id="{900BE160-E495-99DE-1FE4-B94DF4CA1C61}"/>
              </a:ext>
            </a:extLst>
          </p:cNvPr>
          <p:cNvSpPr txBox="1"/>
          <p:nvPr/>
        </p:nvSpPr>
        <p:spPr>
          <a:xfrm>
            <a:off x="685440" y="5103212"/>
            <a:ext cx="983016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Adam optimizer: adaptive learning rates for different parameters. 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uses estimated 1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2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moments of the gradients. 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benefit is efficient.</a:t>
            </a: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041AA-C369-9563-E761-A42AFD905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topics in neural network training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6F67D6-4E5B-CE16-7C23-9737A065F5C3}"/>
              </a:ext>
            </a:extLst>
          </p:cNvPr>
          <p:cNvSpPr txBox="1"/>
          <p:nvPr/>
        </p:nvSpPr>
        <p:spPr>
          <a:xfrm>
            <a:off x="605528" y="1670021"/>
            <a:ext cx="10020677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Challenges: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Vanishing gradients – extremely small gradients on the layers far from the output layer.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Learning slows down.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Exploding gradients – extremely large gradients on network.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Instability in learning.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03C15ED-3587-CF8E-52AF-B850DA93F42B}"/>
              </a:ext>
            </a:extLst>
          </p:cNvPr>
          <p:cNvGrpSpPr/>
          <p:nvPr/>
        </p:nvGrpSpPr>
        <p:grpSpPr>
          <a:xfrm>
            <a:off x="634623" y="4519247"/>
            <a:ext cx="9662492" cy="1877437"/>
            <a:chOff x="777081" y="3696825"/>
            <a:chExt cx="7495966" cy="187743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DA96FF1-1453-EE6C-6847-BF51CF17BAC2}"/>
                </a:ext>
              </a:extLst>
            </p:cNvPr>
            <p:cNvSpPr txBox="1"/>
            <p:nvPr/>
          </p:nvSpPr>
          <p:spPr>
            <a:xfrm>
              <a:off x="777081" y="3696825"/>
              <a:ext cx="3191130" cy="18774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Solutions: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Weight initialization.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Gradient clipping. 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Activation function.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E740B8D-36CD-E38E-4081-364E0B9CEA11}"/>
                </a:ext>
              </a:extLst>
            </p:cNvPr>
            <p:cNvSpPr txBox="1"/>
            <p:nvPr/>
          </p:nvSpPr>
          <p:spPr>
            <a:xfrm>
              <a:off x="3665537" y="4158490"/>
              <a:ext cx="4607510" cy="13542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Batch normalization.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Skip connection.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Learning rate.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2245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56431A-7897-4CB1-81FB-DA7BCCA67C0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91A6DA7-5E5D-4A93-854A-E03E430634FB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3.xml><?xml version="1.0" encoding="utf-8"?>
<ds:datastoreItem xmlns:ds="http://schemas.openxmlformats.org/officeDocument/2006/customXml" ds:itemID="{F0E38F69-6DBD-4384-9A3B-B8EBE4BB29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1858</TotalTime>
  <Words>372</Words>
  <Application>Microsoft Office PowerPoint</Application>
  <PresentationFormat>Widescreen</PresentationFormat>
  <Paragraphs>62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 Math</vt:lpstr>
      <vt:lpstr>Office Theme</vt:lpstr>
      <vt:lpstr>More on Neural Network Training</vt:lpstr>
      <vt:lpstr>Training epochs and batch training </vt:lpstr>
      <vt:lpstr>Mini-batch gradient descent (MBGD)</vt:lpstr>
      <vt:lpstr>Mini-batch gradient descent (MBGD)</vt:lpstr>
      <vt:lpstr>The Adam optimizer</vt:lpstr>
      <vt:lpstr>Advanced topics in neural network training 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62</cp:revision>
  <dcterms:created xsi:type="dcterms:W3CDTF">2021-01-06T14:22:07Z</dcterms:created>
  <dcterms:modified xsi:type="dcterms:W3CDTF">2024-07-19T10:19:25Z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