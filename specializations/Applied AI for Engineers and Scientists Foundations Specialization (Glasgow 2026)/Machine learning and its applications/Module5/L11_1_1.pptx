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494" r:id="rId6"/>
    <p:sldId id="496" r:id="rId7"/>
    <p:sldId id="497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An Introduction to Artificial Neural Network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What is artificial neural network?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7BD5A8-BF3E-806A-2E71-501F823F3409}"/>
              </a:ext>
            </a:extLst>
          </p:cNvPr>
          <p:cNvSpPr txBox="1"/>
          <p:nvPr/>
        </p:nvSpPr>
        <p:spPr>
          <a:xfrm>
            <a:off x="597695" y="1749787"/>
            <a:ext cx="840660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Artificial neural networks (sometime called neural networks, or neural nets)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 layer.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Hidden layer(s).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Output layer.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Connections.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F117F3B-2FDC-0E86-BEA1-C38670EC40BC}"/>
              </a:ext>
            </a:extLst>
          </p:cNvPr>
          <p:cNvGrpSpPr/>
          <p:nvPr/>
        </p:nvGrpSpPr>
        <p:grpSpPr>
          <a:xfrm>
            <a:off x="3553877" y="3951389"/>
            <a:ext cx="5808752" cy="2372997"/>
            <a:chOff x="1510920" y="1980198"/>
            <a:chExt cx="5808752" cy="237299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E6E22A3-4B93-80C9-5D88-79EED5647159}"/>
                </a:ext>
              </a:extLst>
            </p:cNvPr>
            <p:cNvGrpSpPr/>
            <p:nvPr/>
          </p:nvGrpSpPr>
          <p:grpSpPr>
            <a:xfrm>
              <a:off x="1510920" y="1980198"/>
              <a:ext cx="5662819" cy="2372997"/>
              <a:chOff x="516621" y="1642846"/>
              <a:chExt cx="5662819" cy="237299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12FA2A18-CC63-5DDC-B2A4-9F04138E0CB3}"/>
                  </a:ext>
                </a:extLst>
              </p:cNvPr>
              <p:cNvGrpSpPr/>
              <p:nvPr/>
            </p:nvGrpSpPr>
            <p:grpSpPr>
              <a:xfrm>
                <a:off x="516621" y="2101876"/>
                <a:ext cx="4562681" cy="1913967"/>
                <a:chOff x="516621" y="2101876"/>
                <a:chExt cx="4562681" cy="1913967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BF5A9179-0E0D-3754-BBD2-BCE3ACA6141B}"/>
                    </a:ext>
                  </a:extLst>
                </p:cNvPr>
                <p:cNvGrpSpPr/>
                <p:nvPr/>
              </p:nvGrpSpPr>
              <p:grpSpPr>
                <a:xfrm>
                  <a:off x="1679590" y="2101876"/>
                  <a:ext cx="3399712" cy="1913967"/>
                  <a:chOff x="1679590" y="2101876"/>
                  <a:chExt cx="3399712" cy="1913967"/>
                </a:xfrm>
              </p:grpSpPr>
              <p:grpSp>
                <p:nvGrpSpPr>
                  <p:cNvPr id="14" name="Group 13">
                    <a:extLst>
                      <a:ext uri="{FF2B5EF4-FFF2-40B4-BE49-F238E27FC236}">
                        <a16:creationId xmlns:a16="http://schemas.microsoft.com/office/drawing/2014/main" id="{BBBDC5D1-F5E1-9EE9-F311-B71062E85CB6}"/>
                      </a:ext>
                    </a:extLst>
                  </p:cNvPr>
                  <p:cNvGrpSpPr/>
                  <p:nvPr/>
                </p:nvGrpSpPr>
                <p:grpSpPr>
                  <a:xfrm>
                    <a:off x="1679590" y="2101876"/>
                    <a:ext cx="3399712" cy="1913967"/>
                    <a:chOff x="1679590" y="2101876"/>
                    <a:chExt cx="3399712" cy="1913967"/>
                  </a:xfrm>
                </p:grpSpPr>
                <p:grpSp>
                  <p:nvGrpSpPr>
                    <p:cNvPr id="24" name="Group 23">
                      <a:extLst>
                        <a:ext uri="{FF2B5EF4-FFF2-40B4-BE49-F238E27FC236}">
                          <a16:creationId xmlns:a16="http://schemas.microsoft.com/office/drawing/2014/main" id="{59AF1457-D604-3EA5-BC9C-160C3679204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79590" y="2101876"/>
                      <a:ext cx="1944004" cy="1913967"/>
                      <a:chOff x="1457648" y="1942078"/>
                      <a:chExt cx="1944004" cy="1913967"/>
                    </a:xfrm>
                  </p:grpSpPr>
                  <p:grpSp>
                    <p:nvGrpSpPr>
                      <p:cNvPr id="26" name="Group 25">
                        <a:extLst>
                          <a:ext uri="{FF2B5EF4-FFF2-40B4-BE49-F238E27FC236}">
                            <a16:creationId xmlns:a16="http://schemas.microsoft.com/office/drawing/2014/main" id="{B609AB72-771E-86A0-08E6-B286C9179F5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457648" y="1942078"/>
                        <a:ext cx="1944004" cy="1913967"/>
                        <a:chOff x="-60434" y="1986466"/>
                        <a:chExt cx="1944004" cy="1913967"/>
                      </a:xfrm>
                    </p:grpSpPr>
                    <p:sp>
                      <p:nvSpPr>
                        <p:cNvPr id="28" name="Oval 27">
                          <a:extLst>
                            <a:ext uri="{FF2B5EF4-FFF2-40B4-BE49-F238E27FC236}">
                              <a16:creationId xmlns:a16="http://schemas.microsoft.com/office/drawing/2014/main" id="{0FDF8011-1434-8F68-C6C6-E88FB7E6AC0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76268" y="1986466"/>
                          <a:ext cx="507302" cy="506704"/>
                        </a:xfrm>
                        <a:prstGeom prst="ellipse">
                          <a:avLst/>
                        </a:prstGeom>
                        <a:ln>
                          <a:solidFill>
                            <a:srgbClr val="002060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1">
                          <a:schemeClr val="lt1"/>
                        </a:fillRef>
                        <a:effectRef idx="0">
                          <a:schemeClr val="accent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29" name="Oval 28">
                          <a:extLst>
                            <a:ext uri="{FF2B5EF4-FFF2-40B4-BE49-F238E27FC236}">
                              <a16:creationId xmlns:a16="http://schemas.microsoft.com/office/drawing/2014/main" id="{3F2E4704-00F8-FDF5-45DC-EDCEB6EDED6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76268" y="2689282"/>
                          <a:ext cx="507302" cy="506704"/>
                        </a:xfrm>
                        <a:prstGeom prst="ellipse">
                          <a:avLst/>
                        </a:prstGeom>
                        <a:ln>
                          <a:solidFill>
                            <a:srgbClr val="002060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1">
                          <a:schemeClr val="lt1"/>
                        </a:fillRef>
                        <a:effectRef idx="0">
                          <a:schemeClr val="accent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0" name="Oval 29">
                          <a:extLst>
                            <a:ext uri="{FF2B5EF4-FFF2-40B4-BE49-F238E27FC236}">
                              <a16:creationId xmlns:a16="http://schemas.microsoft.com/office/drawing/2014/main" id="{40933017-2E89-7E37-E65B-0D7E11971A6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76268" y="3393729"/>
                          <a:ext cx="507302" cy="506704"/>
                        </a:xfrm>
                        <a:prstGeom prst="ellipse">
                          <a:avLst/>
                        </a:prstGeom>
                        <a:ln>
                          <a:solidFill>
                            <a:srgbClr val="002060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1">
                          <a:schemeClr val="lt1"/>
                        </a:fillRef>
                        <a:effectRef idx="0">
                          <a:schemeClr val="accent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1" name="Oval 30">
                          <a:extLst>
                            <a:ext uri="{FF2B5EF4-FFF2-40B4-BE49-F238E27FC236}">
                              <a16:creationId xmlns:a16="http://schemas.microsoft.com/office/drawing/2014/main" id="{A07530AC-A5D3-8E54-F6D5-B33785A49A6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-60434" y="3036966"/>
                          <a:ext cx="507302" cy="506704"/>
                        </a:xfrm>
                        <a:prstGeom prst="ellipse">
                          <a:avLst/>
                        </a:prstGeom>
                        <a:ln>
                          <a:solidFill>
                            <a:schemeClr val="accent6">
                              <a:lumMod val="5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1">
                          <a:schemeClr val="lt1"/>
                        </a:fillRef>
                        <a:effectRef idx="0">
                          <a:schemeClr val="accent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</p:grpSp>
                  <p:sp>
                    <p:nvSpPr>
                      <p:cNvPr id="27" name="Oval 26">
                        <a:extLst>
                          <a:ext uri="{FF2B5EF4-FFF2-40B4-BE49-F238E27FC236}">
                            <a16:creationId xmlns:a16="http://schemas.microsoft.com/office/drawing/2014/main" id="{A73C2936-2B74-93D7-8C20-343991C9BB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57648" y="2195430"/>
                        <a:ext cx="507302" cy="506704"/>
                      </a:xfrm>
                      <a:prstGeom prst="ellipse">
                        <a:avLst/>
                      </a:prstGeom>
                      <a:ln>
                        <a:solidFill>
                          <a:schemeClr val="accent6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sp>
                  <p:nvSpPr>
                    <p:cNvPr id="25" name="Oval 24">
                      <a:extLst>
                        <a:ext uri="{FF2B5EF4-FFF2-40B4-BE49-F238E27FC236}">
                          <a16:creationId xmlns:a16="http://schemas.microsoft.com/office/drawing/2014/main" id="{EE2E7F36-223A-7F26-73D1-5D2D722842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0" y="2804692"/>
                      <a:ext cx="507302" cy="506704"/>
                    </a:xfrm>
                    <a:prstGeom prst="ellipse">
                      <a:avLst/>
                    </a:prstGeom>
                    <a:ln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cxnSp>
                <p:nvCxnSpPr>
                  <p:cNvPr id="15" name="Straight Arrow Connector 14">
                    <a:extLst>
                      <a:ext uri="{FF2B5EF4-FFF2-40B4-BE49-F238E27FC236}">
                        <a16:creationId xmlns:a16="http://schemas.microsoft.com/office/drawing/2014/main" id="{369ABB22-3655-763B-C185-51943EC3C4F8}"/>
                      </a:ext>
                    </a:extLst>
                  </p:cNvPr>
                  <p:cNvCxnSpPr>
                    <a:stCxn id="27" idx="6"/>
                    <a:endCxn id="28" idx="2"/>
                  </p:cNvCxnSpPr>
                  <p:nvPr/>
                </p:nvCxnSpPr>
                <p:spPr>
                  <a:xfrm flipV="1">
                    <a:off x="2186892" y="2355228"/>
                    <a:ext cx="929400" cy="253352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Arrow Connector 15">
                    <a:extLst>
                      <a:ext uri="{FF2B5EF4-FFF2-40B4-BE49-F238E27FC236}">
                        <a16:creationId xmlns:a16="http://schemas.microsoft.com/office/drawing/2014/main" id="{134C210D-76AE-3F8C-D47C-E0B65A5B2409}"/>
                      </a:ext>
                    </a:extLst>
                  </p:cNvPr>
                  <p:cNvCxnSpPr>
                    <a:cxnSpLocks/>
                    <a:stCxn id="27" idx="6"/>
                    <a:endCxn id="29" idx="2"/>
                  </p:cNvCxnSpPr>
                  <p:nvPr/>
                </p:nvCxnSpPr>
                <p:spPr>
                  <a:xfrm>
                    <a:off x="2186892" y="2608580"/>
                    <a:ext cx="929400" cy="449464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Arrow Connector 16">
                    <a:extLst>
                      <a:ext uri="{FF2B5EF4-FFF2-40B4-BE49-F238E27FC236}">
                        <a16:creationId xmlns:a16="http://schemas.microsoft.com/office/drawing/2014/main" id="{23E7501E-0123-BBF9-CA4D-DE4EE69BECBC}"/>
                      </a:ext>
                    </a:extLst>
                  </p:cNvPr>
                  <p:cNvCxnSpPr>
                    <a:cxnSpLocks/>
                    <a:stCxn id="27" idx="6"/>
                    <a:endCxn id="30" idx="2"/>
                  </p:cNvCxnSpPr>
                  <p:nvPr/>
                </p:nvCxnSpPr>
                <p:spPr>
                  <a:xfrm>
                    <a:off x="2186892" y="2608580"/>
                    <a:ext cx="929400" cy="1153911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>
                    <a:extLst>
                      <a:ext uri="{FF2B5EF4-FFF2-40B4-BE49-F238E27FC236}">
                        <a16:creationId xmlns:a16="http://schemas.microsoft.com/office/drawing/2014/main" id="{A549B0D8-22FD-5B50-5FA9-E88C2A0F20BE}"/>
                      </a:ext>
                    </a:extLst>
                  </p:cNvPr>
                  <p:cNvCxnSpPr>
                    <a:cxnSpLocks/>
                    <a:stCxn id="31" idx="6"/>
                    <a:endCxn id="28" idx="2"/>
                  </p:cNvCxnSpPr>
                  <p:nvPr/>
                </p:nvCxnSpPr>
                <p:spPr>
                  <a:xfrm flipV="1">
                    <a:off x="2186892" y="2355228"/>
                    <a:ext cx="929400" cy="1050500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Arrow Connector 18">
                    <a:extLst>
                      <a:ext uri="{FF2B5EF4-FFF2-40B4-BE49-F238E27FC236}">
                        <a16:creationId xmlns:a16="http://schemas.microsoft.com/office/drawing/2014/main" id="{7D999C96-B484-D5F0-6F39-EE9B9AE2677C}"/>
                      </a:ext>
                    </a:extLst>
                  </p:cNvPr>
                  <p:cNvCxnSpPr>
                    <a:cxnSpLocks/>
                    <a:stCxn id="31" idx="6"/>
                    <a:endCxn id="29" idx="2"/>
                  </p:cNvCxnSpPr>
                  <p:nvPr/>
                </p:nvCxnSpPr>
                <p:spPr>
                  <a:xfrm flipV="1">
                    <a:off x="2186892" y="3058044"/>
                    <a:ext cx="929400" cy="347684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Arrow Connector 19">
                    <a:extLst>
                      <a:ext uri="{FF2B5EF4-FFF2-40B4-BE49-F238E27FC236}">
                        <a16:creationId xmlns:a16="http://schemas.microsoft.com/office/drawing/2014/main" id="{8BE0FB25-5305-536C-C1EB-8413A1775D4E}"/>
                      </a:ext>
                    </a:extLst>
                  </p:cNvPr>
                  <p:cNvCxnSpPr>
                    <a:cxnSpLocks/>
                    <a:stCxn id="31" idx="6"/>
                    <a:endCxn id="30" idx="2"/>
                  </p:cNvCxnSpPr>
                  <p:nvPr/>
                </p:nvCxnSpPr>
                <p:spPr>
                  <a:xfrm>
                    <a:off x="2186892" y="3405728"/>
                    <a:ext cx="929400" cy="356763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Arrow Connector 20">
                    <a:extLst>
                      <a:ext uri="{FF2B5EF4-FFF2-40B4-BE49-F238E27FC236}">
                        <a16:creationId xmlns:a16="http://schemas.microsoft.com/office/drawing/2014/main" id="{56E9AF1F-0A65-CC7C-8F6D-C165EB35AFBA}"/>
                      </a:ext>
                    </a:extLst>
                  </p:cNvPr>
                  <p:cNvCxnSpPr>
                    <a:cxnSpLocks/>
                    <a:endCxn id="25" idx="2"/>
                  </p:cNvCxnSpPr>
                  <p:nvPr/>
                </p:nvCxnSpPr>
                <p:spPr>
                  <a:xfrm>
                    <a:off x="3623594" y="2355228"/>
                    <a:ext cx="948406" cy="702816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Arrow Connector 21">
                    <a:extLst>
                      <a:ext uri="{FF2B5EF4-FFF2-40B4-BE49-F238E27FC236}">
                        <a16:creationId xmlns:a16="http://schemas.microsoft.com/office/drawing/2014/main" id="{5B1A3A33-A8BA-8C76-B456-746CF9910040}"/>
                      </a:ext>
                    </a:extLst>
                  </p:cNvPr>
                  <p:cNvCxnSpPr>
                    <a:cxnSpLocks/>
                    <a:stCxn id="29" idx="6"/>
                    <a:endCxn id="25" idx="2"/>
                  </p:cNvCxnSpPr>
                  <p:nvPr/>
                </p:nvCxnSpPr>
                <p:spPr>
                  <a:xfrm>
                    <a:off x="3623594" y="3058044"/>
                    <a:ext cx="948406" cy="0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Arrow Connector 22">
                    <a:extLst>
                      <a:ext uri="{FF2B5EF4-FFF2-40B4-BE49-F238E27FC236}">
                        <a16:creationId xmlns:a16="http://schemas.microsoft.com/office/drawing/2014/main" id="{B98F295A-1C4C-4669-17CA-BD2E50375086}"/>
                      </a:ext>
                    </a:extLst>
                  </p:cNvPr>
                  <p:cNvCxnSpPr>
                    <a:cxnSpLocks/>
                    <a:stCxn id="30" idx="6"/>
                    <a:endCxn id="25" idx="2"/>
                  </p:cNvCxnSpPr>
                  <p:nvPr/>
                </p:nvCxnSpPr>
                <p:spPr>
                  <a:xfrm flipV="1">
                    <a:off x="3623594" y="3058044"/>
                    <a:ext cx="948406" cy="704447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7B40A3D-C285-5FF1-0DE7-0E179DC6ED87}"/>
                    </a:ext>
                  </a:extLst>
                </p:cNvPr>
                <p:cNvSpPr txBox="1"/>
                <p:nvPr/>
              </p:nvSpPr>
              <p:spPr>
                <a:xfrm>
                  <a:off x="516622" y="2364382"/>
                  <a:ext cx="11256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Input 1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450CD91-3E06-EC7D-E4FE-713203032957}"/>
                    </a:ext>
                  </a:extLst>
                </p:cNvPr>
                <p:cNvSpPr txBox="1"/>
                <p:nvPr/>
              </p:nvSpPr>
              <p:spPr>
                <a:xfrm>
                  <a:off x="516621" y="3226864"/>
                  <a:ext cx="11256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Input 2</a:t>
                  </a:r>
                </a:p>
              </p:txBody>
            </p: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650E1D-7333-62D4-673A-C7B51671ED9B}"/>
                  </a:ext>
                </a:extLst>
              </p:cNvPr>
              <p:cNvSpPr txBox="1"/>
              <p:nvPr/>
            </p:nvSpPr>
            <p:spPr>
              <a:xfrm>
                <a:off x="564332" y="1660646"/>
                <a:ext cx="16225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Input layer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DD79B3-8D5B-AE33-BB30-9E7763B8A322}"/>
                  </a:ext>
                </a:extLst>
              </p:cNvPr>
              <p:cNvSpPr txBox="1"/>
              <p:nvPr/>
            </p:nvSpPr>
            <p:spPr>
              <a:xfrm>
                <a:off x="2411988" y="1642846"/>
                <a:ext cx="191590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Hidden layer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4FC4A4-F6E3-7D87-D530-24DA71ABC264}"/>
                  </a:ext>
                </a:extLst>
              </p:cNvPr>
              <p:cNvSpPr txBox="1"/>
              <p:nvPr/>
            </p:nvSpPr>
            <p:spPr>
              <a:xfrm>
                <a:off x="4318033" y="1668831"/>
                <a:ext cx="18614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Output layer</a:t>
                </a: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1972BFF-0169-44B2-6519-6B4B9698C0DE}"/>
                </a:ext>
              </a:extLst>
            </p:cNvPr>
            <p:cNvSpPr txBox="1"/>
            <p:nvPr/>
          </p:nvSpPr>
          <p:spPr>
            <a:xfrm>
              <a:off x="6211676" y="3208162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A06ED-66D2-C362-FD94-8E2B44468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does artificial neural network do?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379ADD-7FDB-4A51-D6A3-E7D14988A666}"/>
              </a:ext>
            </a:extLst>
          </p:cNvPr>
          <p:cNvSpPr txBox="1"/>
          <p:nvPr/>
        </p:nvSpPr>
        <p:spPr>
          <a:xfrm>
            <a:off x="635795" y="1546587"/>
            <a:ext cx="4533613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Artificial neural networks can do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Classification.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Regression.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259B62-BC6F-D2E3-A75D-A605C9639519}"/>
              </a:ext>
            </a:extLst>
          </p:cNvPr>
          <p:cNvSpPr txBox="1"/>
          <p:nvPr/>
        </p:nvSpPr>
        <p:spPr>
          <a:xfrm>
            <a:off x="635795" y="3024991"/>
            <a:ext cx="11556205" cy="395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Advanced neural networks and tasks: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Convolutional neural nets – image recognition / facial recognition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Recurrent neural nets – Stock market prediction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Transformer – natural language processing,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ChatGPT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etc.</a:t>
            </a:r>
          </a:p>
          <a:p>
            <a:pPr>
              <a:spcAft>
                <a:spcPts val="600"/>
              </a:spcAf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Fundamental neural network, multilayer perceptron (MLP) is focused in this introductory course.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43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64BB-29E3-7603-FC53-CE0C9FBE6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the structure of MLP?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0BEFA-E4A7-E8E7-8E37-B1837B960936}"/>
              </a:ext>
            </a:extLst>
          </p:cNvPr>
          <p:cNvSpPr txBox="1"/>
          <p:nvPr/>
        </p:nvSpPr>
        <p:spPr>
          <a:xfrm>
            <a:off x="597695" y="1737087"/>
            <a:ext cx="8140370" cy="18004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Artificial neural networks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Receive inputs in the input layer.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Process inputs and extract features in the hidden layers.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Output results in the output layer.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BA0875-51DE-C3B4-CD19-E42A237B9470}"/>
              </a:ext>
            </a:extLst>
          </p:cNvPr>
          <p:cNvGrpSpPr/>
          <p:nvPr/>
        </p:nvGrpSpPr>
        <p:grpSpPr>
          <a:xfrm>
            <a:off x="3416533" y="3641231"/>
            <a:ext cx="5255714" cy="2459941"/>
            <a:chOff x="1781829" y="1893254"/>
            <a:chExt cx="5255714" cy="245994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ED51F38-F201-2FD3-3101-CE025CE6C9CC}"/>
                </a:ext>
              </a:extLst>
            </p:cNvPr>
            <p:cNvGrpSpPr/>
            <p:nvPr/>
          </p:nvGrpSpPr>
          <p:grpSpPr>
            <a:xfrm>
              <a:off x="1781829" y="1893254"/>
              <a:ext cx="4958962" cy="2459941"/>
              <a:chOff x="787530" y="1555902"/>
              <a:chExt cx="4958962" cy="245994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E1FD61B7-1E90-4BB3-0DC1-75FE987AA329}"/>
                  </a:ext>
                </a:extLst>
              </p:cNvPr>
              <p:cNvGrpSpPr/>
              <p:nvPr/>
            </p:nvGrpSpPr>
            <p:grpSpPr>
              <a:xfrm>
                <a:off x="787530" y="2101876"/>
                <a:ext cx="4291772" cy="1913967"/>
                <a:chOff x="787530" y="2101876"/>
                <a:chExt cx="4291772" cy="1913967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FB79E0B2-FB05-4236-3593-743107EDCAD2}"/>
                    </a:ext>
                  </a:extLst>
                </p:cNvPr>
                <p:cNvGrpSpPr/>
                <p:nvPr/>
              </p:nvGrpSpPr>
              <p:grpSpPr>
                <a:xfrm>
                  <a:off x="1679590" y="2101876"/>
                  <a:ext cx="3399712" cy="1913967"/>
                  <a:chOff x="1679590" y="2101876"/>
                  <a:chExt cx="3399712" cy="1913967"/>
                </a:xfrm>
              </p:grpSpPr>
              <p:grpSp>
                <p:nvGrpSpPr>
                  <p:cNvPr id="14" name="Group 13">
                    <a:extLst>
                      <a:ext uri="{FF2B5EF4-FFF2-40B4-BE49-F238E27FC236}">
                        <a16:creationId xmlns:a16="http://schemas.microsoft.com/office/drawing/2014/main" id="{A7D433E7-AE47-FCD5-4D2C-544913940131}"/>
                      </a:ext>
                    </a:extLst>
                  </p:cNvPr>
                  <p:cNvGrpSpPr/>
                  <p:nvPr/>
                </p:nvGrpSpPr>
                <p:grpSpPr>
                  <a:xfrm>
                    <a:off x="1679590" y="2101876"/>
                    <a:ext cx="3399712" cy="1913967"/>
                    <a:chOff x="1679590" y="2101876"/>
                    <a:chExt cx="3399712" cy="1913967"/>
                  </a:xfrm>
                </p:grpSpPr>
                <p:grpSp>
                  <p:nvGrpSpPr>
                    <p:cNvPr id="24" name="Group 23">
                      <a:extLst>
                        <a:ext uri="{FF2B5EF4-FFF2-40B4-BE49-F238E27FC236}">
                          <a16:creationId xmlns:a16="http://schemas.microsoft.com/office/drawing/2014/main" id="{672B8924-1FAC-7567-6A4D-47698A94F3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79590" y="2101876"/>
                      <a:ext cx="1944004" cy="1913967"/>
                      <a:chOff x="1457648" y="1942078"/>
                      <a:chExt cx="1944004" cy="1913967"/>
                    </a:xfrm>
                  </p:grpSpPr>
                  <p:grpSp>
                    <p:nvGrpSpPr>
                      <p:cNvPr id="26" name="Group 25">
                        <a:extLst>
                          <a:ext uri="{FF2B5EF4-FFF2-40B4-BE49-F238E27FC236}">
                            <a16:creationId xmlns:a16="http://schemas.microsoft.com/office/drawing/2014/main" id="{AB419ED3-5833-6932-DB0C-653A33D2994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457648" y="1942078"/>
                        <a:ext cx="1944004" cy="1913967"/>
                        <a:chOff x="-60434" y="1986466"/>
                        <a:chExt cx="1944004" cy="1913967"/>
                      </a:xfrm>
                    </p:grpSpPr>
                    <p:sp>
                      <p:nvSpPr>
                        <p:cNvPr id="28" name="Oval 27">
                          <a:extLst>
                            <a:ext uri="{FF2B5EF4-FFF2-40B4-BE49-F238E27FC236}">
                              <a16:creationId xmlns:a16="http://schemas.microsoft.com/office/drawing/2014/main" id="{5AE36CF5-AA3B-3ECF-DAA8-81BB152A55E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76268" y="1986466"/>
                          <a:ext cx="507302" cy="506704"/>
                        </a:xfrm>
                        <a:prstGeom prst="ellipse">
                          <a:avLst/>
                        </a:prstGeom>
                        <a:ln>
                          <a:solidFill>
                            <a:srgbClr val="002060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1">
                          <a:schemeClr val="lt1"/>
                        </a:fillRef>
                        <a:effectRef idx="0">
                          <a:schemeClr val="accent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29" name="Oval 28">
                          <a:extLst>
                            <a:ext uri="{FF2B5EF4-FFF2-40B4-BE49-F238E27FC236}">
                              <a16:creationId xmlns:a16="http://schemas.microsoft.com/office/drawing/2014/main" id="{C731EFB1-F00E-B1D6-E182-80BE9219A6F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76268" y="2689282"/>
                          <a:ext cx="507302" cy="506704"/>
                        </a:xfrm>
                        <a:prstGeom prst="ellipse">
                          <a:avLst/>
                        </a:prstGeom>
                        <a:ln>
                          <a:solidFill>
                            <a:srgbClr val="002060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1">
                          <a:schemeClr val="lt1"/>
                        </a:fillRef>
                        <a:effectRef idx="0">
                          <a:schemeClr val="accent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0" name="Oval 29">
                          <a:extLst>
                            <a:ext uri="{FF2B5EF4-FFF2-40B4-BE49-F238E27FC236}">
                              <a16:creationId xmlns:a16="http://schemas.microsoft.com/office/drawing/2014/main" id="{37BDD40B-1CA8-F653-5C62-CD11E3682BD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76268" y="3393729"/>
                          <a:ext cx="507302" cy="506704"/>
                        </a:xfrm>
                        <a:prstGeom prst="ellipse">
                          <a:avLst/>
                        </a:prstGeom>
                        <a:ln>
                          <a:solidFill>
                            <a:srgbClr val="002060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1">
                          <a:schemeClr val="lt1"/>
                        </a:fillRef>
                        <a:effectRef idx="0">
                          <a:schemeClr val="accent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1" name="Oval 30">
                          <a:extLst>
                            <a:ext uri="{FF2B5EF4-FFF2-40B4-BE49-F238E27FC236}">
                              <a16:creationId xmlns:a16="http://schemas.microsoft.com/office/drawing/2014/main" id="{F6F5A8E8-8D83-1C72-0CEB-A5E0A9E67D6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-60434" y="3036966"/>
                          <a:ext cx="507302" cy="506704"/>
                        </a:xfrm>
                        <a:prstGeom prst="ellipse">
                          <a:avLst/>
                        </a:prstGeom>
                        <a:ln>
                          <a:solidFill>
                            <a:schemeClr val="accent6">
                              <a:lumMod val="5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1">
                          <a:schemeClr val="lt1"/>
                        </a:fillRef>
                        <a:effectRef idx="0">
                          <a:schemeClr val="accent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</p:grpSp>
                  <p:sp>
                    <p:nvSpPr>
                      <p:cNvPr id="27" name="Oval 26">
                        <a:extLst>
                          <a:ext uri="{FF2B5EF4-FFF2-40B4-BE49-F238E27FC236}">
                            <a16:creationId xmlns:a16="http://schemas.microsoft.com/office/drawing/2014/main" id="{26FB0640-C5D3-07D7-9034-2967030F00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57648" y="2195430"/>
                        <a:ext cx="507302" cy="506704"/>
                      </a:xfrm>
                      <a:prstGeom prst="ellipse">
                        <a:avLst/>
                      </a:prstGeom>
                      <a:ln>
                        <a:solidFill>
                          <a:schemeClr val="accent6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sp>
                  <p:nvSpPr>
                    <p:cNvPr id="25" name="Oval 24">
                      <a:extLst>
                        <a:ext uri="{FF2B5EF4-FFF2-40B4-BE49-F238E27FC236}">
                          <a16:creationId xmlns:a16="http://schemas.microsoft.com/office/drawing/2014/main" id="{8EADD089-13E3-CFD6-177B-1FDCE90DB1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0" y="2804692"/>
                      <a:ext cx="507302" cy="506704"/>
                    </a:xfrm>
                    <a:prstGeom prst="ellipse">
                      <a:avLst/>
                    </a:prstGeom>
                    <a:ln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cxnSp>
                <p:nvCxnSpPr>
                  <p:cNvPr id="15" name="Straight Arrow Connector 14">
                    <a:extLst>
                      <a:ext uri="{FF2B5EF4-FFF2-40B4-BE49-F238E27FC236}">
                        <a16:creationId xmlns:a16="http://schemas.microsoft.com/office/drawing/2014/main" id="{62F86DEA-108D-E2D2-AE58-05A05356D382}"/>
                      </a:ext>
                    </a:extLst>
                  </p:cNvPr>
                  <p:cNvCxnSpPr>
                    <a:cxnSpLocks/>
                    <a:stCxn id="27" idx="6"/>
                    <a:endCxn id="28" idx="2"/>
                  </p:cNvCxnSpPr>
                  <p:nvPr/>
                </p:nvCxnSpPr>
                <p:spPr>
                  <a:xfrm flipV="1">
                    <a:off x="2186892" y="2355228"/>
                    <a:ext cx="929400" cy="253352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Arrow Connector 15">
                    <a:extLst>
                      <a:ext uri="{FF2B5EF4-FFF2-40B4-BE49-F238E27FC236}">
                        <a16:creationId xmlns:a16="http://schemas.microsoft.com/office/drawing/2014/main" id="{F356D82F-986A-A7B2-E414-71E17A66A411}"/>
                      </a:ext>
                    </a:extLst>
                  </p:cNvPr>
                  <p:cNvCxnSpPr>
                    <a:cxnSpLocks/>
                    <a:stCxn id="27" idx="6"/>
                    <a:endCxn id="29" idx="2"/>
                  </p:cNvCxnSpPr>
                  <p:nvPr/>
                </p:nvCxnSpPr>
                <p:spPr>
                  <a:xfrm>
                    <a:off x="2186892" y="2608580"/>
                    <a:ext cx="929400" cy="449464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Arrow Connector 16">
                    <a:extLst>
                      <a:ext uri="{FF2B5EF4-FFF2-40B4-BE49-F238E27FC236}">
                        <a16:creationId xmlns:a16="http://schemas.microsoft.com/office/drawing/2014/main" id="{DD69F8D3-603F-50EC-D6DE-14E3096BD8AF}"/>
                      </a:ext>
                    </a:extLst>
                  </p:cNvPr>
                  <p:cNvCxnSpPr>
                    <a:cxnSpLocks/>
                    <a:stCxn id="27" idx="6"/>
                    <a:endCxn id="30" idx="2"/>
                  </p:cNvCxnSpPr>
                  <p:nvPr/>
                </p:nvCxnSpPr>
                <p:spPr>
                  <a:xfrm>
                    <a:off x="2186892" y="2608580"/>
                    <a:ext cx="929400" cy="1153911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>
                    <a:extLst>
                      <a:ext uri="{FF2B5EF4-FFF2-40B4-BE49-F238E27FC236}">
                        <a16:creationId xmlns:a16="http://schemas.microsoft.com/office/drawing/2014/main" id="{C993FBF5-9FF1-3B54-EE79-08D778B4EAF5}"/>
                      </a:ext>
                    </a:extLst>
                  </p:cNvPr>
                  <p:cNvCxnSpPr>
                    <a:cxnSpLocks/>
                    <a:stCxn id="31" idx="6"/>
                    <a:endCxn id="28" idx="2"/>
                  </p:cNvCxnSpPr>
                  <p:nvPr/>
                </p:nvCxnSpPr>
                <p:spPr>
                  <a:xfrm flipV="1">
                    <a:off x="2186892" y="2355228"/>
                    <a:ext cx="929400" cy="1050500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Arrow Connector 18">
                    <a:extLst>
                      <a:ext uri="{FF2B5EF4-FFF2-40B4-BE49-F238E27FC236}">
                        <a16:creationId xmlns:a16="http://schemas.microsoft.com/office/drawing/2014/main" id="{252D6149-12F3-893E-DBC5-60219BD96453}"/>
                      </a:ext>
                    </a:extLst>
                  </p:cNvPr>
                  <p:cNvCxnSpPr>
                    <a:cxnSpLocks/>
                    <a:stCxn id="31" idx="6"/>
                    <a:endCxn id="29" idx="2"/>
                  </p:cNvCxnSpPr>
                  <p:nvPr/>
                </p:nvCxnSpPr>
                <p:spPr>
                  <a:xfrm flipV="1">
                    <a:off x="2186892" y="3058044"/>
                    <a:ext cx="929400" cy="347684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Arrow Connector 19">
                    <a:extLst>
                      <a:ext uri="{FF2B5EF4-FFF2-40B4-BE49-F238E27FC236}">
                        <a16:creationId xmlns:a16="http://schemas.microsoft.com/office/drawing/2014/main" id="{AACD4745-5E87-8B14-6D8F-13605FFE9D69}"/>
                      </a:ext>
                    </a:extLst>
                  </p:cNvPr>
                  <p:cNvCxnSpPr>
                    <a:cxnSpLocks/>
                    <a:stCxn id="31" idx="6"/>
                    <a:endCxn id="30" idx="2"/>
                  </p:cNvCxnSpPr>
                  <p:nvPr/>
                </p:nvCxnSpPr>
                <p:spPr>
                  <a:xfrm>
                    <a:off x="2186892" y="3405728"/>
                    <a:ext cx="929400" cy="356763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Arrow Connector 20">
                    <a:extLst>
                      <a:ext uri="{FF2B5EF4-FFF2-40B4-BE49-F238E27FC236}">
                        <a16:creationId xmlns:a16="http://schemas.microsoft.com/office/drawing/2014/main" id="{0BCBFFFD-1377-525D-4DFB-239C48CD2D1E}"/>
                      </a:ext>
                    </a:extLst>
                  </p:cNvPr>
                  <p:cNvCxnSpPr>
                    <a:cxnSpLocks/>
                    <a:endCxn id="25" idx="2"/>
                  </p:cNvCxnSpPr>
                  <p:nvPr/>
                </p:nvCxnSpPr>
                <p:spPr>
                  <a:xfrm>
                    <a:off x="3623594" y="2355228"/>
                    <a:ext cx="948406" cy="702816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Arrow Connector 21">
                    <a:extLst>
                      <a:ext uri="{FF2B5EF4-FFF2-40B4-BE49-F238E27FC236}">
                        <a16:creationId xmlns:a16="http://schemas.microsoft.com/office/drawing/2014/main" id="{C7272FF2-DC67-CF5D-E4F7-590AD98497FE}"/>
                      </a:ext>
                    </a:extLst>
                  </p:cNvPr>
                  <p:cNvCxnSpPr>
                    <a:cxnSpLocks/>
                    <a:stCxn id="29" idx="6"/>
                    <a:endCxn id="25" idx="2"/>
                  </p:cNvCxnSpPr>
                  <p:nvPr/>
                </p:nvCxnSpPr>
                <p:spPr>
                  <a:xfrm>
                    <a:off x="3623594" y="3058044"/>
                    <a:ext cx="948406" cy="0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Arrow Connector 22">
                    <a:extLst>
                      <a:ext uri="{FF2B5EF4-FFF2-40B4-BE49-F238E27FC236}">
                        <a16:creationId xmlns:a16="http://schemas.microsoft.com/office/drawing/2014/main" id="{C2CD3D6A-82CB-F6D9-BC2D-A985A325B1D6}"/>
                      </a:ext>
                    </a:extLst>
                  </p:cNvPr>
                  <p:cNvCxnSpPr>
                    <a:cxnSpLocks/>
                    <a:stCxn id="30" idx="6"/>
                    <a:endCxn id="25" idx="2"/>
                  </p:cNvCxnSpPr>
                  <p:nvPr/>
                </p:nvCxnSpPr>
                <p:spPr>
                  <a:xfrm flipV="1">
                    <a:off x="3623594" y="3058044"/>
                    <a:ext cx="948406" cy="704447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760E94B-964F-091B-C5A8-7C48584F48FE}"/>
                    </a:ext>
                  </a:extLst>
                </p:cNvPr>
                <p:cNvSpPr txBox="1"/>
                <p:nvPr/>
              </p:nvSpPr>
              <p:spPr>
                <a:xfrm>
                  <a:off x="787530" y="2423914"/>
                  <a:ext cx="85472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Input 1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370A712-6895-8EE6-A51D-1BA13F5EC57F}"/>
                    </a:ext>
                  </a:extLst>
                </p:cNvPr>
                <p:cNvSpPr txBox="1"/>
                <p:nvPr/>
              </p:nvSpPr>
              <p:spPr>
                <a:xfrm>
                  <a:off x="797148" y="3214777"/>
                  <a:ext cx="84510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Input 2</a:t>
                  </a:r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48A709-34B6-B685-740B-CEC514E5EC6C}"/>
                  </a:ext>
                </a:extLst>
              </p:cNvPr>
              <p:cNvSpPr txBox="1"/>
              <p:nvPr/>
            </p:nvSpPr>
            <p:spPr>
              <a:xfrm>
                <a:off x="1337565" y="1555902"/>
                <a:ext cx="12618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Input layer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9C0984-07D9-6D60-E550-670EDC0B7FE8}"/>
                  </a:ext>
                </a:extLst>
              </p:cNvPr>
              <p:cNvSpPr txBox="1"/>
              <p:nvPr/>
            </p:nvSpPr>
            <p:spPr>
              <a:xfrm>
                <a:off x="2642575" y="1555902"/>
                <a:ext cx="17491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Hidden layer(s)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2F2E36D-8363-C910-32A1-0E1795EB3C7D}"/>
                  </a:ext>
                </a:extLst>
              </p:cNvPr>
              <p:cNvSpPr txBox="1"/>
              <p:nvPr/>
            </p:nvSpPr>
            <p:spPr>
              <a:xfrm>
                <a:off x="4305072" y="1555902"/>
                <a:ext cx="14414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Output layer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9577CF-72AE-4DAE-7201-F7ED4FBC5400}"/>
                </a:ext>
              </a:extLst>
            </p:cNvPr>
            <p:cNvSpPr txBox="1"/>
            <p:nvPr/>
          </p:nvSpPr>
          <p:spPr>
            <a:xfrm>
              <a:off x="6211676" y="3208162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EEA3758E-4556-9AC4-ECB3-583D2B723317}"/>
              </a:ext>
            </a:extLst>
          </p:cNvPr>
          <p:cNvSpPr txBox="1"/>
          <p:nvPr/>
        </p:nvSpPr>
        <p:spPr>
          <a:xfrm>
            <a:off x="5251673" y="6285870"/>
            <a:ext cx="1494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After training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0B5811C-5750-4596-393A-FC49A807CAA4}"/>
              </a:ext>
            </a:extLst>
          </p:cNvPr>
          <p:cNvGrpSpPr/>
          <p:nvPr/>
        </p:nvGrpSpPr>
        <p:grpSpPr>
          <a:xfrm>
            <a:off x="3130213" y="3852267"/>
            <a:ext cx="6027753" cy="2011530"/>
            <a:chOff x="1544566" y="3214777"/>
            <a:chExt cx="6027753" cy="201153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B960F1A-2E08-93D8-8FBC-4C7E9791B58E}"/>
                </a:ext>
              </a:extLst>
            </p:cNvPr>
            <p:cNvGrpSpPr/>
            <p:nvPr/>
          </p:nvGrpSpPr>
          <p:grpSpPr>
            <a:xfrm>
              <a:off x="1544566" y="3325779"/>
              <a:ext cx="6027753" cy="1369613"/>
              <a:chOff x="1495509" y="2215292"/>
              <a:chExt cx="6027753" cy="1369613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80968A80-D0F8-7409-EF99-6124B69D68CC}"/>
                  </a:ext>
                </a:extLst>
              </p:cNvPr>
              <p:cNvGrpSpPr/>
              <p:nvPr/>
            </p:nvGrpSpPr>
            <p:grpSpPr>
              <a:xfrm>
                <a:off x="1495509" y="2215292"/>
                <a:ext cx="6027753" cy="1363966"/>
                <a:chOff x="501210" y="1877940"/>
                <a:chExt cx="6027753" cy="1363966"/>
              </a:xfrm>
            </p:grpSpPr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28697051-A47E-DA23-E1DF-D15899A4E695}"/>
                    </a:ext>
                  </a:extLst>
                </p:cNvPr>
                <p:cNvSpPr txBox="1"/>
                <p:nvPr/>
              </p:nvSpPr>
              <p:spPr>
                <a:xfrm>
                  <a:off x="760897" y="2872574"/>
                  <a:ext cx="6719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Input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82588FA9-7B0D-7858-508C-1B3241DBA184}"/>
                    </a:ext>
                  </a:extLst>
                </p:cNvPr>
                <p:cNvSpPr txBox="1"/>
                <p:nvPr/>
              </p:nvSpPr>
              <p:spPr>
                <a:xfrm>
                  <a:off x="501210" y="1877940"/>
                  <a:ext cx="12618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Input layer</a:t>
                  </a: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38A649F-9DE7-1088-4387-499AFF6287EB}"/>
                    </a:ext>
                  </a:extLst>
                </p:cNvPr>
                <p:cNvSpPr txBox="1"/>
                <p:nvPr/>
              </p:nvSpPr>
              <p:spPr>
                <a:xfrm>
                  <a:off x="5087543" y="1886658"/>
                  <a:ext cx="14414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Output layer</a:t>
                  </a:r>
                </a:p>
              </p:txBody>
            </p: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2AF81F8-5B01-1053-8ACA-259F0257F4C6}"/>
                  </a:ext>
                </a:extLst>
              </p:cNvPr>
              <p:cNvSpPr txBox="1"/>
              <p:nvPr/>
            </p:nvSpPr>
            <p:spPr>
              <a:xfrm>
                <a:off x="6266896" y="3215573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Output</a:t>
                </a:r>
              </a:p>
            </p:txBody>
          </p: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61AC27A-6665-6BC8-FAA5-CE7B4F6DB32C}"/>
                </a:ext>
              </a:extLst>
            </p:cNvPr>
            <p:cNvSpPr/>
            <p:nvPr/>
          </p:nvSpPr>
          <p:spPr>
            <a:xfrm>
              <a:off x="2883268" y="3795146"/>
              <a:ext cx="3100282" cy="14311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Black box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33161A9-4659-86B7-F5FE-D3E309986B36}"/>
                </a:ext>
              </a:extLst>
            </p:cNvPr>
            <p:cNvCxnSpPr>
              <a:cxnSpLocks/>
              <a:stCxn id="41" idx="3"/>
              <a:endCxn id="35" idx="1"/>
            </p:cNvCxnSpPr>
            <p:nvPr/>
          </p:nvCxnSpPr>
          <p:spPr>
            <a:xfrm>
              <a:off x="2476232" y="4505079"/>
              <a:ext cx="407036" cy="5648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A74A4DB-989A-2C08-EB1E-58024615E6F1}"/>
                </a:ext>
              </a:extLst>
            </p:cNvPr>
            <p:cNvCxnSpPr>
              <a:cxnSpLocks/>
              <a:stCxn id="35" idx="3"/>
              <a:endCxn id="40" idx="1"/>
            </p:cNvCxnSpPr>
            <p:nvPr/>
          </p:nvCxnSpPr>
          <p:spPr>
            <a:xfrm flipV="1">
              <a:off x="5983550" y="4510726"/>
              <a:ext cx="332403" cy="1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B86814C-8DDD-11A9-F3A1-3FE2088B9E3C}"/>
                </a:ext>
              </a:extLst>
            </p:cNvPr>
            <p:cNvSpPr txBox="1"/>
            <p:nvPr/>
          </p:nvSpPr>
          <p:spPr>
            <a:xfrm>
              <a:off x="3619724" y="3214777"/>
              <a:ext cx="17491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Hidden layer(s)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9270C06-43BA-540F-3CF4-5E14EFCF173B}"/>
              </a:ext>
            </a:extLst>
          </p:cNvPr>
          <p:cNvGrpSpPr/>
          <p:nvPr/>
        </p:nvGrpSpPr>
        <p:grpSpPr>
          <a:xfrm>
            <a:off x="2850931" y="4423107"/>
            <a:ext cx="6864569" cy="1431161"/>
            <a:chOff x="1265284" y="3785617"/>
            <a:chExt cx="6864569" cy="1431161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56169F1-6855-01EC-E206-A1B1429670EA}"/>
                </a:ext>
              </a:extLst>
            </p:cNvPr>
            <p:cNvSpPr txBox="1"/>
            <p:nvPr/>
          </p:nvSpPr>
          <p:spPr>
            <a:xfrm>
              <a:off x="7161528" y="4320412"/>
              <a:ext cx="968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dog</a:t>
              </a: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08C7696B-BCC3-7F7D-4098-5A3E40C277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4" t="14496" r="4795" b="2601"/>
            <a:stretch/>
          </p:blipFill>
          <p:spPr>
            <a:xfrm>
              <a:off x="1265284" y="3785617"/>
              <a:ext cx="1146786" cy="14311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500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FBA70DCC-67B7-4DD1-808D-302CA690BA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F466F0-04E5-4799-877F-A2719F0037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5D09C6-A5DA-4CF2-94B1-D752F9091DE0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1854</TotalTime>
  <Words>195</Words>
  <Application>Microsoft Office PowerPoint</Application>
  <PresentationFormat>Widescreen</PresentationFormat>
  <Paragraphs>51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An Introduction to Artificial Neural Network </vt:lpstr>
      <vt:lpstr>What is artificial neural network?</vt:lpstr>
      <vt:lpstr>What does artificial neural network do? </vt:lpstr>
      <vt:lpstr>What is the structure of MLP?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61</cp:revision>
  <dcterms:created xsi:type="dcterms:W3CDTF">2021-01-06T14:22:07Z</dcterms:created>
  <dcterms:modified xsi:type="dcterms:W3CDTF">2024-07-16T15:27:22Z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