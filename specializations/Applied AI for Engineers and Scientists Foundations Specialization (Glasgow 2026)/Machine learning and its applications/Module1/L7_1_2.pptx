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497" r:id="rId6"/>
    <p:sldId id="494" r:id="rId7"/>
    <p:sldId id="498" r:id="rId8"/>
    <p:sldId id="496" r:id="rId9"/>
    <p:sldId id="499" r:id="rId10"/>
    <p:sldId id="500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4E66BB-AA74-4BCF-9C29-EBAC29B5FC17}" v="3" dt="2024-06-25T06:38:22.5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shi Liu (PGR)" userId="S::2109741l@student.gla.ac.uk::0738f1d2-bd1d-4f8b-945a-b877be0bfefb" providerId="AD" clId="Web-{E04E66BB-AA74-4BCF-9C29-EBAC29B5FC17}"/>
    <pc:docChg chg="modSld">
      <pc:chgData name="Yushi Liu (PGR)" userId="S::2109741l@student.gla.ac.uk::0738f1d2-bd1d-4f8b-945a-b877be0bfefb" providerId="AD" clId="Web-{E04E66BB-AA74-4BCF-9C29-EBAC29B5FC17}" dt="2024-06-25T06:38:22.509" v="3" actId="20577"/>
      <pc:docMkLst>
        <pc:docMk/>
      </pc:docMkLst>
      <pc:sldChg chg="modSp">
        <pc:chgData name="Yushi Liu (PGR)" userId="S::2109741l@student.gla.ac.uk::0738f1d2-bd1d-4f8b-945a-b877be0bfefb" providerId="AD" clId="Web-{E04E66BB-AA74-4BCF-9C29-EBAC29B5FC17}" dt="2024-06-25T06:38:22.509" v="3" actId="20577"/>
        <pc:sldMkLst>
          <pc:docMk/>
          <pc:sldMk cId="4244171547" sldId="256"/>
        </pc:sldMkLst>
        <pc:spChg chg="mod">
          <ac:chgData name="Yushi Liu (PGR)" userId="S::2109741l@student.gla.ac.uk::0738f1d2-bd1d-4f8b-945a-b877be0bfefb" providerId="AD" clId="Web-{E04E66BB-AA74-4BCF-9C29-EBAC29B5FC17}" dt="2024-06-25T06:38:22.509" v="3" actId="20577"/>
          <ac:spMkLst>
            <pc:docMk/>
            <pc:sldMk cId="4244171547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84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09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70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626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948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08/07/2024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>
                <a:latin typeface="Arial"/>
                <a:cs typeface="Arial"/>
              </a:rPr>
              <a:t>Fundamental Concepts in Machine Learning</a:t>
            </a:r>
          </a:p>
          <a:p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Fundamental concepts in ML: model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76DB1EEB-34CB-13B4-2C2A-45E467759712}"/>
              </a:ext>
            </a:extLst>
          </p:cNvPr>
          <p:cNvSpPr txBox="1"/>
          <p:nvPr/>
        </p:nvSpPr>
        <p:spPr>
          <a:xfrm>
            <a:off x="361139" y="1625349"/>
            <a:ext cx="9902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Model: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a 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specific representation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 learned from data by applying some ML algorithm(s). </a:t>
            </a:r>
          </a:p>
        </p:txBody>
      </p:sp>
      <p:sp>
        <p:nvSpPr>
          <p:cNvPr id="3" name="文本框 9">
            <a:extLst>
              <a:ext uri="{FF2B5EF4-FFF2-40B4-BE49-F238E27FC236}">
                <a16:creationId xmlns:a16="http://schemas.microsoft.com/office/drawing/2014/main" id="{7EA82847-9E1F-4A7B-775A-220D084C1DBE}"/>
              </a:ext>
            </a:extLst>
          </p:cNvPr>
          <p:cNvSpPr txBox="1"/>
          <p:nvPr/>
        </p:nvSpPr>
        <p:spPr>
          <a:xfrm>
            <a:off x="384697" y="3337434"/>
            <a:ext cx="10920528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 predict a fruit, a model is trained by fruit image dataset.  </a:t>
            </a:r>
          </a:p>
          <a:p>
            <a:pPr marL="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After training, the model can be used to recognize/classify an unknown fruit.</a:t>
            </a:r>
          </a:p>
        </p:txBody>
      </p:sp>
      <p:sp>
        <p:nvSpPr>
          <p:cNvPr id="4" name="文本框 10">
            <a:extLst>
              <a:ext uri="{FF2B5EF4-FFF2-40B4-BE49-F238E27FC236}">
                <a16:creationId xmlns:a16="http://schemas.microsoft.com/office/drawing/2014/main" id="{D9DD4F66-92ED-8BC1-DDD2-7C9E4591B8BA}"/>
              </a:ext>
            </a:extLst>
          </p:cNvPr>
          <p:cNvSpPr txBox="1"/>
          <p:nvPr/>
        </p:nvSpPr>
        <p:spPr>
          <a:xfrm>
            <a:off x="361139" y="2432182"/>
            <a:ext cx="10920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Once trained, the model can be used to reason/predict data that it has not seen before.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11">
            <a:extLst>
              <a:ext uri="{FF2B5EF4-FFF2-40B4-BE49-F238E27FC236}">
                <a16:creationId xmlns:a16="http://schemas.microsoft.com/office/drawing/2014/main" id="{D1194DB9-A5B0-0AAD-39E6-68836CFE0006}"/>
              </a:ext>
            </a:extLst>
          </p:cNvPr>
          <p:cNvSpPr txBox="1"/>
          <p:nvPr/>
        </p:nvSpPr>
        <p:spPr>
          <a:xfrm>
            <a:off x="1682516" y="4403012"/>
            <a:ext cx="8897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箭头: 右 12">
            <a:extLst>
              <a:ext uri="{FF2B5EF4-FFF2-40B4-BE49-F238E27FC236}">
                <a16:creationId xmlns:a16="http://schemas.microsoft.com/office/drawing/2014/main" id="{034C408F-9BE0-3BB4-080D-4553A725C2F5}"/>
              </a:ext>
            </a:extLst>
          </p:cNvPr>
          <p:cNvSpPr/>
          <p:nvPr/>
        </p:nvSpPr>
        <p:spPr>
          <a:xfrm>
            <a:off x="2903890" y="5451537"/>
            <a:ext cx="1392382" cy="1197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13">
            <a:extLst>
              <a:ext uri="{FF2B5EF4-FFF2-40B4-BE49-F238E27FC236}">
                <a16:creationId xmlns:a16="http://schemas.microsoft.com/office/drawing/2014/main" id="{522496AC-625E-3BA6-39BB-3EB929F43332}"/>
              </a:ext>
            </a:extLst>
          </p:cNvPr>
          <p:cNvSpPr txBox="1"/>
          <p:nvPr/>
        </p:nvSpPr>
        <p:spPr>
          <a:xfrm>
            <a:off x="3184876" y="5117042"/>
            <a:ext cx="813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14">
            <a:extLst>
              <a:ext uri="{FF2B5EF4-FFF2-40B4-BE49-F238E27FC236}">
                <a16:creationId xmlns:a16="http://schemas.microsoft.com/office/drawing/2014/main" id="{A0122FBB-F6ED-FDA1-B90C-6612C2872B83}"/>
              </a:ext>
            </a:extLst>
          </p:cNvPr>
          <p:cNvSpPr/>
          <p:nvPr/>
        </p:nvSpPr>
        <p:spPr>
          <a:xfrm>
            <a:off x="4372471" y="5195228"/>
            <a:ext cx="1336964" cy="724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Trained model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箭头: 右 15">
            <a:extLst>
              <a:ext uri="{FF2B5EF4-FFF2-40B4-BE49-F238E27FC236}">
                <a16:creationId xmlns:a16="http://schemas.microsoft.com/office/drawing/2014/main" id="{C1B1E73A-8A2B-0012-5335-A7A118EA1FE8}"/>
              </a:ext>
            </a:extLst>
          </p:cNvPr>
          <p:cNvSpPr/>
          <p:nvPr/>
        </p:nvSpPr>
        <p:spPr>
          <a:xfrm>
            <a:off x="5888275" y="5422515"/>
            <a:ext cx="1020042" cy="1487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8">
            <a:extLst>
              <a:ext uri="{FF2B5EF4-FFF2-40B4-BE49-F238E27FC236}">
                <a16:creationId xmlns:a16="http://schemas.microsoft.com/office/drawing/2014/main" id="{47CBE9DE-2CA3-0C53-21A8-EF08E7410716}"/>
              </a:ext>
            </a:extLst>
          </p:cNvPr>
          <p:cNvSpPr txBox="1"/>
          <p:nvPr/>
        </p:nvSpPr>
        <p:spPr>
          <a:xfrm>
            <a:off x="5931571" y="5053183"/>
            <a:ext cx="9923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20">
            <a:extLst>
              <a:ext uri="{FF2B5EF4-FFF2-40B4-BE49-F238E27FC236}">
                <a16:creationId xmlns:a16="http://schemas.microsoft.com/office/drawing/2014/main" id="{E7C86E67-3C21-4B9C-65A7-AEF3C1A5E4F5}"/>
              </a:ext>
            </a:extLst>
          </p:cNvPr>
          <p:cNvSpPr txBox="1"/>
          <p:nvPr/>
        </p:nvSpPr>
        <p:spPr>
          <a:xfrm>
            <a:off x="7082510" y="5000947"/>
            <a:ext cx="18468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apple 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not apple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图片 16">
            <a:extLst>
              <a:ext uri="{FF2B5EF4-FFF2-40B4-BE49-F238E27FC236}">
                <a16:creationId xmlns:a16="http://schemas.microsoft.com/office/drawing/2014/main" id="{89823F4A-2554-46B8-4B78-3177F7E0A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632" y="4810809"/>
            <a:ext cx="1520977" cy="1520977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14" name="图片 2">
            <a:extLst>
              <a:ext uri="{FF2B5EF4-FFF2-40B4-BE49-F238E27FC236}">
                <a16:creationId xmlns:a16="http://schemas.microsoft.com/office/drawing/2014/main" id="{9DE0268F-3600-8AB3-A8A5-B7F8F3E98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491" y="4620627"/>
            <a:ext cx="2120176" cy="187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05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9" grpId="0" animBg="1"/>
      <p:bldP spid="10" grpId="0" animBg="1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Fundamental concepts in ML: dataset</a:t>
            </a:r>
          </a:p>
        </p:txBody>
      </p:sp>
      <p:sp>
        <p:nvSpPr>
          <p:cNvPr id="2" name="文本框 9">
            <a:extLst>
              <a:ext uri="{FF2B5EF4-FFF2-40B4-BE49-F238E27FC236}">
                <a16:creationId xmlns:a16="http://schemas.microsoft.com/office/drawing/2014/main" id="{152CD8D8-200C-82D4-9174-FA70D680A8F1}"/>
              </a:ext>
            </a:extLst>
          </p:cNvPr>
          <p:cNvSpPr txBox="1"/>
          <p:nvPr/>
        </p:nvSpPr>
        <p:spPr>
          <a:xfrm>
            <a:off x="612885" y="4586821"/>
            <a:ext cx="6776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For example, in order to predict a fruit, we need the dataset of fruit images.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2B3F7-5FE2-656B-CFBD-C12CF4876708}"/>
              </a:ext>
            </a:extLst>
          </p:cNvPr>
          <p:cNvSpPr txBox="1"/>
          <p:nvPr/>
        </p:nvSpPr>
        <p:spPr>
          <a:xfrm>
            <a:off x="612885" y="1631249"/>
            <a:ext cx="94291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Dataset: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collection of data. </a:t>
            </a:r>
          </a:p>
          <a:p>
            <a:pPr marL="0"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ML is a method that learns from the dataset.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10">
                <a:extLst>
                  <a:ext uri="{FF2B5EF4-FFF2-40B4-BE49-F238E27FC236}">
                    <a16:creationId xmlns:a16="http://schemas.microsoft.com/office/drawing/2014/main" id="{C36C49C0-4A7C-C598-8140-99F54D24EFCD}"/>
                  </a:ext>
                </a:extLst>
              </p:cNvPr>
              <p:cNvSpPr txBox="1"/>
              <p:nvPr/>
            </p:nvSpPr>
            <p:spPr>
              <a:xfrm>
                <a:off x="612885" y="2974772"/>
                <a:ext cx="980007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 dataset can be represented by a set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={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⋯,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size of the set.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10">
                <a:extLst>
                  <a:ext uri="{FF2B5EF4-FFF2-40B4-BE49-F238E27FC236}">
                    <a16:creationId xmlns:a16="http://schemas.microsoft.com/office/drawing/2014/main" id="{C36C49C0-4A7C-C598-8140-99F54D24E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885" y="2974772"/>
                <a:ext cx="9800078" cy="830997"/>
              </a:xfrm>
              <a:prstGeom prst="rect">
                <a:avLst/>
              </a:prstGeom>
              <a:blipFill>
                <a:blip r:embed="rId3"/>
                <a:stretch>
                  <a:fillRect l="-996" t="-5147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2">
            <a:extLst>
              <a:ext uri="{FF2B5EF4-FFF2-40B4-BE49-F238E27FC236}">
                <a16:creationId xmlns:a16="http://schemas.microsoft.com/office/drawing/2014/main" id="{D1D07684-B894-A156-05D0-553643073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213" y="3768861"/>
            <a:ext cx="3299104" cy="291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Fundamental concepts in ML: sample</a:t>
            </a:r>
          </a:p>
        </p:txBody>
      </p:sp>
      <p:sp>
        <p:nvSpPr>
          <p:cNvPr id="2" name="文本框 9">
            <a:extLst>
              <a:ext uri="{FF2B5EF4-FFF2-40B4-BE49-F238E27FC236}">
                <a16:creationId xmlns:a16="http://schemas.microsoft.com/office/drawing/2014/main" id="{27632B09-9594-8BF8-0B1C-6C3A020D69BC}"/>
              </a:ext>
            </a:extLst>
          </p:cNvPr>
          <p:cNvSpPr txBox="1"/>
          <p:nvPr/>
        </p:nvSpPr>
        <p:spPr>
          <a:xfrm>
            <a:off x="382555" y="2879624"/>
            <a:ext cx="109541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n-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sample of the fruit dataset may be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the image and the name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of a fruit.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4317C-F32A-7FE0-A805-374E1B244D5B}"/>
              </a:ext>
            </a:extLst>
          </p:cNvPr>
          <p:cNvSpPr txBox="1"/>
          <p:nvPr/>
        </p:nvSpPr>
        <p:spPr>
          <a:xfrm>
            <a:off x="382555" y="1571583"/>
            <a:ext cx="8762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Sample (instance):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sample is an element in a dataset.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10">
                <a:extLst>
                  <a:ext uri="{FF2B5EF4-FFF2-40B4-BE49-F238E27FC236}">
                    <a16:creationId xmlns:a16="http://schemas.microsoft.com/office/drawing/2014/main" id="{48662CEA-2F35-C07E-6E94-BDF67E5AE039}"/>
                  </a:ext>
                </a:extLst>
              </p:cNvPr>
              <p:cNvSpPr txBox="1"/>
              <p:nvPr/>
            </p:nvSpPr>
            <p:spPr>
              <a:xfrm>
                <a:off x="382555" y="2144291"/>
                <a:ext cx="102636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the dataset 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={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 ⋯,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GB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n-</a:t>
                </a: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sample of the dataset.</a:t>
                </a:r>
              </a:p>
            </p:txBody>
          </p:sp>
        </mc:Choice>
        <mc:Fallback xmlns="">
          <p:sp>
            <p:nvSpPr>
              <p:cNvPr id="4" name="文本框 10">
                <a:extLst>
                  <a:ext uri="{FF2B5EF4-FFF2-40B4-BE49-F238E27FC236}">
                    <a16:creationId xmlns:a16="http://schemas.microsoft.com/office/drawing/2014/main" id="{48662CEA-2F35-C07E-6E94-BDF67E5AE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555" y="2144291"/>
                <a:ext cx="10263674" cy="461665"/>
              </a:xfrm>
              <a:prstGeom prst="rect">
                <a:avLst/>
              </a:prstGeom>
              <a:blipFill>
                <a:blip r:embed="rId3"/>
                <a:stretch>
                  <a:fillRect l="-951"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7">
            <a:extLst>
              <a:ext uri="{FF2B5EF4-FFF2-40B4-BE49-F238E27FC236}">
                <a16:creationId xmlns:a16="http://schemas.microsoft.com/office/drawing/2014/main" id="{77811F6A-E7F5-71B6-DC81-8CDE38EC8771}"/>
              </a:ext>
            </a:extLst>
          </p:cNvPr>
          <p:cNvSpPr/>
          <p:nvPr/>
        </p:nvSpPr>
        <p:spPr>
          <a:xfrm>
            <a:off x="6426699" y="3575138"/>
            <a:ext cx="1302327" cy="498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sample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12">
            <a:extLst>
              <a:ext uri="{FF2B5EF4-FFF2-40B4-BE49-F238E27FC236}">
                <a16:creationId xmlns:a16="http://schemas.microsoft.com/office/drawing/2014/main" id="{8DAEC09D-B083-BD4E-E300-8869C680E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7885" y="3680274"/>
            <a:ext cx="3299104" cy="2915779"/>
          </a:xfrm>
          <a:prstGeom prst="rect">
            <a:avLst/>
          </a:prstGeom>
        </p:spPr>
      </p:pic>
      <p:sp>
        <p:nvSpPr>
          <p:cNvPr id="7" name="矩形 4">
            <a:extLst>
              <a:ext uri="{FF2B5EF4-FFF2-40B4-BE49-F238E27FC236}">
                <a16:creationId xmlns:a16="http://schemas.microsoft.com/office/drawing/2014/main" id="{C96C866D-FFB3-3CF2-7508-4C7E8586BBDF}"/>
              </a:ext>
            </a:extLst>
          </p:cNvPr>
          <p:cNvSpPr/>
          <p:nvPr/>
        </p:nvSpPr>
        <p:spPr>
          <a:xfrm>
            <a:off x="4666340" y="3824519"/>
            <a:ext cx="859536" cy="11439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直接箭头连接符 14">
            <a:extLst>
              <a:ext uri="{FF2B5EF4-FFF2-40B4-BE49-F238E27FC236}">
                <a16:creationId xmlns:a16="http://schemas.microsoft.com/office/drawing/2014/main" id="{A814ED29-672E-86D9-7A77-60A1C08CE254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>
            <a:off x="5525876" y="3824520"/>
            <a:ext cx="900823" cy="571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10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Fundamental concepts in ML: training/test dataset</a:t>
            </a:r>
          </a:p>
        </p:txBody>
      </p:sp>
      <p:sp>
        <p:nvSpPr>
          <p:cNvPr id="2" name="文本框 11">
            <a:extLst>
              <a:ext uri="{FF2B5EF4-FFF2-40B4-BE49-F238E27FC236}">
                <a16:creationId xmlns:a16="http://schemas.microsoft.com/office/drawing/2014/main" id="{A528D537-6A61-281A-B4FE-FF6159F5A830}"/>
              </a:ext>
            </a:extLst>
          </p:cNvPr>
          <p:cNvSpPr txBox="1"/>
          <p:nvPr/>
        </p:nvSpPr>
        <p:spPr>
          <a:xfrm>
            <a:off x="601002" y="1522972"/>
            <a:ext cx="8207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dataset is often partitioned into training and test sets.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845C46-B674-62D4-BA35-C353DBBCF4C7}"/>
              </a:ext>
            </a:extLst>
          </p:cNvPr>
          <p:cNvSpPr txBox="1"/>
          <p:nvPr/>
        </p:nvSpPr>
        <p:spPr>
          <a:xfrm>
            <a:off x="601002" y="2016226"/>
            <a:ext cx="10828998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training dataset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is used to train the ML model.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size of the training data set is bigger than the test data, e.g., (70% of the total data.)</a:t>
            </a:r>
          </a:p>
        </p:txBody>
      </p:sp>
      <p:sp>
        <p:nvSpPr>
          <p:cNvPr id="4" name="文本框 4">
            <a:extLst>
              <a:ext uri="{FF2B5EF4-FFF2-40B4-BE49-F238E27FC236}">
                <a16:creationId xmlns:a16="http://schemas.microsoft.com/office/drawing/2014/main" id="{02666349-A13E-ED73-A2D1-BDE20390CC69}"/>
              </a:ext>
            </a:extLst>
          </p:cNvPr>
          <p:cNvSpPr txBox="1"/>
          <p:nvPr/>
        </p:nvSpPr>
        <p:spPr>
          <a:xfrm>
            <a:off x="601002" y="3521745"/>
            <a:ext cx="1035313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The test dataset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is used as a benchmark to evaluate a trained model.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Test dataset is independent of the training dataset.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size of test dataset is often approximately 20-30% of the total data. 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8">
            <a:extLst>
              <a:ext uri="{FF2B5EF4-FFF2-40B4-BE49-F238E27FC236}">
                <a16:creationId xmlns:a16="http://schemas.microsoft.com/office/drawing/2014/main" id="{829D15B3-1180-017E-C56E-8B2EC2EBC4F5}"/>
              </a:ext>
            </a:extLst>
          </p:cNvPr>
          <p:cNvSpPr/>
          <p:nvPr/>
        </p:nvSpPr>
        <p:spPr>
          <a:xfrm>
            <a:off x="2642542" y="5559873"/>
            <a:ext cx="2917861" cy="44178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Training dataset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12">
            <a:extLst>
              <a:ext uri="{FF2B5EF4-FFF2-40B4-BE49-F238E27FC236}">
                <a16:creationId xmlns:a16="http://schemas.microsoft.com/office/drawing/2014/main" id="{85EE3105-4CFE-E77E-D8F5-62F1E93BEF24}"/>
              </a:ext>
            </a:extLst>
          </p:cNvPr>
          <p:cNvSpPr/>
          <p:nvPr/>
        </p:nvSpPr>
        <p:spPr>
          <a:xfrm>
            <a:off x="5581808" y="5559872"/>
            <a:ext cx="1448224" cy="441789"/>
          </a:xfrm>
          <a:prstGeom prst="rect">
            <a:avLst/>
          </a:prstGeom>
          <a:solidFill>
            <a:schemeClr val="accent2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Test dataset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接箭头连接符 13">
            <a:extLst>
              <a:ext uri="{FF2B5EF4-FFF2-40B4-BE49-F238E27FC236}">
                <a16:creationId xmlns:a16="http://schemas.microsoft.com/office/drawing/2014/main" id="{53DD8522-0602-5F23-87EC-89A6CD1A4C80}"/>
              </a:ext>
            </a:extLst>
          </p:cNvPr>
          <p:cNvCxnSpPr>
            <a:cxnSpLocks/>
          </p:cNvCxnSpPr>
          <p:nvPr/>
        </p:nvCxnSpPr>
        <p:spPr>
          <a:xfrm>
            <a:off x="2642542" y="5297451"/>
            <a:ext cx="4387490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15">
            <a:extLst>
              <a:ext uri="{FF2B5EF4-FFF2-40B4-BE49-F238E27FC236}">
                <a16:creationId xmlns:a16="http://schemas.microsoft.com/office/drawing/2014/main" id="{4132346E-AAA8-2DE3-4FEC-2D7507A5D48C}"/>
              </a:ext>
            </a:extLst>
          </p:cNvPr>
          <p:cNvCxnSpPr/>
          <p:nvPr/>
        </p:nvCxnSpPr>
        <p:spPr>
          <a:xfrm>
            <a:off x="2642542" y="5081693"/>
            <a:ext cx="0" cy="47817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17">
            <a:extLst>
              <a:ext uri="{FF2B5EF4-FFF2-40B4-BE49-F238E27FC236}">
                <a16:creationId xmlns:a16="http://schemas.microsoft.com/office/drawing/2014/main" id="{2D2B08E7-E17E-28F5-127B-CEB43DB4286B}"/>
              </a:ext>
            </a:extLst>
          </p:cNvPr>
          <p:cNvCxnSpPr/>
          <p:nvPr/>
        </p:nvCxnSpPr>
        <p:spPr>
          <a:xfrm>
            <a:off x="7018289" y="5058361"/>
            <a:ext cx="0" cy="47817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右大括号 16">
            <a:extLst>
              <a:ext uri="{FF2B5EF4-FFF2-40B4-BE49-F238E27FC236}">
                <a16:creationId xmlns:a16="http://schemas.microsoft.com/office/drawing/2014/main" id="{44B24BC7-1B27-D2F4-7D7C-302EA63DDC6C}"/>
              </a:ext>
            </a:extLst>
          </p:cNvPr>
          <p:cNvSpPr/>
          <p:nvPr/>
        </p:nvSpPr>
        <p:spPr>
          <a:xfrm rot="5400000">
            <a:off x="3958792" y="4752527"/>
            <a:ext cx="285359" cy="29178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右大括号 19">
            <a:extLst>
              <a:ext uri="{FF2B5EF4-FFF2-40B4-BE49-F238E27FC236}">
                <a16:creationId xmlns:a16="http://schemas.microsoft.com/office/drawing/2014/main" id="{D947A120-DFF4-DE62-E702-8BD1F9089679}"/>
              </a:ext>
            </a:extLst>
          </p:cNvPr>
          <p:cNvSpPr/>
          <p:nvPr/>
        </p:nvSpPr>
        <p:spPr>
          <a:xfrm rot="5400000">
            <a:off x="6189736" y="5488048"/>
            <a:ext cx="232368" cy="144822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8">
                <a:extLst>
                  <a:ext uri="{FF2B5EF4-FFF2-40B4-BE49-F238E27FC236}">
                    <a16:creationId xmlns:a16="http://schemas.microsoft.com/office/drawing/2014/main" id="{C7C7484C-B767-6FD9-45E2-BD4D3E44970C}"/>
                  </a:ext>
                </a:extLst>
              </p:cNvPr>
              <p:cNvSpPr txBox="1"/>
              <p:nvPr/>
            </p:nvSpPr>
            <p:spPr>
              <a:xfrm>
                <a:off x="3798383" y="6381333"/>
                <a:ext cx="9948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60%</a:t>
                </a:r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文本框 18">
                <a:extLst>
                  <a:ext uri="{FF2B5EF4-FFF2-40B4-BE49-F238E27FC236}">
                    <a16:creationId xmlns:a16="http://schemas.microsoft.com/office/drawing/2014/main" id="{C7C7484C-B767-6FD9-45E2-BD4D3E449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8383" y="6381333"/>
                <a:ext cx="994882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22">
            <a:extLst>
              <a:ext uri="{FF2B5EF4-FFF2-40B4-BE49-F238E27FC236}">
                <a16:creationId xmlns:a16="http://schemas.microsoft.com/office/drawing/2014/main" id="{06454E46-C407-2B3F-8A07-9FE54BC5739A}"/>
              </a:ext>
            </a:extLst>
          </p:cNvPr>
          <p:cNvSpPr txBox="1"/>
          <p:nvPr/>
        </p:nvSpPr>
        <p:spPr>
          <a:xfrm>
            <a:off x="5853638" y="6328343"/>
            <a:ext cx="1176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~20-30%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20">
            <a:extLst>
              <a:ext uri="{FF2B5EF4-FFF2-40B4-BE49-F238E27FC236}">
                <a16:creationId xmlns:a16="http://schemas.microsoft.com/office/drawing/2014/main" id="{90B92420-AA30-3C55-07E6-F325AE05C3A0}"/>
              </a:ext>
            </a:extLst>
          </p:cNvPr>
          <p:cNvSpPr txBox="1"/>
          <p:nvPr/>
        </p:nvSpPr>
        <p:spPr>
          <a:xfrm>
            <a:off x="4391110" y="4952398"/>
            <a:ext cx="107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36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11" grpId="0" animBg="1"/>
      <p:bldP spid="12" grpId="0" animBg="1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Fundamental concepts in ML: feature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16EDF393-3955-3183-4F7F-865770B7C6AE}"/>
              </a:ext>
            </a:extLst>
          </p:cNvPr>
          <p:cNvSpPr txBox="1"/>
          <p:nvPr/>
        </p:nvSpPr>
        <p:spPr>
          <a:xfrm>
            <a:off x="457200" y="1615120"/>
            <a:ext cx="8762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Feature: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 feature is a measurable property of the data. </a:t>
            </a:r>
          </a:p>
        </p:txBody>
      </p:sp>
      <p:sp>
        <p:nvSpPr>
          <p:cNvPr id="3" name="文本框 7">
            <a:extLst>
              <a:ext uri="{FF2B5EF4-FFF2-40B4-BE49-F238E27FC236}">
                <a16:creationId xmlns:a16="http://schemas.microsoft.com/office/drawing/2014/main" id="{0A92843D-4185-79C1-6C91-FCDD9946837F}"/>
              </a:ext>
            </a:extLst>
          </p:cNvPr>
          <p:cNvSpPr txBox="1"/>
          <p:nvPr/>
        </p:nvSpPr>
        <p:spPr>
          <a:xfrm>
            <a:off x="490749" y="2380556"/>
            <a:ext cx="98662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 set of features can be conveniently described by a 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feature vector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Feature vectors are fed as input to the model.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9">
                <a:extLst>
                  <a:ext uri="{FF2B5EF4-FFF2-40B4-BE49-F238E27FC236}">
                    <a16:creationId xmlns:a16="http://schemas.microsoft.com/office/drawing/2014/main" id="{DB9A5600-7BD9-D642-48E6-81B88F3246D0}"/>
                  </a:ext>
                </a:extLst>
              </p:cNvPr>
              <p:cNvSpPr txBox="1"/>
              <p:nvPr/>
            </p:nvSpPr>
            <p:spPr>
              <a:xfrm>
                <a:off x="457200" y="4189031"/>
                <a:ext cx="563880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1"/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 order to classify a fruit, the feature vector can be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𝒇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⋯)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which are color, shape, smell, taste, etc. This applies to each sample. </a:t>
                </a:r>
              </a:p>
            </p:txBody>
          </p:sp>
        </mc:Choice>
        <mc:Fallback xmlns="">
          <p:sp>
            <p:nvSpPr>
              <p:cNvPr id="4" name="文本框 9">
                <a:extLst>
                  <a:ext uri="{FF2B5EF4-FFF2-40B4-BE49-F238E27FC236}">
                    <a16:creationId xmlns:a16="http://schemas.microsoft.com/office/drawing/2014/main" id="{DB9A5600-7BD9-D642-48E6-81B88F324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189031"/>
                <a:ext cx="5638800" cy="1569660"/>
              </a:xfrm>
              <a:prstGeom prst="rect">
                <a:avLst/>
              </a:prstGeom>
              <a:blipFill>
                <a:blip r:embed="rId3"/>
                <a:stretch>
                  <a:fillRect l="-1622" t="-2713" r="-2162" b="-8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10">
            <a:extLst>
              <a:ext uri="{FF2B5EF4-FFF2-40B4-BE49-F238E27FC236}">
                <a16:creationId xmlns:a16="http://schemas.microsoft.com/office/drawing/2014/main" id="{A56435B1-0770-18CF-681B-1504FE2C7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142" y="3746156"/>
            <a:ext cx="3299104" cy="291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584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Fundamental concepts in ML: label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14E021BA-F629-3674-4D1E-5627CF2D8874}"/>
              </a:ext>
            </a:extLst>
          </p:cNvPr>
          <p:cNvSpPr txBox="1"/>
          <p:nvPr/>
        </p:nvSpPr>
        <p:spPr>
          <a:xfrm>
            <a:off x="457198" y="1618006"/>
            <a:ext cx="8762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Label: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 label is the value to be predicted by the model.</a:t>
            </a:r>
          </a:p>
        </p:txBody>
      </p:sp>
      <p:sp>
        <p:nvSpPr>
          <p:cNvPr id="3" name="文本框 9">
            <a:extLst>
              <a:ext uri="{FF2B5EF4-FFF2-40B4-BE49-F238E27FC236}">
                <a16:creationId xmlns:a16="http://schemas.microsoft.com/office/drawing/2014/main" id="{549E22D5-1565-9A77-BA02-2E5F5B0CB985}"/>
              </a:ext>
            </a:extLst>
          </p:cNvPr>
          <p:cNvSpPr txBox="1"/>
          <p:nvPr/>
        </p:nvSpPr>
        <p:spPr>
          <a:xfrm>
            <a:off x="0" y="2381854"/>
            <a:ext cx="111360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For the fruit example, the label would be the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of the fruit like apple, orange, banana, etc.</a:t>
            </a:r>
          </a:p>
        </p:txBody>
      </p:sp>
      <p:sp>
        <p:nvSpPr>
          <p:cNvPr id="4" name="矩形 12">
            <a:extLst>
              <a:ext uri="{FF2B5EF4-FFF2-40B4-BE49-F238E27FC236}">
                <a16:creationId xmlns:a16="http://schemas.microsoft.com/office/drawing/2014/main" id="{4549DE0C-46C3-383E-E4BA-41428708BDCB}"/>
              </a:ext>
            </a:extLst>
          </p:cNvPr>
          <p:cNvSpPr/>
          <p:nvPr/>
        </p:nvSpPr>
        <p:spPr>
          <a:xfrm>
            <a:off x="7184415" y="3913933"/>
            <a:ext cx="1431244" cy="303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endParaRPr lang="zh-CN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13">
            <a:extLst>
              <a:ext uri="{FF2B5EF4-FFF2-40B4-BE49-F238E27FC236}">
                <a16:creationId xmlns:a16="http://schemas.microsoft.com/office/drawing/2014/main" id="{6F4D09E5-D5A5-0D8D-E19F-80DD4202B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896" y="3645150"/>
            <a:ext cx="3299104" cy="2915779"/>
          </a:xfrm>
          <a:prstGeom prst="rect">
            <a:avLst/>
          </a:prstGeom>
        </p:spPr>
      </p:pic>
      <p:sp>
        <p:nvSpPr>
          <p:cNvPr id="6" name="矩形 14">
            <a:extLst>
              <a:ext uri="{FF2B5EF4-FFF2-40B4-BE49-F238E27FC236}">
                <a16:creationId xmlns:a16="http://schemas.microsoft.com/office/drawing/2014/main" id="{EC0D72BF-E15A-F298-743C-55DC119ACBA1}"/>
              </a:ext>
            </a:extLst>
          </p:cNvPr>
          <p:cNvSpPr/>
          <p:nvPr/>
        </p:nvSpPr>
        <p:spPr>
          <a:xfrm>
            <a:off x="5312942" y="4783330"/>
            <a:ext cx="418900" cy="2078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接箭头连接符 15">
            <a:extLst>
              <a:ext uri="{FF2B5EF4-FFF2-40B4-BE49-F238E27FC236}">
                <a16:creationId xmlns:a16="http://schemas.microsoft.com/office/drawing/2014/main" id="{38C06BC4-A46C-ACEF-99C5-089F4734C04D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731842" y="4065648"/>
            <a:ext cx="1452573" cy="7176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21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D047DF1C-2453-44C0-B751-8BBF7A2A26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C2EF06C-AE27-472C-AA6D-590276C971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0FD55C-28D8-4C2E-B86C-A8E783534636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1911</TotalTime>
  <Words>470</Words>
  <Application>Microsoft Office PowerPoint</Application>
  <PresentationFormat>Widescreen</PresentationFormat>
  <Paragraphs>57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Fundamental Concepts in Machine Learning </vt:lpstr>
      <vt:lpstr>Fundamental concepts in ML: model</vt:lpstr>
      <vt:lpstr>Fundamental concepts in ML: dataset</vt:lpstr>
      <vt:lpstr>Fundamental concepts in ML: sample</vt:lpstr>
      <vt:lpstr>Fundamental concepts in ML: training/test dataset</vt:lpstr>
      <vt:lpstr>Fundamental concepts in ML: feature</vt:lpstr>
      <vt:lpstr>Fundamental concepts in ML: label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79</cp:revision>
  <dcterms:created xsi:type="dcterms:W3CDTF">2021-01-06T14:22:07Z</dcterms:created>
  <dcterms:modified xsi:type="dcterms:W3CDTF">2024-07-08T10:20:47Z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