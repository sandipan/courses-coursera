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7"/>
  </p:notesMasterIdLst>
  <p:sldIdLst>
    <p:sldId id="256" r:id="rId5"/>
    <p:sldId id="494" r:id="rId6"/>
    <p:sldId id="496" r:id="rId7"/>
    <p:sldId id="497" r:id="rId8"/>
    <p:sldId id="504" r:id="rId9"/>
    <p:sldId id="498" r:id="rId10"/>
    <p:sldId id="499" r:id="rId11"/>
    <p:sldId id="500" r:id="rId12"/>
    <p:sldId id="501" r:id="rId13"/>
    <p:sldId id="502" r:id="rId14"/>
    <p:sldId id="503" r:id="rId15"/>
    <p:sldId id="273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3359" autoAdjust="0"/>
    <p:restoredTop sz="96327"/>
  </p:normalViewPr>
  <p:slideViewPr>
    <p:cSldViewPr snapToGrid="0">
      <p:cViewPr varScale="1">
        <p:scale>
          <a:sx n="136" d="100"/>
          <a:sy n="136" d="100"/>
        </p:scale>
        <p:origin x="96" y="532"/>
      </p:cViewPr>
      <p:guideLst/>
    </p:cSldViewPr>
  </p:slideViewPr>
  <p:outlineViewPr>
    <p:cViewPr>
      <p:scale>
        <a:sx n="30" d="100"/>
        <a:sy n="30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295AE2-43AC-144B-AE88-DCB376799F11}" type="datetimeFigureOut">
              <a:rPr lang="en-US" smtClean="0"/>
              <a:t>7/8/2024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24E5BB-E6B0-B84A-ABCD-9A3E9C2D7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742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95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2024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4426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8009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63084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2141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013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8193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615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7141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4946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83BB4406-02B4-284F-84C5-A21F22E6B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5FEA054A-F191-E34B-8C26-BA11F3F0C0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85750" y="1627188"/>
            <a:ext cx="11474450" cy="46069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92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EE31514-F8EA-5D4E-B45D-65DD78DBE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12524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91D55F9-A3F2-1242-A5F3-5AAACC9DB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49408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6629400" cy="789709"/>
          </a:xfrm>
        </p:spPr>
        <p:txBody>
          <a:bodyPr anchor="t">
            <a:normAutofit/>
          </a:bodyPr>
          <a:lstStyle>
            <a:lvl1pPr algn="l">
              <a:defRPr sz="28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0418" y="3015529"/>
            <a:ext cx="5680364" cy="623598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84273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97420DD-2415-454D-AA0F-DBDA719CB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01283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1680" y="2123676"/>
            <a:ext cx="4027169" cy="1600200"/>
          </a:xfrm>
        </p:spPr>
        <p:txBody>
          <a:bodyPr anchor="t">
            <a:normAutofit/>
          </a:bodyPr>
          <a:lstStyle>
            <a:lvl1pPr algn="l">
              <a:defRPr sz="2800"/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1680" y="3934224"/>
            <a:ext cx="4030345" cy="1934763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28039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A65B24-645B-1746-9651-55C209C5E25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810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511800" y="681037"/>
            <a:ext cx="5842000" cy="100965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624FB1-CB24-4B4C-BFD4-AD276D9A4059}" type="datetimeFigureOut">
              <a:rPr lang="en-GB" smtClean="0"/>
              <a:t>08/07/2024</a:t>
            </a:fld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19F3F6-C255-4AC5-91C2-3F61B6509B36}" type="slidenum">
              <a:rPr lang="en-GB" smtClean="0"/>
              <a:t>‹#›</a:t>
            </a:fld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6262A0F-9E49-6B4D-94F3-647B33A25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69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52" r:id="rId2"/>
    <p:sldLayoutId id="2147483653" r:id="rId3"/>
    <p:sldLayoutId id="2147483649" r:id="rId4"/>
    <p:sldLayoutId id="2147483654" r:id="rId5"/>
    <p:sldLayoutId id="2147483656" r:id="rId6"/>
    <p:sldLayoutId id="2147483684" r:id="rId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The Gilbert Scott Building">
            <a:extLst>
              <a:ext uri="{FF2B5EF4-FFF2-40B4-BE49-F238E27FC236}">
                <a16:creationId xmlns:a16="http://schemas.microsoft.com/office/drawing/2014/main" id="{BAB3C4BD-A67A-4D47-6D5C-637F167E7C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8210986" cy="789709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1"/>
                </a:solidFill>
              </a:rPr>
              <a:t>Mapping Inputs to Outputs: Data Representation 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FFC54586-8882-6804-A250-091EB79369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0418" y="2576945"/>
            <a:ext cx="5680364" cy="1062182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Professor Bo Liu</a:t>
            </a:r>
          </a:p>
          <a:p>
            <a:r>
              <a:rPr lang="en-GB" dirty="0">
                <a:solidFill>
                  <a:schemeClr val="tx1"/>
                </a:solidFill>
              </a:rPr>
              <a:t>James Watt School of Engineering</a:t>
            </a:r>
          </a:p>
        </p:txBody>
      </p:sp>
    </p:spTree>
    <p:extLst>
      <p:ext uri="{BB962C8B-B14F-4D97-AF65-F5344CB8AC3E}">
        <p14:creationId xmlns:p14="http://schemas.microsoft.com/office/powerpoint/2010/main" val="4244171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Machine learning procedure</a:t>
            </a:r>
          </a:p>
        </p:txBody>
      </p:sp>
      <p:sp>
        <p:nvSpPr>
          <p:cNvPr id="2" name="文本框 11">
            <a:extLst>
              <a:ext uri="{FF2B5EF4-FFF2-40B4-BE49-F238E27FC236}">
                <a16:creationId xmlns:a16="http://schemas.microsoft.com/office/drawing/2014/main" id="{C4C74F7B-6144-505F-5F48-611CC94B7776}"/>
              </a:ext>
            </a:extLst>
          </p:cNvPr>
          <p:cNvSpPr txBox="1"/>
          <p:nvPr/>
        </p:nvSpPr>
        <p:spPr>
          <a:xfrm>
            <a:off x="2902698" y="6109717"/>
            <a:ext cx="7498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Input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箭头: 右 13">
            <a:extLst>
              <a:ext uri="{FF2B5EF4-FFF2-40B4-BE49-F238E27FC236}">
                <a16:creationId xmlns:a16="http://schemas.microsoft.com/office/drawing/2014/main" id="{DCA2F3C2-2CDE-D0F6-7D31-E1F7F766E78F}"/>
              </a:ext>
            </a:extLst>
          </p:cNvPr>
          <p:cNvSpPr/>
          <p:nvPr/>
        </p:nvSpPr>
        <p:spPr>
          <a:xfrm>
            <a:off x="1937355" y="4177889"/>
            <a:ext cx="387345" cy="215173"/>
          </a:xfrm>
          <a:prstGeom prst="rightArrow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矩形 14">
            <a:extLst>
              <a:ext uri="{FF2B5EF4-FFF2-40B4-BE49-F238E27FC236}">
                <a16:creationId xmlns:a16="http://schemas.microsoft.com/office/drawing/2014/main" id="{2FF56BE5-767E-B5F9-08B1-8CCD648110E4}"/>
              </a:ext>
            </a:extLst>
          </p:cNvPr>
          <p:cNvSpPr/>
          <p:nvPr/>
        </p:nvSpPr>
        <p:spPr>
          <a:xfrm>
            <a:off x="2346006" y="3989569"/>
            <a:ext cx="1703479" cy="6463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Data representation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箭头: 右 15">
            <a:extLst>
              <a:ext uri="{FF2B5EF4-FFF2-40B4-BE49-F238E27FC236}">
                <a16:creationId xmlns:a16="http://schemas.microsoft.com/office/drawing/2014/main" id="{D2208C5C-7BA3-7C4F-6294-2DF1E1FE9FF2}"/>
              </a:ext>
            </a:extLst>
          </p:cNvPr>
          <p:cNvSpPr/>
          <p:nvPr/>
        </p:nvSpPr>
        <p:spPr>
          <a:xfrm>
            <a:off x="4049350" y="4207143"/>
            <a:ext cx="404359" cy="211182"/>
          </a:xfrm>
          <a:prstGeom prst="rightArrow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矩形 16">
            <a:extLst>
              <a:ext uri="{FF2B5EF4-FFF2-40B4-BE49-F238E27FC236}">
                <a16:creationId xmlns:a16="http://schemas.microsoft.com/office/drawing/2014/main" id="{D39A6BCB-B639-3D9D-06D6-ABF7620A6A89}"/>
              </a:ext>
            </a:extLst>
          </p:cNvPr>
          <p:cNvSpPr/>
          <p:nvPr/>
        </p:nvSpPr>
        <p:spPr>
          <a:xfrm>
            <a:off x="4475044" y="3994935"/>
            <a:ext cx="1500460" cy="6463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Select ML algorithms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箭头: 右 17">
            <a:extLst>
              <a:ext uri="{FF2B5EF4-FFF2-40B4-BE49-F238E27FC236}">
                <a16:creationId xmlns:a16="http://schemas.microsoft.com/office/drawing/2014/main" id="{D2616576-D2E1-2944-6B73-0ABB421D46B4}"/>
              </a:ext>
            </a:extLst>
          </p:cNvPr>
          <p:cNvSpPr/>
          <p:nvPr/>
        </p:nvSpPr>
        <p:spPr>
          <a:xfrm>
            <a:off x="6024767" y="4164715"/>
            <a:ext cx="346172" cy="241520"/>
          </a:xfrm>
          <a:prstGeom prst="rightArrow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矩形 22">
            <a:extLst>
              <a:ext uri="{FF2B5EF4-FFF2-40B4-BE49-F238E27FC236}">
                <a16:creationId xmlns:a16="http://schemas.microsoft.com/office/drawing/2014/main" id="{4A819D05-12D6-109A-B629-86D2D95E7AD3}"/>
              </a:ext>
            </a:extLst>
          </p:cNvPr>
          <p:cNvSpPr/>
          <p:nvPr/>
        </p:nvSpPr>
        <p:spPr>
          <a:xfrm>
            <a:off x="671416" y="2039215"/>
            <a:ext cx="11044480" cy="17235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7472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Represent data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: the data should be translated to the language that ML algorithms can understand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Data encoding</a:t>
            </a: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7472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Select ML algorithms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:  Using parametric or non-parametric ML?</a:t>
            </a:r>
          </a:p>
          <a:p>
            <a:pPr marL="347472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Evaluate output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:  prediction errors</a:t>
            </a:r>
          </a:p>
        </p:txBody>
      </p:sp>
      <p:sp>
        <p:nvSpPr>
          <p:cNvPr id="11" name="矩形 23">
            <a:extLst>
              <a:ext uri="{FF2B5EF4-FFF2-40B4-BE49-F238E27FC236}">
                <a16:creationId xmlns:a16="http://schemas.microsoft.com/office/drawing/2014/main" id="{54576311-5D7A-99D6-4FAC-3D0A32678652}"/>
              </a:ext>
            </a:extLst>
          </p:cNvPr>
          <p:cNvSpPr/>
          <p:nvPr/>
        </p:nvSpPr>
        <p:spPr>
          <a:xfrm>
            <a:off x="6401198" y="3962309"/>
            <a:ext cx="1500460" cy="6463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Model training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矩形 24">
            <a:extLst>
              <a:ext uri="{FF2B5EF4-FFF2-40B4-BE49-F238E27FC236}">
                <a16:creationId xmlns:a16="http://schemas.microsoft.com/office/drawing/2014/main" id="{9C04FD64-8CAF-E9EC-7458-1739C17C2A72}"/>
              </a:ext>
            </a:extLst>
          </p:cNvPr>
          <p:cNvSpPr/>
          <p:nvPr/>
        </p:nvSpPr>
        <p:spPr>
          <a:xfrm>
            <a:off x="8253957" y="3955225"/>
            <a:ext cx="1500460" cy="6463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Model evaluation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箭头: 右 25">
            <a:extLst>
              <a:ext uri="{FF2B5EF4-FFF2-40B4-BE49-F238E27FC236}">
                <a16:creationId xmlns:a16="http://schemas.microsoft.com/office/drawing/2014/main" id="{7752EE21-01BD-900A-7554-707334D25489}"/>
              </a:ext>
            </a:extLst>
          </p:cNvPr>
          <p:cNvSpPr/>
          <p:nvPr/>
        </p:nvSpPr>
        <p:spPr>
          <a:xfrm>
            <a:off x="7901556" y="4164715"/>
            <a:ext cx="346172" cy="241520"/>
          </a:xfrm>
          <a:prstGeom prst="rightArrow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图片 26">
            <a:extLst>
              <a:ext uri="{FF2B5EF4-FFF2-40B4-BE49-F238E27FC236}">
                <a16:creationId xmlns:a16="http://schemas.microsoft.com/office/drawing/2014/main" id="{F3E297F7-5D52-4F31-0780-11DB37F6BB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3932" y="5286571"/>
            <a:ext cx="911838" cy="894780"/>
          </a:xfrm>
          <a:prstGeom prst="rect">
            <a:avLst/>
          </a:prstGeom>
          <a:ln>
            <a:solidFill>
              <a:schemeClr val="accent1">
                <a:shade val="50000"/>
              </a:schemeClr>
            </a:solidFill>
          </a:ln>
        </p:spPr>
      </p:pic>
      <p:sp>
        <p:nvSpPr>
          <p:cNvPr id="15" name="箭头: 右 27">
            <a:extLst>
              <a:ext uri="{FF2B5EF4-FFF2-40B4-BE49-F238E27FC236}">
                <a16:creationId xmlns:a16="http://schemas.microsoft.com/office/drawing/2014/main" id="{31E77243-10DA-C17B-ACC9-53AD918504CD}"/>
              </a:ext>
            </a:extLst>
          </p:cNvPr>
          <p:cNvSpPr/>
          <p:nvPr/>
        </p:nvSpPr>
        <p:spPr>
          <a:xfrm>
            <a:off x="3771941" y="5626249"/>
            <a:ext cx="696570" cy="190845"/>
          </a:xfrm>
          <a:prstGeom prst="rightArrow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矩形 28">
            <a:extLst>
              <a:ext uri="{FF2B5EF4-FFF2-40B4-BE49-F238E27FC236}">
                <a16:creationId xmlns:a16="http://schemas.microsoft.com/office/drawing/2014/main" id="{08223618-6F74-CFAB-DD79-A74FA6BBFB6D}"/>
              </a:ext>
            </a:extLst>
          </p:cNvPr>
          <p:cNvSpPr/>
          <p:nvPr/>
        </p:nvSpPr>
        <p:spPr>
          <a:xfrm>
            <a:off x="4534682" y="5416614"/>
            <a:ext cx="1500460" cy="6463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Prediction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箭头: 右 29">
            <a:extLst>
              <a:ext uri="{FF2B5EF4-FFF2-40B4-BE49-F238E27FC236}">
                <a16:creationId xmlns:a16="http://schemas.microsoft.com/office/drawing/2014/main" id="{79FE8C80-B3C3-4365-E00F-87A385D7860D}"/>
              </a:ext>
            </a:extLst>
          </p:cNvPr>
          <p:cNvSpPr/>
          <p:nvPr/>
        </p:nvSpPr>
        <p:spPr>
          <a:xfrm>
            <a:off x="6101312" y="5611244"/>
            <a:ext cx="762741" cy="205850"/>
          </a:xfrm>
          <a:prstGeom prst="rightArrow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矩形: 圆角 31">
            <a:extLst>
              <a:ext uri="{FF2B5EF4-FFF2-40B4-BE49-F238E27FC236}">
                <a16:creationId xmlns:a16="http://schemas.microsoft.com/office/drawing/2014/main" id="{6718E758-2ABD-A0EA-654A-4DBCEFDF08AD}"/>
              </a:ext>
            </a:extLst>
          </p:cNvPr>
          <p:cNvSpPr/>
          <p:nvPr/>
        </p:nvSpPr>
        <p:spPr>
          <a:xfrm>
            <a:off x="6958520" y="5375532"/>
            <a:ext cx="1500460" cy="759242"/>
          </a:xfrm>
          <a:prstGeom prst="round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Apple</a:t>
            </a:r>
          </a:p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Not Apple</a:t>
            </a:r>
          </a:p>
        </p:txBody>
      </p:sp>
      <p:sp>
        <p:nvSpPr>
          <p:cNvPr id="19" name="文本框 32">
            <a:extLst>
              <a:ext uri="{FF2B5EF4-FFF2-40B4-BE49-F238E27FC236}">
                <a16:creationId xmlns:a16="http://schemas.microsoft.com/office/drawing/2014/main" id="{C748E515-20CD-290A-379C-8641099895AF}"/>
              </a:ext>
            </a:extLst>
          </p:cNvPr>
          <p:cNvSpPr txBox="1"/>
          <p:nvPr/>
        </p:nvSpPr>
        <p:spPr>
          <a:xfrm>
            <a:off x="7252830" y="6052602"/>
            <a:ext cx="9118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Output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文本框 33">
            <a:extLst>
              <a:ext uri="{FF2B5EF4-FFF2-40B4-BE49-F238E27FC236}">
                <a16:creationId xmlns:a16="http://schemas.microsoft.com/office/drawing/2014/main" id="{A576E117-C30D-835C-8270-1024089E5771}"/>
              </a:ext>
            </a:extLst>
          </p:cNvPr>
          <p:cNvSpPr txBox="1"/>
          <p:nvPr/>
        </p:nvSpPr>
        <p:spPr>
          <a:xfrm>
            <a:off x="4531445" y="6045003"/>
            <a:ext cx="17480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Trained model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文本框 34">
            <a:extLst>
              <a:ext uri="{FF2B5EF4-FFF2-40B4-BE49-F238E27FC236}">
                <a16:creationId xmlns:a16="http://schemas.microsoft.com/office/drawing/2014/main" id="{DB5E5143-71DC-32B2-8353-90D68A1FAC53}"/>
              </a:ext>
            </a:extLst>
          </p:cNvPr>
          <p:cNvSpPr txBox="1"/>
          <p:nvPr/>
        </p:nvSpPr>
        <p:spPr>
          <a:xfrm>
            <a:off x="528727" y="4956781"/>
            <a:ext cx="55734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Application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文本框 9">
            <a:extLst>
              <a:ext uri="{FF2B5EF4-FFF2-40B4-BE49-F238E27FC236}">
                <a16:creationId xmlns:a16="http://schemas.microsoft.com/office/drawing/2014/main" id="{F14D4FAF-23B7-EE38-5499-7F14B6F9236D}"/>
              </a:ext>
            </a:extLst>
          </p:cNvPr>
          <p:cNvSpPr txBox="1"/>
          <p:nvPr/>
        </p:nvSpPr>
        <p:spPr>
          <a:xfrm>
            <a:off x="528727" y="1575481"/>
            <a:ext cx="43723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ML model development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3" name="图片 2">
            <a:extLst>
              <a:ext uri="{FF2B5EF4-FFF2-40B4-BE49-F238E27FC236}">
                <a16:creationId xmlns:a16="http://schemas.microsoft.com/office/drawing/2014/main" id="{A1A29264-44B3-CF67-9EC3-29C0871988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944" y="3854932"/>
            <a:ext cx="974287" cy="861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6015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  <p:bldP spid="4" grpId="0" animBg="1"/>
      <p:bldP spid="5" grpId="0" animBg="1"/>
      <p:bldP spid="6" grpId="0" animBg="1"/>
      <p:bldP spid="7" grpId="0" animBg="1"/>
      <p:bldP spid="11" grpId="0" animBg="1"/>
      <p:bldP spid="12" grpId="0" animBg="1"/>
      <p:bldP spid="13" grpId="0" animBg="1"/>
      <p:bldP spid="15" grpId="0" animBg="1"/>
      <p:bldP spid="16" grpId="0" animBg="1"/>
      <p:bldP spid="17" grpId="0" animBg="1"/>
      <p:bldP spid="18" grpId="0" animBg="1"/>
      <p:bldP spid="19" grpId="0"/>
      <p:bldP spid="20" grpId="0"/>
      <p:bldP spid="21" grpId="0"/>
      <p:bldP spid="2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Data types and encoding</a:t>
            </a:r>
          </a:p>
        </p:txBody>
      </p:sp>
      <p:sp>
        <p:nvSpPr>
          <p:cNvPr id="2" name="矩形 22">
            <a:extLst>
              <a:ext uri="{FF2B5EF4-FFF2-40B4-BE49-F238E27FC236}">
                <a16:creationId xmlns:a16="http://schemas.microsoft.com/office/drawing/2014/main" id="{068C457E-8D89-68A1-B8A0-7DC508390EDA}"/>
              </a:ext>
            </a:extLst>
          </p:cNvPr>
          <p:cNvSpPr/>
          <p:nvPr/>
        </p:nvSpPr>
        <p:spPr>
          <a:xfrm>
            <a:off x="815592" y="1807124"/>
            <a:ext cx="10772209" cy="18774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Represent data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: the data should be translated to the language that ML algorithms can understand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en-US" altLang="zh-CN" sz="2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Data encoding</a:t>
            </a:r>
            <a:endParaRPr lang="en-US" altLang="zh-CN" sz="24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altLang="zh-CN" sz="2400" b="1" dirty="0">
                <a:solidFill>
                  <a:schemeClr val="accent2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Select ML algorithms</a:t>
            </a:r>
            <a:r>
              <a:rPr lang="en-US" altLang="zh-CN" sz="2400" dirty="0">
                <a:solidFill>
                  <a:schemeClr val="accent2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 Using parametric or non-parametric ML?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altLang="zh-CN" sz="2400" b="1" dirty="0">
                <a:solidFill>
                  <a:schemeClr val="accent2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Evaluate output</a:t>
            </a:r>
            <a:r>
              <a:rPr lang="en-US" altLang="zh-CN" sz="2400" dirty="0">
                <a:solidFill>
                  <a:schemeClr val="accent2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 prediction errors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4A16D615-C4F2-B53B-3FC1-B707F7DE58FE}"/>
              </a:ext>
            </a:extLst>
          </p:cNvPr>
          <p:cNvSpPr/>
          <p:nvPr/>
        </p:nvSpPr>
        <p:spPr>
          <a:xfrm>
            <a:off x="1229350" y="4130840"/>
            <a:ext cx="3223300" cy="1323788"/>
          </a:xfrm>
          <a:prstGeom prst="roundRect">
            <a:avLst/>
          </a:prstGeom>
          <a:solidFill>
            <a:schemeClr val="accent1">
              <a:alpha val="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箭头: 右 23">
            <a:extLst>
              <a:ext uri="{FF2B5EF4-FFF2-40B4-BE49-F238E27FC236}">
                <a16:creationId xmlns:a16="http://schemas.microsoft.com/office/drawing/2014/main" id="{CC133531-0487-6C3F-BEF8-5B4763C22FB5}"/>
              </a:ext>
            </a:extLst>
          </p:cNvPr>
          <p:cNvSpPr/>
          <p:nvPr/>
        </p:nvSpPr>
        <p:spPr>
          <a:xfrm>
            <a:off x="2305091" y="4687551"/>
            <a:ext cx="387345" cy="215173"/>
          </a:xfrm>
          <a:prstGeom prst="rightArrow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矩形 24">
            <a:extLst>
              <a:ext uri="{FF2B5EF4-FFF2-40B4-BE49-F238E27FC236}">
                <a16:creationId xmlns:a16="http://schemas.microsoft.com/office/drawing/2014/main" id="{4492017C-2532-21C4-12B5-1B29BA507DA3}"/>
              </a:ext>
            </a:extLst>
          </p:cNvPr>
          <p:cNvSpPr/>
          <p:nvPr/>
        </p:nvSpPr>
        <p:spPr>
          <a:xfrm>
            <a:off x="2713743" y="4499231"/>
            <a:ext cx="1700090" cy="6463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Data representation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箭头: 右 25">
            <a:extLst>
              <a:ext uri="{FF2B5EF4-FFF2-40B4-BE49-F238E27FC236}">
                <a16:creationId xmlns:a16="http://schemas.microsoft.com/office/drawing/2014/main" id="{42BA1CAA-93A6-ABFD-A1D8-64A7A43CCE99}"/>
              </a:ext>
            </a:extLst>
          </p:cNvPr>
          <p:cNvSpPr/>
          <p:nvPr/>
        </p:nvSpPr>
        <p:spPr>
          <a:xfrm>
            <a:off x="4435750" y="4716805"/>
            <a:ext cx="404359" cy="211182"/>
          </a:xfrm>
          <a:prstGeom prst="rightArrow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矩形 26">
            <a:extLst>
              <a:ext uri="{FF2B5EF4-FFF2-40B4-BE49-F238E27FC236}">
                <a16:creationId xmlns:a16="http://schemas.microsoft.com/office/drawing/2014/main" id="{2B15712B-4776-ECC6-6A0C-E498598F3540}"/>
              </a:ext>
            </a:extLst>
          </p:cNvPr>
          <p:cNvSpPr/>
          <p:nvPr/>
        </p:nvSpPr>
        <p:spPr>
          <a:xfrm>
            <a:off x="4880106" y="4504597"/>
            <a:ext cx="1500460" cy="6463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Select ML algorithms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箭头: 右 27">
            <a:extLst>
              <a:ext uri="{FF2B5EF4-FFF2-40B4-BE49-F238E27FC236}">
                <a16:creationId xmlns:a16="http://schemas.microsoft.com/office/drawing/2014/main" id="{90B37233-F70C-281F-88A1-9585DA9EB1F9}"/>
              </a:ext>
            </a:extLst>
          </p:cNvPr>
          <p:cNvSpPr/>
          <p:nvPr/>
        </p:nvSpPr>
        <p:spPr>
          <a:xfrm>
            <a:off x="6429829" y="4674377"/>
            <a:ext cx="346172" cy="241520"/>
          </a:xfrm>
          <a:prstGeom prst="rightArrow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矩形 29">
            <a:extLst>
              <a:ext uri="{FF2B5EF4-FFF2-40B4-BE49-F238E27FC236}">
                <a16:creationId xmlns:a16="http://schemas.microsoft.com/office/drawing/2014/main" id="{AA7443DB-C107-7146-3249-327F144DE24F}"/>
              </a:ext>
            </a:extLst>
          </p:cNvPr>
          <p:cNvSpPr/>
          <p:nvPr/>
        </p:nvSpPr>
        <p:spPr>
          <a:xfrm>
            <a:off x="6806260" y="4471971"/>
            <a:ext cx="1500460" cy="6463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Model training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矩形 30">
            <a:extLst>
              <a:ext uri="{FF2B5EF4-FFF2-40B4-BE49-F238E27FC236}">
                <a16:creationId xmlns:a16="http://schemas.microsoft.com/office/drawing/2014/main" id="{F185C4C0-7A92-7CFC-02E3-9502F20CE31F}"/>
              </a:ext>
            </a:extLst>
          </p:cNvPr>
          <p:cNvSpPr/>
          <p:nvPr/>
        </p:nvSpPr>
        <p:spPr>
          <a:xfrm>
            <a:off x="8659019" y="4464887"/>
            <a:ext cx="1500460" cy="6463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Model evaluation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箭头: 右 31">
            <a:extLst>
              <a:ext uri="{FF2B5EF4-FFF2-40B4-BE49-F238E27FC236}">
                <a16:creationId xmlns:a16="http://schemas.microsoft.com/office/drawing/2014/main" id="{B9F92B72-7AF5-4120-F419-B873F7112FC8}"/>
              </a:ext>
            </a:extLst>
          </p:cNvPr>
          <p:cNvSpPr/>
          <p:nvPr/>
        </p:nvSpPr>
        <p:spPr>
          <a:xfrm>
            <a:off x="8306618" y="4674377"/>
            <a:ext cx="346172" cy="241520"/>
          </a:xfrm>
          <a:prstGeom prst="rightArrow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图片 2">
            <a:extLst>
              <a:ext uri="{FF2B5EF4-FFF2-40B4-BE49-F238E27FC236}">
                <a16:creationId xmlns:a16="http://schemas.microsoft.com/office/drawing/2014/main" id="{AE9FE1F9-63D0-310F-7CBB-EDF54DF990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0545" y="4357510"/>
            <a:ext cx="974287" cy="861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097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9" grpId="0" animBg="1"/>
      <p:bldP spid="11" grpId="0" animBg="1"/>
      <p:bldP spid="12" grpId="0" animBg="1"/>
      <p:bldP spid="1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Data types in ML</a:t>
            </a:r>
          </a:p>
        </p:txBody>
      </p:sp>
      <p:sp>
        <p:nvSpPr>
          <p:cNvPr id="2" name="文本框 4">
            <a:extLst>
              <a:ext uri="{FF2B5EF4-FFF2-40B4-BE49-F238E27FC236}">
                <a16:creationId xmlns:a16="http://schemas.microsoft.com/office/drawing/2014/main" id="{8D6C07B2-EB6E-526E-B212-2FC180F0539F}"/>
              </a:ext>
            </a:extLst>
          </p:cNvPr>
          <p:cNvSpPr txBox="1"/>
          <p:nvPr/>
        </p:nvSpPr>
        <p:spPr>
          <a:xfrm>
            <a:off x="371972" y="3519050"/>
            <a:ext cx="62526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Types of Numerical Data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70430ED-2548-AD6A-DA25-936E08305EE7}"/>
              </a:ext>
            </a:extLst>
          </p:cNvPr>
          <p:cNvSpPr txBox="1"/>
          <p:nvPr/>
        </p:nvSpPr>
        <p:spPr>
          <a:xfrm>
            <a:off x="881773" y="4209567"/>
            <a:ext cx="1067105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Continuous data: 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any data values in a particular range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, e.g., height (</a:t>
            </a:r>
            <a:r>
              <a:rPr lang="en-US" altLang="zh-CN" sz="2400" dirty="0">
                <a:solidFill>
                  <a:srgbClr val="C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177.4 mm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), velocity (</a:t>
            </a:r>
            <a:r>
              <a:rPr lang="en-US" altLang="zh-CN" sz="2400" dirty="0">
                <a:solidFill>
                  <a:srgbClr val="C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18.44 m/s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Discrete data: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data with countable fixed elements, sometimes represented by integers, e.g., age (age of </a:t>
            </a:r>
            <a:r>
              <a:rPr lang="en-US" altLang="zh-CN" sz="2400" dirty="0">
                <a:solidFill>
                  <a:srgbClr val="C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25, 89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), number of students (</a:t>
            </a:r>
            <a:r>
              <a:rPr lang="en-US" altLang="zh-CN" sz="2400" dirty="0">
                <a:solidFill>
                  <a:srgbClr val="C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30, 40</a:t>
            </a:r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students)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9">
                <a:extLst>
                  <a:ext uri="{FF2B5EF4-FFF2-40B4-BE49-F238E27FC236}">
                    <a16:creationId xmlns:a16="http://schemas.microsoft.com/office/drawing/2014/main" id="{E3456DEA-C300-8CD4-E1DC-C13BF141FAB0}"/>
                  </a:ext>
                </a:extLst>
              </p:cNvPr>
              <p:cNvSpPr txBox="1"/>
              <p:nvPr/>
            </p:nvSpPr>
            <p:spPr>
              <a:xfrm>
                <a:off x="371972" y="1658816"/>
                <a:ext cx="9051946" cy="13542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altLang="zh-CN" sz="2400" b="1" dirty="0">
                    <a:latin typeface="Arial" panose="020B0604020202020204" pitchFamily="34" charset="0"/>
                    <a:ea typeface="宋体" pitchFamily="2" charset="-122"/>
                    <a:cs typeface="Arial" panose="020B0604020202020204" pitchFamily="34" charset="0"/>
                  </a:rPr>
                  <a:t>Numerical Data</a:t>
                </a:r>
              </a:p>
              <a:p>
                <a:pPr marL="800100" lvl="1" indent="-342900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sz="2400" dirty="0">
                    <a:latin typeface="Arial" panose="020B0604020202020204" pitchFamily="34" charset="0"/>
                    <a:ea typeface="宋体" pitchFamily="2" charset="-122"/>
                    <a:cs typeface="Arial" panose="020B0604020202020204" pitchFamily="34" charset="0"/>
                  </a:rPr>
                  <a:t>data that is expressed by </a:t>
                </a:r>
                <a:r>
                  <a:rPr lang="en-US" altLang="zh-CN" sz="2400" dirty="0">
                    <a:solidFill>
                      <a:srgbClr val="C00000"/>
                    </a:solidFill>
                    <a:latin typeface="Arial" panose="020B0604020202020204" pitchFamily="34" charset="0"/>
                    <a:ea typeface="宋体" pitchFamily="2" charset="-122"/>
                    <a:cs typeface="Arial" panose="020B0604020202020204" pitchFamily="34" charset="0"/>
                  </a:rPr>
                  <a:t>numbers </a:t>
                </a:r>
              </a:p>
              <a:p>
                <a:pPr marL="800100" lvl="1" indent="-342900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sz="2400" dirty="0">
                    <a:latin typeface="Arial" panose="020B0604020202020204" pitchFamily="34" charset="0"/>
                    <a:ea typeface="宋体" pitchFamily="2" charset="-122"/>
                    <a:cs typeface="Arial" panose="020B0604020202020204" pitchFamily="34" charset="0"/>
                  </a:rPr>
                  <a:t>can be used to carry out arithmetic operations (</a:t>
                </a:r>
                <a14:m>
                  <m:oMath xmlns:m="http://schemas.openxmlformats.org/officeDocument/2006/math">
                    <m:r>
                      <a:rPr lang="en-GB" altLang="zh-CN" sz="2400" b="0" i="1" smtClean="0">
                        <a:latin typeface="Cambria Math" panose="02040503050406030204" pitchFamily="18" charset="0"/>
                        <a:ea typeface="宋体" pitchFamily="2" charset="-122"/>
                        <a:cs typeface="Times New Roman" pitchFamily="18" charset="0"/>
                      </a:rPr>
                      <m:t>+, −, </m:t>
                    </m:r>
                    <m:r>
                      <a:rPr lang="en-GB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itchFamily="18" charset="0"/>
                      </a:rPr>
                      <m:t>×,÷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ea typeface="宋体" pitchFamily="2" charset="-122"/>
                    <a:cs typeface="Arial" panose="020B0604020202020204" pitchFamily="34" charset="0"/>
                  </a:rPr>
                  <a:t>).</a:t>
                </a:r>
              </a:p>
            </p:txBody>
          </p:sp>
        </mc:Choice>
        <mc:Fallback xmlns="">
          <p:sp>
            <p:nvSpPr>
              <p:cNvPr id="5" name="文本框 9">
                <a:extLst>
                  <a:ext uri="{FF2B5EF4-FFF2-40B4-BE49-F238E27FC236}">
                    <a16:creationId xmlns:a16="http://schemas.microsoft.com/office/drawing/2014/main" id="{E3456DEA-C300-8CD4-E1DC-C13BF141FA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972" y="1658816"/>
                <a:ext cx="9051946" cy="1354217"/>
              </a:xfrm>
              <a:prstGeom prst="rect">
                <a:avLst/>
              </a:prstGeom>
              <a:blipFill>
                <a:blip r:embed="rId3"/>
                <a:stretch>
                  <a:fillRect l="-1010" t="-3153" b="-99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883219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8722CF-DAD5-D7D4-5D8D-D4ECB4D6F9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More on discrete data </a:t>
            </a:r>
          </a:p>
        </p:txBody>
      </p:sp>
      <p:pic>
        <p:nvPicPr>
          <p:cNvPr id="3" name="Picture 4" descr="PCA(主成分分析)を使ってモデル構築する(MNISTを分類)【機械学習入門25】">
            <a:extLst>
              <a:ext uri="{FF2B5EF4-FFF2-40B4-BE49-F238E27FC236}">
                <a16:creationId xmlns:a16="http://schemas.microsoft.com/office/drawing/2014/main" id="{682E1544-824F-CB69-8901-76638292AF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2099" y="3177179"/>
            <a:ext cx="3244845" cy="13424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E3C61D0-F7F6-3DA4-778C-1CE945F30468}"/>
              </a:ext>
            </a:extLst>
          </p:cNvPr>
          <p:cNvSpPr txBox="1"/>
          <p:nvPr/>
        </p:nvSpPr>
        <p:spPr>
          <a:xfrm>
            <a:off x="6096000" y="2547936"/>
            <a:ext cx="44735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Handwritten digits recognition</a:t>
            </a:r>
            <a:endParaRPr lang="en-GB" sz="24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915CDCF-9AC8-2B09-7603-291DD1E29651}"/>
              </a:ext>
            </a:extLst>
          </p:cNvPr>
          <p:cNvSpPr txBox="1"/>
          <p:nvPr/>
        </p:nvSpPr>
        <p:spPr>
          <a:xfrm>
            <a:off x="827649" y="2547936"/>
            <a:ext cx="41452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Number of students =20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062165-854E-1E80-238E-D664319A4986}"/>
              </a:ext>
            </a:extLst>
          </p:cNvPr>
          <p:cNvSpPr txBox="1"/>
          <p:nvPr/>
        </p:nvSpPr>
        <p:spPr>
          <a:xfrm>
            <a:off x="965982" y="5125329"/>
            <a:ext cx="31042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Numerical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239280-5707-05A9-1743-C994D37B5E4C}"/>
              </a:ext>
            </a:extLst>
          </p:cNvPr>
          <p:cNvSpPr txBox="1"/>
          <p:nvPr/>
        </p:nvSpPr>
        <p:spPr>
          <a:xfrm>
            <a:off x="6522386" y="5093063"/>
            <a:ext cx="31042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Categorical </a:t>
            </a:r>
          </a:p>
        </p:txBody>
      </p:sp>
    </p:spTree>
    <p:extLst>
      <p:ext uri="{BB962C8B-B14F-4D97-AF65-F5344CB8AC3E}">
        <p14:creationId xmlns:p14="http://schemas.microsoft.com/office/powerpoint/2010/main" val="852078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Data types in ML</a:t>
            </a:r>
          </a:p>
        </p:txBody>
      </p:sp>
      <p:sp>
        <p:nvSpPr>
          <p:cNvPr id="2" name="文本框 4">
            <a:extLst>
              <a:ext uri="{FF2B5EF4-FFF2-40B4-BE49-F238E27FC236}">
                <a16:creationId xmlns:a16="http://schemas.microsoft.com/office/drawing/2014/main" id="{36B4D33F-6CFF-EABE-2143-50B1B7B9309D}"/>
              </a:ext>
            </a:extLst>
          </p:cNvPr>
          <p:cNvSpPr txBox="1"/>
          <p:nvPr/>
        </p:nvSpPr>
        <p:spPr>
          <a:xfrm>
            <a:off x="365801" y="3188836"/>
            <a:ext cx="62526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Types of Categorical Data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2CD7AA1-5F17-F702-C9E5-70A1970A5FF7}"/>
              </a:ext>
            </a:extLst>
          </p:cNvPr>
          <p:cNvSpPr txBox="1"/>
          <p:nvPr/>
        </p:nvSpPr>
        <p:spPr>
          <a:xfrm>
            <a:off x="365801" y="3818109"/>
            <a:ext cx="1154939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Binary data: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true, false. Usually encoded with </a:t>
            </a:r>
            <a:r>
              <a:rPr lang="en-US" altLang="zh-CN" sz="2400" dirty="0">
                <a:solidFill>
                  <a:srgbClr val="C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0, 1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Nominal data: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also called naming data, e.g., name of a person (</a:t>
            </a:r>
            <a:r>
              <a:rPr lang="en-US" altLang="zh-CN" sz="2400" dirty="0">
                <a:solidFill>
                  <a:srgbClr val="C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Julia, Jack, …</a:t>
            </a:r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Ordinal data: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data includes elements that are ranked, ordered or have a rating scale attached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e.g., the rating of a restaurant’s menu (</a:t>
            </a:r>
            <a:r>
              <a:rPr lang="en-US" altLang="zh-CN" sz="2400" dirty="0">
                <a:solidFill>
                  <a:srgbClr val="C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strongly dislike, dislike, neutral, like, strongly like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文本框 7">
            <a:extLst>
              <a:ext uri="{FF2B5EF4-FFF2-40B4-BE49-F238E27FC236}">
                <a16:creationId xmlns:a16="http://schemas.microsoft.com/office/drawing/2014/main" id="{60E4E37E-FF42-4B97-0FD7-BBDF0ECBC5D2}"/>
              </a:ext>
            </a:extLst>
          </p:cNvPr>
          <p:cNvSpPr txBox="1"/>
          <p:nvPr/>
        </p:nvSpPr>
        <p:spPr>
          <a:xfrm>
            <a:off x="375132" y="1657680"/>
            <a:ext cx="6252694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altLang="zh-CN" sz="2400" b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Categorical Data</a:t>
            </a:r>
          </a:p>
          <a:p>
            <a:pPr marL="914400" lvl="1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stored into </a:t>
            </a:r>
            <a:r>
              <a:rPr lang="en-US" altLang="zh-CN" sz="2400" dirty="0">
                <a:solidFill>
                  <a:srgbClr val="C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groups</a:t>
            </a:r>
            <a:r>
              <a:rPr lang="en-US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 or </a:t>
            </a:r>
            <a:r>
              <a:rPr lang="en-US" altLang="zh-CN" sz="2400" dirty="0">
                <a:solidFill>
                  <a:srgbClr val="C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categories</a:t>
            </a:r>
          </a:p>
          <a:p>
            <a:pPr marL="914400" lvl="1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represented by </a:t>
            </a:r>
            <a:r>
              <a:rPr lang="en-US" altLang="zh-CN" sz="2400" dirty="0">
                <a:solidFill>
                  <a:srgbClr val="C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names</a:t>
            </a:r>
            <a:r>
              <a:rPr lang="en-US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 or </a:t>
            </a:r>
            <a:r>
              <a:rPr lang="en-US" altLang="zh-CN" sz="2400" dirty="0">
                <a:solidFill>
                  <a:srgbClr val="C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labels</a:t>
            </a:r>
            <a:endParaRPr lang="zh-CN" altLang="en-US" sz="2400" dirty="0">
              <a:solidFill>
                <a:srgbClr val="C00000"/>
              </a:solidFill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5110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Data types in ML</a:t>
            </a:r>
          </a:p>
        </p:txBody>
      </p:sp>
      <p:pic>
        <p:nvPicPr>
          <p:cNvPr id="2" name="图片 7">
            <a:extLst>
              <a:ext uri="{FF2B5EF4-FFF2-40B4-BE49-F238E27FC236}">
                <a16:creationId xmlns:a16="http://schemas.microsoft.com/office/drawing/2014/main" id="{2056AD3F-EF59-F4DB-621B-59A6D38BC5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9236" y="1604338"/>
            <a:ext cx="5348283" cy="3399867"/>
          </a:xfrm>
          <a:prstGeom prst="rect">
            <a:avLst/>
          </a:prstGeom>
        </p:spPr>
      </p:pic>
      <p:sp>
        <p:nvSpPr>
          <p:cNvPr id="3" name="椭圆 6">
            <a:extLst>
              <a:ext uri="{FF2B5EF4-FFF2-40B4-BE49-F238E27FC236}">
                <a16:creationId xmlns:a16="http://schemas.microsoft.com/office/drawing/2014/main" id="{5A71F0F3-6477-C00E-566D-015F3B04DABE}"/>
              </a:ext>
            </a:extLst>
          </p:cNvPr>
          <p:cNvSpPr/>
          <p:nvPr/>
        </p:nvSpPr>
        <p:spPr>
          <a:xfrm>
            <a:off x="3006723" y="1319652"/>
            <a:ext cx="1195786" cy="3790372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" name="直接箭头连接符 10">
            <a:extLst>
              <a:ext uri="{FF2B5EF4-FFF2-40B4-BE49-F238E27FC236}">
                <a16:creationId xmlns:a16="http://schemas.microsoft.com/office/drawing/2014/main" id="{F8054070-4F7D-917D-E2DA-2913564A20C5}"/>
              </a:ext>
            </a:extLst>
          </p:cNvPr>
          <p:cNvCxnSpPr>
            <a:cxnSpLocks/>
            <a:stCxn id="3" idx="4"/>
          </p:cNvCxnSpPr>
          <p:nvPr/>
        </p:nvCxnSpPr>
        <p:spPr>
          <a:xfrm>
            <a:off x="3604616" y="5110024"/>
            <a:ext cx="0" cy="284686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12">
            <a:extLst>
              <a:ext uri="{FF2B5EF4-FFF2-40B4-BE49-F238E27FC236}">
                <a16:creationId xmlns:a16="http://schemas.microsoft.com/office/drawing/2014/main" id="{82A33B95-E201-3848-76AE-3A2DB1FF2331}"/>
              </a:ext>
            </a:extLst>
          </p:cNvPr>
          <p:cNvSpPr txBox="1"/>
          <p:nvPr/>
        </p:nvSpPr>
        <p:spPr>
          <a:xfrm>
            <a:off x="2750413" y="5414584"/>
            <a:ext cx="23842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Numerical data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椭圆 14">
            <a:extLst>
              <a:ext uri="{FF2B5EF4-FFF2-40B4-BE49-F238E27FC236}">
                <a16:creationId xmlns:a16="http://schemas.microsoft.com/office/drawing/2014/main" id="{E74D66D5-0D15-3D3D-2F09-183BEA8F40F8}"/>
              </a:ext>
            </a:extLst>
          </p:cNvPr>
          <p:cNvSpPr/>
          <p:nvPr/>
        </p:nvSpPr>
        <p:spPr>
          <a:xfrm>
            <a:off x="6128772" y="1319652"/>
            <a:ext cx="775858" cy="3913988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" name="直接箭头连接符 15">
            <a:extLst>
              <a:ext uri="{FF2B5EF4-FFF2-40B4-BE49-F238E27FC236}">
                <a16:creationId xmlns:a16="http://schemas.microsoft.com/office/drawing/2014/main" id="{CB4F366C-35CE-5A6B-82E4-AF1146554BEA}"/>
              </a:ext>
            </a:extLst>
          </p:cNvPr>
          <p:cNvCxnSpPr>
            <a:cxnSpLocks/>
            <a:stCxn id="6" idx="4"/>
          </p:cNvCxnSpPr>
          <p:nvPr/>
        </p:nvCxnSpPr>
        <p:spPr>
          <a:xfrm>
            <a:off x="6516701" y="5233640"/>
            <a:ext cx="0" cy="247106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16">
            <a:extLst>
              <a:ext uri="{FF2B5EF4-FFF2-40B4-BE49-F238E27FC236}">
                <a16:creationId xmlns:a16="http://schemas.microsoft.com/office/drawing/2014/main" id="{CBB27180-5F85-33F6-3683-2C36DB394C97}"/>
              </a:ext>
            </a:extLst>
          </p:cNvPr>
          <p:cNvSpPr txBox="1"/>
          <p:nvPr/>
        </p:nvSpPr>
        <p:spPr>
          <a:xfrm>
            <a:off x="5677428" y="5463075"/>
            <a:ext cx="23842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Categorial data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文本框 27">
            <a:extLst>
              <a:ext uri="{FF2B5EF4-FFF2-40B4-BE49-F238E27FC236}">
                <a16:creationId xmlns:a16="http://schemas.microsoft.com/office/drawing/2014/main" id="{1DE26662-8294-1F11-8D3B-0C1A94E3284A}"/>
              </a:ext>
            </a:extLst>
          </p:cNvPr>
          <p:cNvSpPr txBox="1"/>
          <p:nvPr/>
        </p:nvSpPr>
        <p:spPr>
          <a:xfrm>
            <a:off x="2020322" y="6019678"/>
            <a:ext cx="73142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Q: How to represent (or encoding) categorical data?</a:t>
            </a:r>
            <a:endParaRPr lang="zh-CN" altLang="en-US" sz="24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3116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/>
      <p:bldP spid="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Encoding of ordinal data</a:t>
            </a:r>
          </a:p>
        </p:txBody>
      </p:sp>
      <p:sp>
        <p:nvSpPr>
          <p:cNvPr id="2" name="文本框 9">
            <a:extLst>
              <a:ext uri="{FF2B5EF4-FFF2-40B4-BE49-F238E27FC236}">
                <a16:creationId xmlns:a16="http://schemas.microsoft.com/office/drawing/2014/main" id="{4D9BCF64-06E3-FB79-F1BB-AADA10D7F79F}"/>
              </a:ext>
            </a:extLst>
          </p:cNvPr>
          <p:cNvSpPr txBox="1"/>
          <p:nvPr/>
        </p:nvSpPr>
        <p:spPr>
          <a:xfrm>
            <a:off x="557894" y="1672243"/>
            <a:ext cx="30809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zh-CN" sz="2400" b="1" dirty="0">
                <a:effectLst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Ordinal encoding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文本框 11">
            <a:extLst>
              <a:ext uri="{FF2B5EF4-FFF2-40B4-BE49-F238E27FC236}">
                <a16:creationId xmlns:a16="http://schemas.microsoft.com/office/drawing/2014/main" id="{F81CE061-2EB9-7E89-0AD1-5D992318B96F}"/>
              </a:ext>
            </a:extLst>
          </p:cNvPr>
          <p:cNvSpPr txBox="1"/>
          <p:nvPr/>
        </p:nvSpPr>
        <p:spPr>
          <a:xfrm>
            <a:off x="557894" y="2266738"/>
            <a:ext cx="9446167" cy="9079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Each unique ordinal data is assigned an integer value.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Often, integer values starting at zero are used.</a:t>
            </a:r>
          </a:p>
        </p:txBody>
      </p:sp>
      <p:graphicFrame>
        <p:nvGraphicFramePr>
          <p:cNvPr id="4" name="表格 6">
            <a:extLst>
              <a:ext uri="{FF2B5EF4-FFF2-40B4-BE49-F238E27FC236}">
                <a16:creationId xmlns:a16="http://schemas.microsoft.com/office/drawing/2014/main" id="{DCFF82B7-41C3-393D-464C-83622CBEB0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8285023"/>
              </p:ext>
            </p:extLst>
          </p:nvPr>
        </p:nvGraphicFramePr>
        <p:xfrm>
          <a:off x="1909278" y="3972363"/>
          <a:ext cx="1787236" cy="198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7236">
                  <a:extLst>
                    <a:ext uri="{9D8B030D-6E8A-4147-A177-3AD203B41FA5}">
                      <a16:colId xmlns:a16="http://schemas.microsoft.com/office/drawing/2014/main" val="49509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>
                          <a:solidFill>
                            <a:schemeClr val="tx1"/>
                          </a:solidFill>
                        </a:rPr>
                        <a:t>strongly dislike</a:t>
                      </a:r>
                      <a:endParaRPr lang="zh-CN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74252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dislike</a:t>
                      </a:r>
                      <a:endParaRPr lang="zh-CN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80724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neutral</a:t>
                      </a:r>
                      <a:endParaRPr lang="zh-CN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20331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like</a:t>
                      </a:r>
                      <a:endParaRPr lang="zh-CN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59322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strongly like</a:t>
                      </a:r>
                      <a:endParaRPr lang="zh-CN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9639941"/>
                  </a:ext>
                </a:extLst>
              </a:tr>
            </a:tbl>
          </a:graphicData>
        </a:graphic>
      </p:graphicFrame>
      <p:sp>
        <p:nvSpPr>
          <p:cNvPr id="5" name="文本框 6">
            <a:extLst>
              <a:ext uri="{FF2B5EF4-FFF2-40B4-BE49-F238E27FC236}">
                <a16:creationId xmlns:a16="http://schemas.microsoft.com/office/drawing/2014/main" id="{7163037B-AF5F-D2CA-08F2-CE5D692C0C0F}"/>
              </a:ext>
            </a:extLst>
          </p:cNvPr>
          <p:cNvSpPr txBox="1"/>
          <p:nvPr/>
        </p:nvSpPr>
        <p:spPr>
          <a:xfrm>
            <a:off x="1861654" y="3510698"/>
            <a:ext cx="18824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Ordinal data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箭头: 右 14">
            <a:extLst>
              <a:ext uri="{FF2B5EF4-FFF2-40B4-BE49-F238E27FC236}">
                <a16:creationId xmlns:a16="http://schemas.microsoft.com/office/drawing/2014/main" id="{1EB1FF3A-229F-D09D-5ED6-ED5447A86749}"/>
              </a:ext>
            </a:extLst>
          </p:cNvPr>
          <p:cNvSpPr/>
          <p:nvPr/>
        </p:nvSpPr>
        <p:spPr>
          <a:xfrm>
            <a:off x="4301308" y="4990849"/>
            <a:ext cx="2022764" cy="15475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文本框 15">
            <a:extLst>
              <a:ext uri="{FF2B5EF4-FFF2-40B4-BE49-F238E27FC236}">
                <a16:creationId xmlns:a16="http://schemas.microsoft.com/office/drawing/2014/main" id="{495E5E63-B684-531A-31B0-41F94FD45F48}"/>
              </a:ext>
            </a:extLst>
          </p:cNvPr>
          <p:cNvSpPr txBox="1"/>
          <p:nvPr/>
        </p:nvSpPr>
        <p:spPr>
          <a:xfrm>
            <a:off x="4074321" y="4462488"/>
            <a:ext cx="25983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ordinal encoding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9" name="表格 6">
            <a:extLst>
              <a:ext uri="{FF2B5EF4-FFF2-40B4-BE49-F238E27FC236}">
                <a16:creationId xmlns:a16="http://schemas.microsoft.com/office/drawing/2014/main" id="{5D167A4B-49F3-CD51-B0F6-9A10106675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9086710"/>
              </p:ext>
            </p:extLst>
          </p:nvPr>
        </p:nvGraphicFramePr>
        <p:xfrm>
          <a:off x="6911813" y="4016896"/>
          <a:ext cx="1787236" cy="198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7236">
                  <a:extLst>
                    <a:ext uri="{9D8B030D-6E8A-4147-A177-3AD203B41FA5}">
                      <a16:colId xmlns:a16="http://schemas.microsoft.com/office/drawing/2014/main" val="49509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74252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1</a:t>
                      </a:r>
                      <a:endParaRPr lang="zh-CN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80724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2</a:t>
                      </a:r>
                      <a:endParaRPr lang="zh-CN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20331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3</a:t>
                      </a:r>
                      <a:endParaRPr lang="zh-CN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59322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4</a:t>
                      </a:r>
                      <a:endParaRPr lang="zh-CN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9639941"/>
                  </a:ext>
                </a:extLst>
              </a:tr>
            </a:tbl>
          </a:graphicData>
        </a:graphic>
      </p:graphicFrame>
      <p:sp>
        <p:nvSpPr>
          <p:cNvPr id="10" name="文本框 17">
            <a:extLst>
              <a:ext uri="{FF2B5EF4-FFF2-40B4-BE49-F238E27FC236}">
                <a16:creationId xmlns:a16="http://schemas.microsoft.com/office/drawing/2014/main" id="{CCE47BFD-E065-E64A-C2B2-B074C5071E54}"/>
              </a:ext>
            </a:extLst>
          </p:cNvPr>
          <p:cNvSpPr txBox="1"/>
          <p:nvPr/>
        </p:nvSpPr>
        <p:spPr>
          <a:xfrm>
            <a:off x="6698919" y="3557352"/>
            <a:ext cx="22845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Encoded data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5442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1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Encoding of nominal data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10">
                <a:extLst>
                  <a:ext uri="{FF2B5EF4-FFF2-40B4-BE49-F238E27FC236}">
                    <a16:creationId xmlns:a16="http://schemas.microsoft.com/office/drawing/2014/main" id="{5977FBD2-8CD7-86AB-B972-0BA481952312}"/>
                  </a:ext>
                </a:extLst>
              </p:cNvPr>
              <p:cNvSpPr txBox="1"/>
              <p:nvPr/>
            </p:nvSpPr>
            <p:spPr>
              <a:xfrm>
                <a:off x="716941" y="2198872"/>
                <a:ext cx="11188919" cy="12300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CN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 data point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</m:oMath>
                </a14:m>
                <a:r>
                  <a:rPr lang="en-US" altLang="zh-CN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is encoded to a binary vector 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𝒗</m:t>
                    </m:r>
                    <m:r>
                      <a:rPr lang="en-US" altLang="zh-CN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=(</m:t>
                    </m:r>
                    <m:sSub>
                      <m:sSubPr>
                        <m:ctrlPr>
                          <a:rPr lang="en-US" altLang="zh-CN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⋯, </m:t>
                    </m:r>
                    <m:sSub>
                      <m:sSubPr>
                        <m:ctrlPr>
                          <a:rPr lang="en-US" altLang="zh-CN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zh-CN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where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</m:oMath>
                </a14:m>
                <a:r>
                  <a:rPr lang="en-US" altLang="zh-CN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is the number of categories in the data set;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US" altLang="zh-CN" sz="240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US" altLang="zh-CN" sz="2400" i="1">
                        <a:solidFill>
                          <a:srgbClr val="292929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is the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</m:oMath>
                </a14:m>
                <a:r>
                  <a:rPr lang="en-US" altLang="zh-CN" sz="2400" baseline="300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th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category,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</m:t>
                    </m:r>
                  </m:oMath>
                </a14:m>
                <a:r>
                  <a:rPr lang="en-US" altLang="zh-CN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=0 </m:t>
                    </m:r>
                    <m:r>
                      <a:rPr lang="en-GB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𝑖𝑓</m:t>
                    </m:r>
                    <m:r>
                      <a:rPr lang="en-GB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GB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𝑓𝑜𝑟</m:t>
                    </m:r>
                    <m:r>
                      <a:rPr lang="en-GB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GB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𝑎𝑙𝑙</m:t>
                    </m:r>
                    <m:r>
                      <a:rPr lang="en-GB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 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≠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</m:oMath>
                </a14:m>
                <a:endParaRPr lang="zh-CN" alt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文本框 10">
                <a:extLst>
                  <a:ext uri="{FF2B5EF4-FFF2-40B4-BE49-F238E27FC236}">
                    <a16:creationId xmlns:a16="http://schemas.microsoft.com/office/drawing/2014/main" id="{5977FBD2-8CD7-86AB-B972-0BA4819523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941" y="2198872"/>
                <a:ext cx="11188919" cy="1230080"/>
              </a:xfrm>
              <a:prstGeom prst="rect">
                <a:avLst/>
              </a:prstGeom>
              <a:blipFill>
                <a:blip r:embed="rId3"/>
                <a:stretch>
                  <a:fillRect l="-763" t="-3483" b="-84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9">
            <a:extLst>
              <a:ext uri="{FF2B5EF4-FFF2-40B4-BE49-F238E27FC236}">
                <a16:creationId xmlns:a16="http://schemas.microsoft.com/office/drawing/2014/main" id="{E4D41D1D-6838-DACF-7C56-3A10FBF00610}"/>
              </a:ext>
            </a:extLst>
          </p:cNvPr>
          <p:cNvSpPr txBox="1"/>
          <p:nvPr/>
        </p:nvSpPr>
        <p:spPr>
          <a:xfrm>
            <a:off x="592868" y="3626568"/>
            <a:ext cx="104732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Example: encode a color set with three categories {red, green, blue}.</a:t>
            </a:r>
          </a:p>
        </p:txBody>
      </p:sp>
      <p:grpSp>
        <p:nvGrpSpPr>
          <p:cNvPr id="5" name="组合 2">
            <a:extLst>
              <a:ext uri="{FF2B5EF4-FFF2-40B4-BE49-F238E27FC236}">
                <a16:creationId xmlns:a16="http://schemas.microsoft.com/office/drawing/2014/main" id="{8B32D826-97F0-179B-BDD7-F715AEE1E53B}"/>
              </a:ext>
            </a:extLst>
          </p:cNvPr>
          <p:cNvGrpSpPr/>
          <p:nvPr/>
        </p:nvGrpSpPr>
        <p:grpSpPr>
          <a:xfrm>
            <a:off x="2549236" y="4494610"/>
            <a:ext cx="1014579" cy="1456416"/>
            <a:chOff x="1091374" y="3217253"/>
            <a:chExt cx="805294" cy="1456416"/>
          </a:xfrm>
        </p:grpSpPr>
        <p:sp>
          <p:nvSpPr>
            <p:cNvPr id="6" name="文本框 11">
              <a:extLst>
                <a:ext uri="{FF2B5EF4-FFF2-40B4-BE49-F238E27FC236}">
                  <a16:creationId xmlns:a16="http://schemas.microsoft.com/office/drawing/2014/main" id="{87E77A34-D01A-D7B7-9BFE-FF48F2AF8414}"/>
                </a:ext>
              </a:extLst>
            </p:cNvPr>
            <p:cNvSpPr txBox="1"/>
            <p:nvPr/>
          </p:nvSpPr>
          <p:spPr>
            <a:xfrm>
              <a:off x="1091374" y="3217253"/>
              <a:ext cx="802697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latin typeface="Arial" panose="020B0604020202020204" pitchFamily="34" charset="0"/>
                  <a:cs typeface="Arial" panose="020B0604020202020204" pitchFamily="34" charset="0"/>
                </a:rPr>
                <a:t>Color</a:t>
              </a:r>
              <a:endParaRPr lang="zh-CN" alt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" name="文本框 12">
              <a:extLst>
                <a:ext uri="{FF2B5EF4-FFF2-40B4-BE49-F238E27FC236}">
                  <a16:creationId xmlns:a16="http://schemas.microsoft.com/office/drawing/2014/main" id="{E5757E64-B566-730D-66F4-99FF5E61A3C8}"/>
                </a:ext>
              </a:extLst>
            </p:cNvPr>
            <p:cNvSpPr txBox="1"/>
            <p:nvPr/>
          </p:nvSpPr>
          <p:spPr>
            <a:xfrm>
              <a:off x="1091374" y="3586415"/>
              <a:ext cx="802697" cy="369332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Red</a:t>
              </a:r>
              <a:endParaRPr lang="zh-CN" alt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" name="文本框 13">
              <a:extLst>
                <a:ext uri="{FF2B5EF4-FFF2-40B4-BE49-F238E27FC236}">
                  <a16:creationId xmlns:a16="http://schemas.microsoft.com/office/drawing/2014/main" id="{0C2C01F0-0A24-8F90-8888-B47899B971D1}"/>
                </a:ext>
              </a:extLst>
            </p:cNvPr>
            <p:cNvSpPr txBox="1"/>
            <p:nvPr/>
          </p:nvSpPr>
          <p:spPr>
            <a:xfrm>
              <a:off x="1091374" y="3945376"/>
              <a:ext cx="802697" cy="646331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Green</a:t>
              </a:r>
              <a:endParaRPr lang="zh-CN" alt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文本框 14">
              <a:extLst>
                <a:ext uri="{FF2B5EF4-FFF2-40B4-BE49-F238E27FC236}">
                  <a16:creationId xmlns:a16="http://schemas.microsoft.com/office/drawing/2014/main" id="{DA410BD2-48AE-D26E-D9C9-6477C235CEE3}"/>
                </a:ext>
              </a:extLst>
            </p:cNvPr>
            <p:cNvSpPr txBox="1"/>
            <p:nvPr/>
          </p:nvSpPr>
          <p:spPr>
            <a:xfrm>
              <a:off x="1093971" y="4304337"/>
              <a:ext cx="802697" cy="369332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Blue</a:t>
              </a:r>
              <a:endParaRPr lang="zh-CN" alt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1" name="箭头: 右 15">
            <a:extLst>
              <a:ext uri="{FF2B5EF4-FFF2-40B4-BE49-F238E27FC236}">
                <a16:creationId xmlns:a16="http://schemas.microsoft.com/office/drawing/2014/main" id="{27504537-B9E2-1C7D-852F-F6576F9CD603}"/>
              </a:ext>
            </a:extLst>
          </p:cNvPr>
          <p:cNvSpPr/>
          <p:nvPr/>
        </p:nvSpPr>
        <p:spPr>
          <a:xfrm>
            <a:off x="3985364" y="5151495"/>
            <a:ext cx="2022764" cy="15475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文本框 16">
            <a:extLst>
              <a:ext uri="{FF2B5EF4-FFF2-40B4-BE49-F238E27FC236}">
                <a16:creationId xmlns:a16="http://schemas.microsoft.com/office/drawing/2014/main" id="{48616026-BFFE-9063-A908-334F172885BC}"/>
              </a:ext>
            </a:extLst>
          </p:cNvPr>
          <p:cNvSpPr txBox="1"/>
          <p:nvPr/>
        </p:nvSpPr>
        <p:spPr>
          <a:xfrm>
            <a:off x="3989694" y="4816425"/>
            <a:ext cx="2018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One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hot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encoding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3" name="表格 4">
            <a:extLst>
              <a:ext uri="{FF2B5EF4-FFF2-40B4-BE49-F238E27FC236}">
                <a16:creationId xmlns:a16="http://schemas.microsoft.com/office/drawing/2014/main" id="{38D07074-AA5F-0CFB-B846-82795858B8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0164048"/>
              </p:ext>
            </p:extLst>
          </p:nvPr>
        </p:nvGraphicFramePr>
        <p:xfrm>
          <a:off x="6641559" y="4444077"/>
          <a:ext cx="2843526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7842">
                  <a:extLst>
                    <a:ext uri="{9D8B030D-6E8A-4147-A177-3AD203B41FA5}">
                      <a16:colId xmlns:a16="http://schemas.microsoft.com/office/drawing/2014/main" val="2113834574"/>
                    </a:ext>
                  </a:extLst>
                </a:gridCol>
                <a:gridCol w="947842">
                  <a:extLst>
                    <a:ext uri="{9D8B030D-6E8A-4147-A177-3AD203B41FA5}">
                      <a16:colId xmlns:a16="http://schemas.microsoft.com/office/drawing/2014/main" val="1140969688"/>
                    </a:ext>
                  </a:extLst>
                </a:gridCol>
                <a:gridCol w="947842">
                  <a:extLst>
                    <a:ext uri="{9D8B030D-6E8A-4147-A177-3AD203B41FA5}">
                      <a16:colId xmlns:a16="http://schemas.microsoft.com/office/drawing/2014/main" val="33270280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d1</a:t>
                      </a:r>
                      <a:endParaRPr lang="zh-CN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d2</a:t>
                      </a:r>
                      <a:endParaRPr lang="zh-CN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d3</a:t>
                      </a:r>
                      <a:endParaRPr lang="zh-CN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77677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0670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97985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1725093"/>
                  </a:ext>
                </a:extLst>
              </a:tr>
            </a:tbl>
          </a:graphicData>
        </a:graphic>
      </p:graphicFrame>
      <p:sp>
        <p:nvSpPr>
          <p:cNvPr id="14" name="文本框 9">
            <a:extLst>
              <a:ext uri="{FF2B5EF4-FFF2-40B4-BE49-F238E27FC236}">
                <a16:creationId xmlns:a16="http://schemas.microsoft.com/office/drawing/2014/main" id="{C031C464-AE45-B4BA-1B19-E37CFCF1998E}"/>
              </a:ext>
            </a:extLst>
          </p:cNvPr>
          <p:cNvSpPr txBox="1"/>
          <p:nvPr/>
        </p:nvSpPr>
        <p:spPr>
          <a:xfrm>
            <a:off x="557894" y="1672243"/>
            <a:ext cx="30809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One hot encoding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2299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Encoding of nominal data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10">
                <a:extLst>
                  <a:ext uri="{FF2B5EF4-FFF2-40B4-BE49-F238E27FC236}">
                    <a16:creationId xmlns:a16="http://schemas.microsoft.com/office/drawing/2014/main" id="{21584F2F-BBEF-D8F4-F47A-2536C32B7CC0}"/>
                  </a:ext>
                </a:extLst>
              </p:cNvPr>
              <p:cNvSpPr txBox="1"/>
              <p:nvPr/>
            </p:nvSpPr>
            <p:spPr>
              <a:xfrm>
                <a:off x="557893" y="2245689"/>
                <a:ext cx="1120230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Dummy encoding uses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  <m:r>
                      <a:rPr lang="en-US" altLang="zh-CN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−1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binary variables, rather than </a:t>
                </a:r>
                <a:r>
                  <a:rPr lang="en-US" altLang="zh-CN" sz="2400" i="1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k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binary variables.</a:t>
                </a:r>
                <a:endParaRPr lang="zh-CN" alt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文本框 10">
                <a:extLst>
                  <a:ext uri="{FF2B5EF4-FFF2-40B4-BE49-F238E27FC236}">
                    <a16:creationId xmlns:a16="http://schemas.microsoft.com/office/drawing/2014/main" id="{21584F2F-BBEF-D8F4-F47A-2536C32B7C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893" y="2245689"/>
                <a:ext cx="11202305" cy="461665"/>
              </a:xfrm>
              <a:prstGeom prst="rect">
                <a:avLst/>
              </a:prstGeom>
              <a:blipFill>
                <a:blip r:embed="rId3"/>
                <a:stretch>
                  <a:fillRect l="-871" t="-9211" b="-30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9">
            <a:extLst>
              <a:ext uri="{FF2B5EF4-FFF2-40B4-BE49-F238E27FC236}">
                <a16:creationId xmlns:a16="http://schemas.microsoft.com/office/drawing/2014/main" id="{B9981AE4-F3BA-F18F-687A-1AF5E7C492A7}"/>
              </a:ext>
            </a:extLst>
          </p:cNvPr>
          <p:cNvSpPr txBox="1"/>
          <p:nvPr/>
        </p:nvSpPr>
        <p:spPr>
          <a:xfrm>
            <a:off x="557893" y="3160729"/>
            <a:ext cx="10741477" cy="907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the color set with three categories: {red, green, blue}.</a:t>
            </a:r>
          </a:p>
          <a:p>
            <a:pPr>
              <a:spcBef>
                <a:spcPts val="600"/>
              </a:spcBef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Three binary variables is required to encoding these category variables. 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5" name="组合 2">
            <a:extLst>
              <a:ext uri="{FF2B5EF4-FFF2-40B4-BE49-F238E27FC236}">
                <a16:creationId xmlns:a16="http://schemas.microsoft.com/office/drawing/2014/main" id="{D4FAB00F-FA80-A81C-EA69-04CBE1AB0610}"/>
              </a:ext>
            </a:extLst>
          </p:cNvPr>
          <p:cNvGrpSpPr/>
          <p:nvPr/>
        </p:nvGrpSpPr>
        <p:grpSpPr>
          <a:xfrm>
            <a:off x="1974464" y="4677638"/>
            <a:ext cx="915154" cy="1624823"/>
            <a:chOff x="1569972" y="3431237"/>
            <a:chExt cx="915154" cy="1624823"/>
          </a:xfrm>
        </p:grpSpPr>
        <p:sp>
          <p:nvSpPr>
            <p:cNvPr id="6" name="文本框 11">
              <a:extLst>
                <a:ext uri="{FF2B5EF4-FFF2-40B4-BE49-F238E27FC236}">
                  <a16:creationId xmlns:a16="http://schemas.microsoft.com/office/drawing/2014/main" id="{1F316FFC-20AD-6CE1-EA4E-B0C345ECF88B}"/>
                </a:ext>
              </a:extLst>
            </p:cNvPr>
            <p:cNvSpPr txBox="1"/>
            <p:nvPr/>
          </p:nvSpPr>
          <p:spPr>
            <a:xfrm>
              <a:off x="1569972" y="3431237"/>
              <a:ext cx="915154" cy="46166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rPr>
                <a:t>Color</a:t>
              </a:r>
              <a:endParaRPr lang="zh-CN" altLang="en-US" sz="2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" name="文本框 12">
              <a:extLst>
                <a:ext uri="{FF2B5EF4-FFF2-40B4-BE49-F238E27FC236}">
                  <a16:creationId xmlns:a16="http://schemas.microsoft.com/office/drawing/2014/main" id="{F9819017-10D0-C070-920A-4FFB9160ED09}"/>
                </a:ext>
              </a:extLst>
            </p:cNvPr>
            <p:cNvSpPr txBox="1"/>
            <p:nvPr/>
          </p:nvSpPr>
          <p:spPr>
            <a:xfrm>
              <a:off x="1626201" y="3999584"/>
              <a:ext cx="802697" cy="369332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Red</a:t>
              </a:r>
              <a:endParaRPr lang="zh-CN" alt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" name="文本框 13">
              <a:extLst>
                <a:ext uri="{FF2B5EF4-FFF2-40B4-BE49-F238E27FC236}">
                  <a16:creationId xmlns:a16="http://schemas.microsoft.com/office/drawing/2014/main" id="{4CF6838A-C4D1-BEA3-6DC9-CA29650DD602}"/>
                </a:ext>
              </a:extLst>
            </p:cNvPr>
            <p:cNvSpPr txBox="1"/>
            <p:nvPr/>
          </p:nvSpPr>
          <p:spPr>
            <a:xfrm>
              <a:off x="1626201" y="4367876"/>
              <a:ext cx="802697" cy="338554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Green</a:t>
              </a:r>
              <a:endParaRPr lang="zh-CN" alt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文本框 14">
              <a:extLst>
                <a:ext uri="{FF2B5EF4-FFF2-40B4-BE49-F238E27FC236}">
                  <a16:creationId xmlns:a16="http://schemas.microsoft.com/office/drawing/2014/main" id="{71F66B60-AF90-E4BB-A7F4-3E57FBDB88AB}"/>
                </a:ext>
              </a:extLst>
            </p:cNvPr>
            <p:cNvSpPr txBox="1"/>
            <p:nvPr/>
          </p:nvSpPr>
          <p:spPr>
            <a:xfrm>
              <a:off x="1628798" y="4717506"/>
              <a:ext cx="802697" cy="338554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Blue</a:t>
              </a:r>
              <a:endParaRPr lang="zh-CN" alt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1" name="箭头: 右 15">
            <a:extLst>
              <a:ext uri="{FF2B5EF4-FFF2-40B4-BE49-F238E27FC236}">
                <a16:creationId xmlns:a16="http://schemas.microsoft.com/office/drawing/2014/main" id="{A00E7580-A2AE-6F72-18EF-2510C29CD392}"/>
              </a:ext>
            </a:extLst>
          </p:cNvPr>
          <p:cNvSpPr/>
          <p:nvPr/>
        </p:nvSpPr>
        <p:spPr>
          <a:xfrm>
            <a:off x="3192448" y="5630270"/>
            <a:ext cx="2377927" cy="16403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文本框 16">
            <a:extLst>
              <a:ext uri="{FF2B5EF4-FFF2-40B4-BE49-F238E27FC236}">
                <a16:creationId xmlns:a16="http://schemas.microsoft.com/office/drawing/2014/main" id="{86FD214D-CEC9-287C-43B1-6A5D0696F6BB}"/>
              </a:ext>
            </a:extLst>
          </p:cNvPr>
          <p:cNvSpPr txBox="1"/>
          <p:nvPr/>
        </p:nvSpPr>
        <p:spPr>
          <a:xfrm>
            <a:off x="3106604" y="5194718"/>
            <a:ext cx="26933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dummy encoding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3" name="表格 19">
            <a:extLst>
              <a:ext uri="{FF2B5EF4-FFF2-40B4-BE49-F238E27FC236}">
                <a16:creationId xmlns:a16="http://schemas.microsoft.com/office/drawing/2014/main" id="{7AB94579-49AA-8B27-2EC0-571B7689AC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7337546"/>
              </p:ext>
            </p:extLst>
          </p:nvPr>
        </p:nvGraphicFramePr>
        <p:xfrm>
          <a:off x="6159045" y="4928260"/>
          <a:ext cx="1895684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7842">
                  <a:extLst>
                    <a:ext uri="{9D8B030D-6E8A-4147-A177-3AD203B41FA5}">
                      <a16:colId xmlns:a16="http://schemas.microsoft.com/office/drawing/2014/main" val="2113834574"/>
                    </a:ext>
                  </a:extLst>
                </a:gridCol>
                <a:gridCol w="947842">
                  <a:extLst>
                    <a:ext uri="{9D8B030D-6E8A-4147-A177-3AD203B41FA5}">
                      <a16:colId xmlns:a16="http://schemas.microsoft.com/office/drawing/2014/main" val="11409696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d1</a:t>
                      </a:r>
                      <a:endParaRPr lang="zh-CN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d2</a:t>
                      </a:r>
                      <a:endParaRPr lang="zh-CN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77677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0670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97985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1725093"/>
                  </a:ext>
                </a:extLst>
              </a:tr>
            </a:tbl>
          </a:graphicData>
        </a:graphic>
      </p:graphicFrame>
      <p:sp>
        <p:nvSpPr>
          <p:cNvPr id="14" name="文本框 9">
            <a:extLst>
              <a:ext uri="{FF2B5EF4-FFF2-40B4-BE49-F238E27FC236}">
                <a16:creationId xmlns:a16="http://schemas.microsoft.com/office/drawing/2014/main" id="{433A5655-53A3-BAAB-9E7E-40EE2CCE9C64}"/>
              </a:ext>
            </a:extLst>
          </p:cNvPr>
          <p:cNvSpPr txBox="1"/>
          <p:nvPr/>
        </p:nvSpPr>
        <p:spPr>
          <a:xfrm>
            <a:off x="557894" y="1672243"/>
            <a:ext cx="30809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Dummy encoding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2683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Encoding of nominal data</a:t>
            </a:r>
          </a:p>
        </p:txBody>
      </p:sp>
      <p:sp>
        <p:nvSpPr>
          <p:cNvPr id="2" name="文本框 22">
            <a:extLst>
              <a:ext uri="{FF2B5EF4-FFF2-40B4-BE49-F238E27FC236}">
                <a16:creationId xmlns:a16="http://schemas.microsoft.com/office/drawing/2014/main" id="{0C73A141-CB8F-AA13-BD2E-494179741410}"/>
              </a:ext>
            </a:extLst>
          </p:cNvPr>
          <p:cNvSpPr txBox="1"/>
          <p:nvPr/>
        </p:nvSpPr>
        <p:spPr>
          <a:xfrm>
            <a:off x="7089689" y="3839851"/>
            <a:ext cx="22513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Dummy encoding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文本框 23">
            <a:extLst>
              <a:ext uri="{FF2B5EF4-FFF2-40B4-BE49-F238E27FC236}">
                <a16:creationId xmlns:a16="http://schemas.microsoft.com/office/drawing/2014/main" id="{B73D7235-2D6B-16E4-D0ED-E9A580E23F13}"/>
              </a:ext>
            </a:extLst>
          </p:cNvPr>
          <p:cNvSpPr txBox="1"/>
          <p:nvPr/>
        </p:nvSpPr>
        <p:spPr>
          <a:xfrm>
            <a:off x="2691621" y="3839851"/>
            <a:ext cx="24106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One hot encoding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文本框 24">
            <a:extLst>
              <a:ext uri="{FF2B5EF4-FFF2-40B4-BE49-F238E27FC236}">
                <a16:creationId xmlns:a16="http://schemas.microsoft.com/office/drawing/2014/main" id="{A980F7B3-D06C-8487-C5C0-799B9F1C46E7}"/>
              </a:ext>
            </a:extLst>
          </p:cNvPr>
          <p:cNvSpPr txBox="1"/>
          <p:nvPr/>
        </p:nvSpPr>
        <p:spPr>
          <a:xfrm>
            <a:off x="2287513" y="4239961"/>
            <a:ext cx="3036849" cy="1323439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New York: 	[1 0 0 0]</a:t>
            </a:r>
          </a:p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California: 	[0 1 0 0]</a:t>
            </a:r>
          </a:p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Florida: 	[0 0 1 0]</a:t>
            </a:r>
          </a:p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Washington: 	[0 0 0 1]</a:t>
            </a:r>
          </a:p>
        </p:txBody>
      </p:sp>
      <p:sp>
        <p:nvSpPr>
          <p:cNvPr id="5" name="文本框 25">
            <a:extLst>
              <a:ext uri="{FF2B5EF4-FFF2-40B4-BE49-F238E27FC236}">
                <a16:creationId xmlns:a16="http://schemas.microsoft.com/office/drawing/2014/main" id="{6D6C573A-AF5C-B192-39FD-0404299BBAD1}"/>
              </a:ext>
            </a:extLst>
          </p:cNvPr>
          <p:cNvSpPr txBox="1"/>
          <p:nvPr/>
        </p:nvSpPr>
        <p:spPr>
          <a:xfrm>
            <a:off x="6691613" y="4239961"/>
            <a:ext cx="3036849" cy="1323439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New York: 	[1 0 0]</a:t>
            </a:r>
          </a:p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California: 	[0 1 0]</a:t>
            </a:r>
          </a:p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Florida: 	[0 0 1]</a:t>
            </a:r>
          </a:p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Washington: 	[0 0 0]</a:t>
            </a:r>
          </a:p>
        </p:txBody>
      </p:sp>
      <p:sp>
        <p:nvSpPr>
          <p:cNvPr id="7" name="文本框 2">
            <a:extLst>
              <a:ext uri="{FF2B5EF4-FFF2-40B4-BE49-F238E27FC236}">
                <a16:creationId xmlns:a16="http://schemas.microsoft.com/office/drawing/2014/main" id="{77AAA394-8B66-A3DB-546E-5653391D5768}"/>
              </a:ext>
            </a:extLst>
          </p:cNvPr>
          <p:cNvSpPr txBox="1"/>
          <p:nvPr/>
        </p:nvSpPr>
        <p:spPr>
          <a:xfrm>
            <a:off x="585235" y="2748522"/>
            <a:ext cx="100050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Categorical data set: {New York, California, Florida, Washington}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文本框 9">
            <a:extLst>
              <a:ext uri="{FF2B5EF4-FFF2-40B4-BE49-F238E27FC236}">
                <a16:creationId xmlns:a16="http://schemas.microsoft.com/office/drawing/2014/main" id="{AB5073BD-6AF4-D004-429B-AFB0EB4CE1DF}"/>
              </a:ext>
            </a:extLst>
          </p:cNvPr>
          <p:cNvSpPr txBox="1"/>
          <p:nvPr/>
        </p:nvSpPr>
        <p:spPr>
          <a:xfrm>
            <a:off x="557894" y="1672243"/>
            <a:ext cx="91705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One hot encoding vs. dummy encoding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0890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 animBg="1"/>
      <p:bldP spid="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University at sunset">
            <a:extLst>
              <a:ext uri="{FF2B5EF4-FFF2-40B4-BE49-F238E27FC236}">
                <a16:creationId xmlns:a16="http://schemas.microsoft.com/office/drawing/2014/main" id="{11FDCD37-95D4-D94F-8143-5384ADC6A6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175F20C-468E-F742-9149-B8A5FEBC291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45886" y="1889351"/>
            <a:ext cx="5842000" cy="1931535"/>
          </a:xfrm>
        </p:spPr>
        <p:txBody>
          <a:bodyPr>
            <a:noAutofit/>
          </a:bodyPr>
          <a:lstStyle/>
          <a:p>
            <a:pPr algn="l"/>
            <a:r>
              <a:rPr lang="en-GB">
                <a:solidFill>
                  <a:schemeClr val="bg1"/>
                </a:solidFill>
              </a:rPr>
              <a:t>Thanks!</a:t>
            </a:r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22ED6EA-1EF6-E99C-8D46-A77E8079F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385228" y="5699322"/>
            <a:ext cx="3413095" cy="854153"/>
            <a:chOff x="8385228" y="5699322"/>
            <a:chExt cx="3413095" cy="854153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44E80E0-21D5-A09C-9C43-3B822C05837D}"/>
                </a:ext>
              </a:extLst>
            </p:cNvPr>
            <p:cNvSpPr txBox="1"/>
            <p:nvPr/>
          </p:nvSpPr>
          <p:spPr>
            <a:xfrm>
              <a:off x="8385228" y="5699322"/>
              <a:ext cx="3413095" cy="461665"/>
            </a:xfrm>
            <a:prstGeom prst="rect">
              <a:avLst/>
            </a:prstGeom>
            <a:noFill/>
            <a:effectLst>
              <a:outerShdw blurRad="1270000" dist="50800" dir="5400000" sx="200000" sy="200000" algn="ctr" rotWithShape="0">
                <a:schemeClr val="tx1"/>
              </a:outerShdw>
            </a:effectLst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#</a:t>
              </a:r>
              <a:r>
                <a:rPr lang="en-US" sz="2400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UofGWorldChangers</a:t>
              </a:r>
              <a:endPara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92BBCD2-E264-1B57-0E93-92E9DB639953}"/>
                </a:ext>
              </a:extLst>
            </p:cNvPr>
            <p:cNvSpPr txBox="1"/>
            <p:nvPr/>
          </p:nvSpPr>
          <p:spPr>
            <a:xfrm>
              <a:off x="9098531" y="6091810"/>
              <a:ext cx="26997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@</a:t>
              </a:r>
              <a:r>
                <a:rPr lang="en-US" sz="2400" b="1" dirty="0" err="1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UofGlasgow</a:t>
              </a:r>
              <a:endParaRPr lang="en-US" sz="2400" b="1" dirty="0">
                <a:solidFill>
                  <a:schemeClr val="bg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endParaRP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4EA5A01-D67E-B5A8-4983-B4E38F735C71}"/>
                </a:ext>
              </a:extLst>
            </p:cNvPr>
            <p:cNvGrpSpPr/>
            <p:nvPr/>
          </p:nvGrpSpPr>
          <p:grpSpPr>
            <a:xfrm>
              <a:off x="8516481" y="6162367"/>
              <a:ext cx="841333" cy="347112"/>
              <a:chOff x="8601252" y="6162367"/>
              <a:chExt cx="841333" cy="347112"/>
            </a:xfrm>
          </p:grpSpPr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8049EAA7-B259-E0CF-6188-D83E4A7650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778761" y="6162367"/>
                <a:ext cx="475023" cy="347112"/>
              </a:xfrm>
              <a:prstGeom prst="rect">
                <a:avLst/>
              </a:prstGeom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C9EF044C-8E77-0253-404C-AEACFCC1AE0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9194185" y="6223334"/>
                <a:ext cx="248400" cy="248399"/>
              </a:xfrm>
              <a:prstGeom prst="rect">
                <a:avLst/>
              </a:prstGeom>
            </p:spPr>
          </p:pic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1EFBA2B9-08B7-B52F-FE3B-91DCAC58DC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8601252" y="6221141"/>
                <a:ext cx="239105" cy="239106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0063787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ofG colours">
      <a:dk1>
        <a:srgbClr val="003865"/>
      </a:dk1>
      <a:lt1>
        <a:srgbClr val="FFFFFE"/>
      </a:lt1>
      <a:dk2>
        <a:srgbClr val="000000"/>
      </a:dk2>
      <a:lt2>
        <a:srgbClr val="7D2238"/>
      </a:lt2>
      <a:accent1>
        <a:srgbClr val="0075B0"/>
      </a:accent1>
      <a:accent2>
        <a:srgbClr val="5B4D93"/>
      </a:accent2>
      <a:accent3>
        <a:srgbClr val="CF1C20"/>
      </a:accent3>
      <a:accent4>
        <a:srgbClr val="00833C"/>
      </a:accent4>
      <a:accent5>
        <a:srgbClr val="BE4D00"/>
      </a:accent5>
      <a:accent6>
        <a:srgbClr val="951271"/>
      </a:accent6>
      <a:hlink>
        <a:srgbClr val="584B3D"/>
      </a:hlink>
      <a:folHlink>
        <a:srgbClr val="0068A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A61AF5F2-503D-2641-86A1-09AD8919EA9C}" vid="{A816E7D6-9491-074F-A4D5-6596497DAC1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C3DDD16490E0A48848881CB6EECDF92" ma:contentTypeVersion="14" ma:contentTypeDescription="Create a new document." ma:contentTypeScope="" ma:versionID="7257862a4d6c3825659cc59ecdb78f01">
  <xsd:schema xmlns:xsd="http://www.w3.org/2001/XMLSchema" xmlns:xs="http://www.w3.org/2001/XMLSchema" xmlns:p="http://schemas.microsoft.com/office/2006/metadata/properties" xmlns:ns2="1cc9bed8-8410-44eb-bf25-ca1ea4636418" xmlns:ns3="dfc159fb-6789-415c-9027-b0bc58ba83c2" targetNamespace="http://schemas.microsoft.com/office/2006/metadata/properties" ma:root="true" ma:fieldsID="e75013956d80933023b8c9f213f858d3" ns2:_="" ns3:_="">
    <xsd:import namespace="1cc9bed8-8410-44eb-bf25-ca1ea4636418"/>
    <xsd:import namespace="dfc159fb-6789-415c-9027-b0bc58ba83c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cc9bed8-8410-44eb-bf25-ca1ea46364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7306b285-ac2c-4225-b56d-e54690cf9c9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c159fb-6789-415c-9027-b0bc58ba83c2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79eadc21-23c5-47b9-90bf-40474c6df852}" ma:internalName="TaxCatchAll" ma:showField="CatchAllData" ma:web="dfc159fb-6789-415c-9027-b0bc58ba83c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cc9bed8-8410-44eb-bf25-ca1ea4636418">
      <Terms xmlns="http://schemas.microsoft.com/office/infopath/2007/PartnerControls"/>
    </lcf76f155ced4ddcb4097134ff3c332f>
    <TaxCatchAll xmlns="dfc159fb-6789-415c-9027-b0bc58ba83c2" xsi:nil="true"/>
  </documentManagement>
</p:properties>
</file>

<file path=customXml/itemProps1.xml><?xml version="1.0" encoding="utf-8"?>
<ds:datastoreItem xmlns:ds="http://schemas.openxmlformats.org/officeDocument/2006/customXml" ds:itemID="{70CF078E-5ADE-47A1-BF80-10415C10C55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740570D-F0A8-42D7-B4D4-F1E60E8A742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cc9bed8-8410-44eb-bf25-ca1ea4636418"/>
    <ds:schemaRef ds:uri="dfc159fb-6789-415c-9027-b0bc58ba83c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729C40C-30D1-4C7E-9A76-E4298DE12ED2}">
  <ds:schemaRefs>
    <ds:schemaRef ds:uri="http://schemas.microsoft.com/office/2006/metadata/properties"/>
    <ds:schemaRef ds:uri="http://schemas.microsoft.com/office/infopath/2007/PartnerControls"/>
    <ds:schemaRef ds:uri="1cc9bed8-8410-44eb-bf25-ca1ea4636418"/>
    <ds:schemaRef ds:uri="dfc159fb-6789-415c-9027-b0bc58ba83c2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1932</TotalTime>
  <Words>661</Words>
  <Application>Microsoft Office PowerPoint</Application>
  <PresentationFormat>Widescreen</PresentationFormat>
  <Paragraphs>137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Cambria Math</vt:lpstr>
      <vt:lpstr>Times New Roman</vt:lpstr>
      <vt:lpstr>Office Theme</vt:lpstr>
      <vt:lpstr>Mapping Inputs to Outputs: Data Representation </vt:lpstr>
      <vt:lpstr>Machine learning procedure</vt:lpstr>
      <vt:lpstr>Data types and encoding</vt:lpstr>
      <vt:lpstr>Data types in ML</vt:lpstr>
      <vt:lpstr>More on discrete data </vt:lpstr>
      <vt:lpstr>Data types in ML</vt:lpstr>
      <vt:lpstr>Data types in ML</vt:lpstr>
      <vt:lpstr>Encoding of ordinal data</vt:lpstr>
      <vt:lpstr>Encoding of nominal data</vt:lpstr>
      <vt:lpstr>Encoding of nominal data</vt:lpstr>
      <vt:lpstr>Encoding of nominal data</vt:lpstr>
      <vt:lpstr>Thanks!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/>
  <cp:lastModifiedBy>Bo Liu</cp:lastModifiedBy>
  <cp:revision>79</cp:revision>
  <dcterms:created xsi:type="dcterms:W3CDTF">2021-01-06T14:22:07Z</dcterms:created>
  <dcterms:modified xsi:type="dcterms:W3CDTF">2024-07-08T12:09:10Z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0x0101009C3DDD16490E0A48848881CB6EECDF92</vt:lpwstr>
  </property>
</Properties>
</file>