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56" r:id="rId5"/>
    <p:sldId id="494" r:id="rId6"/>
    <p:sldId id="496" r:id="rId7"/>
    <p:sldId id="497" r:id="rId8"/>
    <p:sldId id="498" r:id="rId9"/>
    <p:sldId id="499" r:id="rId10"/>
    <p:sldId id="500" r:id="rId11"/>
    <p:sldId id="501" r:id="rId12"/>
    <p:sldId id="27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359" autoAdjust="0"/>
    <p:restoredTop sz="96327"/>
  </p:normalViewPr>
  <p:slideViewPr>
    <p:cSldViewPr snapToGrid="0">
      <p:cViewPr varScale="1">
        <p:scale>
          <a:sx n="153" d="100"/>
          <a:sy n="153" d="100"/>
        </p:scale>
        <p:origin x="80" y="80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2058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3509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3766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7931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9849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1650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14/08/2024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Mapping Inputs to Outputs: Parametric ML Model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Select ML algorithms</a:t>
            </a:r>
          </a:p>
        </p:txBody>
      </p:sp>
      <p:sp>
        <p:nvSpPr>
          <p:cNvPr id="2" name="矩形 22">
            <a:extLst>
              <a:ext uri="{FF2B5EF4-FFF2-40B4-BE49-F238E27FC236}">
                <a16:creationId xmlns:a16="http://schemas.microsoft.com/office/drawing/2014/main" id="{D6B0EF0B-2067-6A35-BD03-F45F75B37B56}"/>
              </a:ext>
            </a:extLst>
          </p:cNvPr>
          <p:cNvSpPr/>
          <p:nvPr/>
        </p:nvSpPr>
        <p:spPr>
          <a:xfrm>
            <a:off x="395992" y="1954482"/>
            <a:ext cx="10782081" cy="1723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 data</a:t>
            </a:r>
            <a:r>
              <a:rPr lang="en-US" altLang="zh-CN" sz="24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the data should be translated to the language that ML algorithms can understand </a:t>
            </a:r>
            <a:r>
              <a:rPr lang="en-US" altLang="zh-CN" sz="24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Data types/encoding</a:t>
            </a:r>
            <a:endParaRPr lang="en-US" altLang="zh-CN" sz="2400" dirty="0">
              <a:solidFill>
                <a:schemeClr val="accent2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Select ML algorithms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Evaluate output</a:t>
            </a:r>
            <a:r>
              <a:rPr lang="en-US" altLang="zh-CN" sz="24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prediction errors</a:t>
            </a:r>
          </a:p>
        </p:txBody>
      </p:sp>
      <p:sp>
        <p:nvSpPr>
          <p:cNvPr id="3" name="箭头: 右 18">
            <a:extLst>
              <a:ext uri="{FF2B5EF4-FFF2-40B4-BE49-F238E27FC236}">
                <a16:creationId xmlns:a16="http://schemas.microsoft.com/office/drawing/2014/main" id="{997A3702-20DB-8AEA-D79E-90ECFDAEF948}"/>
              </a:ext>
            </a:extLst>
          </p:cNvPr>
          <p:cNvSpPr/>
          <p:nvPr/>
        </p:nvSpPr>
        <p:spPr>
          <a:xfrm>
            <a:off x="2236713" y="4610006"/>
            <a:ext cx="387345" cy="215173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23">
            <a:extLst>
              <a:ext uri="{FF2B5EF4-FFF2-40B4-BE49-F238E27FC236}">
                <a16:creationId xmlns:a16="http://schemas.microsoft.com/office/drawing/2014/main" id="{232D85B2-7878-2FE5-7D59-B18C40241395}"/>
              </a:ext>
            </a:extLst>
          </p:cNvPr>
          <p:cNvSpPr/>
          <p:nvPr/>
        </p:nvSpPr>
        <p:spPr>
          <a:xfrm>
            <a:off x="2645364" y="4421686"/>
            <a:ext cx="1608207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Data representation</a:t>
            </a:r>
            <a:endParaRPr lang="zh-CN" altLang="en-US" dirty="0"/>
          </a:p>
        </p:txBody>
      </p:sp>
      <p:sp>
        <p:nvSpPr>
          <p:cNvPr id="5" name="箭头: 右 24">
            <a:extLst>
              <a:ext uri="{FF2B5EF4-FFF2-40B4-BE49-F238E27FC236}">
                <a16:creationId xmlns:a16="http://schemas.microsoft.com/office/drawing/2014/main" id="{BFFC746D-1EAC-9B46-FE11-307FACED142B}"/>
              </a:ext>
            </a:extLst>
          </p:cNvPr>
          <p:cNvSpPr/>
          <p:nvPr/>
        </p:nvSpPr>
        <p:spPr>
          <a:xfrm>
            <a:off x="4311385" y="4639260"/>
            <a:ext cx="404359" cy="211182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25">
            <a:extLst>
              <a:ext uri="{FF2B5EF4-FFF2-40B4-BE49-F238E27FC236}">
                <a16:creationId xmlns:a16="http://schemas.microsoft.com/office/drawing/2014/main" id="{E0C2DBC4-4B37-9B9F-2A2C-1C7776DE1ED9}"/>
              </a:ext>
            </a:extLst>
          </p:cNvPr>
          <p:cNvSpPr/>
          <p:nvPr/>
        </p:nvSpPr>
        <p:spPr>
          <a:xfrm>
            <a:off x="4737079" y="4427052"/>
            <a:ext cx="1500460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Select ML algorithms</a:t>
            </a:r>
            <a:endParaRPr lang="zh-CN" altLang="en-US" dirty="0"/>
          </a:p>
        </p:txBody>
      </p:sp>
      <p:sp>
        <p:nvSpPr>
          <p:cNvPr id="7" name="箭头: 右 26">
            <a:extLst>
              <a:ext uri="{FF2B5EF4-FFF2-40B4-BE49-F238E27FC236}">
                <a16:creationId xmlns:a16="http://schemas.microsoft.com/office/drawing/2014/main" id="{99D01989-87A6-6E88-EFC0-23BA9DE99665}"/>
              </a:ext>
            </a:extLst>
          </p:cNvPr>
          <p:cNvSpPr/>
          <p:nvPr/>
        </p:nvSpPr>
        <p:spPr>
          <a:xfrm>
            <a:off x="6286802" y="4596832"/>
            <a:ext cx="346172" cy="241520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28">
            <a:extLst>
              <a:ext uri="{FF2B5EF4-FFF2-40B4-BE49-F238E27FC236}">
                <a16:creationId xmlns:a16="http://schemas.microsoft.com/office/drawing/2014/main" id="{BA395EF3-2181-02AB-D541-8A1E9C4067B8}"/>
              </a:ext>
            </a:extLst>
          </p:cNvPr>
          <p:cNvSpPr/>
          <p:nvPr/>
        </p:nvSpPr>
        <p:spPr>
          <a:xfrm>
            <a:off x="6663233" y="4394426"/>
            <a:ext cx="1500460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Model training</a:t>
            </a:r>
            <a:endParaRPr lang="zh-CN" altLang="en-US" dirty="0"/>
          </a:p>
        </p:txBody>
      </p:sp>
      <p:sp>
        <p:nvSpPr>
          <p:cNvPr id="11" name="矩形 29">
            <a:extLst>
              <a:ext uri="{FF2B5EF4-FFF2-40B4-BE49-F238E27FC236}">
                <a16:creationId xmlns:a16="http://schemas.microsoft.com/office/drawing/2014/main" id="{EF4D56CE-1549-BF30-592D-D37160877638}"/>
              </a:ext>
            </a:extLst>
          </p:cNvPr>
          <p:cNvSpPr/>
          <p:nvPr/>
        </p:nvSpPr>
        <p:spPr>
          <a:xfrm>
            <a:off x="8515992" y="4387342"/>
            <a:ext cx="1500460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Model evaluation</a:t>
            </a:r>
            <a:endParaRPr lang="zh-CN" altLang="en-US" dirty="0"/>
          </a:p>
        </p:txBody>
      </p:sp>
      <p:sp>
        <p:nvSpPr>
          <p:cNvPr id="12" name="箭头: 右 30">
            <a:extLst>
              <a:ext uri="{FF2B5EF4-FFF2-40B4-BE49-F238E27FC236}">
                <a16:creationId xmlns:a16="http://schemas.microsoft.com/office/drawing/2014/main" id="{F64D3F5F-E6EA-A70A-99E9-1BD54BC51260}"/>
              </a:ext>
            </a:extLst>
          </p:cNvPr>
          <p:cNvSpPr/>
          <p:nvPr/>
        </p:nvSpPr>
        <p:spPr>
          <a:xfrm>
            <a:off x="8163591" y="4596832"/>
            <a:ext cx="346172" cy="241520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31">
            <a:extLst>
              <a:ext uri="{FF2B5EF4-FFF2-40B4-BE49-F238E27FC236}">
                <a16:creationId xmlns:a16="http://schemas.microsoft.com/office/drawing/2014/main" id="{9665CC3E-5268-B8F1-FE21-8E129B86E705}"/>
              </a:ext>
            </a:extLst>
          </p:cNvPr>
          <p:cNvSpPr/>
          <p:nvPr/>
        </p:nvSpPr>
        <p:spPr>
          <a:xfrm>
            <a:off x="4393532" y="4055697"/>
            <a:ext cx="1992496" cy="1323788"/>
          </a:xfrm>
          <a:prstGeom prst="roundRect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片 2">
            <a:extLst>
              <a:ext uri="{FF2B5EF4-FFF2-40B4-BE49-F238E27FC236}">
                <a16:creationId xmlns:a16="http://schemas.microsoft.com/office/drawing/2014/main" id="{516B843C-1BC0-8549-FDE6-D6C8FE085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027" y="4210113"/>
            <a:ext cx="974287" cy="86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  <p:bldP spid="5" grpId="0" animBg="1"/>
      <p:bldP spid="6" grpId="0" animBg="1"/>
      <p:bldP spid="7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Parametric models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285F246D-C245-F5B5-76FC-8F34A8430EF4}"/>
              </a:ext>
            </a:extLst>
          </p:cNvPr>
          <p:cNvSpPr txBox="1"/>
          <p:nvPr/>
        </p:nvSpPr>
        <p:spPr>
          <a:xfrm>
            <a:off x="553501" y="1665635"/>
            <a:ext cx="9990092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Parametric models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simplify the model to a known form (e.g., a line) of function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that defines the relationship between inputs and outputs.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linear regression, logistic regression, simple neural network, etc.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9">
            <a:extLst>
              <a:ext uri="{FF2B5EF4-FFF2-40B4-BE49-F238E27FC236}">
                <a16:creationId xmlns:a16="http://schemas.microsoft.com/office/drawing/2014/main" id="{2921E772-DE33-2796-E26A-DD17B13FFF15}"/>
              </a:ext>
            </a:extLst>
          </p:cNvPr>
          <p:cNvSpPr txBox="1"/>
          <p:nvPr/>
        </p:nvSpPr>
        <p:spPr>
          <a:xfrm>
            <a:off x="553499" y="3252886"/>
            <a:ext cx="11051569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Pros: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Often Explainable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 easy to understand and interpret the results.</a:t>
            </a:r>
          </a:p>
        </p:txBody>
      </p:sp>
      <p:sp>
        <p:nvSpPr>
          <p:cNvPr id="4" name="文本框 13">
            <a:extLst>
              <a:ext uri="{FF2B5EF4-FFF2-40B4-BE49-F238E27FC236}">
                <a16:creationId xmlns:a16="http://schemas.microsoft.com/office/drawing/2014/main" id="{F3E9C5C2-3EC9-10B6-8359-2320C60352F9}"/>
              </a:ext>
            </a:extLst>
          </p:cNvPr>
          <p:cNvSpPr txBox="1"/>
          <p:nvPr/>
        </p:nvSpPr>
        <p:spPr>
          <a:xfrm>
            <a:off x="553499" y="4728952"/>
            <a:ext cx="11352361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Cons: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Sometimes Constrained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 highly constrained to the specified form.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Maybe Poor Fit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 sometimes hard to match the underlying mapping function.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0412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it-IT" dirty="0"/>
              <a:t>Parametric model: linear regression (LR)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8">
                <a:extLst>
                  <a:ext uri="{FF2B5EF4-FFF2-40B4-BE49-F238E27FC236}">
                    <a16:creationId xmlns:a16="http://schemas.microsoft.com/office/drawing/2014/main" id="{FAC7B2C6-921C-B7FD-4E11-70E71E912ED3}"/>
                  </a:ext>
                </a:extLst>
              </p:cNvPr>
              <p:cNvSpPr txBox="1"/>
              <p:nvPr/>
            </p:nvSpPr>
            <p:spPr>
              <a:xfrm>
                <a:off x="669764" y="1625512"/>
                <a:ext cx="947261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LR learns the relationship between the two sets of variables (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by a linear function: 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文本框 8">
                <a:extLst>
                  <a:ext uri="{FF2B5EF4-FFF2-40B4-BE49-F238E27FC236}">
                    <a16:creationId xmlns:a16="http://schemas.microsoft.com/office/drawing/2014/main" id="{FAC7B2C6-921C-B7FD-4E11-70E71E912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764" y="1625512"/>
                <a:ext cx="9472612" cy="830997"/>
              </a:xfrm>
              <a:prstGeom prst="rect">
                <a:avLst/>
              </a:prstGeom>
              <a:blipFill>
                <a:blip r:embed="rId3"/>
                <a:stretch>
                  <a:fillRect l="-1030" t="-5147" r="-2059" b="-16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9">
                <a:extLst>
                  <a:ext uri="{FF2B5EF4-FFF2-40B4-BE49-F238E27FC236}">
                    <a16:creationId xmlns:a16="http://schemas.microsoft.com/office/drawing/2014/main" id="{D39D08A4-D47C-5553-B4BE-4290C0AB64E7}"/>
                  </a:ext>
                </a:extLst>
              </p:cNvPr>
              <p:cNvSpPr txBox="1"/>
              <p:nvPr/>
            </p:nvSpPr>
            <p:spPr>
              <a:xfrm>
                <a:off x="3365928" y="2456509"/>
                <a:ext cx="252152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𝒂𝒙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9">
                <a:extLst>
                  <a:ext uri="{FF2B5EF4-FFF2-40B4-BE49-F238E27FC236}">
                    <a16:creationId xmlns:a16="http://schemas.microsoft.com/office/drawing/2014/main" id="{D39D08A4-D47C-5553-B4BE-4290C0AB64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5928" y="2456509"/>
                <a:ext cx="2521527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6">
                <a:extLst>
                  <a:ext uri="{FF2B5EF4-FFF2-40B4-BE49-F238E27FC236}">
                    <a16:creationId xmlns:a16="http://schemas.microsoft.com/office/drawing/2014/main" id="{6CB497D8-19E2-4EC8-E35E-448D0E09EC74}"/>
                  </a:ext>
                </a:extLst>
              </p:cNvPr>
              <p:cNvSpPr txBox="1"/>
              <p:nvPr/>
            </p:nvSpPr>
            <p:spPr>
              <a:xfrm>
                <a:off x="669764" y="3538990"/>
                <a:ext cx="10415003" cy="17235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7472" lvl="1" indent="-3429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the dependent variable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to be predicted</a:t>
                </a:r>
              </a:p>
              <a:p>
                <a:pPr marL="347472" lvl="1" indent="-3429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independent variable that is used to predict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7472" lvl="1" indent="-3429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relationship is reflected by </a:t>
                </a:r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coefficient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constant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which are learned upon training</a:t>
                </a:r>
              </a:p>
            </p:txBody>
          </p:sp>
        </mc:Choice>
        <mc:Fallback xmlns="">
          <p:sp>
            <p:nvSpPr>
              <p:cNvPr id="4" name="文本框 6">
                <a:extLst>
                  <a:ext uri="{FF2B5EF4-FFF2-40B4-BE49-F238E27FC236}">
                    <a16:creationId xmlns:a16="http://schemas.microsoft.com/office/drawing/2014/main" id="{6CB497D8-19E2-4EC8-E35E-448D0E09E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764" y="3538990"/>
                <a:ext cx="10415003" cy="1723549"/>
              </a:xfrm>
              <a:prstGeom prst="rect">
                <a:avLst/>
              </a:prstGeom>
              <a:blipFill>
                <a:blip r:embed="rId5"/>
                <a:stretch>
                  <a:fillRect l="-761" t="-2482" b="-7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2">
            <a:extLst>
              <a:ext uri="{FF2B5EF4-FFF2-40B4-BE49-F238E27FC236}">
                <a16:creationId xmlns:a16="http://schemas.microsoft.com/office/drawing/2014/main" id="{96FDEE42-26A4-1616-9E3D-06CB284FAF13}"/>
              </a:ext>
            </a:extLst>
          </p:cNvPr>
          <p:cNvSpPr txBox="1"/>
          <p:nvPr/>
        </p:nvSpPr>
        <p:spPr>
          <a:xfrm>
            <a:off x="669764" y="5493389"/>
            <a:ext cx="9402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LR maps one or more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numerical inputs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to a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numerical output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37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Parametric model: linear regression</a:t>
            </a:r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FFCA6616-0C01-C7D5-F28C-0B4AA69D0C74}"/>
              </a:ext>
            </a:extLst>
          </p:cNvPr>
          <p:cNvSpPr txBox="1"/>
          <p:nvPr/>
        </p:nvSpPr>
        <p:spPr>
          <a:xfrm>
            <a:off x="635466" y="1626242"/>
            <a:ext cx="8377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LR example: financial prediction</a:t>
            </a:r>
          </a:p>
        </p:txBody>
      </p:sp>
      <p:pic>
        <p:nvPicPr>
          <p:cNvPr id="3" name="图片 8">
            <a:extLst>
              <a:ext uri="{FF2B5EF4-FFF2-40B4-BE49-F238E27FC236}">
                <a16:creationId xmlns:a16="http://schemas.microsoft.com/office/drawing/2014/main" id="{46315168-39EF-309A-D52C-9B8089A7D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9749" y="3537978"/>
            <a:ext cx="5049892" cy="3210182"/>
          </a:xfrm>
          <a:prstGeom prst="rect">
            <a:avLst/>
          </a:prstGeom>
        </p:spPr>
      </p:pic>
      <p:sp>
        <p:nvSpPr>
          <p:cNvPr id="4" name="文本框 10">
            <a:extLst>
              <a:ext uri="{FF2B5EF4-FFF2-40B4-BE49-F238E27FC236}">
                <a16:creationId xmlns:a16="http://schemas.microsoft.com/office/drawing/2014/main" id="{72AC64F0-4D8E-42E3-D6D1-3F408EABA74A}"/>
              </a:ext>
            </a:extLst>
          </p:cNvPr>
          <p:cNvSpPr txBox="1"/>
          <p:nvPr/>
        </p:nvSpPr>
        <p:spPr>
          <a:xfrm>
            <a:off x="635466" y="2151727"/>
            <a:ext cx="10360980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Given R&amp;D spend, administration spend, and the location (state) of a company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How much profit can the company expect to make?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289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Parametric model: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0BD77BF-AA52-A501-21DA-3711B1F7DD04}"/>
                  </a:ext>
                </a:extLst>
              </p:cNvPr>
              <p:cNvSpPr txBox="1"/>
              <p:nvPr/>
            </p:nvSpPr>
            <p:spPr>
              <a:xfrm>
                <a:off x="635465" y="2291749"/>
                <a:ext cx="11046461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represent R&amp;D spend and administration spend, respectively.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state can be one-hot encoded: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5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represents (California, Florida, New York), respectively.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a scalar represents the profit.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750 training samples are available.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aim is to learn the model function 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that best fits to the training samples. 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0BD77BF-AA52-A501-21DA-3711B1F7D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465" y="2291749"/>
                <a:ext cx="11046461" cy="4154984"/>
              </a:xfrm>
              <a:prstGeom prst="rect">
                <a:avLst/>
              </a:prstGeom>
              <a:blipFill>
                <a:blip r:embed="rId3"/>
                <a:stretch>
                  <a:fillRect l="-717" t="-1026" r="-331" b="-2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6">
            <a:extLst>
              <a:ext uri="{FF2B5EF4-FFF2-40B4-BE49-F238E27FC236}">
                <a16:creationId xmlns:a16="http://schemas.microsoft.com/office/drawing/2014/main" id="{0EEA1CA8-8469-8F60-FADD-B69F9D61F634}"/>
              </a:ext>
            </a:extLst>
          </p:cNvPr>
          <p:cNvSpPr txBox="1"/>
          <p:nvPr/>
        </p:nvSpPr>
        <p:spPr>
          <a:xfrm>
            <a:off x="635466" y="1626242"/>
            <a:ext cx="8377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LR example: financial prediction</a:t>
            </a:r>
          </a:p>
        </p:txBody>
      </p:sp>
    </p:spTree>
    <p:extLst>
      <p:ext uri="{BB962C8B-B14F-4D97-AF65-F5344CB8AC3E}">
        <p14:creationId xmlns:p14="http://schemas.microsoft.com/office/powerpoint/2010/main" val="969053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Parametric model: linear regression</a:t>
            </a:r>
          </a:p>
        </p:txBody>
      </p:sp>
      <p:pic>
        <p:nvPicPr>
          <p:cNvPr id="3" name="图片 4">
            <a:extLst>
              <a:ext uri="{FF2B5EF4-FFF2-40B4-BE49-F238E27FC236}">
                <a16:creationId xmlns:a16="http://schemas.microsoft.com/office/drawing/2014/main" id="{1A4F17AD-9813-8198-320E-EEFBAF748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723" y="2995958"/>
            <a:ext cx="5148943" cy="2683146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4" name="文本框 6">
            <a:extLst>
              <a:ext uri="{FF2B5EF4-FFF2-40B4-BE49-F238E27FC236}">
                <a16:creationId xmlns:a16="http://schemas.microsoft.com/office/drawing/2014/main" id="{6BAA6C2B-176F-2E42-E8D3-265FF570ADDE}"/>
              </a:ext>
            </a:extLst>
          </p:cNvPr>
          <p:cNvSpPr txBox="1"/>
          <p:nvPr/>
        </p:nvSpPr>
        <p:spPr>
          <a:xfrm>
            <a:off x="973939" y="2177608"/>
            <a:ext cx="100863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Normalization of the numerical data and one-hot encoding of categorical data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7">
                <a:extLst>
                  <a:ext uri="{FF2B5EF4-FFF2-40B4-BE49-F238E27FC236}">
                    <a16:creationId xmlns:a16="http://schemas.microsoft.com/office/drawing/2014/main" id="{07121071-31DB-5EA4-E15A-6B2A4F8746F4}"/>
                  </a:ext>
                </a:extLst>
              </p:cNvPr>
              <p:cNvSpPr txBox="1"/>
              <p:nvPr/>
            </p:nvSpPr>
            <p:spPr>
              <a:xfrm>
                <a:off x="1131723" y="5679104"/>
                <a:ext cx="837788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Results: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 ⋯, 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(1.20926284e+05, 2.29984353e+05, 3.21882036e+16, </a:t>
                </a:r>
              </a:p>
              <a:p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3.21882036e+16, 3.21882036e+16, -3.218820359653291e+16)</a:t>
                </a:r>
                <a:endParaRPr lang="zh-CN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7">
                <a:extLst>
                  <a:ext uri="{FF2B5EF4-FFF2-40B4-BE49-F238E27FC236}">
                    <a16:creationId xmlns:a16="http://schemas.microsoft.com/office/drawing/2014/main" id="{07121071-31DB-5EA4-E15A-6B2A4F874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723" y="5679104"/>
                <a:ext cx="8377882" cy="923330"/>
              </a:xfrm>
              <a:prstGeom prst="rect">
                <a:avLst/>
              </a:prstGeom>
              <a:blipFill>
                <a:blip r:embed="rId4"/>
                <a:stretch>
                  <a:fillRect l="-655"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6">
            <a:extLst>
              <a:ext uri="{FF2B5EF4-FFF2-40B4-BE49-F238E27FC236}">
                <a16:creationId xmlns:a16="http://schemas.microsoft.com/office/drawing/2014/main" id="{B6F4A797-58E5-4230-7357-38383AADFEEC}"/>
              </a:ext>
            </a:extLst>
          </p:cNvPr>
          <p:cNvSpPr txBox="1"/>
          <p:nvPr/>
        </p:nvSpPr>
        <p:spPr>
          <a:xfrm>
            <a:off x="635466" y="1626242"/>
            <a:ext cx="8377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LR example: financial prediction</a:t>
            </a:r>
          </a:p>
        </p:txBody>
      </p:sp>
    </p:spTree>
    <p:extLst>
      <p:ext uri="{BB962C8B-B14F-4D97-AF65-F5344CB8AC3E}">
        <p14:creationId xmlns:p14="http://schemas.microsoft.com/office/powerpoint/2010/main" val="2961091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Parametric model: linear regression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1E5DA13C-51F8-7B41-DC0E-CA365CDDBDE5}"/>
              </a:ext>
            </a:extLst>
          </p:cNvPr>
          <p:cNvSpPr txBox="1"/>
          <p:nvPr/>
        </p:nvSpPr>
        <p:spPr>
          <a:xfrm>
            <a:off x="631190" y="1690660"/>
            <a:ext cx="102762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Advantages of LR</a:t>
            </a:r>
          </a:p>
          <a:p>
            <a:endParaRPr lang="en-US" altLang="zh-C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Performs well when there is a linear relation between dependent and independent variables.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Easier to implement, interpret and efficient to train.</a:t>
            </a:r>
          </a:p>
          <a:p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11">
            <a:extLst>
              <a:ext uri="{FF2B5EF4-FFF2-40B4-BE49-F238E27FC236}">
                <a16:creationId xmlns:a16="http://schemas.microsoft.com/office/drawing/2014/main" id="{4179E3F2-B76C-0863-AAE9-AC0045479DB5}"/>
              </a:ext>
            </a:extLst>
          </p:cNvPr>
          <p:cNvSpPr txBox="1"/>
          <p:nvPr/>
        </p:nvSpPr>
        <p:spPr>
          <a:xfrm>
            <a:off x="631190" y="3776971"/>
            <a:ext cx="102762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Drawbacks of LR</a:t>
            </a:r>
          </a:p>
          <a:p>
            <a:endParaRPr lang="en-US" altLang="zh-C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Valid only when the assumption of linearity between dependent and independent variables is true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Sensitive to outliers</a:t>
            </a:r>
          </a:p>
          <a:p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2484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1B3D4CA-24F9-4F05-8620-B092CAE426A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F0CE15F-D059-441D-846D-C1F7B08DCF55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3.xml><?xml version="1.0" encoding="utf-8"?>
<ds:datastoreItem xmlns:ds="http://schemas.openxmlformats.org/officeDocument/2006/customXml" ds:itemID="{59A50FA6-EC1D-4B0F-B395-38E7DC8CA7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1977</TotalTime>
  <Words>465</Words>
  <Application>Microsoft Office PowerPoint</Application>
  <PresentationFormat>Widescreen</PresentationFormat>
  <Paragraphs>68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 Math</vt:lpstr>
      <vt:lpstr>Wingdings</vt:lpstr>
      <vt:lpstr>Office Theme</vt:lpstr>
      <vt:lpstr>Mapping Inputs to Outputs: Parametric ML Model</vt:lpstr>
      <vt:lpstr>Select ML algorithms</vt:lpstr>
      <vt:lpstr>Parametric models</vt:lpstr>
      <vt:lpstr>Parametric model: linear regression (LR)</vt:lpstr>
      <vt:lpstr>Parametric model: linear regression</vt:lpstr>
      <vt:lpstr>Parametric model: linear regression</vt:lpstr>
      <vt:lpstr>Parametric model: linear regression</vt:lpstr>
      <vt:lpstr>Parametric model: linear regression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79</cp:revision>
  <dcterms:created xsi:type="dcterms:W3CDTF">2021-01-06T14:22:07Z</dcterms:created>
  <dcterms:modified xsi:type="dcterms:W3CDTF">2024-08-14T09:54:31Z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