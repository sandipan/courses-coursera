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6" r:id="rId6"/>
    <p:sldId id="497" r:id="rId7"/>
    <p:sldId id="498" r:id="rId8"/>
    <p:sldId id="499" r:id="rId9"/>
    <p:sldId id="500" r:id="rId10"/>
    <p:sldId id="501" r:id="rId11"/>
    <p:sldId id="50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359" autoAdjust="0"/>
    <p:restoredTop sz="96327"/>
  </p:normalViewPr>
  <p:slideViewPr>
    <p:cSldViewPr snapToGrid="0">
      <p:cViewPr varScale="1">
        <p:scale>
          <a:sx n="104" d="100"/>
          <a:sy n="104" d="100"/>
        </p:scale>
        <p:origin x="60" y="18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12/19/2024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1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19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187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98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639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857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47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19/12/2024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56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961447" cy="789709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MATLAB Implementation of Simple Linear Regression and KNN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490503" cy="888786"/>
          </a:xfrm>
        </p:spPr>
        <p:txBody>
          <a:bodyPr/>
          <a:lstStyle/>
          <a:p>
            <a:r>
              <a:rPr lang="en-US" dirty="0"/>
              <a:t>MATLAB implementation of simple linear regression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BDE2C4A2-263E-6253-906C-260DBCF8F455}"/>
              </a:ext>
            </a:extLst>
          </p:cNvPr>
          <p:cNvSpPr txBox="1"/>
          <p:nvPr/>
        </p:nvSpPr>
        <p:spPr>
          <a:xfrm>
            <a:off x="587462" y="1712903"/>
            <a:ext cx="5393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The traffic accidents dataset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4">
            <a:extLst>
              <a:ext uri="{FF2B5EF4-FFF2-40B4-BE49-F238E27FC236}">
                <a16:creationId xmlns:a16="http://schemas.microsoft.com/office/drawing/2014/main" id="{D4828936-50F7-AF5D-60E9-AB3339101754}"/>
              </a:ext>
            </a:extLst>
          </p:cNvPr>
          <p:cNvSpPr txBox="1"/>
          <p:nvPr/>
        </p:nvSpPr>
        <p:spPr>
          <a:xfrm>
            <a:off x="587462" y="2430996"/>
            <a:ext cx="10926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on US traffic accidents and fatalities in 2004 from the US Department of Transportation.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It has 51 samples.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Our aim is to find the relationship between the population and the number of fatal accidents.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9">
            <a:extLst>
              <a:ext uri="{FF2B5EF4-FFF2-40B4-BE49-F238E27FC236}">
                <a16:creationId xmlns:a16="http://schemas.microsoft.com/office/drawing/2014/main" id="{D7C90D0E-1A39-AA9B-C47C-E3F2432C7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5562" y="4369988"/>
            <a:ext cx="4190720" cy="229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57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8059670" cy="888786"/>
          </a:xfrm>
        </p:spPr>
        <p:txBody>
          <a:bodyPr/>
          <a:lstStyle/>
          <a:p>
            <a:r>
              <a:rPr lang="en-US" dirty="0"/>
              <a:t>MATLAB implementation of simple linear regression</a:t>
            </a:r>
          </a:p>
        </p:txBody>
      </p:sp>
      <p:sp>
        <p:nvSpPr>
          <p:cNvPr id="2" name="文本框 11">
            <a:extLst>
              <a:ext uri="{FF2B5EF4-FFF2-40B4-BE49-F238E27FC236}">
                <a16:creationId xmlns:a16="http://schemas.microsoft.com/office/drawing/2014/main" id="{0230BD5E-C2C9-4ADE-F417-C17C137B78B1}"/>
              </a:ext>
            </a:extLst>
          </p:cNvPr>
          <p:cNvSpPr txBox="1"/>
          <p:nvPr/>
        </p:nvSpPr>
        <p:spPr>
          <a:xfrm>
            <a:off x="500561" y="1567209"/>
            <a:ext cx="3989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Load data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14">
            <a:extLst>
              <a:ext uri="{FF2B5EF4-FFF2-40B4-BE49-F238E27FC236}">
                <a16:creationId xmlns:a16="http://schemas.microsoft.com/office/drawing/2014/main" id="{380ED839-0393-97BE-107A-40F67BAD5AFC}"/>
              </a:ext>
            </a:extLst>
          </p:cNvPr>
          <p:cNvSpPr txBox="1"/>
          <p:nvPr/>
        </p:nvSpPr>
        <p:spPr>
          <a:xfrm>
            <a:off x="500561" y="3524425"/>
            <a:ext cx="7038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Linear regression without intercept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17">
                <a:extLst>
                  <a:ext uri="{FF2B5EF4-FFF2-40B4-BE49-F238E27FC236}">
                    <a16:creationId xmlns:a16="http://schemas.microsoft.com/office/drawing/2014/main" id="{2B25F2F2-EB16-1677-49F6-34293A0F2F95}"/>
                  </a:ext>
                </a:extLst>
              </p:cNvPr>
              <p:cNvSpPr txBox="1"/>
              <p:nvPr/>
            </p:nvSpPr>
            <p:spPr>
              <a:xfrm>
                <a:off x="684701" y="4923741"/>
                <a:ext cx="10362743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</a:t>
                </a:r>
                <a:r>
                  <a:rPr lang="en-US" altLang="zh-CN" sz="2400" dirty="0">
                    <a:latin typeface="Consolas" panose="020B0609020204030204" pitchFamily="49" charset="0"/>
                    <a:cs typeface="Arial" panose="020B0604020202020204" pitchFamily="34" charset="0"/>
                  </a:rPr>
                  <a:t>\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operator performs a least-squares regression.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latin typeface="Consolas" panose="020B0609020204030204" pitchFamily="49" charset="0"/>
                    <a:cs typeface="Arial" panose="020B0604020202020204" pitchFamily="34" charset="0"/>
                  </a:rPr>
                  <a:t>a1 = x\y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is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used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to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find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linear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regression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relation</a:t>
                </a:r>
                <a:r>
                  <a:rPr lang="zh-CN" altLang="en-US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文本框 17">
                <a:extLst>
                  <a:ext uri="{FF2B5EF4-FFF2-40B4-BE49-F238E27FC236}">
                    <a16:creationId xmlns:a16="http://schemas.microsoft.com/office/drawing/2014/main" id="{2B25F2F2-EB16-1677-49F6-34293A0F2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701" y="4923741"/>
                <a:ext cx="10362743" cy="830997"/>
              </a:xfrm>
              <a:prstGeom prst="rect">
                <a:avLst/>
              </a:prstGeom>
              <a:blipFill>
                <a:blip r:embed="rId3"/>
                <a:stretch>
                  <a:fillRect l="-765"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E0B0475A-47C2-335D-CDAB-DDDC45BCC996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9BE936-0C0C-D126-8A55-001F8395BAC5}"/>
              </a:ext>
            </a:extLst>
          </p:cNvPr>
          <p:cNvSpPr/>
          <p:nvPr/>
        </p:nvSpPr>
        <p:spPr>
          <a:xfrm>
            <a:off x="804797" y="4294410"/>
            <a:ext cx="5479402" cy="321011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>
                <a:solidFill>
                  <a:srgbClr val="212121"/>
                </a:solidFill>
                <a:latin typeface="Consolas" panose="020B0609020204030204" pitchFamily="49" charset="0"/>
              </a:rPr>
              <a:t>a1 = x\y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63A0C0-6E95-5C9E-7AA4-0C3A5AA660E1}"/>
              </a:ext>
            </a:extLst>
          </p:cNvPr>
          <p:cNvSpPr/>
          <p:nvPr/>
        </p:nvSpPr>
        <p:spPr>
          <a:xfrm>
            <a:off x="804797" y="2181006"/>
            <a:ext cx="5479402" cy="1152570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load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accidents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x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hwydata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(:,14);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%Population of states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y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hwydata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(:,4);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8013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%Accidents per state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nsolas" panose="020B0609020204030204" pitchFamily="49" charset="0"/>
              <a:ea typeface="宋体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format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long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73663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8584489" cy="888786"/>
          </a:xfrm>
        </p:spPr>
        <p:txBody>
          <a:bodyPr/>
          <a:lstStyle/>
          <a:p>
            <a:r>
              <a:rPr lang="en-US" dirty="0"/>
              <a:t>MATLAB implementation of simple linear regression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文本框 9">
            <a:extLst>
              <a:ext uri="{FF2B5EF4-FFF2-40B4-BE49-F238E27FC236}">
                <a16:creationId xmlns:a16="http://schemas.microsoft.com/office/drawing/2014/main" id="{5A545096-14EC-E107-8086-4A4F7AB37ABA}"/>
              </a:ext>
            </a:extLst>
          </p:cNvPr>
          <p:cNvSpPr txBox="1"/>
          <p:nvPr/>
        </p:nvSpPr>
        <p:spPr>
          <a:xfrm>
            <a:off x="503367" y="1566054"/>
            <a:ext cx="5560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Prediction and visualize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6">
                <a:extLst>
                  <a:ext uri="{FF2B5EF4-FFF2-40B4-BE49-F238E27FC236}">
                    <a16:creationId xmlns:a16="http://schemas.microsoft.com/office/drawing/2014/main" id="{EA9DA70C-9CFA-CCD4-431B-299F734C9362}"/>
                  </a:ext>
                </a:extLst>
              </p:cNvPr>
              <p:cNvSpPr txBox="1"/>
              <p:nvPr/>
            </p:nvSpPr>
            <p:spPr>
              <a:xfrm>
                <a:off x="1058275" y="5908544"/>
                <a:ext cx="82558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linear regression model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, without intercept.</a:t>
                </a:r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文本框 6">
                <a:extLst>
                  <a:ext uri="{FF2B5EF4-FFF2-40B4-BE49-F238E27FC236}">
                    <a16:creationId xmlns:a16="http://schemas.microsoft.com/office/drawing/2014/main" id="{EA9DA70C-9CFA-CCD4-431B-299F734C9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275" y="5908544"/>
                <a:ext cx="8255865" cy="461665"/>
              </a:xfrm>
              <a:prstGeom prst="rect">
                <a:avLst/>
              </a:prstGeom>
              <a:blipFill>
                <a:blip r:embed="rId3"/>
                <a:stretch>
                  <a:fillRect l="-1182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7">
            <a:extLst>
              <a:ext uri="{FF2B5EF4-FFF2-40B4-BE49-F238E27FC236}">
                <a16:creationId xmlns:a16="http://schemas.microsoft.com/office/drawing/2014/main" id="{E4213D6B-B98A-D2F9-5D12-E83798B5CE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292" y="2027719"/>
            <a:ext cx="4565433" cy="3466214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3F4455-52D8-ACEC-CCE9-37892F91B418}"/>
              </a:ext>
            </a:extLst>
          </p:cNvPr>
          <p:cNvSpPr/>
          <p:nvPr/>
        </p:nvSpPr>
        <p:spPr>
          <a:xfrm>
            <a:off x="616598" y="2417773"/>
            <a:ext cx="5479402" cy="2412509"/>
          </a:xfrm>
          <a:prstGeom prst="roundRect">
            <a:avLst>
              <a:gd name="adj" fmla="val 8195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yCalc1 = a1*x;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scatter(x, y);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hold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on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plot(x, yCalc1);</a:t>
            </a:r>
          </a:p>
          <a:p>
            <a:pPr lvl="0"/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xlabel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(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'Population of state'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);</a:t>
            </a:r>
          </a:p>
          <a:p>
            <a:pPr lvl="0"/>
            <a:r>
              <a:rPr lang="en-U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ylabel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(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'Fatal traffic accidents per state'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);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title(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'Linear Regression Relation Between Accidents &amp; Population'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);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grid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on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;</a:t>
            </a:r>
          </a:p>
        </p:txBody>
      </p:sp>
      <p:sp>
        <p:nvSpPr>
          <p:cNvPr id="6" name="矩形 8">
            <a:extLst>
              <a:ext uri="{FF2B5EF4-FFF2-40B4-BE49-F238E27FC236}">
                <a16:creationId xmlns:a16="http://schemas.microsoft.com/office/drawing/2014/main" id="{CB7F928A-0AD2-07BB-9FCB-6082960E90E6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8238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164919" cy="888786"/>
          </a:xfrm>
        </p:spPr>
        <p:txBody>
          <a:bodyPr/>
          <a:lstStyle/>
          <a:p>
            <a:r>
              <a:rPr lang="en-US" dirty="0"/>
              <a:t>MATLAB implementation of simple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5">
                <a:extLst>
                  <a:ext uri="{FF2B5EF4-FFF2-40B4-BE49-F238E27FC236}">
                    <a16:creationId xmlns:a16="http://schemas.microsoft.com/office/drawing/2014/main" id="{FAD20CB5-2917-4DDC-E9EC-2A48E62E220D}"/>
                  </a:ext>
                </a:extLst>
              </p:cNvPr>
              <p:cNvSpPr txBox="1"/>
              <p:nvPr/>
            </p:nvSpPr>
            <p:spPr>
              <a:xfrm>
                <a:off x="490816" y="6164769"/>
                <a:ext cx="814219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latin typeface="Arial" panose="020B0604020202020204" pitchFamily="34" charset="0"/>
                    <a:cs typeface="Arial" panose="020B0604020202020204" pitchFamily="34" charset="0"/>
                  </a:rPr>
                  <a:t>The linear regression model with intercept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zh-CN" altLang="en-US" sz="24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" name="文本框 15">
                <a:extLst>
                  <a:ext uri="{FF2B5EF4-FFF2-40B4-BE49-F238E27FC236}">
                    <a16:creationId xmlns:a16="http://schemas.microsoft.com/office/drawing/2014/main" id="{FAD20CB5-2917-4DDC-E9EC-2A48E62E2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816" y="6164769"/>
                <a:ext cx="8142196" cy="461665"/>
              </a:xfrm>
              <a:prstGeom prst="rect">
                <a:avLst/>
              </a:prstGeom>
              <a:blipFill>
                <a:blip r:embed="rId3"/>
                <a:stretch>
                  <a:fillRect l="-1199" t="-9211" b="-3026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6">
            <a:extLst>
              <a:ext uri="{FF2B5EF4-FFF2-40B4-BE49-F238E27FC236}">
                <a16:creationId xmlns:a16="http://schemas.microsoft.com/office/drawing/2014/main" id="{7A9B18AA-DD38-0AE9-FD27-83F6399A6BAE}"/>
              </a:ext>
            </a:extLst>
          </p:cNvPr>
          <p:cNvSpPr txBox="1"/>
          <p:nvPr/>
        </p:nvSpPr>
        <p:spPr>
          <a:xfrm>
            <a:off x="620352" y="2194038"/>
            <a:ext cx="3641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Linear regression: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17">
            <a:extLst>
              <a:ext uri="{FF2B5EF4-FFF2-40B4-BE49-F238E27FC236}">
                <a16:creationId xmlns:a16="http://schemas.microsoft.com/office/drawing/2014/main" id="{C809D296-1DDF-1465-AC9D-68FF5CAC6F45}"/>
              </a:ext>
            </a:extLst>
          </p:cNvPr>
          <p:cNvSpPr txBox="1"/>
          <p:nvPr/>
        </p:nvSpPr>
        <p:spPr>
          <a:xfrm>
            <a:off x="620352" y="3758019"/>
            <a:ext cx="4914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Prediction and visualization: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7">
            <a:extLst>
              <a:ext uri="{FF2B5EF4-FFF2-40B4-BE49-F238E27FC236}">
                <a16:creationId xmlns:a16="http://schemas.microsoft.com/office/drawing/2014/main" id="{D491280D-B05C-A730-9604-05BA02C79E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831" y="2265250"/>
            <a:ext cx="4766009" cy="3577941"/>
          </a:xfrm>
          <a:prstGeom prst="rect">
            <a:avLst/>
          </a:prstGeom>
        </p:spPr>
      </p:pic>
      <p:sp>
        <p:nvSpPr>
          <p:cNvPr id="6" name="文本框 9">
            <a:extLst>
              <a:ext uri="{FF2B5EF4-FFF2-40B4-BE49-F238E27FC236}">
                <a16:creationId xmlns:a16="http://schemas.microsoft.com/office/drawing/2014/main" id="{A31683C3-7D2C-C8CA-3477-7ED67555B635}"/>
              </a:ext>
            </a:extLst>
          </p:cNvPr>
          <p:cNvSpPr txBox="1"/>
          <p:nvPr/>
        </p:nvSpPr>
        <p:spPr>
          <a:xfrm>
            <a:off x="492609" y="1565870"/>
            <a:ext cx="73819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Linear regression with intercept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46038E6-86F8-B9C8-9639-132354A23179}"/>
              </a:ext>
            </a:extLst>
          </p:cNvPr>
          <p:cNvSpPr/>
          <p:nvPr/>
        </p:nvSpPr>
        <p:spPr>
          <a:xfrm>
            <a:off x="734160" y="2904562"/>
            <a:ext cx="5479402" cy="640214"/>
          </a:xfrm>
          <a:prstGeom prst="roundRect">
            <a:avLst>
              <a:gd name="adj" fmla="val 8195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s-E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X = [</a:t>
            </a:r>
            <a:r>
              <a:rPr lang="es-E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ones</a:t>
            </a:r>
            <a:r>
              <a:rPr lang="es-E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(</a:t>
            </a:r>
            <a:r>
              <a:rPr lang="es-ES" altLang="zh-CN" sz="1600" dirty="0" err="1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length</a:t>
            </a:r>
            <a:r>
              <a:rPr lang="es-E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(x),1) x];</a:t>
            </a:r>
          </a:p>
          <a:p>
            <a:pPr lvl="0"/>
            <a:r>
              <a:rPr lang="es-E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b = X\y;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460142-8B13-C872-D7EE-D0A6EA05908D}"/>
              </a:ext>
            </a:extLst>
          </p:cNvPr>
          <p:cNvSpPr/>
          <p:nvPr/>
        </p:nvSpPr>
        <p:spPr>
          <a:xfrm>
            <a:off x="734160" y="4401015"/>
            <a:ext cx="5479402" cy="1172205"/>
          </a:xfrm>
          <a:prstGeom prst="roundRect">
            <a:avLst>
              <a:gd name="adj" fmla="val 8195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yCalc2 = X*b;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plot(x,yCalc2,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’--’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);</a:t>
            </a:r>
          </a:p>
          <a:p>
            <a:pPr lvl="0"/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legend(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'Data’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,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'Slope’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,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'Slope &amp; Intercept’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,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'Location’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, </a:t>
            </a:r>
            <a:r>
              <a:rPr lang="en-US" altLang="zh-CN" sz="1600" dirty="0">
                <a:solidFill>
                  <a:srgbClr val="A709F5"/>
                </a:solidFill>
                <a:latin typeface="Consolas" panose="020B0609020204030204" pitchFamily="49" charset="0"/>
                <a:ea typeface="宋体"/>
              </a:rPr>
              <a:t>best</a:t>
            </a:r>
            <a:r>
              <a:rPr lang="en-US" altLang="zh-CN" sz="1600" dirty="0">
                <a:solidFill>
                  <a:prstClr val="black"/>
                </a:solidFill>
                <a:latin typeface="Consolas" panose="020B0609020204030204" pitchFamily="49" charset="0"/>
                <a:ea typeface="宋体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49652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573710" cy="888786"/>
          </a:xfrm>
        </p:spPr>
        <p:txBody>
          <a:bodyPr/>
          <a:lstStyle/>
          <a:p>
            <a:r>
              <a:rPr lang="en-US" dirty="0"/>
              <a:t>Iris flower classification by KNN using MATLAB</a:t>
            </a:r>
          </a:p>
        </p:txBody>
      </p:sp>
      <p:sp>
        <p:nvSpPr>
          <p:cNvPr id="2" name="文本框 8">
            <a:extLst>
              <a:ext uri="{FF2B5EF4-FFF2-40B4-BE49-F238E27FC236}">
                <a16:creationId xmlns:a16="http://schemas.microsoft.com/office/drawing/2014/main" id="{AF05F8A2-D195-6EFD-C1E6-E3ADE13D1E2E}"/>
              </a:ext>
            </a:extLst>
          </p:cNvPr>
          <p:cNvSpPr txBox="1"/>
          <p:nvPr/>
        </p:nvSpPr>
        <p:spPr>
          <a:xfrm>
            <a:off x="496959" y="1562671"/>
            <a:ext cx="58498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Iris flower classification problem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9">
            <a:extLst>
              <a:ext uri="{FF2B5EF4-FFF2-40B4-BE49-F238E27FC236}">
                <a16:creationId xmlns:a16="http://schemas.microsoft.com/office/drawing/2014/main" id="{C57D4DA6-5137-05FF-51D0-84C8C357A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505" y="3609833"/>
            <a:ext cx="4001602" cy="3084468"/>
          </a:xfrm>
          <a:prstGeom prst="rect">
            <a:avLst/>
          </a:prstGeom>
        </p:spPr>
      </p:pic>
      <p:sp>
        <p:nvSpPr>
          <p:cNvPr id="4" name="文本框 10">
            <a:extLst>
              <a:ext uri="{FF2B5EF4-FFF2-40B4-BE49-F238E27FC236}">
                <a16:creationId xmlns:a16="http://schemas.microsoft.com/office/drawing/2014/main" id="{7FEE8BC8-A925-40A8-1701-33C1BA149CF2}"/>
              </a:ext>
            </a:extLst>
          </p:cNvPr>
          <p:cNvSpPr txBox="1"/>
          <p:nvPr/>
        </p:nvSpPr>
        <p:spPr>
          <a:xfrm>
            <a:off x="585165" y="2132857"/>
            <a:ext cx="9010655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Features: (sepal length, sepal width, petal length, petal width)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Label: categorical, {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, versicolor, virginica} 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Number of samples: 150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12">
            <a:extLst>
              <a:ext uri="{FF2B5EF4-FFF2-40B4-BE49-F238E27FC236}">
                <a16:creationId xmlns:a16="http://schemas.microsoft.com/office/drawing/2014/main" id="{3760A23E-B56F-9C92-2FA0-C23D40F0F6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1034" y="3768871"/>
            <a:ext cx="1656775" cy="1427286"/>
          </a:xfrm>
          <a:prstGeom prst="rect">
            <a:avLst/>
          </a:prstGeom>
        </p:spPr>
      </p:pic>
      <p:pic>
        <p:nvPicPr>
          <p:cNvPr id="6" name="图片 14">
            <a:extLst>
              <a:ext uri="{FF2B5EF4-FFF2-40B4-BE49-F238E27FC236}">
                <a16:creationId xmlns:a16="http://schemas.microsoft.com/office/drawing/2014/main" id="{409560D8-86E6-58EC-02DB-4B8330F2AF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0900" y="2972671"/>
            <a:ext cx="1664094" cy="1359554"/>
          </a:xfrm>
          <a:prstGeom prst="rect">
            <a:avLst/>
          </a:prstGeom>
        </p:spPr>
      </p:pic>
      <p:pic>
        <p:nvPicPr>
          <p:cNvPr id="7" name="图片 16">
            <a:extLst>
              <a:ext uri="{FF2B5EF4-FFF2-40B4-BE49-F238E27FC236}">
                <a16:creationId xmlns:a16="http://schemas.microsoft.com/office/drawing/2014/main" id="{2394BB99-204D-7CF1-CB00-A5A4548601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2048" y="4725325"/>
            <a:ext cx="1656775" cy="1390412"/>
          </a:xfrm>
          <a:prstGeom prst="rect">
            <a:avLst/>
          </a:prstGeom>
        </p:spPr>
      </p:pic>
      <p:sp>
        <p:nvSpPr>
          <p:cNvPr id="9" name="文本框 19">
            <a:extLst>
              <a:ext uri="{FF2B5EF4-FFF2-40B4-BE49-F238E27FC236}">
                <a16:creationId xmlns:a16="http://schemas.microsoft.com/office/drawing/2014/main" id="{925D1704-B06E-9970-1B7B-6487885EE2BF}"/>
              </a:ext>
            </a:extLst>
          </p:cNvPr>
          <p:cNvSpPr txBox="1"/>
          <p:nvPr/>
        </p:nvSpPr>
        <p:spPr>
          <a:xfrm>
            <a:off x="7672817" y="5152067"/>
            <a:ext cx="11374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20">
            <a:extLst>
              <a:ext uri="{FF2B5EF4-FFF2-40B4-BE49-F238E27FC236}">
                <a16:creationId xmlns:a16="http://schemas.microsoft.com/office/drawing/2014/main" id="{5AFA3ACE-3230-1F90-625A-AF86C0948937}"/>
              </a:ext>
            </a:extLst>
          </p:cNvPr>
          <p:cNvSpPr txBox="1"/>
          <p:nvPr/>
        </p:nvSpPr>
        <p:spPr>
          <a:xfrm>
            <a:off x="9392718" y="4250798"/>
            <a:ext cx="1569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versicolor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22">
            <a:extLst>
              <a:ext uri="{FF2B5EF4-FFF2-40B4-BE49-F238E27FC236}">
                <a16:creationId xmlns:a16="http://schemas.microsoft.com/office/drawing/2014/main" id="{89B16BBF-40C3-E7E4-38C9-96563C8B3EE7}"/>
              </a:ext>
            </a:extLst>
          </p:cNvPr>
          <p:cNvSpPr txBox="1"/>
          <p:nvPr/>
        </p:nvSpPr>
        <p:spPr>
          <a:xfrm>
            <a:off x="9549014" y="6051803"/>
            <a:ext cx="13425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virginica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7841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799620" cy="888786"/>
          </a:xfrm>
        </p:spPr>
        <p:txBody>
          <a:bodyPr/>
          <a:lstStyle/>
          <a:p>
            <a:r>
              <a:rPr lang="en-US" dirty="0"/>
              <a:t>Iris flower classification by KNN with MATLAB</a:t>
            </a:r>
          </a:p>
        </p:txBody>
      </p:sp>
      <p:sp>
        <p:nvSpPr>
          <p:cNvPr id="2" name="文本框 2">
            <a:extLst>
              <a:ext uri="{FF2B5EF4-FFF2-40B4-BE49-F238E27FC236}">
                <a16:creationId xmlns:a16="http://schemas.microsoft.com/office/drawing/2014/main" id="{679ED167-4FA4-C2D6-8A45-15A2C9096CD5}"/>
              </a:ext>
            </a:extLst>
          </p:cNvPr>
          <p:cNvSpPr txBox="1"/>
          <p:nvPr/>
        </p:nvSpPr>
        <p:spPr>
          <a:xfrm>
            <a:off x="554589" y="1685365"/>
            <a:ext cx="3989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1. Load data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7DE1B483-6C67-4AA2-1F1C-5918EE7E1E7B}"/>
              </a:ext>
            </a:extLst>
          </p:cNvPr>
          <p:cNvSpPr txBox="1"/>
          <p:nvPr/>
        </p:nvSpPr>
        <p:spPr>
          <a:xfrm>
            <a:off x="554589" y="3644380"/>
            <a:ext cx="3989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2. Dataset split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9">
            <a:extLst>
              <a:ext uri="{FF2B5EF4-FFF2-40B4-BE49-F238E27FC236}">
                <a16:creationId xmlns:a16="http://schemas.microsoft.com/office/drawing/2014/main" id="{45311924-AF5A-2947-CF50-A13E04F38461}"/>
              </a:ext>
            </a:extLst>
          </p:cNvPr>
          <p:cNvSpPr txBox="1"/>
          <p:nvPr/>
        </p:nvSpPr>
        <p:spPr>
          <a:xfrm>
            <a:off x="751222" y="4379457"/>
            <a:ext cx="92855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Randomly split the data to the example set and the query set.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FDA97BB-7E3A-6AD5-9341-B965D04C9722}"/>
              </a:ext>
            </a:extLst>
          </p:cNvPr>
          <p:cNvSpPr/>
          <p:nvPr/>
        </p:nvSpPr>
        <p:spPr>
          <a:xfrm>
            <a:off x="876053" y="2413052"/>
            <a:ext cx="4330648" cy="888786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load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fisheriris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X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meas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nlo"/>
                <a:ea typeface="宋体"/>
                <a:cs typeface="+mn-cs"/>
              </a:rPr>
              <a:t>Y = species;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2B2DCF-C062-A4B6-A088-6817D466866C}"/>
              </a:ext>
            </a:extLst>
          </p:cNvPr>
          <p:cNvSpPr/>
          <p:nvPr/>
        </p:nvSpPr>
        <p:spPr>
          <a:xfrm>
            <a:off x="876053" y="4974685"/>
            <a:ext cx="4330648" cy="1501418"/>
          </a:xfrm>
          <a:prstGeom prst="roundRect">
            <a:avLst>
              <a:gd name="adj" fmla="val 9492"/>
            </a:avLst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rp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 = </a:t>
            </a: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randperm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(</a:t>
            </a: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length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(Y));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X = X(</a:t>
            </a: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rp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,:); Y = Y(</a:t>
            </a: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rp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,:);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Example_X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 = X(1:100,:);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Example_Y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 = Y(1:100,:);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Query_X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 = X(101:150,:);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Query_Y</a:t>
            </a:r>
            <a:r>
              <a:rPr kumimoji="0" lang="es-E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 = Y(101:150,:);</a:t>
            </a:r>
          </a:p>
        </p:txBody>
      </p:sp>
      <p:sp>
        <p:nvSpPr>
          <p:cNvPr id="7" name="矩形 8">
            <a:extLst>
              <a:ext uri="{FF2B5EF4-FFF2-40B4-BE49-F238E27FC236}">
                <a16:creationId xmlns:a16="http://schemas.microsoft.com/office/drawing/2014/main" id="{F10136D6-0547-3571-55C3-CCCBD17902B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05162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7799620" cy="888786"/>
          </a:xfrm>
        </p:spPr>
        <p:txBody>
          <a:bodyPr/>
          <a:lstStyle/>
          <a:p>
            <a:r>
              <a:rPr lang="en-US" dirty="0"/>
              <a:t>Iris flower classification by KNN with MATLAB</a:t>
            </a: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804B79E3-1BF4-A74C-44A1-A21B927C0C13}"/>
              </a:ext>
            </a:extLst>
          </p:cNvPr>
          <p:cNvSpPr txBox="1"/>
          <p:nvPr/>
        </p:nvSpPr>
        <p:spPr>
          <a:xfrm>
            <a:off x="554589" y="3362112"/>
            <a:ext cx="63649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4. Prediction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4">
            <a:extLst>
              <a:ext uri="{FF2B5EF4-FFF2-40B4-BE49-F238E27FC236}">
                <a16:creationId xmlns:a16="http://schemas.microsoft.com/office/drawing/2014/main" id="{AF6683D4-798A-4446-8B11-21473BF3656E}"/>
              </a:ext>
            </a:extLst>
          </p:cNvPr>
          <p:cNvSpPr txBox="1"/>
          <p:nvPr/>
        </p:nvSpPr>
        <p:spPr>
          <a:xfrm>
            <a:off x="724326" y="3968235"/>
            <a:ext cx="737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We use the model to predict the first three samples.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10">
            <a:extLst>
              <a:ext uri="{FF2B5EF4-FFF2-40B4-BE49-F238E27FC236}">
                <a16:creationId xmlns:a16="http://schemas.microsoft.com/office/drawing/2014/main" id="{2388D3D3-2214-18D6-1105-745BF636B0CE}"/>
              </a:ext>
            </a:extLst>
          </p:cNvPr>
          <p:cNvSpPr txBox="1"/>
          <p:nvPr/>
        </p:nvSpPr>
        <p:spPr>
          <a:xfrm>
            <a:off x="4268767" y="5366574"/>
            <a:ext cx="1696571" cy="120032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{'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'   }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{'virginica'}</a:t>
            </a:r>
          </a:p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 {'</a:t>
            </a:r>
            <a:r>
              <a:rPr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setosa</a:t>
            </a:r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'   }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12">
            <a:extLst>
              <a:ext uri="{FF2B5EF4-FFF2-40B4-BE49-F238E27FC236}">
                <a16:creationId xmlns:a16="http://schemas.microsoft.com/office/drawing/2014/main" id="{A564597A-284C-B520-289D-3352533E00AB}"/>
              </a:ext>
            </a:extLst>
          </p:cNvPr>
          <p:cNvSpPr txBox="1"/>
          <p:nvPr/>
        </p:nvSpPr>
        <p:spPr>
          <a:xfrm>
            <a:off x="2000474" y="5505074"/>
            <a:ext cx="1875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The output: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2">
            <a:extLst>
              <a:ext uri="{FF2B5EF4-FFF2-40B4-BE49-F238E27FC236}">
                <a16:creationId xmlns:a16="http://schemas.microsoft.com/office/drawing/2014/main" id="{74344231-EE34-B8F2-9823-5E51F6987A02}"/>
              </a:ext>
            </a:extLst>
          </p:cNvPr>
          <p:cNvSpPr txBox="1"/>
          <p:nvPr/>
        </p:nvSpPr>
        <p:spPr>
          <a:xfrm>
            <a:off x="554589" y="1685365"/>
            <a:ext cx="3989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Arial" panose="020B0604020202020204" pitchFamily="34" charset="0"/>
                <a:cs typeface="Arial" panose="020B0604020202020204" pitchFamily="34" charset="0"/>
              </a:rPr>
              <a:t>3. Model fitting</a:t>
            </a:r>
            <a:endParaRPr lang="zh-CN" alt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C60339D-D24B-2F6F-8BA7-4986560177A8}"/>
              </a:ext>
            </a:extLst>
          </p:cNvPr>
          <p:cNvSpPr/>
          <p:nvPr/>
        </p:nvSpPr>
        <p:spPr>
          <a:xfrm>
            <a:off x="724326" y="4602135"/>
            <a:ext cx="7886700" cy="346619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label_predicted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 = predict(model,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Query_X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(1:3,:));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C86A75-4072-6F08-5E5B-2406AC6B1358}"/>
              </a:ext>
            </a:extLst>
          </p:cNvPr>
          <p:cNvSpPr/>
          <p:nvPr/>
        </p:nvSpPr>
        <p:spPr>
          <a:xfrm>
            <a:off x="724326" y="2347667"/>
            <a:ext cx="7886700" cy="636319"/>
          </a:xfrm>
          <a:prstGeom prst="roundRect">
            <a:avLst/>
          </a:prstGeom>
          <a:solidFill>
            <a:srgbClr val="F2F2F2"/>
          </a:solidFill>
          <a:ln>
            <a:solidFill>
              <a:schemeClr val="tx2">
                <a:lumMod val="95000"/>
                <a:lumOff val="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K=5;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model =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fitcknn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(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Example_X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Example_Y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, 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NumNeighbors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A709F5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'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nsolas" panose="020B0609020204030204" pitchFamily="49" charset="0"/>
                <a:ea typeface="宋体"/>
                <a:cs typeface="+mn-cs"/>
              </a:rPr>
              <a:t>, K);</a:t>
            </a:r>
          </a:p>
        </p:txBody>
      </p:sp>
      <p:sp>
        <p:nvSpPr>
          <p:cNvPr id="11" name="矩形 8">
            <a:extLst>
              <a:ext uri="{FF2B5EF4-FFF2-40B4-BE49-F238E27FC236}">
                <a16:creationId xmlns:a16="http://schemas.microsoft.com/office/drawing/2014/main" id="{C1D42EE6-1261-A945-40E7-ADC15D678749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858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Props1.xml><?xml version="1.0" encoding="utf-8"?>
<ds:datastoreItem xmlns:ds="http://schemas.openxmlformats.org/officeDocument/2006/customXml" ds:itemID="{B53E09B1-B2C8-4D30-9577-662B838C742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1A37F7-B226-4C98-8530-6785AE1628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639869A-D67D-4772-A05D-8D246F12BB63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1897</TotalTime>
  <Words>522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 Math</vt:lpstr>
      <vt:lpstr>Consolas</vt:lpstr>
      <vt:lpstr>Menlo</vt:lpstr>
      <vt:lpstr>Times New Roman</vt:lpstr>
      <vt:lpstr>Office Theme</vt:lpstr>
      <vt:lpstr>MATLAB Implementation of Simple Linear Regression and KNN</vt:lpstr>
      <vt:lpstr>MATLAB implementation of simple linear regression</vt:lpstr>
      <vt:lpstr>MATLAB implementation of simple linear regression</vt:lpstr>
      <vt:lpstr>MATLAB implementation of simple linear regression</vt:lpstr>
      <vt:lpstr>MATLAB implementation of simple linear regression</vt:lpstr>
      <vt:lpstr>Iris flower classification by KNN using MATLAB</vt:lpstr>
      <vt:lpstr>Iris flower classification by KNN with MATLAB</vt:lpstr>
      <vt:lpstr>Iris flower classification by KNN with MATLAB</vt:lpstr>
      <vt:lpstr>Thanks!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78</cp:revision>
  <dcterms:created xsi:type="dcterms:W3CDTF">2021-01-06T14:22:07Z</dcterms:created>
  <dcterms:modified xsi:type="dcterms:W3CDTF">2024-12-19T18:36:48Z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</Properties>
</file>