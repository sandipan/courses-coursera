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25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9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25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66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What Is Machine Learning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What is ML?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3804963C-61BD-6D9C-5C6C-B6FF8057E956}"/>
              </a:ext>
            </a:extLst>
          </p:cNvPr>
          <p:cNvSpPr txBox="1"/>
          <p:nvPr/>
        </p:nvSpPr>
        <p:spPr>
          <a:xfrm>
            <a:off x="563971" y="1681483"/>
            <a:ext cx="6252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Machine Learning Definition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D97312FD-6B20-0EA6-C303-49AB9155EE63}"/>
              </a:ext>
            </a:extLst>
          </p:cNvPr>
          <p:cNvSpPr txBox="1"/>
          <p:nvPr/>
        </p:nvSpPr>
        <p:spPr>
          <a:xfrm>
            <a:off x="956058" y="2660254"/>
            <a:ext cx="979280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“Learning is any process by which a system improves performance from experience.” - Herbert Simon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“The field of study that gives computers the capability to learn without being explicitly programmed”. - Arthur Samuel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Traditional programming vs. ML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9E20E4BA-1289-B9D6-311F-DD7B34BBE061}"/>
              </a:ext>
            </a:extLst>
          </p:cNvPr>
          <p:cNvSpPr txBox="1"/>
          <p:nvPr/>
        </p:nvSpPr>
        <p:spPr>
          <a:xfrm>
            <a:off x="563971" y="1681483"/>
            <a:ext cx="6252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Traditional Programming vs. ML</a:t>
            </a:r>
          </a:p>
        </p:txBody>
      </p:sp>
      <p:sp>
        <p:nvSpPr>
          <p:cNvPr id="3" name="矩形 4">
            <a:extLst>
              <a:ext uri="{FF2B5EF4-FFF2-40B4-BE49-F238E27FC236}">
                <a16:creationId xmlns:a16="http://schemas.microsoft.com/office/drawing/2014/main" id="{827FBACB-4F3B-B01C-88DF-16F13D7C74BA}"/>
              </a:ext>
            </a:extLst>
          </p:cNvPr>
          <p:cNvSpPr/>
          <p:nvPr/>
        </p:nvSpPr>
        <p:spPr>
          <a:xfrm>
            <a:off x="3823644" y="3140900"/>
            <a:ext cx="2249516" cy="957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</a:p>
        </p:txBody>
      </p:sp>
      <p:cxnSp>
        <p:nvCxnSpPr>
          <p:cNvPr id="4" name="直接箭头连接符 16">
            <a:extLst>
              <a:ext uri="{FF2B5EF4-FFF2-40B4-BE49-F238E27FC236}">
                <a16:creationId xmlns:a16="http://schemas.microsoft.com/office/drawing/2014/main" id="{DBF423D1-69E2-F7C9-9441-77F0CAEA4ACB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073160" y="3612820"/>
            <a:ext cx="1040872" cy="70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17">
            <a:extLst>
              <a:ext uri="{FF2B5EF4-FFF2-40B4-BE49-F238E27FC236}">
                <a16:creationId xmlns:a16="http://schemas.microsoft.com/office/drawing/2014/main" id="{97BD0305-FEB8-A71F-B421-FF0483F2E3B8}"/>
              </a:ext>
            </a:extLst>
          </p:cNvPr>
          <p:cNvSpPr txBox="1"/>
          <p:nvPr/>
        </p:nvSpPr>
        <p:spPr>
          <a:xfrm>
            <a:off x="7139920" y="3429000"/>
            <a:ext cx="1106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箭头连接符 29">
            <a:extLst>
              <a:ext uri="{FF2B5EF4-FFF2-40B4-BE49-F238E27FC236}">
                <a16:creationId xmlns:a16="http://schemas.microsoft.com/office/drawing/2014/main" id="{187D9701-B261-60C6-DC75-E7C4E5998C07}"/>
              </a:ext>
            </a:extLst>
          </p:cNvPr>
          <p:cNvCxnSpPr>
            <a:cxnSpLocks/>
          </p:cNvCxnSpPr>
          <p:nvPr/>
        </p:nvCxnSpPr>
        <p:spPr>
          <a:xfrm>
            <a:off x="3118163" y="3331444"/>
            <a:ext cx="67491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30">
            <a:extLst>
              <a:ext uri="{FF2B5EF4-FFF2-40B4-BE49-F238E27FC236}">
                <a16:creationId xmlns:a16="http://schemas.microsoft.com/office/drawing/2014/main" id="{290D62BC-1D10-ACFF-E505-1643DCA87A3D}"/>
              </a:ext>
            </a:extLst>
          </p:cNvPr>
          <p:cNvSpPr txBox="1"/>
          <p:nvPr/>
        </p:nvSpPr>
        <p:spPr>
          <a:xfrm>
            <a:off x="768868" y="3125384"/>
            <a:ext cx="2249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Input (Data)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接箭头连接符 31">
            <a:extLst>
              <a:ext uri="{FF2B5EF4-FFF2-40B4-BE49-F238E27FC236}">
                <a16:creationId xmlns:a16="http://schemas.microsoft.com/office/drawing/2014/main" id="{BB36EDA7-BBAE-697E-44FB-2BBA4B67FC08}"/>
              </a:ext>
            </a:extLst>
          </p:cNvPr>
          <p:cNvCxnSpPr>
            <a:cxnSpLocks/>
          </p:cNvCxnSpPr>
          <p:nvPr/>
        </p:nvCxnSpPr>
        <p:spPr>
          <a:xfrm>
            <a:off x="3118163" y="3860195"/>
            <a:ext cx="67491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32">
            <a:extLst>
              <a:ext uri="{FF2B5EF4-FFF2-40B4-BE49-F238E27FC236}">
                <a16:creationId xmlns:a16="http://schemas.microsoft.com/office/drawing/2014/main" id="{7B239A10-6258-7FCA-8600-B5328CDE042F}"/>
              </a:ext>
            </a:extLst>
          </p:cNvPr>
          <p:cNvSpPr txBox="1"/>
          <p:nvPr/>
        </p:nvSpPr>
        <p:spPr>
          <a:xfrm>
            <a:off x="768868" y="3619872"/>
            <a:ext cx="233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Program logic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33">
            <a:extLst>
              <a:ext uri="{FF2B5EF4-FFF2-40B4-BE49-F238E27FC236}">
                <a16:creationId xmlns:a16="http://schemas.microsoft.com/office/drawing/2014/main" id="{BD9D9D7A-896B-8485-702A-19EBF2067014}"/>
              </a:ext>
            </a:extLst>
          </p:cNvPr>
          <p:cNvSpPr/>
          <p:nvPr/>
        </p:nvSpPr>
        <p:spPr>
          <a:xfrm>
            <a:off x="1044106" y="2433362"/>
            <a:ext cx="3547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Programming</a:t>
            </a:r>
          </a:p>
        </p:txBody>
      </p:sp>
      <p:sp>
        <p:nvSpPr>
          <p:cNvPr id="12" name="矩形 10">
            <a:extLst>
              <a:ext uri="{FF2B5EF4-FFF2-40B4-BE49-F238E27FC236}">
                <a16:creationId xmlns:a16="http://schemas.microsoft.com/office/drawing/2014/main" id="{CDDA2754-649B-9EFF-29B8-D49016D6283D}"/>
              </a:ext>
            </a:extLst>
          </p:cNvPr>
          <p:cNvSpPr/>
          <p:nvPr/>
        </p:nvSpPr>
        <p:spPr>
          <a:xfrm>
            <a:off x="3648191" y="5154036"/>
            <a:ext cx="2322286" cy="957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3" name="直接箭头连接符 18">
            <a:extLst>
              <a:ext uri="{FF2B5EF4-FFF2-40B4-BE49-F238E27FC236}">
                <a16:creationId xmlns:a16="http://schemas.microsoft.com/office/drawing/2014/main" id="{AD597916-26A8-A54E-76CB-9860F664C399}"/>
              </a:ext>
            </a:extLst>
          </p:cNvPr>
          <p:cNvCxnSpPr>
            <a:cxnSpLocks/>
          </p:cNvCxnSpPr>
          <p:nvPr/>
        </p:nvCxnSpPr>
        <p:spPr>
          <a:xfrm>
            <a:off x="5986771" y="5646725"/>
            <a:ext cx="366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26">
            <a:extLst>
              <a:ext uri="{FF2B5EF4-FFF2-40B4-BE49-F238E27FC236}">
                <a16:creationId xmlns:a16="http://schemas.microsoft.com/office/drawing/2014/main" id="{A84676CB-24C6-4D4E-525D-E3C1D9F7C723}"/>
              </a:ext>
            </a:extLst>
          </p:cNvPr>
          <p:cNvSpPr/>
          <p:nvPr/>
        </p:nvSpPr>
        <p:spPr>
          <a:xfrm>
            <a:off x="6369548" y="5019869"/>
            <a:ext cx="2167961" cy="11949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Implicit program logic (Model)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箭头连接符 27">
            <a:extLst>
              <a:ext uri="{FF2B5EF4-FFF2-40B4-BE49-F238E27FC236}">
                <a16:creationId xmlns:a16="http://schemas.microsoft.com/office/drawing/2014/main" id="{7AC0CF4A-FE1D-C3CD-C9C6-D4F608C9B3BF}"/>
              </a:ext>
            </a:extLst>
          </p:cNvPr>
          <p:cNvCxnSpPr>
            <a:cxnSpLocks/>
          </p:cNvCxnSpPr>
          <p:nvPr/>
        </p:nvCxnSpPr>
        <p:spPr>
          <a:xfrm>
            <a:off x="2971738" y="5582635"/>
            <a:ext cx="67491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28">
            <a:extLst>
              <a:ext uri="{FF2B5EF4-FFF2-40B4-BE49-F238E27FC236}">
                <a16:creationId xmlns:a16="http://schemas.microsoft.com/office/drawing/2014/main" id="{562A6330-3B3F-B5AB-7A8F-BCCDC4D53E25}"/>
              </a:ext>
            </a:extLst>
          </p:cNvPr>
          <p:cNvSpPr txBox="1"/>
          <p:nvPr/>
        </p:nvSpPr>
        <p:spPr>
          <a:xfrm>
            <a:off x="905069" y="5383811"/>
            <a:ext cx="205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Training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34">
            <a:extLst>
              <a:ext uri="{FF2B5EF4-FFF2-40B4-BE49-F238E27FC236}">
                <a16:creationId xmlns:a16="http://schemas.microsoft.com/office/drawing/2014/main" id="{3E6313F6-D02A-08C0-BA0E-2BBEFF3967F0}"/>
              </a:ext>
            </a:extLst>
          </p:cNvPr>
          <p:cNvSpPr/>
          <p:nvPr/>
        </p:nvSpPr>
        <p:spPr>
          <a:xfrm>
            <a:off x="1044106" y="4439962"/>
            <a:ext cx="2635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</p:txBody>
      </p:sp>
      <p:sp>
        <p:nvSpPr>
          <p:cNvPr id="18" name="文本框 39">
            <a:extLst>
              <a:ext uri="{FF2B5EF4-FFF2-40B4-BE49-F238E27FC236}">
                <a16:creationId xmlns:a16="http://schemas.microsoft.com/office/drawing/2014/main" id="{3959BA0C-BEC0-5E35-8419-467FA7A74331}"/>
              </a:ext>
            </a:extLst>
          </p:cNvPr>
          <p:cNvSpPr txBox="1"/>
          <p:nvPr/>
        </p:nvSpPr>
        <p:spPr>
          <a:xfrm>
            <a:off x="6868481" y="6417421"/>
            <a:ext cx="118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箭头连接符 42">
            <a:extLst>
              <a:ext uri="{FF2B5EF4-FFF2-40B4-BE49-F238E27FC236}">
                <a16:creationId xmlns:a16="http://schemas.microsoft.com/office/drawing/2014/main" id="{B0783339-CE6B-681F-197C-F1F3D24FC625}"/>
              </a:ext>
            </a:extLst>
          </p:cNvPr>
          <p:cNvCxnSpPr>
            <a:cxnSpLocks/>
            <a:stCxn id="18" idx="0"/>
            <a:endCxn id="14" idx="2"/>
          </p:cNvCxnSpPr>
          <p:nvPr/>
        </p:nvCxnSpPr>
        <p:spPr>
          <a:xfrm flipH="1" flipV="1">
            <a:off x="7453529" y="6214808"/>
            <a:ext cx="6871" cy="2026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51">
            <a:extLst>
              <a:ext uri="{FF2B5EF4-FFF2-40B4-BE49-F238E27FC236}">
                <a16:creationId xmlns:a16="http://schemas.microsoft.com/office/drawing/2014/main" id="{216A3A81-CAFD-F768-CE4F-C9AB66E5856B}"/>
              </a:ext>
            </a:extLst>
          </p:cNvPr>
          <p:cNvCxnSpPr>
            <a:cxnSpLocks/>
          </p:cNvCxnSpPr>
          <p:nvPr/>
        </p:nvCxnSpPr>
        <p:spPr>
          <a:xfrm>
            <a:off x="8537509" y="5646725"/>
            <a:ext cx="56215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52">
            <a:extLst>
              <a:ext uri="{FF2B5EF4-FFF2-40B4-BE49-F238E27FC236}">
                <a16:creationId xmlns:a16="http://schemas.microsoft.com/office/drawing/2014/main" id="{98D8CC56-3239-E99A-2A76-60F65BC2E659}"/>
              </a:ext>
            </a:extLst>
          </p:cNvPr>
          <p:cNvSpPr txBox="1"/>
          <p:nvPr/>
        </p:nvSpPr>
        <p:spPr>
          <a:xfrm>
            <a:off x="9099661" y="5415892"/>
            <a:ext cx="151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52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10" grpId="0"/>
      <p:bldP spid="12" grpId="0" animBg="1"/>
      <p:bldP spid="14" grpId="0" animBg="1"/>
      <p:bldP spid="16" grpId="0"/>
      <p:bldP spid="17" grpId="0"/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Traditional programming vs. ML: an example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9EFDF5C9-5DD9-623C-075E-DCAB37DF5F95}"/>
              </a:ext>
            </a:extLst>
          </p:cNvPr>
          <p:cNvSpPr txBox="1"/>
          <p:nvPr/>
        </p:nvSpPr>
        <p:spPr>
          <a:xfrm>
            <a:off x="685295" y="1940625"/>
            <a:ext cx="3729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Traditional programming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35">
            <a:extLst>
              <a:ext uri="{FF2B5EF4-FFF2-40B4-BE49-F238E27FC236}">
                <a16:creationId xmlns:a16="http://schemas.microsoft.com/office/drawing/2014/main" id="{E64AD481-5E78-E70D-CC10-F97ED6360633}"/>
              </a:ext>
            </a:extLst>
          </p:cNvPr>
          <p:cNvSpPr txBox="1"/>
          <p:nvPr/>
        </p:nvSpPr>
        <p:spPr>
          <a:xfrm>
            <a:off x="308566" y="1422400"/>
            <a:ext cx="5880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to recognize/classify a fruit,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6">
            <a:extLst>
              <a:ext uri="{FF2B5EF4-FFF2-40B4-BE49-F238E27FC236}">
                <a16:creationId xmlns:a16="http://schemas.microsoft.com/office/drawing/2014/main" id="{4AC0C359-3C28-7BBA-F9FF-620FCBD90DC7}"/>
              </a:ext>
            </a:extLst>
          </p:cNvPr>
          <p:cNvSpPr txBox="1"/>
          <p:nvPr/>
        </p:nvSpPr>
        <p:spPr>
          <a:xfrm>
            <a:off x="685295" y="4032899"/>
            <a:ext cx="1354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箭头: 右 6">
            <a:extLst>
              <a:ext uri="{FF2B5EF4-FFF2-40B4-BE49-F238E27FC236}">
                <a16:creationId xmlns:a16="http://schemas.microsoft.com/office/drawing/2014/main" id="{93BA7605-C078-E4EF-FAB0-5ED06FEC9E15}"/>
              </a:ext>
            </a:extLst>
          </p:cNvPr>
          <p:cNvSpPr/>
          <p:nvPr/>
        </p:nvSpPr>
        <p:spPr>
          <a:xfrm>
            <a:off x="2189054" y="3046672"/>
            <a:ext cx="1207289" cy="4393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9">
            <a:extLst>
              <a:ext uri="{FF2B5EF4-FFF2-40B4-BE49-F238E27FC236}">
                <a16:creationId xmlns:a16="http://schemas.microsoft.com/office/drawing/2014/main" id="{B5BFC994-5CF2-FA4F-ACAD-E5DECAB7BE7A}"/>
              </a:ext>
            </a:extLst>
          </p:cNvPr>
          <p:cNvSpPr txBox="1"/>
          <p:nvPr/>
        </p:nvSpPr>
        <p:spPr>
          <a:xfrm>
            <a:off x="3699693" y="2363514"/>
            <a:ext cx="2619911" cy="181588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color == ‘green’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   if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smell == ‘sweet’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…….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Output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   else 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Output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not apple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箭头: 右 13">
            <a:extLst>
              <a:ext uri="{FF2B5EF4-FFF2-40B4-BE49-F238E27FC236}">
                <a16:creationId xmlns:a16="http://schemas.microsoft.com/office/drawing/2014/main" id="{A7A1FB64-DCBA-FB75-52D8-B0CA2C18C8DD}"/>
              </a:ext>
            </a:extLst>
          </p:cNvPr>
          <p:cNvSpPr/>
          <p:nvPr/>
        </p:nvSpPr>
        <p:spPr>
          <a:xfrm>
            <a:off x="6755363" y="3078075"/>
            <a:ext cx="1223793" cy="4140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10">
            <a:extLst>
              <a:ext uri="{FF2B5EF4-FFF2-40B4-BE49-F238E27FC236}">
                <a16:creationId xmlns:a16="http://schemas.microsoft.com/office/drawing/2014/main" id="{24181965-0445-586D-D3C2-91DA1EF6FA70}"/>
              </a:ext>
            </a:extLst>
          </p:cNvPr>
          <p:cNvSpPr txBox="1"/>
          <p:nvPr/>
        </p:nvSpPr>
        <p:spPr>
          <a:xfrm>
            <a:off x="8357793" y="2960082"/>
            <a:ext cx="1316261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apple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22">
            <a:extLst>
              <a:ext uri="{FF2B5EF4-FFF2-40B4-BE49-F238E27FC236}">
                <a16:creationId xmlns:a16="http://schemas.microsoft.com/office/drawing/2014/main" id="{187A8018-EF70-3658-A7D0-A172F7655C2D}"/>
              </a:ext>
            </a:extLst>
          </p:cNvPr>
          <p:cNvSpPr txBox="1"/>
          <p:nvPr/>
        </p:nvSpPr>
        <p:spPr>
          <a:xfrm>
            <a:off x="827309" y="6348244"/>
            <a:ext cx="1962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Training data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31">
            <a:extLst>
              <a:ext uri="{FF2B5EF4-FFF2-40B4-BE49-F238E27FC236}">
                <a16:creationId xmlns:a16="http://schemas.microsoft.com/office/drawing/2014/main" id="{D7E739FB-A9CB-E943-8ACA-8F750DE35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60" y="2874731"/>
            <a:ext cx="853555" cy="8535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3" name="文本框 34">
            <a:extLst>
              <a:ext uri="{FF2B5EF4-FFF2-40B4-BE49-F238E27FC236}">
                <a16:creationId xmlns:a16="http://schemas.microsoft.com/office/drawing/2014/main" id="{918E876E-4A04-8E83-EDE0-9C3659E14F36}"/>
              </a:ext>
            </a:extLst>
          </p:cNvPr>
          <p:cNvSpPr txBox="1"/>
          <p:nvPr/>
        </p:nvSpPr>
        <p:spPr>
          <a:xfrm>
            <a:off x="8357792" y="5122353"/>
            <a:ext cx="1316261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apple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8">
            <a:extLst>
              <a:ext uri="{FF2B5EF4-FFF2-40B4-BE49-F238E27FC236}">
                <a16:creationId xmlns:a16="http://schemas.microsoft.com/office/drawing/2014/main" id="{7A4A013E-444D-2DD4-8B4D-2DC73E878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851" y="5980826"/>
            <a:ext cx="839850" cy="83985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6F486129-21BF-E1DB-9475-5E7A106F1A7F}"/>
              </a:ext>
            </a:extLst>
          </p:cNvPr>
          <p:cNvSpPr/>
          <p:nvPr/>
        </p:nvSpPr>
        <p:spPr>
          <a:xfrm>
            <a:off x="3127712" y="5195287"/>
            <a:ext cx="1207290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DE9036D-4585-BE10-5EA9-A01E9F76698F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4335002" y="5395342"/>
            <a:ext cx="8359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46ADE7F8-C1A8-F178-B3EA-F9D5DC3E4B09}"/>
              </a:ext>
            </a:extLst>
          </p:cNvPr>
          <p:cNvSpPr/>
          <p:nvPr/>
        </p:nvSpPr>
        <p:spPr>
          <a:xfrm>
            <a:off x="5170903" y="5072177"/>
            <a:ext cx="1475747" cy="64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ML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A7C09F5-2957-46C9-4AFB-D495B097E7E4}"/>
              </a:ext>
            </a:extLst>
          </p:cNvPr>
          <p:cNvCxnSpPr>
            <a:cxnSpLocks/>
          </p:cNvCxnSpPr>
          <p:nvPr/>
        </p:nvCxnSpPr>
        <p:spPr>
          <a:xfrm>
            <a:off x="2660711" y="5420430"/>
            <a:ext cx="4894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4">
            <a:extLst>
              <a:ext uri="{FF2B5EF4-FFF2-40B4-BE49-F238E27FC236}">
                <a16:creationId xmlns:a16="http://schemas.microsoft.com/office/drawing/2014/main" id="{50E45F37-1DEF-00C4-4CC9-AA2CA5E144E1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5908776" y="5718507"/>
            <a:ext cx="1" cy="2623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箭头: 右 37">
            <a:extLst>
              <a:ext uri="{FF2B5EF4-FFF2-40B4-BE49-F238E27FC236}">
                <a16:creationId xmlns:a16="http://schemas.microsoft.com/office/drawing/2014/main" id="{C57C8620-6F41-9412-A880-54F31C942A65}"/>
              </a:ext>
            </a:extLst>
          </p:cNvPr>
          <p:cNvSpPr/>
          <p:nvPr/>
        </p:nvSpPr>
        <p:spPr>
          <a:xfrm>
            <a:off x="6937641" y="5222769"/>
            <a:ext cx="1223793" cy="4140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图片 40">
            <a:extLst>
              <a:ext uri="{FF2B5EF4-FFF2-40B4-BE49-F238E27FC236}">
                <a16:creationId xmlns:a16="http://schemas.microsoft.com/office/drawing/2014/main" id="{3D45348B-7BCF-0AB8-68EA-9D9212D55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89" y="4547531"/>
            <a:ext cx="1670952" cy="178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4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 animBg="1"/>
      <p:bldP spid="7" grpId="0" animBg="1"/>
      <p:bldP spid="9" grpId="0" animBg="1"/>
      <p:bldP spid="10" grpId="0"/>
      <p:bldP spid="13" grpId="0" animBg="1"/>
      <p:bldP spid="18" grpId="0" animBg="1"/>
      <p:bldP spid="20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Types of ML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C66253C-F877-39EA-DA69-A9414CC7C257}"/>
              </a:ext>
            </a:extLst>
          </p:cNvPr>
          <p:cNvSpPr txBox="1">
            <a:spLocks noChangeArrowheads="1"/>
          </p:cNvSpPr>
          <p:nvPr/>
        </p:nvSpPr>
        <p:spPr>
          <a:xfrm>
            <a:off x="971372" y="1797842"/>
            <a:ext cx="8208963" cy="44313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Supervised learning</a:t>
            </a:r>
          </a:p>
          <a:p>
            <a:pPr marL="457200" indent="-457200"/>
            <a:r>
              <a:rPr lang="en-US" altLang="zh-CN" dirty="0">
                <a:solidFill>
                  <a:schemeClr val="tx1"/>
                </a:solidFill>
              </a:rPr>
              <a:t>Given: training data with desired outputs (labels)</a:t>
            </a:r>
          </a:p>
          <a:p>
            <a:endParaRPr lang="en-US" altLang="zh-CN" b="1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Unsupervised learning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Given: dataset without desired labels</a:t>
            </a:r>
          </a:p>
          <a:p>
            <a:pPr>
              <a:lnSpc>
                <a:spcPct val="110000"/>
              </a:lnSpc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Semi-supervised learning</a:t>
            </a:r>
          </a:p>
          <a:p>
            <a:pPr marL="457200" indent="-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Given: training data with a few desired labels</a:t>
            </a:r>
          </a:p>
        </p:txBody>
      </p:sp>
    </p:spTree>
    <p:extLst>
      <p:ext uri="{BB962C8B-B14F-4D97-AF65-F5344CB8AC3E}">
        <p14:creationId xmlns:p14="http://schemas.microsoft.com/office/powerpoint/2010/main" val="54795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Types of ML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06405E21-7733-2D2E-F5B6-FC2D71D070BC}"/>
              </a:ext>
            </a:extLst>
          </p:cNvPr>
          <p:cNvSpPr txBox="1"/>
          <p:nvPr/>
        </p:nvSpPr>
        <p:spPr>
          <a:xfrm>
            <a:off x="881224" y="1640732"/>
            <a:ext cx="2542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Supervised Learning</a:t>
            </a:r>
            <a:endParaRPr lang="zh-CN" alt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96105A46-8AD1-3E38-435A-8AB365B8CC04}"/>
              </a:ext>
            </a:extLst>
          </p:cNvPr>
          <p:cNvSpPr txBox="1"/>
          <p:nvPr/>
        </p:nvSpPr>
        <p:spPr>
          <a:xfrm>
            <a:off x="7851960" y="1541505"/>
            <a:ext cx="2994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Semi-Supervised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endParaRPr lang="zh-CN" alt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4BB9EAE3-CB8C-6314-6237-6F5FAF001BBF}"/>
              </a:ext>
            </a:extLst>
          </p:cNvPr>
          <p:cNvSpPr txBox="1"/>
          <p:nvPr/>
        </p:nvSpPr>
        <p:spPr>
          <a:xfrm>
            <a:off x="4143076" y="1514471"/>
            <a:ext cx="2542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Unsupervised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endParaRPr lang="zh-CN" alt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F948242-8D4B-D4E4-C66C-ADBCA21193AF}"/>
              </a:ext>
            </a:extLst>
          </p:cNvPr>
          <p:cNvGrpSpPr/>
          <p:nvPr/>
        </p:nvGrpSpPr>
        <p:grpSpPr>
          <a:xfrm>
            <a:off x="876466" y="2533228"/>
            <a:ext cx="2580945" cy="3952434"/>
            <a:chOff x="1033624" y="2274716"/>
            <a:chExt cx="2580945" cy="3952434"/>
          </a:xfrm>
        </p:grpSpPr>
        <p:sp>
          <p:nvSpPr>
            <p:cNvPr id="5" name="文本框 8">
              <a:extLst>
                <a:ext uri="{FF2B5EF4-FFF2-40B4-BE49-F238E27FC236}">
                  <a16:creationId xmlns:a16="http://schemas.microsoft.com/office/drawing/2014/main" id="{DFD0EDB0-9892-4DDF-1E59-CC980CE3B215}"/>
                </a:ext>
              </a:extLst>
            </p:cNvPr>
            <p:cNvSpPr txBox="1"/>
            <p:nvPr/>
          </p:nvSpPr>
          <p:spPr>
            <a:xfrm>
              <a:off x="1033624" y="2274716"/>
              <a:ext cx="8245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  <a:endParaRPr lang="zh-CN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文本框 12">
              <a:extLst>
                <a:ext uri="{FF2B5EF4-FFF2-40B4-BE49-F238E27FC236}">
                  <a16:creationId xmlns:a16="http://schemas.microsoft.com/office/drawing/2014/main" id="{195937E9-9870-0F9B-00C4-0D11380151C0}"/>
                </a:ext>
              </a:extLst>
            </p:cNvPr>
            <p:cNvSpPr txBox="1"/>
            <p:nvPr/>
          </p:nvSpPr>
          <p:spPr>
            <a:xfrm>
              <a:off x="1969359" y="2274716"/>
              <a:ext cx="11299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  <a:endParaRPr lang="zh-CN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图片 14">
              <a:extLst>
                <a:ext uri="{FF2B5EF4-FFF2-40B4-BE49-F238E27FC236}">
                  <a16:creationId xmlns:a16="http://schemas.microsoft.com/office/drawing/2014/main" id="{D8C15AF3-F66B-BEFB-81F2-9D23C9F34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5305" y="2780181"/>
              <a:ext cx="425051" cy="3367286"/>
            </a:xfrm>
            <a:prstGeom prst="rect">
              <a:avLst/>
            </a:prstGeom>
          </p:spPr>
        </p:pic>
        <p:sp>
          <p:nvSpPr>
            <p:cNvPr id="9" name="文本框 15">
              <a:extLst>
                <a:ext uri="{FF2B5EF4-FFF2-40B4-BE49-F238E27FC236}">
                  <a16:creationId xmlns:a16="http://schemas.microsoft.com/office/drawing/2014/main" id="{BEAF55F2-E556-CF92-9051-F5420AF3EED3}"/>
                </a:ext>
              </a:extLst>
            </p:cNvPr>
            <p:cNvSpPr txBox="1"/>
            <p:nvPr/>
          </p:nvSpPr>
          <p:spPr>
            <a:xfrm>
              <a:off x="2034030" y="2790424"/>
              <a:ext cx="12438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dog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17">
              <a:extLst>
                <a:ext uri="{FF2B5EF4-FFF2-40B4-BE49-F238E27FC236}">
                  <a16:creationId xmlns:a16="http://schemas.microsoft.com/office/drawing/2014/main" id="{DA9CB9DF-1377-1462-73AC-32BCAC77CFBF}"/>
                </a:ext>
              </a:extLst>
            </p:cNvPr>
            <p:cNvSpPr txBox="1"/>
            <p:nvPr/>
          </p:nvSpPr>
          <p:spPr>
            <a:xfrm>
              <a:off x="2028795" y="3276984"/>
              <a:ext cx="1004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bird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8">
              <a:extLst>
                <a:ext uri="{FF2B5EF4-FFF2-40B4-BE49-F238E27FC236}">
                  <a16:creationId xmlns:a16="http://schemas.microsoft.com/office/drawing/2014/main" id="{1664B56C-8EEF-C264-F757-6A9E51D17C7C}"/>
                </a:ext>
              </a:extLst>
            </p:cNvPr>
            <p:cNvSpPr txBox="1"/>
            <p:nvPr/>
          </p:nvSpPr>
          <p:spPr>
            <a:xfrm>
              <a:off x="2034031" y="3757235"/>
              <a:ext cx="14875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airplane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9">
              <a:extLst>
                <a:ext uri="{FF2B5EF4-FFF2-40B4-BE49-F238E27FC236}">
                  <a16:creationId xmlns:a16="http://schemas.microsoft.com/office/drawing/2014/main" id="{F6F9A7AD-AD46-E6ED-C8B3-B09BA0AFEAC5}"/>
                </a:ext>
              </a:extLst>
            </p:cNvPr>
            <p:cNvSpPr txBox="1"/>
            <p:nvPr/>
          </p:nvSpPr>
          <p:spPr>
            <a:xfrm>
              <a:off x="2035891" y="4255950"/>
              <a:ext cx="15786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deer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本框 20">
              <a:extLst>
                <a:ext uri="{FF2B5EF4-FFF2-40B4-BE49-F238E27FC236}">
                  <a16:creationId xmlns:a16="http://schemas.microsoft.com/office/drawing/2014/main" id="{CA37C594-4543-DDE3-A0D0-E17E56DE01AD}"/>
                </a:ext>
              </a:extLst>
            </p:cNvPr>
            <p:cNvSpPr txBox="1"/>
            <p:nvPr/>
          </p:nvSpPr>
          <p:spPr>
            <a:xfrm>
              <a:off x="2034031" y="4732142"/>
              <a:ext cx="15786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cat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22">
              <a:extLst>
                <a:ext uri="{FF2B5EF4-FFF2-40B4-BE49-F238E27FC236}">
                  <a16:creationId xmlns:a16="http://schemas.microsoft.com/office/drawing/2014/main" id="{F76CEF98-9A83-BE48-A48C-0ACD76F4B08F}"/>
                </a:ext>
              </a:extLst>
            </p:cNvPr>
            <p:cNvSpPr txBox="1"/>
            <p:nvPr/>
          </p:nvSpPr>
          <p:spPr>
            <a:xfrm>
              <a:off x="2024737" y="5266770"/>
              <a:ext cx="15786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truck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23">
              <a:extLst>
                <a:ext uri="{FF2B5EF4-FFF2-40B4-BE49-F238E27FC236}">
                  <a16:creationId xmlns:a16="http://schemas.microsoft.com/office/drawing/2014/main" id="{8986C99E-F499-B7EC-05EB-C92911DA9D0C}"/>
                </a:ext>
              </a:extLst>
            </p:cNvPr>
            <p:cNvSpPr txBox="1"/>
            <p:nvPr/>
          </p:nvSpPr>
          <p:spPr>
            <a:xfrm>
              <a:off x="2034030" y="5765485"/>
              <a:ext cx="13892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ship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BC887FD-1F04-41C5-C6FB-2C14FF3D02DE}"/>
              </a:ext>
            </a:extLst>
          </p:cNvPr>
          <p:cNvGrpSpPr/>
          <p:nvPr/>
        </p:nvGrpSpPr>
        <p:grpSpPr>
          <a:xfrm>
            <a:off x="7898439" y="2533228"/>
            <a:ext cx="2427750" cy="3966706"/>
            <a:chOff x="4274263" y="2256059"/>
            <a:chExt cx="2427750" cy="3966706"/>
          </a:xfrm>
        </p:grpSpPr>
        <p:sp>
          <p:nvSpPr>
            <p:cNvPr id="16" name="文本框 24">
              <a:extLst>
                <a:ext uri="{FF2B5EF4-FFF2-40B4-BE49-F238E27FC236}">
                  <a16:creationId xmlns:a16="http://schemas.microsoft.com/office/drawing/2014/main" id="{CE53E969-7DC0-F6F0-65F4-CCB14FA2D1CB}"/>
                </a:ext>
              </a:extLst>
            </p:cNvPr>
            <p:cNvSpPr txBox="1"/>
            <p:nvPr/>
          </p:nvSpPr>
          <p:spPr>
            <a:xfrm>
              <a:off x="4274263" y="2256059"/>
              <a:ext cx="908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  <a:endParaRPr lang="zh-CN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本框 25">
              <a:extLst>
                <a:ext uri="{FF2B5EF4-FFF2-40B4-BE49-F238E27FC236}">
                  <a16:creationId xmlns:a16="http://schemas.microsoft.com/office/drawing/2014/main" id="{C8762920-598C-502C-0D66-7C5DDDF79007}"/>
                </a:ext>
              </a:extLst>
            </p:cNvPr>
            <p:cNvSpPr txBox="1"/>
            <p:nvPr/>
          </p:nvSpPr>
          <p:spPr>
            <a:xfrm>
              <a:off x="5209998" y="2256059"/>
              <a:ext cx="11672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  <a:endParaRPr lang="zh-CN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图片 26">
              <a:extLst>
                <a:ext uri="{FF2B5EF4-FFF2-40B4-BE49-F238E27FC236}">
                  <a16:creationId xmlns:a16="http://schemas.microsoft.com/office/drawing/2014/main" id="{07E74B52-1CAA-28E6-6187-04BAD46FF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5944" y="2761524"/>
              <a:ext cx="425051" cy="3367286"/>
            </a:xfrm>
            <a:prstGeom prst="rect">
              <a:avLst/>
            </a:prstGeom>
          </p:spPr>
        </p:pic>
        <p:sp>
          <p:nvSpPr>
            <p:cNvPr id="19" name="文本框 27">
              <a:extLst>
                <a:ext uri="{FF2B5EF4-FFF2-40B4-BE49-F238E27FC236}">
                  <a16:creationId xmlns:a16="http://schemas.microsoft.com/office/drawing/2014/main" id="{A59AF54C-2313-EEBD-F008-1D4AF3625D23}"/>
                </a:ext>
              </a:extLst>
            </p:cNvPr>
            <p:cNvSpPr txBox="1"/>
            <p:nvPr/>
          </p:nvSpPr>
          <p:spPr>
            <a:xfrm>
              <a:off x="5255719" y="2865659"/>
              <a:ext cx="1121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dog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28">
              <a:extLst>
                <a:ext uri="{FF2B5EF4-FFF2-40B4-BE49-F238E27FC236}">
                  <a16:creationId xmlns:a16="http://schemas.microsoft.com/office/drawing/2014/main" id="{36F513A8-D47E-BA95-46A9-F47C06A5B04E}"/>
                </a:ext>
              </a:extLst>
            </p:cNvPr>
            <p:cNvSpPr txBox="1"/>
            <p:nvPr/>
          </p:nvSpPr>
          <p:spPr>
            <a:xfrm>
              <a:off x="5269435" y="3258327"/>
              <a:ext cx="9604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bird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文本框 29">
              <a:extLst>
                <a:ext uri="{FF2B5EF4-FFF2-40B4-BE49-F238E27FC236}">
                  <a16:creationId xmlns:a16="http://schemas.microsoft.com/office/drawing/2014/main" id="{BFCED2AF-FBD7-FFD2-611B-EE9D68CEDE2A}"/>
                </a:ext>
              </a:extLst>
            </p:cNvPr>
            <p:cNvSpPr txBox="1"/>
            <p:nvPr/>
          </p:nvSpPr>
          <p:spPr>
            <a:xfrm>
              <a:off x="5222959" y="3759459"/>
              <a:ext cx="1401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文本框 34">
              <a:extLst>
                <a:ext uri="{FF2B5EF4-FFF2-40B4-BE49-F238E27FC236}">
                  <a16:creationId xmlns:a16="http://schemas.microsoft.com/office/drawing/2014/main" id="{C915D845-8F95-2719-CC4B-7DD4D33F371E}"/>
                </a:ext>
              </a:extLst>
            </p:cNvPr>
            <p:cNvSpPr txBox="1"/>
            <p:nvPr/>
          </p:nvSpPr>
          <p:spPr>
            <a:xfrm>
              <a:off x="5214570" y="4233826"/>
              <a:ext cx="14096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35">
              <a:extLst>
                <a:ext uri="{FF2B5EF4-FFF2-40B4-BE49-F238E27FC236}">
                  <a16:creationId xmlns:a16="http://schemas.microsoft.com/office/drawing/2014/main" id="{866F1860-F5E1-7A64-821D-5E2E72CF6705}"/>
                </a:ext>
              </a:extLst>
            </p:cNvPr>
            <p:cNvSpPr txBox="1"/>
            <p:nvPr/>
          </p:nvSpPr>
          <p:spPr>
            <a:xfrm>
              <a:off x="5209998" y="4758832"/>
              <a:ext cx="14920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36">
              <a:extLst>
                <a:ext uri="{FF2B5EF4-FFF2-40B4-BE49-F238E27FC236}">
                  <a16:creationId xmlns:a16="http://schemas.microsoft.com/office/drawing/2014/main" id="{88AC1AF2-D6B5-A8BB-2B95-291F6061BD78}"/>
                </a:ext>
              </a:extLst>
            </p:cNvPr>
            <p:cNvSpPr txBox="1"/>
            <p:nvPr/>
          </p:nvSpPr>
          <p:spPr>
            <a:xfrm>
              <a:off x="5209999" y="5243370"/>
              <a:ext cx="1472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37">
              <a:extLst>
                <a:ext uri="{FF2B5EF4-FFF2-40B4-BE49-F238E27FC236}">
                  <a16:creationId xmlns:a16="http://schemas.microsoft.com/office/drawing/2014/main" id="{0CB7287D-1BDB-ED39-A33D-17312F3F3F79}"/>
                </a:ext>
              </a:extLst>
            </p:cNvPr>
            <p:cNvSpPr txBox="1"/>
            <p:nvPr/>
          </p:nvSpPr>
          <p:spPr>
            <a:xfrm>
              <a:off x="5208345" y="5761100"/>
              <a:ext cx="13892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F23A19-492C-142B-80D1-991DE4FDAEC5}"/>
              </a:ext>
            </a:extLst>
          </p:cNvPr>
          <p:cNvGrpSpPr/>
          <p:nvPr/>
        </p:nvGrpSpPr>
        <p:grpSpPr>
          <a:xfrm>
            <a:off x="4132110" y="2566053"/>
            <a:ext cx="2391718" cy="3966706"/>
            <a:chOff x="7488703" y="2256059"/>
            <a:chExt cx="2391718" cy="3966706"/>
          </a:xfrm>
        </p:grpSpPr>
        <p:sp>
          <p:nvSpPr>
            <p:cNvPr id="26" name="文本框 38">
              <a:extLst>
                <a:ext uri="{FF2B5EF4-FFF2-40B4-BE49-F238E27FC236}">
                  <a16:creationId xmlns:a16="http://schemas.microsoft.com/office/drawing/2014/main" id="{B44A6283-7561-EDDA-D236-6A8359ACCB0C}"/>
                </a:ext>
              </a:extLst>
            </p:cNvPr>
            <p:cNvSpPr txBox="1"/>
            <p:nvPr/>
          </p:nvSpPr>
          <p:spPr>
            <a:xfrm>
              <a:off x="7488703" y="2256059"/>
              <a:ext cx="9357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  <a:endParaRPr lang="zh-CN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39">
              <a:extLst>
                <a:ext uri="{FF2B5EF4-FFF2-40B4-BE49-F238E27FC236}">
                  <a16:creationId xmlns:a16="http://schemas.microsoft.com/office/drawing/2014/main" id="{3C9BD18B-3B8F-7B8A-DD15-B4675F6035AF}"/>
                </a:ext>
              </a:extLst>
            </p:cNvPr>
            <p:cNvSpPr txBox="1"/>
            <p:nvPr/>
          </p:nvSpPr>
          <p:spPr>
            <a:xfrm>
              <a:off x="8424439" y="2256059"/>
              <a:ext cx="111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  <a:endParaRPr lang="zh-CN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图片 40">
              <a:extLst>
                <a:ext uri="{FF2B5EF4-FFF2-40B4-BE49-F238E27FC236}">
                  <a16:creationId xmlns:a16="http://schemas.microsoft.com/office/drawing/2014/main" id="{FCA6DE76-0153-9BFD-BD80-5A3D47216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0384" y="2761524"/>
              <a:ext cx="425051" cy="3367286"/>
            </a:xfrm>
            <a:prstGeom prst="rect">
              <a:avLst/>
            </a:prstGeom>
          </p:spPr>
        </p:pic>
        <p:sp>
          <p:nvSpPr>
            <p:cNvPr id="29" name="文本框 43">
              <a:extLst>
                <a:ext uri="{FF2B5EF4-FFF2-40B4-BE49-F238E27FC236}">
                  <a16:creationId xmlns:a16="http://schemas.microsoft.com/office/drawing/2014/main" id="{BCFFA5FB-91F5-ABE6-E9BE-7F17BE1F3407}"/>
                </a:ext>
              </a:extLst>
            </p:cNvPr>
            <p:cNvSpPr txBox="1"/>
            <p:nvPr/>
          </p:nvSpPr>
          <p:spPr>
            <a:xfrm>
              <a:off x="8420621" y="3692347"/>
              <a:ext cx="13042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44">
              <a:extLst>
                <a:ext uri="{FF2B5EF4-FFF2-40B4-BE49-F238E27FC236}">
                  <a16:creationId xmlns:a16="http://schemas.microsoft.com/office/drawing/2014/main" id="{3695AF97-1D28-8DA4-8E26-752B92D2590E}"/>
                </a:ext>
              </a:extLst>
            </p:cNvPr>
            <p:cNvSpPr txBox="1"/>
            <p:nvPr/>
          </p:nvSpPr>
          <p:spPr>
            <a:xfrm>
              <a:off x="8412233" y="4233826"/>
              <a:ext cx="1434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45">
              <a:extLst>
                <a:ext uri="{FF2B5EF4-FFF2-40B4-BE49-F238E27FC236}">
                  <a16:creationId xmlns:a16="http://schemas.microsoft.com/office/drawing/2014/main" id="{16FECBAF-08AE-035A-D97C-9E6D82E2897D}"/>
                </a:ext>
              </a:extLst>
            </p:cNvPr>
            <p:cNvSpPr txBox="1"/>
            <p:nvPr/>
          </p:nvSpPr>
          <p:spPr>
            <a:xfrm>
              <a:off x="8407660" y="4758832"/>
              <a:ext cx="1434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46">
              <a:extLst>
                <a:ext uri="{FF2B5EF4-FFF2-40B4-BE49-F238E27FC236}">
                  <a16:creationId xmlns:a16="http://schemas.microsoft.com/office/drawing/2014/main" id="{6351598F-18AE-64AD-EA9A-FE8325A9213A}"/>
                </a:ext>
              </a:extLst>
            </p:cNvPr>
            <p:cNvSpPr txBox="1"/>
            <p:nvPr/>
          </p:nvSpPr>
          <p:spPr>
            <a:xfrm>
              <a:off x="8407661" y="5243370"/>
              <a:ext cx="1472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47">
              <a:extLst>
                <a:ext uri="{FF2B5EF4-FFF2-40B4-BE49-F238E27FC236}">
                  <a16:creationId xmlns:a16="http://schemas.microsoft.com/office/drawing/2014/main" id="{0779AAED-7279-F1D2-9F2F-572AF8C4B7FF}"/>
                </a:ext>
              </a:extLst>
            </p:cNvPr>
            <p:cNvSpPr txBox="1"/>
            <p:nvPr/>
          </p:nvSpPr>
          <p:spPr>
            <a:xfrm>
              <a:off x="8406007" y="5761100"/>
              <a:ext cx="1472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48">
              <a:extLst>
                <a:ext uri="{FF2B5EF4-FFF2-40B4-BE49-F238E27FC236}">
                  <a16:creationId xmlns:a16="http://schemas.microsoft.com/office/drawing/2014/main" id="{50DFD7E9-8221-C497-C92F-2EB34AA5739B}"/>
                </a:ext>
              </a:extLst>
            </p:cNvPr>
            <p:cNvSpPr txBox="1"/>
            <p:nvPr/>
          </p:nvSpPr>
          <p:spPr>
            <a:xfrm>
              <a:off x="8415295" y="3229347"/>
              <a:ext cx="1434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文本框 49">
              <a:extLst>
                <a:ext uri="{FF2B5EF4-FFF2-40B4-BE49-F238E27FC236}">
                  <a16:creationId xmlns:a16="http://schemas.microsoft.com/office/drawing/2014/main" id="{32F1D194-41F4-3F03-85F8-6F124E7B63CD}"/>
                </a:ext>
              </a:extLst>
            </p:cNvPr>
            <p:cNvSpPr txBox="1"/>
            <p:nvPr/>
          </p:nvSpPr>
          <p:spPr>
            <a:xfrm>
              <a:off x="8405933" y="2780490"/>
              <a:ext cx="1443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label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180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B62A42-7FAF-4D36-A641-E3B691D1AA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E30D9C-8F1D-4774-947D-6FC8C089F2C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C701D7D5-78FC-4AB6-A01D-FE3F9C626D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1894</TotalTime>
  <Words>246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宋体</vt:lpstr>
      <vt:lpstr>Arial</vt:lpstr>
      <vt:lpstr>Calibri</vt:lpstr>
      <vt:lpstr>Office Theme</vt:lpstr>
      <vt:lpstr>What Is Machine Learning</vt:lpstr>
      <vt:lpstr>What is ML?</vt:lpstr>
      <vt:lpstr>Traditional programming vs. ML</vt:lpstr>
      <vt:lpstr>Traditional programming vs. ML: an example</vt:lpstr>
      <vt:lpstr>Types of ML</vt:lpstr>
      <vt:lpstr>Types of ML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67</cp:revision>
  <dcterms:created xsi:type="dcterms:W3CDTF">2021-01-06T14:22:07Z</dcterms:created>
  <dcterms:modified xsi:type="dcterms:W3CDTF">2024-07-08T09:30:18Z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