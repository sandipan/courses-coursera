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494" r:id="rId6"/>
    <p:sldId id="497" r:id="rId7"/>
    <p:sldId id="499" r:id="rId8"/>
    <p:sldId id="500" r:id="rId9"/>
    <p:sldId id="498" r:id="rId10"/>
    <p:sldId id="501" r:id="rId11"/>
    <p:sldId id="502" r:id="rId12"/>
    <p:sldId id="503" r:id="rId13"/>
    <p:sldId id="504" r:id="rId14"/>
    <p:sldId id="505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49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69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79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64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03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8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760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84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34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957" y="1700129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Fundamental Concepts in Machine Learning (2)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944" y="2489838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7163931" cy="888786"/>
          </a:xfrm>
        </p:spPr>
        <p:txBody>
          <a:bodyPr/>
          <a:lstStyle/>
          <a:p>
            <a:r>
              <a:rPr lang="en-US" dirty="0"/>
              <a:t>Fundamental concepts in supervised learning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E258B921-5B90-40D0-19E6-8B041814C59F}"/>
              </a:ext>
            </a:extLst>
          </p:cNvPr>
          <p:cNvSpPr txBox="1"/>
          <p:nvPr/>
        </p:nvSpPr>
        <p:spPr>
          <a:xfrm>
            <a:off x="381390" y="1637590"/>
            <a:ext cx="100595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Supervised learning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when the model is getting trained on a labelled dataset.</a:t>
            </a:r>
          </a:p>
        </p:txBody>
      </p:sp>
      <p:sp>
        <p:nvSpPr>
          <p:cNvPr id="3" name="文本框 11">
            <a:extLst>
              <a:ext uri="{FF2B5EF4-FFF2-40B4-BE49-F238E27FC236}">
                <a16:creationId xmlns:a16="http://schemas.microsoft.com/office/drawing/2014/main" id="{26329F43-B5B5-AC52-A58C-F08369AA35A1}"/>
              </a:ext>
            </a:extLst>
          </p:cNvPr>
          <p:cNvSpPr txBox="1"/>
          <p:nvPr/>
        </p:nvSpPr>
        <p:spPr>
          <a:xfrm>
            <a:off x="352814" y="2557568"/>
            <a:ext cx="109465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Labelled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one which have both input and output parameters. </a:t>
            </a: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99EDEA64-9FEB-F494-68F2-E7A33B83EC1B}"/>
              </a:ext>
            </a:extLst>
          </p:cNvPr>
          <p:cNvSpPr txBox="1"/>
          <p:nvPr/>
        </p:nvSpPr>
        <p:spPr>
          <a:xfrm>
            <a:off x="352814" y="3337098"/>
            <a:ext cx="3636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Fruit classification example: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7">
                <a:extLst>
                  <a:ext uri="{FF2B5EF4-FFF2-40B4-BE49-F238E27FC236}">
                    <a16:creationId xmlns:a16="http://schemas.microsoft.com/office/drawing/2014/main" id="{8F8C6C2E-BD23-A7CC-FA44-192C505ACA32}"/>
                  </a:ext>
                </a:extLst>
              </p:cNvPr>
              <p:cNvSpPr txBox="1"/>
              <p:nvPr/>
            </p:nvSpPr>
            <p:spPr>
              <a:xfrm>
                <a:off x="381389" y="4355334"/>
                <a:ext cx="10414129" cy="127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Dataset: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 ⋯,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n-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sample is: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image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(or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features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of the fruit,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label of the fruit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7">
                <a:extLst>
                  <a:ext uri="{FF2B5EF4-FFF2-40B4-BE49-F238E27FC236}">
                    <a16:creationId xmlns:a16="http://schemas.microsoft.com/office/drawing/2014/main" id="{8F8C6C2E-BD23-A7CC-FA44-192C505AC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89" y="4355334"/>
                <a:ext cx="10414129" cy="1277273"/>
              </a:xfrm>
              <a:prstGeom prst="rect">
                <a:avLst/>
              </a:prstGeom>
              <a:blipFill>
                <a:blip r:embed="rId3"/>
                <a:stretch>
                  <a:fillRect l="-820" t="-3333" r="-468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Supervised Learning: classification</a:t>
            </a:r>
          </a:p>
        </p:txBody>
      </p:sp>
      <p:sp>
        <p:nvSpPr>
          <p:cNvPr id="2" name="文本框 9">
            <a:extLst>
              <a:ext uri="{FF2B5EF4-FFF2-40B4-BE49-F238E27FC236}">
                <a16:creationId xmlns:a16="http://schemas.microsoft.com/office/drawing/2014/main" id="{7ECA2E26-F502-E453-7F53-F178785F3EF3}"/>
              </a:ext>
            </a:extLst>
          </p:cNvPr>
          <p:cNvSpPr txBox="1"/>
          <p:nvPr/>
        </p:nvSpPr>
        <p:spPr>
          <a:xfrm>
            <a:off x="361722" y="1729792"/>
            <a:ext cx="98388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Classification: a supervised learning task in which the output is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discrete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" name="文本框 4">
            <a:extLst>
              <a:ext uri="{FF2B5EF4-FFF2-40B4-BE49-F238E27FC236}">
                <a16:creationId xmlns:a16="http://schemas.microsoft.com/office/drawing/2014/main" id="{987DEB9E-23D8-3F36-3080-94E5345209E7}"/>
              </a:ext>
            </a:extLst>
          </p:cNvPr>
          <p:cNvSpPr txBox="1"/>
          <p:nvPr/>
        </p:nvSpPr>
        <p:spPr>
          <a:xfrm>
            <a:off x="361722" y="2699494"/>
            <a:ext cx="112268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Classification examples: 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fruit classification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facial recognition 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anomaly network flow detection 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2">
            <a:extLst>
              <a:ext uri="{FF2B5EF4-FFF2-40B4-BE49-F238E27FC236}">
                <a16:creationId xmlns:a16="http://schemas.microsoft.com/office/drawing/2014/main" id="{020891A6-FCA5-8B00-ECA7-AE8DE0D11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368" y="4407072"/>
            <a:ext cx="2316735" cy="18035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13">
            <a:extLst>
              <a:ext uri="{FF2B5EF4-FFF2-40B4-BE49-F238E27FC236}">
                <a16:creationId xmlns:a16="http://schemas.microsoft.com/office/drawing/2014/main" id="{B6E73941-0012-A0E9-E7B0-73908CC21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464" y="4351125"/>
            <a:ext cx="2057400" cy="1818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6">
            <a:extLst>
              <a:ext uri="{FF2B5EF4-FFF2-40B4-BE49-F238E27FC236}">
                <a16:creationId xmlns:a16="http://schemas.microsoft.com/office/drawing/2014/main" id="{B03AFB08-A599-601D-BC59-9A665CC91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608" y="4372586"/>
            <a:ext cx="2268108" cy="18380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矩形 7">
            <a:extLst>
              <a:ext uri="{FF2B5EF4-FFF2-40B4-BE49-F238E27FC236}">
                <a16:creationId xmlns:a16="http://schemas.microsoft.com/office/drawing/2014/main" id="{CC39515C-B77B-7C3E-7B1F-E79DA4B54C73}"/>
              </a:ext>
            </a:extLst>
          </p:cNvPr>
          <p:cNvSpPr/>
          <p:nvPr/>
        </p:nvSpPr>
        <p:spPr>
          <a:xfrm>
            <a:off x="1745063" y="6331853"/>
            <a:ext cx="1941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fruit classification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7C360C-95AF-C123-7790-B0DF7972882A}"/>
              </a:ext>
            </a:extLst>
          </p:cNvPr>
          <p:cNvSpPr/>
          <p:nvPr/>
        </p:nvSpPr>
        <p:spPr>
          <a:xfrm>
            <a:off x="4355659" y="6330160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facial recognition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15">
            <a:extLst>
              <a:ext uri="{FF2B5EF4-FFF2-40B4-BE49-F238E27FC236}">
                <a16:creationId xmlns:a16="http://schemas.microsoft.com/office/drawing/2014/main" id="{D452D7FE-A388-0521-BA29-48E73BB7AFE6}"/>
              </a:ext>
            </a:extLst>
          </p:cNvPr>
          <p:cNvSpPr/>
          <p:nvPr/>
        </p:nvSpPr>
        <p:spPr>
          <a:xfrm>
            <a:off x="6608887" y="6349334"/>
            <a:ext cx="3591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Anomaly detection in IoT network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63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Classification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50CB3EF7-2851-1731-1DC2-B2DF8F962765}"/>
              </a:ext>
            </a:extLst>
          </p:cNvPr>
          <p:cNvSpPr txBox="1"/>
          <p:nvPr/>
        </p:nvSpPr>
        <p:spPr>
          <a:xfrm>
            <a:off x="372114" y="1713695"/>
            <a:ext cx="8377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 Example : </a:t>
            </a:r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Handwritten digits recognition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4">
            <a:extLst>
              <a:ext uri="{FF2B5EF4-FFF2-40B4-BE49-F238E27FC236}">
                <a16:creationId xmlns:a16="http://schemas.microsoft.com/office/drawing/2014/main" id="{2ACC12BD-AA26-74DD-0CA8-6349D3D07AC5}"/>
              </a:ext>
            </a:extLst>
          </p:cNvPr>
          <p:cNvSpPr/>
          <p:nvPr/>
        </p:nvSpPr>
        <p:spPr>
          <a:xfrm>
            <a:off x="372114" y="3544831"/>
            <a:ext cx="102367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Handwritten digit recognition has many applications in various fields like zip code recognition.</a:t>
            </a:r>
          </a:p>
        </p:txBody>
      </p:sp>
      <p:pic>
        <p:nvPicPr>
          <p:cNvPr id="4" name="Picture 4" descr="PCA(主成分分析)を使ってモデル構築する(MNISTを分類)【機械学習入門25】">
            <a:extLst>
              <a:ext uri="{FF2B5EF4-FFF2-40B4-BE49-F238E27FC236}">
                <a16:creationId xmlns:a16="http://schemas.microsoft.com/office/drawing/2014/main" id="{E179C7F0-3A8A-FF54-BDF5-BA507E0C1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776" y="2173925"/>
            <a:ext cx="3244845" cy="1342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10">
            <a:extLst>
              <a:ext uri="{FF2B5EF4-FFF2-40B4-BE49-F238E27FC236}">
                <a16:creationId xmlns:a16="http://schemas.microsoft.com/office/drawing/2014/main" id="{93FFE5ED-5093-189D-C5FD-985AF062E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2790" y="5043420"/>
            <a:ext cx="1411986" cy="1429101"/>
          </a:xfrm>
          <a:prstGeom prst="rect">
            <a:avLst/>
          </a:prstGeom>
        </p:spPr>
      </p:pic>
      <p:sp>
        <p:nvSpPr>
          <p:cNvPr id="6" name="箭头: 右 15">
            <a:extLst>
              <a:ext uri="{FF2B5EF4-FFF2-40B4-BE49-F238E27FC236}">
                <a16:creationId xmlns:a16="http://schemas.microsoft.com/office/drawing/2014/main" id="{C2BC6B09-C1D6-06CD-FDC6-4C40E8199B7B}"/>
              </a:ext>
            </a:extLst>
          </p:cNvPr>
          <p:cNvSpPr/>
          <p:nvPr/>
        </p:nvSpPr>
        <p:spPr>
          <a:xfrm>
            <a:off x="3657803" y="5642147"/>
            <a:ext cx="786384" cy="1158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16">
            <a:extLst>
              <a:ext uri="{FF2B5EF4-FFF2-40B4-BE49-F238E27FC236}">
                <a16:creationId xmlns:a16="http://schemas.microsoft.com/office/drawing/2014/main" id="{494CED18-874D-123A-1C7F-C2496509CF53}"/>
              </a:ext>
            </a:extLst>
          </p:cNvPr>
          <p:cNvSpPr/>
          <p:nvPr/>
        </p:nvSpPr>
        <p:spPr>
          <a:xfrm>
            <a:off x="4486407" y="5193574"/>
            <a:ext cx="1865376" cy="1084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ML model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箭头: 右 19">
            <a:extLst>
              <a:ext uri="{FF2B5EF4-FFF2-40B4-BE49-F238E27FC236}">
                <a16:creationId xmlns:a16="http://schemas.microsoft.com/office/drawing/2014/main" id="{39794B5B-728E-AF26-2BC6-BC6A5D6265A4}"/>
              </a:ext>
            </a:extLst>
          </p:cNvPr>
          <p:cNvSpPr/>
          <p:nvPr/>
        </p:nvSpPr>
        <p:spPr>
          <a:xfrm>
            <a:off x="6474619" y="5619811"/>
            <a:ext cx="950059" cy="96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17">
            <a:extLst>
              <a:ext uri="{FF2B5EF4-FFF2-40B4-BE49-F238E27FC236}">
                <a16:creationId xmlns:a16="http://schemas.microsoft.com/office/drawing/2014/main" id="{334DD5FC-45D7-8D1D-A80C-A6E086AF216D}"/>
              </a:ext>
            </a:extLst>
          </p:cNvPr>
          <p:cNvSpPr/>
          <p:nvPr/>
        </p:nvSpPr>
        <p:spPr>
          <a:xfrm>
            <a:off x="3643968" y="5242173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22">
            <a:extLst>
              <a:ext uri="{FF2B5EF4-FFF2-40B4-BE49-F238E27FC236}">
                <a16:creationId xmlns:a16="http://schemas.microsoft.com/office/drawing/2014/main" id="{FE4AD43D-AE0D-E1BB-541F-EC41D6E12836}"/>
              </a:ext>
            </a:extLst>
          </p:cNvPr>
          <p:cNvSpPr/>
          <p:nvPr/>
        </p:nvSpPr>
        <p:spPr>
          <a:xfrm>
            <a:off x="6509419" y="528783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20">
            <a:extLst>
              <a:ext uri="{FF2B5EF4-FFF2-40B4-BE49-F238E27FC236}">
                <a16:creationId xmlns:a16="http://schemas.microsoft.com/office/drawing/2014/main" id="{3F5072E9-AC5E-29C4-1D34-25A5D06B7F4C}"/>
              </a:ext>
            </a:extLst>
          </p:cNvPr>
          <p:cNvSpPr txBox="1"/>
          <p:nvPr/>
        </p:nvSpPr>
        <p:spPr>
          <a:xfrm>
            <a:off x="7542833" y="3958354"/>
            <a:ext cx="353569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0 1 2 3 4 5 6 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8 9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椭圆 2">
            <a:extLst>
              <a:ext uri="{FF2B5EF4-FFF2-40B4-BE49-F238E27FC236}">
                <a16:creationId xmlns:a16="http://schemas.microsoft.com/office/drawing/2014/main" id="{3F0DBD2A-DD0E-B067-CE23-B87BD0393B83}"/>
              </a:ext>
            </a:extLst>
          </p:cNvPr>
          <p:cNvSpPr/>
          <p:nvPr/>
        </p:nvSpPr>
        <p:spPr>
          <a:xfrm>
            <a:off x="7589271" y="5925062"/>
            <a:ext cx="262128" cy="352634"/>
          </a:xfrm>
          <a:prstGeom prst="ellipse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7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/>
      <p:bldP spid="11" grpId="0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Classification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21E1B5AF-2FAD-3448-8014-1D02E8E4DE3B}"/>
              </a:ext>
            </a:extLst>
          </p:cNvPr>
          <p:cNvSpPr txBox="1"/>
          <p:nvPr/>
        </p:nvSpPr>
        <p:spPr>
          <a:xfrm>
            <a:off x="367409" y="1713609"/>
            <a:ext cx="8377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 Example : </a:t>
            </a:r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Handwritten digits recognition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4">
                <a:extLst>
                  <a:ext uri="{FF2B5EF4-FFF2-40B4-BE49-F238E27FC236}">
                    <a16:creationId xmlns:a16="http://schemas.microsoft.com/office/drawing/2014/main" id="{B6F32AE0-F5B2-2318-4A52-ED0A59536AB5}"/>
                  </a:ext>
                </a:extLst>
              </p:cNvPr>
              <p:cNvSpPr/>
              <p:nvPr/>
            </p:nvSpPr>
            <p:spPr>
              <a:xfrm>
                <a:off x="367408" y="2444052"/>
                <a:ext cx="9553201" cy="2332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Given dataset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⋯,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where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matrix that represents the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handwritten digit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label of the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handwritten digit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Learn a function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get the relation between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categorical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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classification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矩形 24">
                <a:extLst>
                  <a:ext uri="{FF2B5EF4-FFF2-40B4-BE49-F238E27FC236}">
                    <a16:creationId xmlns:a16="http://schemas.microsoft.com/office/drawing/2014/main" id="{B6F32AE0-F5B2-2318-4A52-ED0A59536A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08" y="2444052"/>
                <a:ext cx="9553201" cy="2332177"/>
              </a:xfrm>
              <a:prstGeom prst="rect">
                <a:avLst/>
              </a:prstGeom>
              <a:blipFill>
                <a:blip r:embed="rId3"/>
                <a:stretch>
                  <a:fillRect l="-957" t="-1828" b="-4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头: 右 27">
            <a:extLst>
              <a:ext uri="{FF2B5EF4-FFF2-40B4-BE49-F238E27FC236}">
                <a16:creationId xmlns:a16="http://schemas.microsoft.com/office/drawing/2014/main" id="{0EF801F3-2888-C356-259D-1C9A61338A58}"/>
              </a:ext>
            </a:extLst>
          </p:cNvPr>
          <p:cNvSpPr/>
          <p:nvPr/>
        </p:nvSpPr>
        <p:spPr>
          <a:xfrm>
            <a:off x="2633831" y="5587837"/>
            <a:ext cx="786384" cy="1158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28">
            <a:extLst>
              <a:ext uri="{FF2B5EF4-FFF2-40B4-BE49-F238E27FC236}">
                <a16:creationId xmlns:a16="http://schemas.microsoft.com/office/drawing/2014/main" id="{602C1473-0AC5-F5E7-7322-2F532395E34B}"/>
              </a:ext>
            </a:extLst>
          </p:cNvPr>
          <p:cNvSpPr/>
          <p:nvPr/>
        </p:nvSpPr>
        <p:spPr>
          <a:xfrm>
            <a:off x="3462435" y="5139264"/>
            <a:ext cx="1865376" cy="1084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ML model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箭头: 右 29">
            <a:extLst>
              <a:ext uri="{FF2B5EF4-FFF2-40B4-BE49-F238E27FC236}">
                <a16:creationId xmlns:a16="http://schemas.microsoft.com/office/drawing/2014/main" id="{D4FD0E4C-E7AD-A455-D2AA-31CAD368C6F6}"/>
              </a:ext>
            </a:extLst>
          </p:cNvPr>
          <p:cNvSpPr/>
          <p:nvPr/>
        </p:nvSpPr>
        <p:spPr>
          <a:xfrm>
            <a:off x="5450647" y="5565501"/>
            <a:ext cx="950059" cy="96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30">
            <a:extLst>
              <a:ext uri="{FF2B5EF4-FFF2-40B4-BE49-F238E27FC236}">
                <a16:creationId xmlns:a16="http://schemas.microsoft.com/office/drawing/2014/main" id="{2D8E7048-647D-B37C-FCC5-49BB78234C52}"/>
              </a:ext>
            </a:extLst>
          </p:cNvPr>
          <p:cNvSpPr/>
          <p:nvPr/>
        </p:nvSpPr>
        <p:spPr>
          <a:xfrm>
            <a:off x="2619996" y="5187863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31">
            <a:extLst>
              <a:ext uri="{FF2B5EF4-FFF2-40B4-BE49-F238E27FC236}">
                <a16:creationId xmlns:a16="http://schemas.microsoft.com/office/drawing/2014/main" id="{4C4CBBBC-71EB-7F05-568F-50E896EE2518}"/>
              </a:ext>
            </a:extLst>
          </p:cNvPr>
          <p:cNvSpPr/>
          <p:nvPr/>
        </p:nvSpPr>
        <p:spPr>
          <a:xfrm>
            <a:off x="5485447" y="523352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33">
                <a:extLst>
                  <a:ext uri="{FF2B5EF4-FFF2-40B4-BE49-F238E27FC236}">
                    <a16:creationId xmlns:a16="http://schemas.microsoft.com/office/drawing/2014/main" id="{04AADBA1-8F8E-46C8-272F-C4382CD9B0AF}"/>
                  </a:ext>
                </a:extLst>
              </p:cNvPr>
              <p:cNvSpPr txBox="1"/>
              <p:nvPr/>
            </p:nvSpPr>
            <p:spPr>
              <a:xfrm>
                <a:off x="6499408" y="5403171"/>
                <a:ext cx="18922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Prediction on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文本框 33">
                <a:extLst>
                  <a:ext uri="{FF2B5EF4-FFF2-40B4-BE49-F238E27FC236}">
                    <a16:creationId xmlns:a16="http://schemas.microsoft.com/office/drawing/2014/main" id="{04AADBA1-8F8E-46C8-272F-C4382CD9B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408" y="5403171"/>
                <a:ext cx="1892204" cy="400110"/>
              </a:xfrm>
              <a:prstGeom prst="rect">
                <a:avLst/>
              </a:prstGeom>
              <a:blipFill>
                <a:blip r:embed="rId4"/>
                <a:stretch>
                  <a:fillRect l="-3215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25">
                <a:extLst>
                  <a:ext uri="{FF2B5EF4-FFF2-40B4-BE49-F238E27FC236}">
                    <a16:creationId xmlns:a16="http://schemas.microsoft.com/office/drawing/2014/main" id="{BB25A64A-AA77-1D47-9BED-1040122664A2}"/>
                  </a:ext>
                </a:extLst>
              </p:cNvPr>
              <p:cNvSpPr/>
              <p:nvPr/>
            </p:nvSpPr>
            <p:spPr>
              <a:xfrm>
                <a:off x="1980359" y="5372020"/>
                <a:ext cx="4475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矩形 25">
                <a:extLst>
                  <a:ext uri="{FF2B5EF4-FFF2-40B4-BE49-F238E27FC236}">
                    <a16:creationId xmlns:a16="http://schemas.microsoft.com/office/drawing/2014/main" id="{BB25A64A-AA77-1D47-9BED-1040122664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359" y="5372020"/>
                <a:ext cx="44755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02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Supervised Learning: regression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92DAD66-5B6E-5CFD-FACD-AB89A80B9675}"/>
              </a:ext>
            </a:extLst>
          </p:cNvPr>
          <p:cNvSpPr txBox="1"/>
          <p:nvPr/>
        </p:nvSpPr>
        <p:spPr>
          <a:xfrm>
            <a:off x="366342" y="1739846"/>
            <a:ext cx="99626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Regression: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 supervised learning task in which the output is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0">
            <a:extLst>
              <a:ext uri="{FF2B5EF4-FFF2-40B4-BE49-F238E27FC236}">
                <a16:creationId xmlns:a16="http://schemas.microsoft.com/office/drawing/2014/main" id="{B831328D-8346-B138-100A-2642B3F535B6}"/>
              </a:ext>
            </a:extLst>
          </p:cNvPr>
          <p:cNvSpPr txBox="1"/>
          <p:nvPr/>
        </p:nvSpPr>
        <p:spPr>
          <a:xfrm>
            <a:off x="366343" y="2661917"/>
            <a:ext cx="9962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regression examples: financial prediction, traffic accident prediction, etc.  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组合 12">
            <a:extLst>
              <a:ext uri="{FF2B5EF4-FFF2-40B4-BE49-F238E27FC236}">
                <a16:creationId xmlns:a16="http://schemas.microsoft.com/office/drawing/2014/main" id="{2F4B9953-F9E8-C9EA-115C-6A8B60CBD467}"/>
              </a:ext>
            </a:extLst>
          </p:cNvPr>
          <p:cNvGrpSpPr/>
          <p:nvPr/>
        </p:nvGrpSpPr>
        <p:grpSpPr>
          <a:xfrm>
            <a:off x="1567029" y="3351038"/>
            <a:ext cx="4221764" cy="2836306"/>
            <a:chOff x="-155009" y="690105"/>
            <a:chExt cx="9144000" cy="6052705"/>
          </a:xfrm>
        </p:grpSpPr>
        <p:pic>
          <p:nvPicPr>
            <p:cNvPr id="5" name="图片 13">
              <a:extLst>
                <a:ext uri="{FF2B5EF4-FFF2-40B4-BE49-F238E27FC236}">
                  <a16:creationId xmlns:a16="http://schemas.microsoft.com/office/drawing/2014/main" id="{0377D2AC-3429-EAA7-DAED-10476BA8C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55009" y="690105"/>
              <a:ext cx="9144000" cy="6052705"/>
            </a:xfrm>
            <a:prstGeom prst="rect">
              <a:avLst/>
            </a:prstGeom>
          </p:spPr>
        </p:pic>
        <p:cxnSp>
          <p:nvCxnSpPr>
            <p:cNvPr id="6" name="直接连接符 14">
              <a:extLst>
                <a:ext uri="{FF2B5EF4-FFF2-40B4-BE49-F238E27FC236}">
                  <a16:creationId xmlns:a16="http://schemas.microsoft.com/office/drawing/2014/main" id="{850D09F9-659A-0361-2389-362589E1F094}"/>
                </a:ext>
              </a:extLst>
            </p:cNvPr>
            <p:cNvCxnSpPr/>
            <p:nvPr/>
          </p:nvCxnSpPr>
          <p:spPr>
            <a:xfrm flipV="1">
              <a:off x="1493520" y="1181100"/>
              <a:ext cx="6975350" cy="4705408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7">
            <a:extLst>
              <a:ext uri="{FF2B5EF4-FFF2-40B4-BE49-F238E27FC236}">
                <a16:creationId xmlns:a16="http://schemas.microsoft.com/office/drawing/2014/main" id="{9ED551CA-DD51-FE2B-8245-10F0C921ECC4}"/>
              </a:ext>
            </a:extLst>
          </p:cNvPr>
          <p:cNvSpPr/>
          <p:nvPr/>
        </p:nvSpPr>
        <p:spPr>
          <a:xfrm>
            <a:off x="3060514" y="6278418"/>
            <a:ext cx="2095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financial prediction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A88513-8641-5774-925A-57D1B5945C2C}"/>
              </a:ext>
            </a:extLst>
          </p:cNvPr>
          <p:cNvSpPr/>
          <p:nvPr/>
        </p:nvSpPr>
        <p:spPr>
          <a:xfrm>
            <a:off x="6664689" y="6266107"/>
            <a:ext cx="32444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traffic accident prediction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B76E62A-72D5-745F-A66A-F2C7C87E1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269" y="3375370"/>
            <a:ext cx="3606662" cy="281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11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Regression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00FB0A97-838D-8229-7495-A10C4A5CCD12}"/>
              </a:ext>
            </a:extLst>
          </p:cNvPr>
          <p:cNvSpPr txBox="1"/>
          <p:nvPr/>
        </p:nvSpPr>
        <p:spPr>
          <a:xfrm>
            <a:off x="374206" y="1718686"/>
            <a:ext cx="8377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inancial prediction problem description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8">
            <a:extLst>
              <a:ext uri="{FF2B5EF4-FFF2-40B4-BE49-F238E27FC236}">
                <a16:creationId xmlns:a16="http://schemas.microsoft.com/office/drawing/2014/main" id="{33F0E67E-0C45-014F-CCE6-A6AD2E658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816" y="3429000"/>
            <a:ext cx="5226363" cy="3322362"/>
          </a:xfrm>
          <a:prstGeom prst="rect">
            <a:avLst/>
          </a:prstGeom>
        </p:spPr>
      </p:pic>
      <p:sp>
        <p:nvSpPr>
          <p:cNvPr id="4" name="文本框 10">
            <a:extLst>
              <a:ext uri="{FF2B5EF4-FFF2-40B4-BE49-F238E27FC236}">
                <a16:creationId xmlns:a16="http://schemas.microsoft.com/office/drawing/2014/main" id="{A90B496A-071A-6EDA-55BD-E71C05717E32}"/>
              </a:ext>
            </a:extLst>
          </p:cNvPr>
          <p:cNvSpPr txBox="1"/>
          <p:nvPr/>
        </p:nvSpPr>
        <p:spPr>
          <a:xfrm>
            <a:off x="374205" y="2175801"/>
            <a:ext cx="11317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Given R&amp;D spend, administration spend, the marketing spend, and the location (state) of a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How much profit can the company expect to make?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78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Regression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0ADCFA18-19C9-A637-4512-7BE26F09EED0}"/>
              </a:ext>
            </a:extLst>
          </p:cNvPr>
          <p:cNvSpPr txBox="1"/>
          <p:nvPr/>
        </p:nvSpPr>
        <p:spPr>
          <a:xfrm>
            <a:off x="378930" y="1715496"/>
            <a:ext cx="8377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Regression Example: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Financial prediction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4">
                <a:extLst>
                  <a:ext uri="{FF2B5EF4-FFF2-40B4-BE49-F238E27FC236}">
                    <a16:creationId xmlns:a16="http://schemas.microsoft.com/office/drawing/2014/main" id="{893032A8-3BC3-1D0F-2BC9-D4B382537010}"/>
                  </a:ext>
                </a:extLst>
              </p:cNvPr>
              <p:cNvSpPr/>
              <p:nvPr/>
            </p:nvSpPr>
            <p:spPr>
              <a:xfrm>
                <a:off x="378930" y="2293689"/>
                <a:ext cx="11508629" cy="22706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Given dataset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 ⋯,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where</a:t>
                </a:r>
              </a:p>
              <a:p>
                <a:pPr marL="0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(R&amp;D spend, administration, marketing spend, location)  of the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company</a:t>
                </a:r>
              </a:p>
              <a:p>
                <a:pPr marL="0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profit of the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company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Learn a function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predict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given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continuous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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regression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矩形 24">
                <a:extLst>
                  <a:ext uri="{FF2B5EF4-FFF2-40B4-BE49-F238E27FC236}">
                    <a16:creationId xmlns:a16="http://schemas.microsoft.com/office/drawing/2014/main" id="{893032A8-3BC3-1D0F-2BC9-D4B382537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30" y="2293689"/>
                <a:ext cx="11508629" cy="2270622"/>
              </a:xfrm>
              <a:prstGeom prst="rect">
                <a:avLst/>
              </a:prstGeom>
              <a:blipFill>
                <a:blip r:embed="rId3"/>
                <a:stretch>
                  <a:fillRect l="-794" t="-1877" b="-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10">
            <a:extLst>
              <a:ext uri="{FF2B5EF4-FFF2-40B4-BE49-F238E27FC236}">
                <a16:creationId xmlns:a16="http://schemas.microsoft.com/office/drawing/2014/main" id="{F60EE2E6-BD25-CED4-672F-BD466D31257A}"/>
              </a:ext>
            </a:extLst>
          </p:cNvPr>
          <p:cNvGrpSpPr/>
          <p:nvPr/>
        </p:nvGrpSpPr>
        <p:grpSpPr>
          <a:xfrm>
            <a:off x="7369156" y="3680926"/>
            <a:ext cx="3920107" cy="2853585"/>
            <a:chOff x="-155009" y="690105"/>
            <a:chExt cx="9144000" cy="605270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EF9A4C4-C952-5900-7A6E-F485F485A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55009" y="690105"/>
              <a:ext cx="9144000" cy="6052705"/>
            </a:xfrm>
            <a:prstGeom prst="rect">
              <a:avLst/>
            </a:prstGeom>
          </p:spPr>
        </p:pic>
        <p:cxnSp>
          <p:nvCxnSpPr>
            <p:cNvPr id="6" name="直接连接符 9">
              <a:extLst>
                <a:ext uri="{FF2B5EF4-FFF2-40B4-BE49-F238E27FC236}">
                  <a16:creationId xmlns:a16="http://schemas.microsoft.com/office/drawing/2014/main" id="{DFBB1DC4-0D20-C186-D6FE-FFC89DDD8B34}"/>
                </a:ext>
              </a:extLst>
            </p:cNvPr>
            <p:cNvCxnSpPr/>
            <p:nvPr/>
          </p:nvCxnSpPr>
          <p:spPr>
            <a:xfrm flipV="1">
              <a:off x="1493520" y="1181100"/>
              <a:ext cx="6975350" cy="470540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785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Semi-supervised Learning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6EA59295-1AB1-9129-1F20-3669B9E8A243}"/>
              </a:ext>
            </a:extLst>
          </p:cNvPr>
          <p:cNvSpPr txBox="1"/>
          <p:nvPr/>
        </p:nvSpPr>
        <p:spPr>
          <a:xfrm>
            <a:off x="416254" y="1606681"/>
            <a:ext cx="1049123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 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Semi-Supervised Learning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the model is trained by the dataset with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few labeled data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lot of unlabeled data</a:t>
            </a:r>
          </a:p>
        </p:txBody>
      </p:sp>
      <p:grpSp>
        <p:nvGrpSpPr>
          <p:cNvPr id="3" name="组合 4">
            <a:extLst>
              <a:ext uri="{FF2B5EF4-FFF2-40B4-BE49-F238E27FC236}">
                <a16:creationId xmlns:a16="http://schemas.microsoft.com/office/drawing/2014/main" id="{0F550810-5E54-CED3-22C2-BD9BD48F3CA0}"/>
              </a:ext>
            </a:extLst>
          </p:cNvPr>
          <p:cNvGrpSpPr/>
          <p:nvPr/>
        </p:nvGrpSpPr>
        <p:grpSpPr>
          <a:xfrm>
            <a:off x="4898918" y="2849600"/>
            <a:ext cx="632729" cy="583423"/>
            <a:chOff x="3144759" y="2364664"/>
            <a:chExt cx="632729" cy="583423"/>
          </a:xfrm>
        </p:grpSpPr>
        <p:sp>
          <p:nvSpPr>
            <p:cNvPr id="4" name="椭圆 2">
              <a:extLst>
                <a:ext uri="{FF2B5EF4-FFF2-40B4-BE49-F238E27FC236}">
                  <a16:creationId xmlns:a16="http://schemas.microsoft.com/office/drawing/2014/main" id="{4AF128CF-7002-8AB1-BD60-80AC701633B3}"/>
                </a:ext>
              </a:extLst>
            </p:cNvPr>
            <p:cNvSpPr/>
            <p:nvPr/>
          </p:nvSpPr>
          <p:spPr>
            <a:xfrm>
              <a:off x="3144759" y="2368688"/>
              <a:ext cx="134517" cy="120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椭圆 8">
              <a:extLst>
                <a:ext uri="{FF2B5EF4-FFF2-40B4-BE49-F238E27FC236}">
                  <a16:creationId xmlns:a16="http://schemas.microsoft.com/office/drawing/2014/main" id="{29023AA8-326D-9D44-E7C3-B1425420F587}"/>
                </a:ext>
              </a:extLst>
            </p:cNvPr>
            <p:cNvSpPr/>
            <p:nvPr/>
          </p:nvSpPr>
          <p:spPr>
            <a:xfrm>
              <a:off x="3393865" y="2365474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椭圆 9">
              <a:extLst>
                <a:ext uri="{FF2B5EF4-FFF2-40B4-BE49-F238E27FC236}">
                  <a16:creationId xmlns:a16="http://schemas.microsoft.com/office/drawing/2014/main" id="{8BE1C39E-6A17-AF99-2667-038B22B1DCF2}"/>
                </a:ext>
              </a:extLst>
            </p:cNvPr>
            <p:cNvSpPr/>
            <p:nvPr/>
          </p:nvSpPr>
          <p:spPr>
            <a:xfrm>
              <a:off x="3642971" y="2364664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椭圆 11">
              <a:extLst>
                <a:ext uri="{FF2B5EF4-FFF2-40B4-BE49-F238E27FC236}">
                  <a16:creationId xmlns:a16="http://schemas.microsoft.com/office/drawing/2014/main" id="{9C077395-22A3-2150-BF13-3D1008E519AD}"/>
                </a:ext>
              </a:extLst>
            </p:cNvPr>
            <p:cNvSpPr/>
            <p:nvPr/>
          </p:nvSpPr>
          <p:spPr>
            <a:xfrm>
              <a:off x="3144759" y="2595317"/>
              <a:ext cx="134517" cy="120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12">
              <a:extLst>
                <a:ext uri="{FF2B5EF4-FFF2-40B4-BE49-F238E27FC236}">
                  <a16:creationId xmlns:a16="http://schemas.microsoft.com/office/drawing/2014/main" id="{0D96F25B-252F-E502-ED20-72105E4D6CF6}"/>
                </a:ext>
              </a:extLst>
            </p:cNvPr>
            <p:cNvSpPr/>
            <p:nvPr/>
          </p:nvSpPr>
          <p:spPr>
            <a:xfrm>
              <a:off x="3393865" y="2592104"/>
              <a:ext cx="134517" cy="120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13">
              <a:extLst>
                <a:ext uri="{FF2B5EF4-FFF2-40B4-BE49-F238E27FC236}">
                  <a16:creationId xmlns:a16="http://schemas.microsoft.com/office/drawing/2014/main" id="{F32ECD97-2CFD-0ECB-0549-32E28D7A548E}"/>
                </a:ext>
              </a:extLst>
            </p:cNvPr>
            <p:cNvSpPr/>
            <p:nvPr/>
          </p:nvSpPr>
          <p:spPr>
            <a:xfrm>
              <a:off x="3642971" y="2591294"/>
              <a:ext cx="134517" cy="120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15">
              <a:extLst>
                <a:ext uri="{FF2B5EF4-FFF2-40B4-BE49-F238E27FC236}">
                  <a16:creationId xmlns:a16="http://schemas.microsoft.com/office/drawing/2014/main" id="{7DDDA926-5102-D433-6B9D-D4990C65FBB7}"/>
                </a:ext>
              </a:extLst>
            </p:cNvPr>
            <p:cNvSpPr/>
            <p:nvPr/>
          </p:nvSpPr>
          <p:spPr>
            <a:xfrm>
              <a:off x="3144759" y="2828058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16">
              <a:extLst>
                <a:ext uri="{FF2B5EF4-FFF2-40B4-BE49-F238E27FC236}">
                  <a16:creationId xmlns:a16="http://schemas.microsoft.com/office/drawing/2014/main" id="{8B6C8DF0-CB70-40D8-3344-F17554C2D7B7}"/>
                </a:ext>
              </a:extLst>
            </p:cNvPr>
            <p:cNvSpPr/>
            <p:nvPr/>
          </p:nvSpPr>
          <p:spPr>
            <a:xfrm>
              <a:off x="3393865" y="2824844"/>
              <a:ext cx="134517" cy="120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17">
              <a:extLst>
                <a:ext uri="{FF2B5EF4-FFF2-40B4-BE49-F238E27FC236}">
                  <a16:creationId xmlns:a16="http://schemas.microsoft.com/office/drawing/2014/main" id="{E3B5D523-E174-FA27-CABD-C90E243BFCC8}"/>
                </a:ext>
              </a:extLst>
            </p:cNvPr>
            <p:cNvSpPr/>
            <p:nvPr/>
          </p:nvSpPr>
          <p:spPr>
            <a:xfrm>
              <a:off x="3642971" y="2824034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文本框 24">
            <a:extLst>
              <a:ext uri="{FF2B5EF4-FFF2-40B4-BE49-F238E27FC236}">
                <a16:creationId xmlns:a16="http://schemas.microsoft.com/office/drawing/2014/main" id="{03468D51-9709-61C3-DCEA-999237857C6F}"/>
              </a:ext>
            </a:extLst>
          </p:cNvPr>
          <p:cNvSpPr txBox="1"/>
          <p:nvPr/>
        </p:nvSpPr>
        <p:spPr>
          <a:xfrm>
            <a:off x="2995831" y="3004683"/>
            <a:ext cx="2135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labeled data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26">
            <a:extLst>
              <a:ext uri="{FF2B5EF4-FFF2-40B4-BE49-F238E27FC236}">
                <a16:creationId xmlns:a16="http://schemas.microsoft.com/office/drawing/2014/main" id="{5D24258E-6F24-7B5D-1673-172DB2899209}"/>
              </a:ext>
            </a:extLst>
          </p:cNvPr>
          <p:cNvSpPr/>
          <p:nvPr/>
        </p:nvSpPr>
        <p:spPr>
          <a:xfrm>
            <a:off x="7451125" y="2892736"/>
            <a:ext cx="1274760" cy="536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27">
            <a:extLst>
              <a:ext uri="{FF2B5EF4-FFF2-40B4-BE49-F238E27FC236}">
                <a16:creationId xmlns:a16="http://schemas.microsoft.com/office/drawing/2014/main" id="{0627D234-5588-4B45-B368-A88AB9FA89C6}"/>
              </a:ext>
            </a:extLst>
          </p:cNvPr>
          <p:cNvSpPr txBox="1"/>
          <p:nvPr/>
        </p:nvSpPr>
        <p:spPr>
          <a:xfrm>
            <a:off x="6049064" y="2768219"/>
            <a:ext cx="1167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 train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组合 98">
            <a:extLst>
              <a:ext uri="{FF2B5EF4-FFF2-40B4-BE49-F238E27FC236}">
                <a16:creationId xmlns:a16="http://schemas.microsoft.com/office/drawing/2014/main" id="{AC3ECB29-A414-B4CF-5DDD-AC66804DA4C4}"/>
              </a:ext>
            </a:extLst>
          </p:cNvPr>
          <p:cNvGrpSpPr/>
          <p:nvPr/>
        </p:nvGrpSpPr>
        <p:grpSpPr>
          <a:xfrm>
            <a:off x="4911328" y="3866527"/>
            <a:ext cx="597266" cy="610453"/>
            <a:chOff x="1734769" y="3783791"/>
            <a:chExt cx="597266" cy="610453"/>
          </a:xfrm>
        </p:grpSpPr>
        <p:sp>
          <p:nvSpPr>
            <p:cNvPr id="18" name="椭圆 29">
              <a:extLst>
                <a:ext uri="{FF2B5EF4-FFF2-40B4-BE49-F238E27FC236}">
                  <a16:creationId xmlns:a16="http://schemas.microsoft.com/office/drawing/2014/main" id="{4FA5C27B-71D3-CE79-ADB3-23FCEE43E2F7}"/>
                </a:ext>
              </a:extLst>
            </p:cNvPr>
            <p:cNvSpPr/>
            <p:nvPr/>
          </p:nvSpPr>
          <p:spPr>
            <a:xfrm>
              <a:off x="1734769" y="3788001"/>
              <a:ext cx="126978" cy="12559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椭圆 30">
              <a:extLst>
                <a:ext uri="{FF2B5EF4-FFF2-40B4-BE49-F238E27FC236}">
                  <a16:creationId xmlns:a16="http://schemas.microsoft.com/office/drawing/2014/main" id="{F63CF432-B367-2FE4-1D78-B3F8D74A090B}"/>
                </a:ext>
              </a:extLst>
            </p:cNvPr>
            <p:cNvSpPr/>
            <p:nvPr/>
          </p:nvSpPr>
          <p:spPr>
            <a:xfrm>
              <a:off x="1969913" y="3784638"/>
              <a:ext cx="126978" cy="12559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椭圆 31">
              <a:extLst>
                <a:ext uri="{FF2B5EF4-FFF2-40B4-BE49-F238E27FC236}">
                  <a16:creationId xmlns:a16="http://schemas.microsoft.com/office/drawing/2014/main" id="{E4E8C12E-E651-E9D2-F2BC-8A12B6EC0678}"/>
                </a:ext>
              </a:extLst>
            </p:cNvPr>
            <p:cNvSpPr/>
            <p:nvPr/>
          </p:nvSpPr>
          <p:spPr>
            <a:xfrm>
              <a:off x="2205057" y="3783791"/>
              <a:ext cx="126978" cy="12559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椭圆 33">
              <a:extLst>
                <a:ext uri="{FF2B5EF4-FFF2-40B4-BE49-F238E27FC236}">
                  <a16:creationId xmlns:a16="http://schemas.microsoft.com/office/drawing/2014/main" id="{365C079F-24AD-3F48-5950-13D317D9AC3C}"/>
                </a:ext>
              </a:extLst>
            </p:cNvPr>
            <p:cNvSpPr/>
            <p:nvPr/>
          </p:nvSpPr>
          <p:spPr>
            <a:xfrm>
              <a:off x="1734769" y="4025131"/>
              <a:ext cx="126978" cy="12559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椭圆 34">
              <a:extLst>
                <a:ext uri="{FF2B5EF4-FFF2-40B4-BE49-F238E27FC236}">
                  <a16:creationId xmlns:a16="http://schemas.microsoft.com/office/drawing/2014/main" id="{D77355BF-A3F3-DFBB-06C5-9FBC36E55355}"/>
                </a:ext>
              </a:extLst>
            </p:cNvPr>
            <p:cNvSpPr/>
            <p:nvPr/>
          </p:nvSpPr>
          <p:spPr>
            <a:xfrm>
              <a:off x="1969913" y="4021768"/>
              <a:ext cx="126978" cy="12559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椭圆 35">
              <a:extLst>
                <a:ext uri="{FF2B5EF4-FFF2-40B4-BE49-F238E27FC236}">
                  <a16:creationId xmlns:a16="http://schemas.microsoft.com/office/drawing/2014/main" id="{75CAADF1-4C3A-0C98-9D45-1EC5D8CE1BD3}"/>
                </a:ext>
              </a:extLst>
            </p:cNvPr>
            <p:cNvSpPr/>
            <p:nvPr/>
          </p:nvSpPr>
          <p:spPr>
            <a:xfrm>
              <a:off x="2205057" y="4020921"/>
              <a:ext cx="126978" cy="12559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椭圆 37">
              <a:extLst>
                <a:ext uri="{FF2B5EF4-FFF2-40B4-BE49-F238E27FC236}">
                  <a16:creationId xmlns:a16="http://schemas.microsoft.com/office/drawing/2014/main" id="{408F45AC-18D2-38FB-A2B4-782CFC7343B2}"/>
                </a:ext>
              </a:extLst>
            </p:cNvPr>
            <p:cNvSpPr/>
            <p:nvPr/>
          </p:nvSpPr>
          <p:spPr>
            <a:xfrm>
              <a:off x="1734769" y="4268654"/>
              <a:ext cx="126978" cy="12559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椭圆 38">
              <a:extLst>
                <a:ext uri="{FF2B5EF4-FFF2-40B4-BE49-F238E27FC236}">
                  <a16:creationId xmlns:a16="http://schemas.microsoft.com/office/drawing/2014/main" id="{EC776779-9B9F-4D92-5D1C-6ADE4F8C1BB5}"/>
                </a:ext>
              </a:extLst>
            </p:cNvPr>
            <p:cNvSpPr/>
            <p:nvPr/>
          </p:nvSpPr>
          <p:spPr>
            <a:xfrm>
              <a:off x="1969913" y="4265292"/>
              <a:ext cx="126978" cy="12559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椭圆 39">
              <a:extLst>
                <a:ext uri="{FF2B5EF4-FFF2-40B4-BE49-F238E27FC236}">
                  <a16:creationId xmlns:a16="http://schemas.microsoft.com/office/drawing/2014/main" id="{9264A4DF-FAED-C0E3-BA17-0B48463C4F22}"/>
                </a:ext>
              </a:extLst>
            </p:cNvPr>
            <p:cNvSpPr/>
            <p:nvPr/>
          </p:nvSpPr>
          <p:spPr>
            <a:xfrm>
              <a:off x="2205057" y="4264444"/>
              <a:ext cx="126978" cy="12559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文本框 45">
            <a:extLst>
              <a:ext uri="{FF2B5EF4-FFF2-40B4-BE49-F238E27FC236}">
                <a16:creationId xmlns:a16="http://schemas.microsoft.com/office/drawing/2014/main" id="{803AF048-894E-1F59-48F4-0DD4AEB7B820}"/>
              </a:ext>
            </a:extLst>
          </p:cNvPr>
          <p:cNvSpPr txBox="1"/>
          <p:nvPr/>
        </p:nvSpPr>
        <p:spPr>
          <a:xfrm>
            <a:off x="2682563" y="3930576"/>
            <a:ext cx="2254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unlabeled data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直接箭头连接符 49">
            <a:extLst>
              <a:ext uri="{FF2B5EF4-FFF2-40B4-BE49-F238E27FC236}">
                <a16:creationId xmlns:a16="http://schemas.microsoft.com/office/drawing/2014/main" id="{D297795A-0A18-EEB7-E559-E72EF1388CF6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676478" y="3025366"/>
            <a:ext cx="1774647" cy="1355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50">
            <a:extLst>
              <a:ext uri="{FF2B5EF4-FFF2-40B4-BE49-F238E27FC236}">
                <a16:creationId xmlns:a16="http://schemas.microsoft.com/office/drawing/2014/main" id="{D0CECE24-0A77-D998-F6D6-04BB433668F9}"/>
              </a:ext>
            </a:extLst>
          </p:cNvPr>
          <p:cNvCxnSpPr>
            <a:cxnSpLocks/>
          </p:cNvCxnSpPr>
          <p:nvPr/>
        </p:nvCxnSpPr>
        <p:spPr>
          <a:xfrm flipH="1">
            <a:off x="5574029" y="3368984"/>
            <a:ext cx="1868005" cy="8145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53">
            <a:extLst>
              <a:ext uri="{FF2B5EF4-FFF2-40B4-BE49-F238E27FC236}">
                <a16:creationId xmlns:a16="http://schemas.microsoft.com/office/drawing/2014/main" id="{66531107-AFAE-0E65-02A6-2DBD998EC393}"/>
              </a:ext>
            </a:extLst>
          </p:cNvPr>
          <p:cNvSpPr txBox="1"/>
          <p:nvPr/>
        </p:nvSpPr>
        <p:spPr>
          <a:xfrm>
            <a:off x="6163340" y="3798818"/>
            <a:ext cx="1522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2. predict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组合 10">
            <a:extLst>
              <a:ext uri="{FF2B5EF4-FFF2-40B4-BE49-F238E27FC236}">
                <a16:creationId xmlns:a16="http://schemas.microsoft.com/office/drawing/2014/main" id="{4DD13FE0-63CE-1292-4182-EF8472EA233A}"/>
              </a:ext>
            </a:extLst>
          </p:cNvPr>
          <p:cNvGrpSpPr/>
          <p:nvPr/>
        </p:nvGrpSpPr>
        <p:grpSpPr>
          <a:xfrm>
            <a:off x="4919568" y="5406612"/>
            <a:ext cx="632729" cy="583423"/>
            <a:chOff x="3165409" y="4921676"/>
            <a:chExt cx="632729" cy="583423"/>
          </a:xfrm>
        </p:grpSpPr>
        <p:sp>
          <p:nvSpPr>
            <p:cNvPr id="32" name="椭圆 62">
              <a:extLst>
                <a:ext uri="{FF2B5EF4-FFF2-40B4-BE49-F238E27FC236}">
                  <a16:creationId xmlns:a16="http://schemas.microsoft.com/office/drawing/2014/main" id="{9C2ABF99-B2C4-BCBC-0B82-295FAEDEB2FB}"/>
                </a:ext>
              </a:extLst>
            </p:cNvPr>
            <p:cNvSpPr/>
            <p:nvPr/>
          </p:nvSpPr>
          <p:spPr>
            <a:xfrm>
              <a:off x="3165409" y="4925700"/>
              <a:ext cx="134517" cy="120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椭圆 63">
              <a:extLst>
                <a:ext uri="{FF2B5EF4-FFF2-40B4-BE49-F238E27FC236}">
                  <a16:creationId xmlns:a16="http://schemas.microsoft.com/office/drawing/2014/main" id="{033419AE-97B5-7177-7848-97E01B5FF8B2}"/>
                </a:ext>
              </a:extLst>
            </p:cNvPr>
            <p:cNvSpPr/>
            <p:nvPr/>
          </p:nvSpPr>
          <p:spPr>
            <a:xfrm>
              <a:off x="3414515" y="4922486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椭圆 64">
              <a:extLst>
                <a:ext uri="{FF2B5EF4-FFF2-40B4-BE49-F238E27FC236}">
                  <a16:creationId xmlns:a16="http://schemas.microsoft.com/office/drawing/2014/main" id="{B63D54A4-C2E8-D8BD-300A-D8B45426AA94}"/>
                </a:ext>
              </a:extLst>
            </p:cNvPr>
            <p:cNvSpPr/>
            <p:nvPr/>
          </p:nvSpPr>
          <p:spPr>
            <a:xfrm>
              <a:off x="3663621" y="4921676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椭圆 66">
              <a:extLst>
                <a:ext uri="{FF2B5EF4-FFF2-40B4-BE49-F238E27FC236}">
                  <a16:creationId xmlns:a16="http://schemas.microsoft.com/office/drawing/2014/main" id="{E3F5A9E7-7613-4055-67D6-FE4064DBD416}"/>
                </a:ext>
              </a:extLst>
            </p:cNvPr>
            <p:cNvSpPr/>
            <p:nvPr/>
          </p:nvSpPr>
          <p:spPr>
            <a:xfrm>
              <a:off x="3165409" y="5152329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椭圆 67">
              <a:extLst>
                <a:ext uri="{FF2B5EF4-FFF2-40B4-BE49-F238E27FC236}">
                  <a16:creationId xmlns:a16="http://schemas.microsoft.com/office/drawing/2014/main" id="{80B40852-7ACC-ACEE-6E45-BE771E74A12F}"/>
                </a:ext>
              </a:extLst>
            </p:cNvPr>
            <p:cNvSpPr/>
            <p:nvPr/>
          </p:nvSpPr>
          <p:spPr>
            <a:xfrm>
              <a:off x="3414515" y="5149116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椭圆 68">
              <a:extLst>
                <a:ext uri="{FF2B5EF4-FFF2-40B4-BE49-F238E27FC236}">
                  <a16:creationId xmlns:a16="http://schemas.microsoft.com/office/drawing/2014/main" id="{2E285347-6D65-91C6-E666-60DC58421A22}"/>
                </a:ext>
              </a:extLst>
            </p:cNvPr>
            <p:cNvSpPr/>
            <p:nvPr/>
          </p:nvSpPr>
          <p:spPr>
            <a:xfrm>
              <a:off x="3663621" y="5148306"/>
              <a:ext cx="134517" cy="120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椭圆 70">
              <a:extLst>
                <a:ext uri="{FF2B5EF4-FFF2-40B4-BE49-F238E27FC236}">
                  <a16:creationId xmlns:a16="http://schemas.microsoft.com/office/drawing/2014/main" id="{3A72E62A-0706-77C0-B154-A3BD136A6301}"/>
                </a:ext>
              </a:extLst>
            </p:cNvPr>
            <p:cNvSpPr/>
            <p:nvPr/>
          </p:nvSpPr>
          <p:spPr>
            <a:xfrm>
              <a:off x="3165409" y="5385070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椭圆 71">
              <a:extLst>
                <a:ext uri="{FF2B5EF4-FFF2-40B4-BE49-F238E27FC236}">
                  <a16:creationId xmlns:a16="http://schemas.microsoft.com/office/drawing/2014/main" id="{128A124F-A6EB-C80B-EDB2-E57E7576224C}"/>
                </a:ext>
              </a:extLst>
            </p:cNvPr>
            <p:cNvSpPr/>
            <p:nvPr/>
          </p:nvSpPr>
          <p:spPr>
            <a:xfrm>
              <a:off x="3414515" y="5381856"/>
              <a:ext cx="134517" cy="120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椭圆 72">
              <a:extLst>
                <a:ext uri="{FF2B5EF4-FFF2-40B4-BE49-F238E27FC236}">
                  <a16:creationId xmlns:a16="http://schemas.microsoft.com/office/drawing/2014/main" id="{86243528-0A93-3FE2-3488-C40D10CBD725}"/>
                </a:ext>
              </a:extLst>
            </p:cNvPr>
            <p:cNvSpPr/>
            <p:nvPr/>
          </p:nvSpPr>
          <p:spPr>
            <a:xfrm>
              <a:off x="3663621" y="5381046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" name="文本框 78">
            <a:extLst>
              <a:ext uri="{FF2B5EF4-FFF2-40B4-BE49-F238E27FC236}">
                <a16:creationId xmlns:a16="http://schemas.microsoft.com/office/drawing/2014/main" id="{83B3B6C7-0B85-9EA9-B834-1BA46447107E}"/>
              </a:ext>
            </a:extLst>
          </p:cNvPr>
          <p:cNvSpPr txBox="1"/>
          <p:nvPr/>
        </p:nvSpPr>
        <p:spPr>
          <a:xfrm>
            <a:off x="1531476" y="4997853"/>
            <a:ext cx="4297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predicted pseudo-labeled data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116">
            <a:extLst>
              <a:ext uri="{FF2B5EF4-FFF2-40B4-BE49-F238E27FC236}">
                <a16:creationId xmlns:a16="http://schemas.microsoft.com/office/drawing/2014/main" id="{6F8ECB41-E09E-04B7-CCC3-2C1CD9D0634A}"/>
              </a:ext>
            </a:extLst>
          </p:cNvPr>
          <p:cNvSpPr txBox="1"/>
          <p:nvPr/>
        </p:nvSpPr>
        <p:spPr>
          <a:xfrm>
            <a:off x="7468184" y="4944947"/>
            <a:ext cx="20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labeled data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组合 7">
            <a:extLst>
              <a:ext uri="{FF2B5EF4-FFF2-40B4-BE49-F238E27FC236}">
                <a16:creationId xmlns:a16="http://schemas.microsoft.com/office/drawing/2014/main" id="{0FF9B512-108C-DACE-0299-6283175654D1}"/>
              </a:ext>
            </a:extLst>
          </p:cNvPr>
          <p:cNvGrpSpPr/>
          <p:nvPr/>
        </p:nvGrpSpPr>
        <p:grpSpPr>
          <a:xfrm>
            <a:off x="7551051" y="5388975"/>
            <a:ext cx="637166" cy="607870"/>
            <a:chOff x="5796892" y="4904039"/>
            <a:chExt cx="637166" cy="607870"/>
          </a:xfrm>
        </p:grpSpPr>
        <p:sp>
          <p:nvSpPr>
            <p:cNvPr id="44" name="椭圆 110">
              <a:extLst>
                <a:ext uri="{FF2B5EF4-FFF2-40B4-BE49-F238E27FC236}">
                  <a16:creationId xmlns:a16="http://schemas.microsoft.com/office/drawing/2014/main" id="{5AEF86AC-73F1-0C32-AA31-E3EFE4901E2F}"/>
                </a:ext>
              </a:extLst>
            </p:cNvPr>
            <p:cNvSpPr/>
            <p:nvPr/>
          </p:nvSpPr>
          <p:spPr>
            <a:xfrm>
              <a:off x="5801329" y="4908063"/>
              <a:ext cx="134517" cy="120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椭圆 111">
              <a:extLst>
                <a:ext uri="{FF2B5EF4-FFF2-40B4-BE49-F238E27FC236}">
                  <a16:creationId xmlns:a16="http://schemas.microsoft.com/office/drawing/2014/main" id="{6DFEC128-AB40-478D-3F31-EDE5DCADD22F}"/>
                </a:ext>
              </a:extLst>
            </p:cNvPr>
            <p:cNvSpPr/>
            <p:nvPr/>
          </p:nvSpPr>
          <p:spPr>
            <a:xfrm>
              <a:off x="6050435" y="4904849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椭圆 112">
              <a:extLst>
                <a:ext uri="{FF2B5EF4-FFF2-40B4-BE49-F238E27FC236}">
                  <a16:creationId xmlns:a16="http://schemas.microsoft.com/office/drawing/2014/main" id="{C56B1EA6-64F1-8CAA-E863-14D8A090913C}"/>
                </a:ext>
              </a:extLst>
            </p:cNvPr>
            <p:cNvSpPr/>
            <p:nvPr/>
          </p:nvSpPr>
          <p:spPr>
            <a:xfrm>
              <a:off x="6299541" y="4904039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椭圆 113">
              <a:extLst>
                <a:ext uri="{FF2B5EF4-FFF2-40B4-BE49-F238E27FC236}">
                  <a16:creationId xmlns:a16="http://schemas.microsoft.com/office/drawing/2014/main" id="{7F09932B-2ECC-C7C9-BB32-01F3A0D0E791}"/>
                </a:ext>
              </a:extLst>
            </p:cNvPr>
            <p:cNvSpPr/>
            <p:nvPr/>
          </p:nvSpPr>
          <p:spPr>
            <a:xfrm>
              <a:off x="5801329" y="5134692"/>
              <a:ext cx="134517" cy="120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椭圆 114">
              <a:extLst>
                <a:ext uri="{FF2B5EF4-FFF2-40B4-BE49-F238E27FC236}">
                  <a16:creationId xmlns:a16="http://schemas.microsoft.com/office/drawing/2014/main" id="{4743737F-E8C4-CB24-CDD2-C764C85B901C}"/>
                </a:ext>
              </a:extLst>
            </p:cNvPr>
            <p:cNvSpPr/>
            <p:nvPr/>
          </p:nvSpPr>
          <p:spPr>
            <a:xfrm>
              <a:off x="6050435" y="5131479"/>
              <a:ext cx="134517" cy="120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椭圆 115">
              <a:extLst>
                <a:ext uri="{FF2B5EF4-FFF2-40B4-BE49-F238E27FC236}">
                  <a16:creationId xmlns:a16="http://schemas.microsoft.com/office/drawing/2014/main" id="{DB09E4C3-692B-EC05-E06F-CBB4339493AD}"/>
                </a:ext>
              </a:extLst>
            </p:cNvPr>
            <p:cNvSpPr/>
            <p:nvPr/>
          </p:nvSpPr>
          <p:spPr>
            <a:xfrm>
              <a:off x="6299541" y="5130669"/>
              <a:ext cx="134517" cy="120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椭圆 117">
              <a:extLst>
                <a:ext uri="{FF2B5EF4-FFF2-40B4-BE49-F238E27FC236}">
                  <a16:creationId xmlns:a16="http://schemas.microsoft.com/office/drawing/2014/main" id="{EA142539-004D-57D0-7C54-65A4541ED7B0}"/>
                </a:ext>
              </a:extLst>
            </p:cNvPr>
            <p:cNvSpPr/>
            <p:nvPr/>
          </p:nvSpPr>
          <p:spPr>
            <a:xfrm>
              <a:off x="5796892" y="5391880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椭圆 118">
              <a:extLst>
                <a:ext uri="{FF2B5EF4-FFF2-40B4-BE49-F238E27FC236}">
                  <a16:creationId xmlns:a16="http://schemas.microsoft.com/office/drawing/2014/main" id="{9F27FE7B-0973-B9B2-86DD-1C2C847A39D1}"/>
                </a:ext>
              </a:extLst>
            </p:cNvPr>
            <p:cNvSpPr/>
            <p:nvPr/>
          </p:nvSpPr>
          <p:spPr>
            <a:xfrm>
              <a:off x="6045998" y="5388666"/>
              <a:ext cx="134517" cy="120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椭圆 119">
              <a:extLst>
                <a:ext uri="{FF2B5EF4-FFF2-40B4-BE49-F238E27FC236}">
                  <a16:creationId xmlns:a16="http://schemas.microsoft.com/office/drawing/2014/main" id="{835551E1-6651-5D8B-8A03-5BBA432ED7EB}"/>
                </a:ext>
              </a:extLst>
            </p:cNvPr>
            <p:cNvSpPr/>
            <p:nvPr/>
          </p:nvSpPr>
          <p:spPr>
            <a:xfrm>
              <a:off x="6295104" y="5387856"/>
              <a:ext cx="134517" cy="12002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3" name="直接箭头连接符 120">
            <a:extLst>
              <a:ext uri="{FF2B5EF4-FFF2-40B4-BE49-F238E27FC236}">
                <a16:creationId xmlns:a16="http://schemas.microsoft.com/office/drawing/2014/main" id="{015B295E-A5BD-E580-ED48-0C1FFF432F03}"/>
              </a:ext>
            </a:extLst>
          </p:cNvPr>
          <p:cNvCxnSpPr>
            <a:cxnSpLocks/>
          </p:cNvCxnSpPr>
          <p:nvPr/>
        </p:nvCxnSpPr>
        <p:spPr>
          <a:xfrm>
            <a:off x="5168674" y="4509361"/>
            <a:ext cx="212942" cy="4678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123">
            <a:extLst>
              <a:ext uri="{FF2B5EF4-FFF2-40B4-BE49-F238E27FC236}">
                <a16:creationId xmlns:a16="http://schemas.microsoft.com/office/drawing/2014/main" id="{A90EE54A-71D7-8310-1141-AB208F381CD7}"/>
              </a:ext>
            </a:extLst>
          </p:cNvPr>
          <p:cNvSpPr/>
          <p:nvPr/>
        </p:nvSpPr>
        <p:spPr>
          <a:xfrm>
            <a:off x="5915647" y="6180632"/>
            <a:ext cx="1274760" cy="446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直接箭头连接符 125">
            <a:extLst>
              <a:ext uri="{FF2B5EF4-FFF2-40B4-BE49-F238E27FC236}">
                <a16:creationId xmlns:a16="http://schemas.microsoft.com/office/drawing/2014/main" id="{3CF5C7F4-C9B8-E5E1-490E-6D8FD81C3A62}"/>
              </a:ext>
            </a:extLst>
          </p:cNvPr>
          <p:cNvCxnSpPr>
            <a:cxnSpLocks/>
          </p:cNvCxnSpPr>
          <p:nvPr/>
        </p:nvCxnSpPr>
        <p:spPr>
          <a:xfrm>
            <a:off x="5676478" y="5675619"/>
            <a:ext cx="649681" cy="5050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127">
            <a:extLst>
              <a:ext uri="{FF2B5EF4-FFF2-40B4-BE49-F238E27FC236}">
                <a16:creationId xmlns:a16="http://schemas.microsoft.com/office/drawing/2014/main" id="{03DFFCA0-AD1A-CE06-7029-B9FABFBA7A70}"/>
              </a:ext>
            </a:extLst>
          </p:cNvPr>
          <p:cNvCxnSpPr>
            <a:cxnSpLocks/>
          </p:cNvCxnSpPr>
          <p:nvPr/>
        </p:nvCxnSpPr>
        <p:spPr>
          <a:xfrm flipH="1">
            <a:off x="6736443" y="5526641"/>
            <a:ext cx="714532" cy="6539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128">
            <a:extLst>
              <a:ext uri="{FF2B5EF4-FFF2-40B4-BE49-F238E27FC236}">
                <a16:creationId xmlns:a16="http://schemas.microsoft.com/office/drawing/2014/main" id="{3C8D256A-E672-55E2-4DD0-FD7914933F86}"/>
              </a:ext>
            </a:extLst>
          </p:cNvPr>
          <p:cNvSpPr txBox="1"/>
          <p:nvPr/>
        </p:nvSpPr>
        <p:spPr>
          <a:xfrm>
            <a:off x="5853420" y="5428548"/>
            <a:ext cx="1507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3. retrain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02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  <p:bldP spid="27" grpId="0"/>
      <p:bldP spid="30" grpId="0"/>
      <p:bldP spid="41" grpId="0"/>
      <p:bldP spid="42" grpId="0"/>
      <p:bldP spid="54" grpId="0" animBg="1"/>
      <p:bldP spid="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Unsupervised Learning</a:t>
            </a:r>
          </a:p>
        </p:txBody>
      </p:sp>
      <p:sp>
        <p:nvSpPr>
          <p:cNvPr id="3" name="文本框 8">
            <a:extLst>
              <a:ext uri="{FF2B5EF4-FFF2-40B4-BE49-F238E27FC236}">
                <a16:creationId xmlns:a16="http://schemas.microsoft.com/office/drawing/2014/main" id="{4C108687-DD95-94EB-8759-F072A27DCFB7}"/>
              </a:ext>
            </a:extLst>
          </p:cNvPr>
          <p:cNvSpPr txBox="1"/>
          <p:nvPr/>
        </p:nvSpPr>
        <p:spPr>
          <a:xfrm>
            <a:off x="613046" y="2013132"/>
            <a:ext cx="103037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input to the unsupervised learning model are all unlabeled data</a:t>
            </a:r>
          </a:p>
          <a:p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Unsupervised learning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 to model the underlying structure/distribution of the data without explicit instructions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29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Unsupervised Learning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E38556B4-18EE-05EF-0332-DD9FD60C2500}"/>
              </a:ext>
            </a:extLst>
          </p:cNvPr>
          <p:cNvSpPr txBox="1"/>
          <p:nvPr/>
        </p:nvSpPr>
        <p:spPr>
          <a:xfrm>
            <a:off x="428157" y="1602375"/>
            <a:ext cx="7838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Example of Unsupervised Learning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Color-based image segmentation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组合 7">
            <a:extLst>
              <a:ext uri="{FF2B5EF4-FFF2-40B4-BE49-F238E27FC236}">
                <a16:creationId xmlns:a16="http://schemas.microsoft.com/office/drawing/2014/main" id="{C0C02E70-BF7F-0891-EBE5-F7727ED20C30}"/>
              </a:ext>
            </a:extLst>
          </p:cNvPr>
          <p:cNvGrpSpPr/>
          <p:nvPr/>
        </p:nvGrpSpPr>
        <p:grpSpPr>
          <a:xfrm>
            <a:off x="680958" y="3504715"/>
            <a:ext cx="2149781" cy="1826573"/>
            <a:chOff x="483177" y="1907227"/>
            <a:chExt cx="2149781" cy="1826573"/>
          </a:xfrm>
        </p:grpSpPr>
        <p:pic>
          <p:nvPicPr>
            <p:cNvPr id="4" name="图片 4">
              <a:extLst>
                <a:ext uri="{FF2B5EF4-FFF2-40B4-BE49-F238E27FC236}">
                  <a16:creationId xmlns:a16="http://schemas.microsoft.com/office/drawing/2014/main" id="{D3A1345F-0C15-8A8C-EABC-D9EE99732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177" y="2262766"/>
              <a:ext cx="1971489" cy="1471034"/>
            </a:xfrm>
            <a:prstGeom prst="rect">
              <a:avLst/>
            </a:prstGeom>
          </p:spPr>
        </p:pic>
        <p:sp>
          <p:nvSpPr>
            <p:cNvPr id="5" name="文本框 6">
              <a:extLst>
                <a:ext uri="{FF2B5EF4-FFF2-40B4-BE49-F238E27FC236}">
                  <a16:creationId xmlns:a16="http://schemas.microsoft.com/office/drawing/2014/main" id="{2380358D-C09D-4D29-1DAC-D2D98E6F72C6}"/>
                </a:ext>
              </a:extLst>
            </p:cNvPr>
            <p:cNvSpPr txBox="1"/>
            <p:nvPr/>
          </p:nvSpPr>
          <p:spPr>
            <a:xfrm>
              <a:off x="661469" y="1907227"/>
              <a:ext cx="1971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Unlabeled data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箭头: 右 8">
            <a:extLst>
              <a:ext uri="{FF2B5EF4-FFF2-40B4-BE49-F238E27FC236}">
                <a16:creationId xmlns:a16="http://schemas.microsoft.com/office/drawing/2014/main" id="{87F74CD2-223E-C634-83E5-B869BD91FA03}"/>
              </a:ext>
            </a:extLst>
          </p:cNvPr>
          <p:cNvSpPr/>
          <p:nvPr/>
        </p:nvSpPr>
        <p:spPr>
          <a:xfrm>
            <a:off x="2781654" y="4367593"/>
            <a:ext cx="672736" cy="1662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14">
            <a:extLst>
              <a:ext uri="{FF2B5EF4-FFF2-40B4-BE49-F238E27FC236}">
                <a16:creationId xmlns:a16="http://schemas.microsoft.com/office/drawing/2014/main" id="{F4EDB0FC-2506-B3D9-55EF-9DD9933B6385}"/>
              </a:ext>
            </a:extLst>
          </p:cNvPr>
          <p:cNvSpPr txBox="1"/>
          <p:nvPr/>
        </p:nvSpPr>
        <p:spPr>
          <a:xfrm>
            <a:off x="3494393" y="4136198"/>
            <a:ext cx="1720032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Unsupervised Learning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13">
            <a:extLst>
              <a:ext uri="{FF2B5EF4-FFF2-40B4-BE49-F238E27FC236}">
                <a16:creationId xmlns:a16="http://schemas.microsoft.com/office/drawing/2014/main" id="{7F371534-6594-F717-44BF-074E1D9D2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003" y="2553167"/>
            <a:ext cx="1741343" cy="1317285"/>
          </a:xfrm>
          <a:prstGeom prst="rect">
            <a:avLst/>
          </a:prstGeom>
        </p:spPr>
      </p:pic>
      <p:pic>
        <p:nvPicPr>
          <p:cNvPr id="10" name="图片 16">
            <a:extLst>
              <a:ext uri="{FF2B5EF4-FFF2-40B4-BE49-F238E27FC236}">
                <a16:creationId xmlns:a16="http://schemas.microsoft.com/office/drawing/2014/main" id="{75F81398-996E-D213-4172-B3856EB9F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966" y="3818703"/>
            <a:ext cx="1791692" cy="1317285"/>
          </a:xfrm>
          <a:prstGeom prst="rect">
            <a:avLst/>
          </a:prstGeom>
        </p:spPr>
      </p:pic>
      <p:pic>
        <p:nvPicPr>
          <p:cNvPr id="11" name="图片 18">
            <a:extLst>
              <a:ext uri="{FF2B5EF4-FFF2-40B4-BE49-F238E27FC236}">
                <a16:creationId xmlns:a16="http://schemas.microsoft.com/office/drawing/2014/main" id="{DB912227-C94F-BD15-D806-A2A4E79D3E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068" y="5135988"/>
            <a:ext cx="1765528" cy="1317285"/>
          </a:xfrm>
          <a:prstGeom prst="rect">
            <a:avLst/>
          </a:prstGeom>
        </p:spPr>
      </p:pic>
      <p:sp>
        <p:nvSpPr>
          <p:cNvPr id="12" name="文本框 22">
            <a:extLst>
              <a:ext uri="{FF2B5EF4-FFF2-40B4-BE49-F238E27FC236}">
                <a16:creationId xmlns:a16="http://schemas.microsoft.com/office/drawing/2014/main" id="{FB924AE2-FD7E-EB7E-94BF-AA8DF9E9A245}"/>
              </a:ext>
            </a:extLst>
          </p:cNvPr>
          <p:cNvSpPr txBox="1"/>
          <p:nvPr/>
        </p:nvSpPr>
        <p:spPr>
          <a:xfrm>
            <a:off x="6874386" y="2195643"/>
            <a:ext cx="1635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Segment 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23">
            <a:extLst>
              <a:ext uri="{FF2B5EF4-FFF2-40B4-BE49-F238E27FC236}">
                <a16:creationId xmlns:a16="http://schemas.microsoft.com/office/drawing/2014/main" id="{18B1B89C-4FE1-074A-6F5D-B9D233D5AB8E}"/>
              </a:ext>
            </a:extLst>
          </p:cNvPr>
          <p:cNvSpPr txBox="1"/>
          <p:nvPr/>
        </p:nvSpPr>
        <p:spPr>
          <a:xfrm>
            <a:off x="9287677" y="3501120"/>
            <a:ext cx="1504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Segment 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24">
            <a:extLst>
              <a:ext uri="{FF2B5EF4-FFF2-40B4-BE49-F238E27FC236}">
                <a16:creationId xmlns:a16="http://schemas.microsoft.com/office/drawing/2014/main" id="{84477CD5-BD3A-8A63-EB9E-CA20BF58448B}"/>
              </a:ext>
            </a:extLst>
          </p:cNvPr>
          <p:cNvSpPr txBox="1"/>
          <p:nvPr/>
        </p:nvSpPr>
        <p:spPr>
          <a:xfrm>
            <a:off x="6949547" y="4802846"/>
            <a:ext cx="155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Segment 3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接箭头连接符 25">
            <a:extLst>
              <a:ext uri="{FF2B5EF4-FFF2-40B4-BE49-F238E27FC236}">
                <a16:creationId xmlns:a16="http://schemas.microsoft.com/office/drawing/2014/main" id="{083A9189-CE41-07AD-C931-47B826566022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035413" y="3211810"/>
            <a:ext cx="1622590" cy="92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27">
            <a:extLst>
              <a:ext uri="{FF2B5EF4-FFF2-40B4-BE49-F238E27FC236}">
                <a16:creationId xmlns:a16="http://schemas.microsoft.com/office/drawing/2014/main" id="{C856CA9C-0526-9D29-0343-F766FCFE0B59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5214425" y="4459364"/>
            <a:ext cx="3786541" cy="17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28">
            <a:extLst>
              <a:ext uri="{FF2B5EF4-FFF2-40B4-BE49-F238E27FC236}">
                <a16:creationId xmlns:a16="http://schemas.microsoft.com/office/drawing/2014/main" id="{84C767E5-8AF8-A524-8408-1A687AA25B2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035413" y="4782529"/>
            <a:ext cx="1645655" cy="1012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80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93A30C-0D31-479D-A693-F3E8A2AA4D44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1CEF9414-3001-4153-9D86-BE8FCBC60C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9EACABF-F11B-4737-869E-BB2B003CB5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1989</TotalTime>
  <Words>472</Words>
  <Application>Microsoft Office PowerPoint</Application>
  <PresentationFormat>Widescreen</PresentationFormat>
  <Paragraphs>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Wingdings</vt:lpstr>
      <vt:lpstr>Office Theme</vt:lpstr>
      <vt:lpstr>Fundamental Concepts in Machine Learning (2)</vt:lpstr>
      <vt:lpstr>Fundamental concepts in supervised learning</vt:lpstr>
      <vt:lpstr>Supervised Learning: classification</vt:lpstr>
      <vt:lpstr>Classification</vt:lpstr>
      <vt:lpstr>Classification</vt:lpstr>
      <vt:lpstr>Supervised Learning: regression</vt:lpstr>
      <vt:lpstr>Regression</vt:lpstr>
      <vt:lpstr>Regression</vt:lpstr>
      <vt:lpstr>Semi-supervised Learning</vt:lpstr>
      <vt:lpstr>Unsupervised Learning</vt:lpstr>
      <vt:lpstr>Unsupervised Learning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88</cp:revision>
  <dcterms:created xsi:type="dcterms:W3CDTF">2021-01-06T14:22:07Z</dcterms:created>
  <dcterms:modified xsi:type="dcterms:W3CDTF">2024-08-16T18:09:32Z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