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7" r:id="rId7"/>
    <p:sldId id="498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38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14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Mapping Inputs to Outputs: Evaluate Output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Prediction error evaluation</a:t>
            </a:r>
          </a:p>
        </p:txBody>
      </p:sp>
      <p:sp>
        <p:nvSpPr>
          <p:cNvPr id="2" name="矩形 22">
            <a:extLst>
              <a:ext uri="{FF2B5EF4-FFF2-40B4-BE49-F238E27FC236}">
                <a16:creationId xmlns:a16="http://schemas.microsoft.com/office/drawing/2014/main" id="{94A81021-4121-DE80-96BF-A2C036DE7783}"/>
              </a:ext>
            </a:extLst>
          </p:cNvPr>
          <p:cNvSpPr/>
          <p:nvPr/>
        </p:nvSpPr>
        <p:spPr>
          <a:xfrm>
            <a:off x="454095" y="1747500"/>
            <a:ext cx="11078542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 data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data should be translated to the language that ML algorithms can understand 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Data types/encoding</a:t>
            </a:r>
            <a:endParaRPr lang="en-US" altLang="zh-CN" sz="2400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Using parametric or non-parametric ML?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Evaluate output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 prediction errors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D5A7E9-D6BA-F068-6217-D8A3088D2758}"/>
              </a:ext>
            </a:extLst>
          </p:cNvPr>
          <p:cNvSpPr/>
          <p:nvPr/>
        </p:nvSpPr>
        <p:spPr>
          <a:xfrm>
            <a:off x="4984600" y="4093125"/>
            <a:ext cx="1738611" cy="1312779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23">
            <a:extLst>
              <a:ext uri="{FF2B5EF4-FFF2-40B4-BE49-F238E27FC236}">
                <a16:creationId xmlns:a16="http://schemas.microsoft.com/office/drawing/2014/main" id="{C4442F79-84A8-D080-6707-7F1A9E88C8EF}"/>
              </a:ext>
            </a:extLst>
          </p:cNvPr>
          <p:cNvSpPr txBox="1"/>
          <p:nvPr/>
        </p:nvSpPr>
        <p:spPr>
          <a:xfrm>
            <a:off x="907604" y="4994842"/>
            <a:ext cx="911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24">
            <a:extLst>
              <a:ext uri="{FF2B5EF4-FFF2-40B4-BE49-F238E27FC236}">
                <a16:creationId xmlns:a16="http://schemas.microsoft.com/office/drawing/2014/main" id="{31126AD7-5FDD-D49B-7850-950DE29B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27" y="4213426"/>
            <a:ext cx="911838" cy="89478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6" name="箭头: 右 25">
            <a:extLst>
              <a:ext uri="{FF2B5EF4-FFF2-40B4-BE49-F238E27FC236}">
                <a16:creationId xmlns:a16="http://schemas.microsoft.com/office/drawing/2014/main" id="{76715333-343A-0195-F56C-B82D357CA6EA}"/>
              </a:ext>
            </a:extLst>
          </p:cNvPr>
          <p:cNvSpPr/>
          <p:nvPr/>
        </p:nvSpPr>
        <p:spPr>
          <a:xfrm>
            <a:off x="1878736" y="4553104"/>
            <a:ext cx="696570" cy="190845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26">
            <a:extLst>
              <a:ext uri="{FF2B5EF4-FFF2-40B4-BE49-F238E27FC236}">
                <a16:creationId xmlns:a16="http://schemas.microsoft.com/office/drawing/2014/main" id="{35EC8AD4-4FC7-889C-06A6-EC21FF385766}"/>
              </a:ext>
            </a:extLst>
          </p:cNvPr>
          <p:cNvSpPr/>
          <p:nvPr/>
        </p:nvSpPr>
        <p:spPr>
          <a:xfrm>
            <a:off x="2641477" y="4343469"/>
            <a:ext cx="156663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箭头: 右 27">
            <a:extLst>
              <a:ext uri="{FF2B5EF4-FFF2-40B4-BE49-F238E27FC236}">
                <a16:creationId xmlns:a16="http://schemas.microsoft.com/office/drawing/2014/main" id="{AF58D038-2291-E39C-D53E-EA13950AB3E8}"/>
              </a:ext>
            </a:extLst>
          </p:cNvPr>
          <p:cNvSpPr/>
          <p:nvPr/>
        </p:nvSpPr>
        <p:spPr>
          <a:xfrm>
            <a:off x="4208107" y="4538099"/>
            <a:ext cx="762741" cy="20585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28">
            <a:extLst>
              <a:ext uri="{FF2B5EF4-FFF2-40B4-BE49-F238E27FC236}">
                <a16:creationId xmlns:a16="http://schemas.microsoft.com/office/drawing/2014/main" id="{389B2275-33E0-106E-6BDB-DD0CD2BF4FC5}"/>
              </a:ext>
            </a:extLst>
          </p:cNvPr>
          <p:cNvSpPr/>
          <p:nvPr/>
        </p:nvSpPr>
        <p:spPr>
          <a:xfrm>
            <a:off x="5065315" y="4302387"/>
            <a:ext cx="1657098" cy="75924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</a:p>
        </p:txBody>
      </p:sp>
      <p:sp>
        <p:nvSpPr>
          <p:cNvPr id="11" name="文本框 29">
            <a:extLst>
              <a:ext uri="{FF2B5EF4-FFF2-40B4-BE49-F238E27FC236}">
                <a16:creationId xmlns:a16="http://schemas.microsoft.com/office/drawing/2014/main" id="{B6236E4D-4E6E-8D39-2B8E-868C5B627194}"/>
              </a:ext>
            </a:extLst>
          </p:cNvPr>
          <p:cNvSpPr txBox="1"/>
          <p:nvPr/>
        </p:nvSpPr>
        <p:spPr>
          <a:xfrm>
            <a:off x="5359625" y="4979457"/>
            <a:ext cx="1115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30">
            <a:extLst>
              <a:ext uri="{FF2B5EF4-FFF2-40B4-BE49-F238E27FC236}">
                <a16:creationId xmlns:a16="http://schemas.microsoft.com/office/drawing/2014/main" id="{28EED75E-F42A-8688-A228-3F5DC814FB4E}"/>
              </a:ext>
            </a:extLst>
          </p:cNvPr>
          <p:cNvSpPr txBox="1"/>
          <p:nvPr/>
        </p:nvSpPr>
        <p:spPr>
          <a:xfrm>
            <a:off x="2303224" y="4990405"/>
            <a:ext cx="229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Trained model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箭头: 右 31">
            <a:extLst>
              <a:ext uri="{FF2B5EF4-FFF2-40B4-BE49-F238E27FC236}">
                <a16:creationId xmlns:a16="http://schemas.microsoft.com/office/drawing/2014/main" id="{2726DD8D-9FB2-B98A-AFE2-866F0CE8EE3A}"/>
              </a:ext>
            </a:extLst>
          </p:cNvPr>
          <p:cNvSpPr/>
          <p:nvPr/>
        </p:nvSpPr>
        <p:spPr>
          <a:xfrm>
            <a:off x="6736964" y="4557891"/>
            <a:ext cx="646184" cy="199809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33">
            <a:extLst>
              <a:ext uri="{FF2B5EF4-FFF2-40B4-BE49-F238E27FC236}">
                <a16:creationId xmlns:a16="http://schemas.microsoft.com/office/drawing/2014/main" id="{D6CFCEA8-C11A-4553-1962-822FF1258ED4}"/>
              </a:ext>
            </a:extLst>
          </p:cNvPr>
          <p:cNvSpPr/>
          <p:nvPr/>
        </p:nvSpPr>
        <p:spPr>
          <a:xfrm>
            <a:off x="7396901" y="4333126"/>
            <a:ext cx="247485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error evaluation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Prediction and prediction error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E036E60-1F65-C735-97EF-567CE27748F9}"/>
              </a:ext>
            </a:extLst>
          </p:cNvPr>
          <p:cNvSpPr txBox="1"/>
          <p:nvPr/>
        </p:nvSpPr>
        <p:spPr>
          <a:xfrm>
            <a:off x="659698" y="1939498"/>
            <a:ext cx="10219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Task of prediction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prediction means to predict the outcomes of new input data.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2FF5B1A-B95B-79D3-CF04-627A959A51B9}"/>
              </a:ext>
            </a:extLst>
          </p:cNvPr>
          <p:cNvSpPr txBox="1"/>
          <p:nvPr/>
        </p:nvSpPr>
        <p:spPr>
          <a:xfrm>
            <a:off x="663437" y="3827895"/>
            <a:ext cx="1021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 error: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difference between the predicted values made by some model and the actual values.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577EE4C6-89CD-3C2A-11D4-2CCDCA4CE0F6}"/>
              </a:ext>
            </a:extLst>
          </p:cNvPr>
          <p:cNvSpPr txBox="1"/>
          <p:nvPr/>
        </p:nvSpPr>
        <p:spPr>
          <a:xfrm>
            <a:off x="659698" y="2967335"/>
            <a:ext cx="10278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performance of a predictor is measured by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error.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22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Prediction and prediction error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3B5473B-CD56-A253-D79E-CEA851C616EC}"/>
              </a:ext>
            </a:extLst>
          </p:cNvPr>
          <p:cNvSpPr txBox="1"/>
          <p:nvPr/>
        </p:nvSpPr>
        <p:spPr>
          <a:xfrm>
            <a:off x="545595" y="1756002"/>
            <a:ext cx="9741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 error: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difference between the predicted values made by some model and the actual values.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3B420-ADCD-A4BF-AF39-45C17667F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325" y="2752886"/>
            <a:ext cx="5931579" cy="391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C82153AA-F4CC-C692-5025-8AB56B3DCB1E}"/>
              </a:ext>
            </a:extLst>
          </p:cNvPr>
          <p:cNvCxnSpPr>
            <a:cxnSpLocks/>
          </p:cNvCxnSpPr>
          <p:nvPr/>
        </p:nvCxnSpPr>
        <p:spPr>
          <a:xfrm flipV="1">
            <a:off x="2716504" y="2983722"/>
            <a:ext cx="4535715" cy="30334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右大括号 9">
            <a:extLst>
              <a:ext uri="{FF2B5EF4-FFF2-40B4-BE49-F238E27FC236}">
                <a16:creationId xmlns:a16="http://schemas.microsoft.com/office/drawing/2014/main" id="{10B44A51-8099-46E1-5C49-1016FA781527}"/>
              </a:ext>
            </a:extLst>
          </p:cNvPr>
          <p:cNvSpPr/>
          <p:nvPr/>
        </p:nvSpPr>
        <p:spPr>
          <a:xfrm>
            <a:off x="5989351" y="3858208"/>
            <a:ext cx="204047" cy="386715"/>
          </a:xfrm>
          <a:prstGeom prst="rightBrace">
            <a:avLst>
              <a:gd name="adj1" fmla="val 8333"/>
              <a:gd name="adj2" fmla="val 4917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1">
            <a:extLst>
              <a:ext uri="{FF2B5EF4-FFF2-40B4-BE49-F238E27FC236}">
                <a16:creationId xmlns:a16="http://schemas.microsoft.com/office/drawing/2014/main" id="{2FA2B7AB-8A4C-6D75-ECF0-9C93F3670C55}"/>
              </a:ext>
            </a:extLst>
          </p:cNvPr>
          <p:cNvSpPr txBox="1"/>
          <p:nvPr/>
        </p:nvSpPr>
        <p:spPr>
          <a:xfrm>
            <a:off x="6163561" y="3823040"/>
            <a:ext cx="267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Prediction error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4F2C4504-550A-D518-65E9-27265A13ECE3}"/>
              </a:ext>
            </a:extLst>
          </p:cNvPr>
          <p:cNvCxnSpPr>
            <a:cxnSpLocks/>
          </p:cNvCxnSpPr>
          <p:nvPr/>
        </p:nvCxnSpPr>
        <p:spPr>
          <a:xfrm>
            <a:off x="5595685" y="3858208"/>
            <a:ext cx="348421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8">
            <a:extLst>
              <a:ext uri="{FF2B5EF4-FFF2-40B4-BE49-F238E27FC236}">
                <a16:creationId xmlns:a16="http://schemas.microsoft.com/office/drawing/2014/main" id="{572BF9AC-190C-EBE0-2771-35E37E20644E}"/>
              </a:ext>
            </a:extLst>
          </p:cNvPr>
          <p:cNvCxnSpPr>
            <a:cxnSpLocks/>
          </p:cNvCxnSpPr>
          <p:nvPr/>
        </p:nvCxnSpPr>
        <p:spPr>
          <a:xfrm>
            <a:off x="5585110" y="4244923"/>
            <a:ext cx="348421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17">
            <a:extLst>
              <a:ext uri="{FF2B5EF4-FFF2-40B4-BE49-F238E27FC236}">
                <a16:creationId xmlns:a16="http://schemas.microsoft.com/office/drawing/2014/main" id="{05709F77-0645-2681-63B9-7197ACFD4BDD}"/>
              </a:ext>
            </a:extLst>
          </p:cNvPr>
          <p:cNvCxnSpPr/>
          <p:nvPr/>
        </p:nvCxnSpPr>
        <p:spPr>
          <a:xfrm>
            <a:off x="5769895" y="3858208"/>
            <a:ext cx="0" cy="386715"/>
          </a:xfrm>
          <a:prstGeom prst="straightConnector1">
            <a:avLst/>
          </a:prstGeom>
          <a:ln w="127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9">
            <a:extLst>
              <a:ext uri="{FF2B5EF4-FFF2-40B4-BE49-F238E27FC236}">
                <a16:creationId xmlns:a16="http://schemas.microsoft.com/office/drawing/2014/main" id="{62EE96ED-D814-13C2-9DB0-EA1064B267B4}"/>
              </a:ext>
            </a:extLst>
          </p:cNvPr>
          <p:cNvSpPr/>
          <p:nvPr/>
        </p:nvSpPr>
        <p:spPr>
          <a:xfrm>
            <a:off x="5847530" y="4172153"/>
            <a:ext cx="227809" cy="16457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椭圆 22">
            <a:extLst>
              <a:ext uri="{FF2B5EF4-FFF2-40B4-BE49-F238E27FC236}">
                <a16:creationId xmlns:a16="http://schemas.microsoft.com/office/drawing/2014/main" id="{DE0A6BB8-3E0F-6F5B-8028-FD4C33C1CB14}"/>
              </a:ext>
            </a:extLst>
          </p:cNvPr>
          <p:cNvSpPr/>
          <p:nvPr/>
        </p:nvSpPr>
        <p:spPr>
          <a:xfrm>
            <a:off x="5826024" y="3768841"/>
            <a:ext cx="227809" cy="16457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23">
            <a:extLst>
              <a:ext uri="{FF2B5EF4-FFF2-40B4-BE49-F238E27FC236}">
                <a16:creationId xmlns:a16="http://schemas.microsoft.com/office/drawing/2014/main" id="{EFBB5C51-0BC7-8F7C-0001-BE04B55FFAD0}"/>
              </a:ext>
            </a:extLst>
          </p:cNvPr>
          <p:cNvCxnSpPr>
            <a:cxnSpLocks/>
          </p:cNvCxnSpPr>
          <p:nvPr/>
        </p:nvCxnSpPr>
        <p:spPr>
          <a:xfrm>
            <a:off x="6053833" y="4334310"/>
            <a:ext cx="1736960" cy="473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25">
            <a:extLst>
              <a:ext uri="{FF2B5EF4-FFF2-40B4-BE49-F238E27FC236}">
                <a16:creationId xmlns:a16="http://schemas.microsoft.com/office/drawing/2014/main" id="{294A1537-A45C-EA38-3239-7DEBB2F15448}"/>
              </a:ext>
            </a:extLst>
          </p:cNvPr>
          <p:cNvSpPr txBox="1"/>
          <p:nvPr/>
        </p:nvSpPr>
        <p:spPr>
          <a:xfrm>
            <a:off x="7789432" y="4571107"/>
            <a:ext cx="2762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actual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26">
            <a:extLst>
              <a:ext uri="{FF2B5EF4-FFF2-40B4-BE49-F238E27FC236}">
                <a16:creationId xmlns:a16="http://schemas.microsoft.com/office/drawing/2014/main" id="{25582056-14F8-3174-5D56-5F78E37B187E}"/>
              </a:ext>
            </a:extLst>
          </p:cNvPr>
          <p:cNvSpPr txBox="1"/>
          <p:nvPr/>
        </p:nvSpPr>
        <p:spPr>
          <a:xfrm>
            <a:off x="7878617" y="3000413"/>
            <a:ext cx="2365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predicted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接箭头连接符 28">
            <a:extLst>
              <a:ext uri="{FF2B5EF4-FFF2-40B4-BE49-F238E27FC236}">
                <a16:creationId xmlns:a16="http://schemas.microsoft.com/office/drawing/2014/main" id="{58AEAA76-381F-0B97-ED1A-59AC7131B093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6020471" y="3266424"/>
            <a:ext cx="1887503" cy="52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31">
            <a:extLst>
              <a:ext uri="{FF2B5EF4-FFF2-40B4-BE49-F238E27FC236}">
                <a16:creationId xmlns:a16="http://schemas.microsoft.com/office/drawing/2014/main" id="{97A49BD9-4A8B-CD9A-400A-94F69134DE34}"/>
              </a:ext>
            </a:extLst>
          </p:cNvPr>
          <p:cNvSpPr/>
          <p:nvPr/>
        </p:nvSpPr>
        <p:spPr>
          <a:xfrm>
            <a:off x="5903243" y="3819675"/>
            <a:ext cx="76199" cy="7706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4">
                <a:extLst>
                  <a:ext uri="{FF2B5EF4-FFF2-40B4-BE49-F238E27FC236}">
                    <a16:creationId xmlns:a16="http://schemas.microsoft.com/office/drawing/2014/main" id="{996A386C-DC47-F517-47BB-1009040A3891}"/>
                  </a:ext>
                </a:extLst>
              </p:cNvPr>
              <p:cNvSpPr txBox="1"/>
              <p:nvPr/>
            </p:nvSpPr>
            <p:spPr>
              <a:xfrm>
                <a:off x="2705367" y="3627375"/>
                <a:ext cx="30195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4985</m:t>
                      </m:r>
                      <m:r>
                        <m:rPr>
                          <m:nor/>
                        </m:rPr>
                        <a:rPr lang="en-US" altLang="zh-CN" sz="2400" b="0" i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b="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+13911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本框 4">
                <a:extLst>
                  <a:ext uri="{FF2B5EF4-FFF2-40B4-BE49-F238E27FC236}">
                    <a16:creationId xmlns:a16="http://schemas.microsoft.com/office/drawing/2014/main" id="{996A386C-DC47-F517-47BB-1009040A3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367" y="3627375"/>
                <a:ext cx="3019537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1" grpId="0" animBg="1"/>
      <p:bldP spid="12" grpId="0" animBg="1"/>
      <p:bldP spid="14" grpId="0"/>
      <p:bldP spid="15" grpId="0"/>
      <p:bldP spid="17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A01CFB39-85B2-4940-ACEE-C4CF0F1BD5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BC55D8-BF38-4B03-B18D-DBAE5D08B8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4808D1-7A18-4EEC-ACCD-B216E90A382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159</Words>
  <Application>Microsoft Office PowerPoint</Application>
  <PresentationFormat>Widescreen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Mapping Inputs to Outputs: Evaluate Output</vt:lpstr>
      <vt:lpstr>Prediction error evaluation</vt:lpstr>
      <vt:lpstr>Prediction and prediction error</vt:lpstr>
      <vt:lpstr>Prediction and prediction error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67</cp:revision>
  <dcterms:created xsi:type="dcterms:W3CDTF">2021-01-06T14:22:07Z</dcterms:created>
  <dcterms:modified xsi:type="dcterms:W3CDTF">2024-07-08T14:27:23Z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