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504" r:id="rId6"/>
    <p:sldId id="494" r:id="rId7"/>
    <p:sldId id="496" r:id="rId8"/>
    <p:sldId id="497" r:id="rId9"/>
    <p:sldId id="498" r:id="rId10"/>
    <p:sldId id="499" r:id="rId11"/>
    <p:sldId id="500" r:id="rId12"/>
    <p:sldId id="501" r:id="rId13"/>
    <p:sldId id="50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04" d="100"/>
          <a:sy n="104" d="100"/>
        </p:scale>
        <p:origin x="60" y="18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18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5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73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577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371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8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06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29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7343833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Mapping Inputs to Outputs: Non-parametric ML Model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Non-parametric models</a:t>
            </a: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85D65D59-D2CF-6D33-B78D-EA28B50FCDA8}"/>
              </a:ext>
            </a:extLst>
          </p:cNvPr>
          <p:cNvSpPr txBox="1"/>
          <p:nvPr/>
        </p:nvSpPr>
        <p:spPr>
          <a:xfrm>
            <a:off x="508513" y="1649832"/>
            <a:ext cx="99417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Non-parametric models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do not make strong assumptions about the form of the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learns from the data itself. </a:t>
            </a:r>
          </a:p>
        </p:txBody>
      </p:sp>
      <p:sp>
        <p:nvSpPr>
          <p:cNvPr id="4" name="文本框 11">
            <a:extLst>
              <a:ext uri="{FF2B5EF4-FFF2-40B4-BE49-F238E27FC236}">
                <a16:creationId xmlns:a16="http://schemas.microsoft.com/office/drawing/2014/main" id="{703FC0C6-A6EB-5807-1AA0-902EBBEB6831}"/>
              </a:ext>
            </a:extLst>
          </p:cNvPr>
          <p:cNvSpPr txBox="1"/>
          <p:nvPr/>
        </p:nvSpPr>
        <p:spPr>
          <a:xfrm>
            <a:off x="508513" y="3077593"/>
            <a:ext cx="10604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Examples: support vector machine, k-nearest neighbor (KNN), etc.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7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Non-parametric learning: KNN</a:t>
            </a:r>
          </a:p>
        </p:txBody>
      </p:sp>
      <p:sp>
        <p:nvSpPr>
          <p:cNvPr id="2" name="文本框 67">
            <a:extLst>
              <a:ext uri="{FF2B5EF4-FFF2-40B4-BE49-F238E27FC236}">
                <a16:creationId xmlns:a16="http://schemas.microsoft.com/office/drawing/2014/main" id="{76A792C3-C5E3-A0C1-7EB6-AD3228E8EED0}"/>
              </a:ext>
            </a:extLst>
          </p:cNvPr>
          <p:cNvSpPr txBox="1"/>
          <p:nvPr/>
        </p:nvSpPr>
        <p:spPr>
          <a:xfrm>
            <a:off x="489644" y="1757417"/>
            <a:ext cx="95594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KNN</a:t>
            </a:r>
            <a:r>
              <a:rPr lang="en-US" altLang="zh-CN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 a type of supervised learning which can be used for both classification and regression problems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74">
            <a:extLst>
              <a:ext uri="{FF2B5EF4-FFF2-40B4-BE49-F238E27FC236}">
                <a16:creationId xmlns:a16="http://schemas.microsoft.com/office/drawing/2014/main" id="{D0029F48-81F1-5096-1182-5FA9EEA1542A}"/>
              </a:ext>
            </a:extLst>
          </p:cNvPr>
          <p:cNvSpPr txBox="1"/>
          <p:nvPr/>
        </p:nvSpPr>
        <p:spPr>
          <a:xfrm>
            <a:off x="489644" y="2755205"/>
            <a:ext cx="107080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KNN 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Lazy learning: KNN does not have a specialized training phase and uses all the data for training while classification/regression.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Non-parametric: It does not assume any form of the mapping function.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75">
            <a:extLst>
              <a:ext uri="{FF2B5EF4-FFF2-40B4-BE49-F238E27FC236}">
                <a16:creationId xmlns:a16="http://schemas.microsoft.com/office/drawing/2014/main" id="{D86E33CB-2468-2F3F-2B4B-F4681A3DA69D}"/>
              </a:ext>
            </a:extLst>
          </p:cNvPr>
          <p:cNvSpPr txBox="1"/>
          <p:nvPr/>
        </p:nvSpPr>
        <p:spPr>
          <a:xfrm>
            <a:off x="489644" y="4659296"/>
            <a:ext cx="108855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Applications of KNN in classification: </a:t>
            </a:r>
          </a:p>
          <a:p>
            <a:pPr lvl="1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hand write recognition, facial recognition, text categorization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Non-parametric learning: KNN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1D248EE-F407-CE33-819B-7DAD261D1C7C}"/>
              </a:ext>
            </a:extLst>
          </p:cNvPr>
          <p:cNvSpPr txBox="1"/>
          <p:nvPr/>
        </p:nvSpPr>
        <p:spPr>
          <a:xfrm>
            <a:off x="553976" y="1654873"/>
            <a:ext cx="5223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Procedures of KNN for classification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42">
                <a:extLst>
                  <a:ext uri="{FF2B5EF4-FFF2-40B4-BE49-F238E27FC236}">
                    <a16:creationId xmlns:a16="http://schemas.microsoft.com/office/drawing/2014/main" id="{EE88A4CB-90D8-631A-89FE-4C3647282F60}"/>
                  </a:ext>
                </a:extLst>
              </p:cNvPr>
              <p:cNvSpPr txBox="1"/>
              <p:nvPr/>
            </p:nvSpPr>
            <p:spPr>
              <a:xfrm>
                <a:off x="532712" y="5227233"/>
                <a:ext cx="1054032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4: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Assign the class to the query data based on most frequent class of the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neighbors.</a:t>
                </a:r>
              </a:p>
            </p:txBody>
          </p:sp>
        </mc:Choice>
        <mc:Fallback xmlns="">
          <p:sp>
            <p:nvSpPr>
              <p:cNvPr id="3" name="文本框 42">
                <a:extLst>
                  <a:ext uri="{FF2B5EF4-FFF2-40B4-BE49-F238E27FC236}">
                    <a16:creationId xmlns:a16="http://schemas.microsoft.com/office/drawing/2014/main" id="{EE88A4CB-90D8-631A-89FE-4C3647282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12" y="5227233"/>
                <a:ext cx="10540328" cy="830997"/>
              </a:xfrm>
              <a:prstGeom prst="rect">
                <a:avLst/>
              </a:prstGeom>
              <a:blipFill>
                <a:blip r:embed="rId3"/>
                <a:stretch>
                  <a:fillRect l="-868" t="-5109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10">
            <a:extLst>
              <a:ext uri="{FF2B5EF4-FFF2-40B4-BE49-F238E27FC236}">
                <a16:creationId xmlns:a16="http://schemas.microsoft.com/office/drawing/2014/main" id="{FEDEA620-044F-4338-C9C7-F58C2A60316B}"/>
              </a:ext>
            </a:extLst>
          </p:cNvPr>
          <p:cNvSpPr txBox="1"/>
          <p:nvPr/>
        </p:nvSpPr>
        <p:spPr>
          <a:xfrm>
            <a:off x="553977" y="2335738"/>
            <a:ext cx="5596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Choose the value of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𝐾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" name="文本框 12">
            <a:extLst>
              <a:ext uri="{FF2B5EF4-FFF2-40B4-BE49-F238E27FC236}">
                <a16:creationId xmlns:a16="http://schemas.microsoft.com/office/drawing/2014/main" id="{6E210C91-55E9-8A74-355A-2701C377FB69}"/>
              </a:ext>
            </a:extLst>
          </p:cNvPr>
          <p:cNvSpPr txBox="1"/>
          <p:nvPr/>
        </p:nvSpPr>
        <p:spPr>
          <a:xfrm>
            <a:off x="532712" y="3093112"/>
            <a:ext cx="108972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Calculate the distance (similarity) of the query data and each of the example data.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14">
                <a:extLst>
                  <a:ext uri="{FF2B5EF4-FFF2-40B4-BE49-F238E27FC236}">
                    <a16:creationId xmlns:a16="http://schemas.microsoft.com/office/drawing/2014/main" id="{7347E9D4-13A0-CBB2-F140-3E9C82C9240F}"/>
                  </a:ext>
                </a:extLst>
              </p:cNvPr>
              <p:cNvSpPr txBox="1"/>
              <p:nvPr/>
            </p:nvSpPr>
            <p:spPr>
              <a:xfrm>
                <a:off x="553977" y="4138126"/>
                <a:ext cx="1054032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Step 3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 Sort the example data in ascending order based on their distance to the query data. Select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nearest neighbors of the query data.</a:t>
                </a:r>
              </a:p>
            </p:txBody>
          </p:sp>
        </mc:Choice>
        <mc:Fallback xmlns="">
          <p:sp>
            <p:nvSpPr>
              <p:cNvPr id="6" name="文本框 14">
                <a:extLst>
                  <a:ext uri="{FF2B5EF4-FFF2-40B4-BE49-F238E27FC236}">
                    <a16:creationId xmlns:a16="http://schemas.microsoft.com/office/drawing/2014/main" id="{7347E9D4-13A0-CBB2-F140-3E9C82C92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77" y="4138126"/>
                <a:ext cx="10540328" cy="830997"/>
              </a:xfrm>
              <a:prstGeom prst="rect">
                <a:avLst/>
              </a:prstGeom>
              <a:blipFill>
                <a:blip r:embed="rId4"/>
                <a:stretch>
                  <a:fillRect l="-925" t="-5147" r="-521" b="-16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78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Non-parametric learning: KNN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54905765-CA4F-4E0B-AC95-AE2F39CDFF5B}"/>
              </a:ext>
            </a:extLst>
          </p:cNvPr>
          <p:cNvSpPr txBox="1"/>
          <p:nvPr/>
        </p:nvSpPr>
        <p:spPr>
          <a:xfrm>
            <a:off x="510000" y="1608234"/>
            <a:ext cx="7421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 illustrative example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320B53-944D-0466-8F3C-0A552B172866}"/>
              </a:ext>
            </a:extLst>
          </p:cNvPr>
          <p:cNvSpPr txBox="1"/>
          <p:nvPr/>
        </p:nvSpPr>
        <p:spPr>
          <a:xfrm>
            <a:off x="696171" y="2240994"/>
            <a:ext cx="98380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Suppose the example data have two categories: Category A and Category 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There is s a new data point x</a:t>
            </a:r>
            <a:r>
              <a:rPr lang="en-US" altLang="zh-C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the task is to decide which category it belongs to.</a:t>
            </a:r>
          </a:p>
        </p:txBody>
      </p:sp>
      <p:grpSp>
        <p:nvGrpSpPr>
          <p:cNvPr id="4" name="组合 73">
            <a:extLst>
              <a:ext uri="{FF2B5EF4-FFF2-40B4-BE49-F238E27FC236}">
                <a16:creationId xmlns:a16="http://schemas.microsoft.com/office/drawing/2014/main" id="{57782C63-11B9-AAC3-371A-7F468029EB10}"/>
              </a:ext>
            </a:extLst>
          </p:cNvPr>
          <p:cNvGrpSpPr/>
          <p:nvPr/>
        </p:nvGrpSpPr>
        <p:grpSpPr>
          <a:xfrm>
            <a:off x="2292522" y="4010331"/>
            <a:ext cx="3435797" cy="2314055"/>
            <a:chOff x="318228" y="3890802"/>
            <a:chExt cx="3570514" cy="2304872"/>
          </a:xfrm>
        </p:grpSpPr>
        <p:cxnSp>
          <p:nvCxnSpPr>
            <p:cNvPr id="5" name="直接箭头连接符 8">
              <a:extLst>
                <a:ext uri="{FF2B5EF4-FFF2-40B4-BE49-F238E27FC236}">
                  <a16:creationId xmlns:a16="http://schemas.microsoft.com/office/drawing/2014/main" id="{0285B8C4-7215-043D-A686-0E6CAEFEF344}"/>
                </a:ext>
              </a:extLst>
            </p:cNvPr>
            <p:cNvCxnSpPr/>
            <p:nvPr/>
          </p:nvCxnSpPr>
          <p:spPr>
            <a:xfrm>
              <a:off x="318228" y="6043274"/>
              <a:ext cx="357051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25">
              <a:extLst>
                <a:ext uri="{FF2B5EF4-FFF2-40B4-BE49-F238E27FC236}">
                  <a16:creationId xmlns:a16="http://schemas.microsoft.com/office/drawing/2014/main" id="{05139890-57A0-AF8D-D80D-73153224CB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628" y="3890802"/>
              <a:ext cx="0" cy="23048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BAF9BB7-1AC7-A9D0-E6C7-26C42DD849D3}"/>
              </a:ext>
            </a:extLst>
          </p:cNvPr>
          <p:cNvGrpSpPr/>
          <p:nvPr/>
        </p:nvGrpSpPr>
        <p:grpSpPr>
          <a:xfrm>
            <a:off x="2465587" y="5286442"/>
            <a:ext cx="1924068" cy="949182"/>
            <a:chOff x="1840436" y="4552173"/>
            <a:chExt cx="1924068" cy="949182"/>
          </a:xfrm>
        </p:grpSpPr>
        <p:sp>
          <p:nvSpPr>
            <p:cNvPr id="9" name="椭圆 26">
              <a:extLst>
                <a:ext uri="{FF2B5EF4-FFF2-40B4-BE49-F238E27FC236}">
                  <a16:creationId xmlns:a16="http://schemas.microsoft.com/office/drawing/2014/main" id="{CF704633-FFFF-DF43-21D2-72A7C5988B27}"/>
                </a:ext>
              </a:extLst>
            </p:cNvPr>
            <p:cNvSpPr/>
            <p:nvPr/>
          </p:nvSpPr>
          <p:spPr>
            <a:xfrm>
              <a:off x="2234057" y="4552173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27">
              <a:extLst>
                <a:ext uri="{FF2B5EF4-FFF2-40B4-BE49-F238E27FC236}">
                  <a16:creationId xmlns:a16="http://schemas.microsoft.com/office/drawing/2014/main" id="{0F0064A7-9805-C783-37F3-EEA5649E0902}"/>
                </a:ext>
              </a:extLst>
            </p:cNvPr>
            <p:cNvSpPr/>
            <p:nvPr/>
          </p:nvSpPr>
          <p:spPr>
            <a:xfrm>
              <a:off x="2441275" y="4617927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28">
              <a:extLst>
                <a:ext uri="{FF2B5EF4-FFF2-40B4-BE49-F238E27FC236}">
                  <a16:creationId xmlns:a16="http://schemas.microsoft.com/office/drawing/2014/main" id="{AD3C5A51-7AC1-7194-A9F1-45377A3D26D4}"/>
                </a:ext>
              </a:extLst>
            </p:cNvPr>
            <p:cNvSpPr/>
            <p:nvPr/>
          </p:nvSpPr>
          <p:spPr>
            <a:xfrm>
              <a:off x="1960469" y="4838738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29">
              <a:extLst>
                <a:ext uri="{FF2B5EF4-FFF2-40B4-BE49-F238E27FC236}">
                  <a16:creationId xmlns:a16="http://schemas.microsoft.com/office/drawing/2014/main" id="{71079570-B4BB-6D3F-FC53-E89DAF44342E}"/>
                </a:ext>
              </a:extLst>
            </p:cNvPr>
            <p:cNvSpPr/>
            <p:nvPr/>
          </p:nvSpPr>
          <p:spPr>
            <a:xfrm>
              <a:off x="2122988" y="4991745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30">
              <a:extLst>
                <a:ext uri="{FF2B5EF4-FFF2-40B4-BE49-F238E27FC236}">
                  <a16:creationId xmlns:a16="http://schemas.microsoft.com/office/drawing/2014/main" id="{F1ADF341-A5B4-5CBC-16AA-A53E924C22D1}"/>
                </a:ext>
              </a:extLst>
            </p:cNvPr>
            <p:cNvSpPr/>
            <p:nvPr/>
          </p:nvSpPr>
          <p:spPr>
            <a:xfrm>
              <a:off x="2402625" y="4830882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31">
              <a:extLst>
                <a:ext uri="{FF2B5EF4-FFF2-40B4-BE49-F238E27FC236}">
                  <a16:creationId xmlns:a16="http://schemas.microsoft.com/office/drawing/2014/main" id="{6347BF97-1D8B-5F1C-B2F0-4355EA52713A}"/>
                </a:ext>
              </a:extLst>
            </p:cNvPr>
            <p:cNvSpPr/>
            <p:nvPr/>
          </p:nvSpPr>
          <p:spPr>
            <a:xfrm>
              <a:off x="2147842" y="4813300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39">
              <a:extLst>
                <a:ext uri="{FF2B5EF4-FFF2-40B4-BE49-F238E27FC236}">
                  <a16:creationId xmlns:a16="http://schemas.microsoft.com/office/drawing/2014/main" id="{A8256356-4A12-5432-5D9F-3CDE9C18CC83}"/>
                </a:ext>
              </a:extLst>
            </p:cNvPr>
            <p:cNvSpPr txBox="1"/>
            <p:nvPr/>
          </p:nvSpPr>
          <p:spPr>
            <a:xfrm>
              <a:off x="1840436" y="5039690"/>
              <a:ext cx="1924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Category A</a:t>
              </a:r>
              <a:endPara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71">
            <a:extLst>
              <a:ext uri="{FF2B5EF4-FFF2-40B4-BE49-F238E27FC236}">
                <a16:creationId xmlns:a16="http://schemas.microsoft.com/office/drawing/2014/main" id="{2DF49EC2-9487-C19D-4AC2-56CE677527B8}"/>
              </a:ext>
            </a:extLst>
          </p:cNvPr>
          <p:cNvGrpSpPr/>
          <p:nvPr/>
        </p:nvGrpSpPr>
        <p:grpSpPr>
          <a:xfrm>
            <a:off x="3372141" y="3977091"/>
            <a:ext cx="1892313" cy="1146559"/>
            <a:chOff x="1473285" y="3858038"/>
            <a:chExt cx="1966510" cy="1142009"/>
          </a:xfrm>
        </p:grpSpPr>
        <p:sp>
          <p:nvSpPr>
            <p:cNvPr id="17" name="椭圆 32">
              <a:extLst>
                <a:ext uri="{FF2B5EF4-FFF2-40B4-BE49-F238E27FC236}">
                  <a16:creationId xmlns:a16="http://schemas.microsoft.com/office/drawing/2014/main" id="{47DCD855-5678-B151-956F-CFA48A781937}"/>
                </a:ext>
              </a:extLst>
            </p:cNvPr>
            <p:cNvSpPr/>
            <p:nvPr/>
          </p:nvSpPr>
          <p:spPr>
            <a:xfrm>
              <a:off x="2253345" y="44049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椭圆 33">
              <a:extLst>
                <a:ext uri="{FF2B5EF4-FFF2-40B4-BE49-F238E27FC236}">
                  <a16:creationId xmlns:a16="http://schemas.microsoft.com/office/drawing/2014/main" id="{D4E936E1-FB89-056F-08A3-25C42B2B751D}"/>
                </a:ext>
              </a:extLst>
            </p:cNvPr>
            <p:cNvSpPr/>
            <p:nvPr/>
          </p:nvSpPr>
          <p:spPr>
            <a:xfrm>
              <a:off x="2405745" y="45573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椭圆 34">
              <a:extLst>
                <a:ext uri="{FF2B5EF4-FFF2-40B4-BE49-F238E27FC236}">
                  <a16:creationId xmlns:a16="http://schemas.microsoft.com/office/drawing/2014/main" id="{57DBFDFF-4F45-1A82-3622-43EA162276D5}"/>
                </a:ext>
              </a:extLst>
            </p:cNvPr>
            <p:cNvSpPr/>
            <p:nvPr/>
          </p:nvSpPr>
          <p:spPr>
            <a:xfrm>
              <a:off x="2086430" y="47097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椭圆 35">
              <a:extLst>
                <a:ext uri="{FF2B5EF4-FFF2-40B4-BE49-F238E27FC236}">
                  <a16:creationId xmlns:a16="http://schemas.microsoft.com/office/drawing/2014/main" id="{AD7139D7-2847-8280-E3DB-423E9E750ADC}"/>
                </a:ext>
              </a:extLst>
            </p:cNvPr>
            <p:cNvSpPr/>
            <p:nvPr/>
          </p:nvSpPr>
          <p:spPr>
            <a:xfrm>
              <a:off x="2238830" y="48621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椭圆 36">
              <a:extLst>
                <a:ext uri="{FF2B5EF4-FFF2-40B4-BE49-F238E27FC236}">
                  <a16:creationId xmlns:a16="http://schemas.microsoft.com/office/drawing/2014/main" id="{4D72473D-C6C1-AEEC-D1F3-F099995C9AE3}"/>
                </a:ext>
              </a:extLst>
            </p:cNvPr>
            <p:cNvSpPr/>
            <p:nvPr/>
          </p:nvSpPr>
          <p:spPr>
            <a:xfrm>
              <a:off x="2391231" y="4746075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椭圆 37">
              <a:extLst>
                <a:ext uri="{FF2B5EF4-FFF2-40B4-BE49-F238E27FC236}">
                  <a16:creationId xmlns:a16="http://schemas.microsoft.com/office/drawing/2014/main" id="{42845B5E-C66A-7903-E901-7815E18EC1F6}"/>
                </a:ext>
              </a:extLst>
            </p:cNvPr>
            <p:cNvSpPr/>
            <p:nvPr/>
          </p:nvSpPr>
          <p:spPr>
            <a:xfrm>
              <a:off x="2543631" y="4898475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椭圆 38">
              <a:extLst>
                <a:ext uri="{FF2B5EF4-FFF2-40B4-BE49-F238E27FC236}">
                  <a16:creationId xmlns:a16="http://schemas.microsoft.com/office/drawing/2014/main" id="{A44CEDF4-5A6C-ED96-86CA-3138CF0C9D17}"/>
                </a:ext>
              </a:extLst>
            </p:cNvPr>
            <p:cNvSpPr/>
            <p:nvPr/>
          </p:nvSpPr>
          <p:spPr>
            <a:xfrm>
              <a:off x="2558145" y="47097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40">
              <a:extLst>
                <a:ext uri="{FF2B5EF4-FFF2-40B4-BE49-F238E27FC236}">
                  <a16:creationId xmlns:a16="http://schemas.microsoft.com/office/drawing/2014/main" id="{FC9E5FE5-2BD3-7B15-71DF-9688D37251C9}"/>
                </a:ext>
              </a:extLst>
            </p:cNvPr>
            <p:cNvSpPr txBox="1"/>
            <p:nvPr/>
          </p:nvSpPr>
          <p:spPr>
            <a:xfrm>
              <a:off x="1473285" y="3858038"/>
              <a:ext cx="1966510" cy="459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Category B</a:t>
              </a:r>
              <a:endPara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" name="组合 72">
            <a:extLst>
              <a:ext uri="{FF2B5EF4-FFF2-40B4-BE49-F238E27FC236}">
                <a16:creationId xmlns:a16="http://schemas.microsoft.com/office/drawing/2014/main" id="{80B04BFE-9464-747B-FFFA-2A6D0EA1CF79}"/>
              </a:ext>
            </a:extLst>
          </p:cNvPr>
          <p:cNvGrpSpPr/>
          <p:nvPr/>
        </p:nvGrpSpPr>
        <p:grpSpPr>
          <a:xfrm>
            <a:off x="3394130" y="5263840"/>
            <a:ext cx="2991666" cy="523846"/>
            <a:chOff x="1463591" y="5144305"/>
            <a:chExt cx="3108968" cy="521767"/>
          </a:xfrm>
        </p:grpSpPr>
        <p:sp>
          <p:nvSpPr>
            <p:cNvPr id="26" name="椭圆 41">
              <a:extLst>
                <a:ext uri="{FF2B5EF4-FFF2-40B4-BE49-F238E27FC236}">
                  <a16:creationId xmlns:a16="http://schemas.microsoft.com/office/drawing/2014/main" id="{4C7A442F-A093-36A6-6F59-304D1F9E8278}"/>
                </a:ext>
              </a:extLst>
            </p:cNvPr>
            <p:cNvSpPr/>
            <p:nvPr/>
          </p:nvSpPr>
          <p:spPr>
            <a:xfrm>
              <a:off x="1463591" y="5144305"/>
              <a:ext cx="101591" cy="101572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7" name="直接箭头连接符 43">
              <a:extLst>
                <a:ext uri="{FF2B5EF4-FFF2-40B4-BE49-F238E27FC236}">
                  <a16:creationId xmlns:a16="http://schemas.microsoft.com/office/drawing/2014/main" id="{356B386E-7EED-6C45-D49F-0D43D6E44CC2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1655645" y="5220779"/>
              <a:ext cx="770964" cy="2153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44">
              <a:extLst>
                <a:ext uri="{FF2B5EF4-FFF2-40B4-BE49-F238E27FC236}">
                  <a16:creationId xmlns:a16="http://schemas.microsoft.com/office/drawing/2014/main" id="{F716F1EC-F233-7E15-C05F-A2B4279DA4CE}"/>
                </a:ext>
              </a:extLst>
            </p:cNvPr>
            <p:cNvSpPr txBox="1"/>
            <p:nvPr/>
          </p:nvSpPr>
          <p:spPr>
            <a:xfrm>
              <a:off x="2426609" y="5206239"/>
              <a:ext cx="2145950" cy="459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point x</a:t>
              </a:r>
              <a:r>
                <a:rPr lang="en-US" altLang="zh-CN" sz="2400" baseline="30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4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文本框 4">
            <a:extLst>
              <a:ext uri="{FF2B5EF4-FFF2-40B4-BE49-F238E27FC236}">
                <a16:creationId xmlns:a16="http://schemas.microsoft.com/office/drawing/2014/main" id="{61F6E2DD-A25D-7488-C72A-6BB3A1722342}"/>
              </a:ext>
            </a:extLst>
          </p:cNvPr>
          <p:cNvSpPr txBox="1"/>
          <p:nvPr/>
        </p:nvSpPr>
        <p:spPr>
          <a:xfrm>
            <a:off x="6599410" y="5183058"/>
            <a:ext cx="2583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category does x</a:t>
            </a:r>
            <a:r>
              <a:rPr lang="en-US" altLang="zh-CN" sz="2400" baseline="30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belong to?</a:t>
            </a:r>
            <a:endParaRPr lang="zh-CN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53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Non-parametric learning: KNN</a:t>
            </a:r>
          </a:p>
        </p:txBody>
      </p:sp>
      <p:sp>
        <p:nvSpPr>
          <p:cNvPr id="3" name="文本框 42">
            <a:extLst>
              <a:ext uri="{FF2B5EF4-FFF2-40B4-BE49-F238E27FC236}">
                <a16:creationId xmlns:a16="http://schemas.microsoft.com/office/drawing/2014/main" id="{391349ED-02B9-D3DE-9DC6-2ACC88ABC85C}"/>
              </a:ext>
            </a:extLst>
          </p:cNvPr>
          <p:cNvSpPr txBox="1"/>
          <p:nvPr/>
        </p:nvSpPr>
        <p:spPr>
          <a:xfrm>
            <a:off x="510000" y="2162970"/>
            <a:ext cx="4614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Choose the value of 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𝐾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" name="文本框 45">
            <a:extLst>
              <a:ext uri="{FF2B5EF4-FFF2-40B4-BE49-F238E27FC236}">
                <a16:creationId xmlns:a16="http://schemas.microsoft.com/office/drawing/2014/main" id="{7994F2D4-1798-26C3-1C6A-768B9FD0E6CF}"/>
              </a:ext>
            </a:extLst>
          </p:cNvPr>
          <p:cNvSpPr txBox="1"/>
          <p:nvPr/>
        </p:nvSpPr>
        <p:spPr>
          <a:xfrm>
            <a:off x="509999" y="3402369"/>
            <a:ext cx="111719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Calculate the distance of the query data and each of the example data.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83D0B35B-A945-FD09-8283-AB66DF7E3D9D}"/>
                  </a:ext>
                </a:extLst>
              </p:cNvPr>
              <p:cNvSpPr txBox="1"/>
              <p:nvPr/>
            </p:nvSpPr>
            <p:spPr>
              <a:xfrm>
                <a:off x="646013" y="2766154"/>
                <a:ext cx="461453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 set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this example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文本框 7">
                <a:extLst>
                  <a:ext uri="{FF2B5EF4-FFF2-40B4-BE49-F238E27FC236}">
                    <a16:creationId xmlns:a16="http://schemas.microsoft.com/office/drawing/2014/main" id="{83D0B35B-A945-FD09-8283-AB66DF7E3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13" y="2766154"/>
                <a:ext cx="4614530" cy="461665"/>
              </a:xfrm>
              <a:prstGeom prst="rect">
                <a:avLst/>
              </a:prstGeom>
              <a:blipFill>
                <a:blip r:embed="rId3"/>
                <a:stretch>
                  <a:fillRect l="-2114" t="-933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9">
                <a:extLst>
                  <a:ext uri="{FF2B5EF4-FFF2-40B4-BE49-F238E27FC236}">
                    <a16:creationId xmlns:a16="http://schemas.microsoft.com/office/drawing/2014/main" id="{D7D8AAF2-059E-A6C8-D0AA-8B915D4518AF}"/>
                  </a:ext>
                </a:extLst>
              </p:cNvPr>
              <p:cNvSpPr txBox="1"/>
              <p:nvPr/>
            </p:nvSpPr>
            <p:spPr>
              <a:xfrm>
                <a:off x="509999" y="4358203"/>
                <a:ext cx="9893633" cy="1649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Euclidean distance is a widely used distance measure.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Euclidean distance between two points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defined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文本框 9">
                <a:extLst>
                  <a:ext uri="{FF2B5EF4-FFF2-40B4-BE49-F238E27FC236}">
                    <a16:creationId xmlns:a16="http://schemas.microsoft.com/office/drawing/2014/main" id="{D7D8AAF2-059E-A6C8-D0AA-8B915D451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999" y="4358203"/>
                <a:ext cx="9893633" cy="1649362"/>
              </a:xfrm>
              <a:prstGeom prst="rect">
                <a:avLst/>
              </a:prstGeom>
              <a:blipFill>
                <a:blip r:embed="rId4"/>
                <a:stretch>
                  <a:fillRect l="-863" t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3">
            <a:extLst>
              <a:ext uri="{FF2B5EF4-FFF2-40B4-BE49-F238E27FC236}">
                <a16:creationId xmlns:a16="http://schemas.microsoft.com/office/drawing/2014/main" id="{C6C3762D-8D03-2AF9-A7B0-604A66E38255}"/>
              </a:ext>
            </a:extLst>
          </p:cNvPr>
          <p:cNvSpPr txBox="1"/>
          <p:nvPr/>
        </p:nvSpPr>
        <p:spPr>
          <a:xfrm>
            <a:off x="510000" y="1608234"/>
            <a:ext cx="7421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 illustrative example</a:t>
            </a:r>
          </a:p>
        </p:txBody>
      </p:sp>
    </p:spTree>
    <p:extLst>
      <p:ext uri="{BB962C8B-B14F-4D97-AF65-F5344CB8AC3E}">
        <p14:creationId xmlns:p14="http://schemas.microsoft.com/office/powerpoint/2010/main" val="291425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Non-parametric learning: KNN</a:t>
            </a:r>
          </a:p>
        </p:txBody>
      </p:sp>
      <p:grpSp>
        <p:nvGrpSpPr>
          <p:cNvPr id="3" name="组合 10">
            <a:extLst>
              <a:ext uri="{FF2B5EF4-FFF2-40B4-BE49-F238E27FC236}">
                <a16:creationId xmlns:a16="http://schemas.microsoft.com/office/drawing/2014/main" id="{C3249947-040B-A54D-5528-AFE6C8C5D4F0}"/>
              </a:ext>
            </a:extLst>
          </p:cNvPr>
          <p:cNvGrpSpPr/>
          <p:nvPr/>
        </p:nvGrpSpPr>
        <p:grpSpPr>
          <a:xfrm>
            <a:off x="2153716" y="2805925"/>
            <a:ext cx="3435797" cy="2314055"/>
            <a:chOff x="318228" y="3890802"/>
            <a:chExt cx="3570514" cy="2304872"/>
          </a:xfrm>
        </p:grpSpPr>
        <p:cxnSp>
          <p:nvCxnSpPr>
            <p:cNvPr id="4" name="直接箭头连接符 11">
              <a:extLst>
                <a:ext uri="{FF2B5EF4-FFF2-40B4-BE49-F238E27FC236}">
                  <a16:creationId xmlns:a16="http://schemas.microsoft.com/office/drawing/2014/main" id="{AF42EA7D-9218-BC6A-70A1-4B5C1EA641F0}"/>
                </a:ext>
              </a:extLst>
            </p:cNvPr>
            <p:cNvCxnSpPr/>
            <p:nvPr/>
          </p:nvCxnSpPr>
          <p:spPr>
            <a:xfrm>
              <a:off x="318228" y="6043274"/>
              <a:ext cx="357051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箭头连接符 13">
              <a:extLst>
                <a:ext uri="{FF2B5EF4-FFF2-40B4-BE49-F238E27FC236}">
                  <a16:creationId xmlns:a16="http://schemas.microsoft.com/office/drawing/2014/main" id="{D6A663C5-0FC7-308A-F778-844A79F9F6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628" y="3890802"/>
              <a:ext cx="0" cy="23048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14">
            <a:extLst>
              <a:ext uri="{FF2B5EF4-FFF2-40B4-BE49-F238E27FC236}">
                <a16:creationId xmlns:a16="http://schemas.microsoft.com/office/drawing/2014/main" id="{6BEC16B7-1364-A642-91FD-4DEE82E15E1C}"/>
              </a:ext>
            </a:extLst>
          </p:cNvPr>
          <p:cNvGrpSpPr/>
          <p:nvPr/>
        </p:nvGrpSpPr>
        <p:grpSpPr>
          <a:xfrm>
            <a:off x="2347880" y="4082036"/>
            <a:ext cx="1671065" cy="938645"/>
            <a:chOff x="1861535" y="4552173"/>
            <a:chExt cx="1671065" cy="938645"/>
          </a:xfrm>
        </p:grpSpPr>
        <p:sp>
          <p:nvSpPr>
            <p:cNvPr id="7" name="椭圆 15">
              <a:extLst>
                <a:ext uri="{FF2B5EF4-FFF2-40B4-BE49-F238E27FC236}">
                  <a16:creationId xmlns:a16="http://schemas.microsoft.com/office/drawing/2014/main" id="{ECB8B30F-B9E3-F309-3BB4-0311238D13C3}"/>
                </a:ext>
              </a:extLst>
            </p:cNvPr>
            <p:cNvSpPr/>
            <p:nvPr/>
          </p:nvSpPr>
          <p:spPr>
            <a:xfrm>
              <a:off x="2234057" y="4552173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椭圆 16">
              <a:extLst>
                <a:ext uri="{FF2B5EF4-FFF2-40B4-BE49-F238E27FC236}">
                  <a16:creationId xmlns:a16="http://schemas.microsoft.com/office/drawing/2014/main" id="{334887E2-4F1D-0353-841B-0AB03179BC08}"/>
                </a:ext>
              </a:extLst>
            </p:cNvPr>
            <p:cNvSpPr/>
            <p:nvPr/>
          </p:nvSpPr>
          <p:spPr>
            <a:xfrm>
              <a:off x="2441275" y="4617927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17">
              <a:extLst>
                <a:ext uri="{FF2B5EF4-FFF2-40B4-BE49-F238E27FC236}">
                  <a16:creationId xmlns:a16="http://schemas.microsoft.com/office/drawing/2014/main" id="{F8075163-1737-538C-ACE3-72766FDCA5F5}"/>
                </a:ext>
              </a:extLst>
            </p:cNvPr>
            <p:cNvSpPr/>
            <p:nvPr/>
          </p:nvSpPr>
          <p:spPr>
            <a:xfrm>
              <a:off x="1960469" y="4838738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18">
              <a:extLst>
                <a:ext uri="{FF2B5EF4-FFF2-40B4-BE49-F238E27FC236}">
                  <a16:creationId xmlns:a16="http://schemas.microsoft.com/office/drawing/2014/main" id="{F991976A-50B1-677B-4DF4-8505936B1D8A}"/>
                </a:ext>
              </a:extLst>
            </p:cNvPr>
            <p:cNvSpPr/>
            <p:nvPr/>
          </p:nvSpPr>
          <p:spPr>
            <a:xfrm>
              <a:off x="2122988" y="4991745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19">
              <a:extLst>
                <a:ext uri="{FF2B5EF4-FFF2-40B4-BE49-F238E27FC236}">
                  <a16:creationId xmlns:a16="http://schemas.microsoft.com/office/drawing/2014/main" id="{D9412602-5748-9BF2-5048-99AB5744961D}"/>
                </a:ext>
              </a:extLst>
            </p:cNvPr>
            <p:cNvSpPr/>
            <p:nvPr/>
          </p:nvSpPr>
          <p:spPr>
            <a:xfrm>
              <a:off x="2402625" y="4830882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20">
              <a:extLst>
                <a:ext uri="{FF2B5EF4-FFF2-40B4-BE49-F238E27FC236}">
                  <a16:creationId xmlns:a16="http://schemas.microsoft.com/office/drawing/2014/main" id="{C39E546C-70A7-01C1-AAC4-7D341C8186E1}"/>
                </a:ext>
              </a:extLst>
            </p:cNvPr>
            <p:cNvSpPr/>
            <p:nvPr/>
          </p:nvSpPr>
          <p:spPr>
            <a:xfrm>
              <a:off x="2147842" y="4813300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22">
              <a:extLst>
                <a:ext uri="{FF2B5EF4-FFF2-40B4-BE49-F238E27FC236}">
                  <a16:creationId xmlns:a16="http://schemas.microsoft.com/office/drawing/2014/main" id="{0239BFCE-97AB-4502-E53C-97685E7380AB}"/>
                </a:ext>
              </a:extLst>
            </p:cNvPr>
            <p:cNvSpPr txBox="1"/>
            <p:nvPr/>
          </p:nvSpPr>
          <p:spPr>
            <a:xfrm>
              <a:off x="1861535" y="5121486"/>
              <a:ext cx="1671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Category A</a:t>
              </a:r>
              <a:endParaRPr lang="zh-CN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组合 23">
            <a:extLst>
              <a:ext uri="{FF2B5EF4-FFF2-40B4-BE49-F238E27FC236}">
                <a16:creationId xmlns:a16="http://schemas.microsoft.com/office/drawing/2014/main" id="{F3AE1369-08F0-DAB2-8508-FED11C816E05}"/>
              </a:ext>
            </a:extLst>
          </p:cNvPr>
          <p:cNvGrpSpPr/>
          <p:nvPr/>
        </p:nvGrpSpPr>
        <p:grpSpPr>
          <a:xfrm>
            <a:off x="3378190" y="2977305"/>
            <a:ext cx="1617484" cy="1026144"/>
            <a:chOff x="1839684" y="3977975"/>
            <a:chExt cx="1680905" cy="1022072"/>
          </a:xfrm>
        </p:grpSpPr>
        <p:sp>
          <p:nvSpPr>
            <p:cNvPr id="16" name="椭圆 24">
              <a:extLst>
                <a:ext uri="{FF2B5EF4-FFF2-40B4-BE49-F238E27FC236}">
                  <a16:creationId xmlns:a16="http://schemas.microsoft.com/office/drawing/2014/main" id="{5A50F1B9-F92A-5D2C-1DA4-BF6BD9E16B76}"/>
                </a:ext>
              </a:extLst>
            </p:cNvPr>
            <p:cNvSpPr/>
            <p:nvPr/>
          </p:nvSpPr>
          <p:spPr>
            <a:xfrm>
              <a:off x="2253345" y="44049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椭圆 25">
              <a:extLst>
                <a:ext uri="{FF2B5EF4-FFF2-40B4-BE49-F238E27FC236}">
                  <a16:creationId xmlns:a16="http://schemas.microsoft.com/office/drawing/2014/main" id="{9D498033-6CD2-AB95-5265-4B2BBB1A0F6D}"/>
                </a:ext>
              </a:extLst>
            </p:cNvPr>
            <p:cNvSpPr/>
            <p:nvPr/>
          </p:nvSpPr>
          <p:spPr>
            <a:xfrm>
              <a:off x="2405745" y="45573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椭圆 26">
              <a:extLst>
                <a:ext uri="{FF2B5EF4-FFF2-40B4-BE49-F238E27FC236}">
                  <a16:creationId xmlns:a16="http://schemas.microsoft.com/office/drawing/2014/main" id="{2F2409F5-1F05-E55D-E707-C5C01BB605C5}"/>
                </a:ext>
              </a:extLst>
            </p:cNvPr>
            <p:cNvSpPr/>
            <p:nvPr/>
          </p:nvSpPr>
          <p:spPr>
            <a:xfrm>
              <a:off x="2086430" y="47097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椭圆 27">
              <a:extLst>
                <a:ext uri="{FF2B5EF4-FFF2-40B4-BE49-F238E27FC236}">
                  <a16:creationId xmlns:a16="http://schemas.microsoft.com/office/drawing/2014/main" id="{AC85C7CD-41BE-C70D-3787-4A5749257D87}"/>
                </a:ext>
              </a:extLst>
            </p:cNvPr>
            <p:cNvSpPr/>
            <p:nvPr/>
          </p:nvSpPr>
          <p:spPr>
            <a:xfrm>
              <a:off x="2238830" y="48621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椭圆 28">
              <a:extLst>
                <a:ext uri="{FF2B5EF4-FFF2-40B4-BE49-F238E27FC236}">
                  <a16:creationId xmlns:a16="http://schemas.microsoft.com/office/drawing/2014/main" id="{F7D00AB1-681A-2F5A-C13E-1C9028BBAE3A}"/>
                </a:ext>
              </a:extLst>
            </p:cNvPr>
            <p:cNvSpPr/>
            <p:nvPr/>
          </p:nvSpPr>
          <p:spPr>
            <a:xfrm>
              <a:off x="2391231" y="4746075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椭圆 29">
              <a:extLst>
                <a:ext uri="{FF2B5EF4-FFF2-40B4-BE49-F238E27FC236}">
                  <a16:creationId xmlns:a16="http://schemas.microsoft.com/office/drawing/2014/main" id="{EB898056-E2A4-ED37-D6B7-04DCB1599466}"/>
                </a:ext>
              </a:extLst>
            </p:cNvPr>
            <p:cNvSpPr/>
            <p:nvPr/>
          </p:nvSpPr>
          <p:spPr>
            <a:xfrm>
              <a:off x="2543631" y="4898475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椭圆 30">
              <a:extLst>
                <a:ext uri="{FF2B5EF4-FFF2-40B4-BE49-F238E27FC236}">
                  <a16:creationId xmlns:a16="http://schemas.microsoft.com/office/drawing/2014/main" id="{7B3D14CE-5DC4-65F9-0331-95710156C33B}"/>
                </a:ext>
              </a:extLst>
            </p:cNvPr>
            <p:cNvSpPr/>
            <p:nvPr/>
          </p:nvSpPr>
          <p:spPr>
            <a:xfrm>
              <a:off x="2558145" y="47097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31">
              <a:extLst>
                <a:ext uri="{FF2B5EF4-FFF2-40B4-BE49-F238E27FC236}">
                  <a16:creationId xmlns:a16="http://schemas.microsoft.com/office/drawing/2014/main" id="{48DDB929-AD5D-E289-BFC6-F34BE8049573}"/>
                </a:ext>
              </a:extLst>
            </p:cNvPr>
            <p:cNvSpPr txBox="1"/>
            <p:nvPr/>
          </p:nvSpPr>
          <p:spPr>
            <a:xfrm>
              <a:off x="1839684" y="3977975"/>
              <a:ext cx="1680905" cy="3678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Category B</a:t>
              </a:r>
              <a:endParaRPr lang="zh-CN" alt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椭圆 33">
            <a:extLst>
              <a:ext uri="{FF2B5EF4-FFF2-40B4-BE49-F238E27FC236}">
                <a16:creationId xmlns:a16="http://schemas.microsoft.com/office/drawing/2014/main" id="{9FC75042-3AE6-089F-94FC-A0BF9BB07CF0}"/>
              </a:ext>
            </a:extLst>
          </p:cNvPr>
          <p:cNvSpPr/>
          <p:nvPr/>
        </p:nvSpPr>
        <p:spPr>
          <a:xfrm>
            <a:off x="3255324" y="4059429"/>
            <a:ext cx="97758" cy="1019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椭圆 2">
            <a:extLst>
              <a:ext uri="{FF2B5EF4-FFF2-40B4-BE49-F238E27FC236}">
                <a16:creationId xmlns:a16="http://schemas.microsoft.com/office/drawing/2014/main" id="{FD01DF2F-FEED-49B5-3504-9F3291ED170B}"/>
              </a:ext>
            </a:extLst>
          </p:cNvPr>
          <p:cNvSpPr/>
          <p:nvPr/>
        </p:nvSpPr>
        <p:spPr>
          <a:xfrm>
            <a:off x="2703318" y="3498930"/>
            <a:ext cx="1233398" cy="1201828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37">
            <a:extLst>
              <a:ext uri="{FF2B5EF4-FFF2-40B4-BE49-F238E27FC236}">
                <a16:creationId xmlns:a16="http://schemas.microsoft.com/office/drawing/2014/main" id="{E498A6E6-9D61-836A-AE14-E10A501B5AE3}"/>
              </a:ext>
            </a:extLst>
          </p:cNvPr>
          <p:cNvSpPr txBox="1"/>
          <p:nvPr/>
        </p:nvSpPr>
        <p:spPr>
          <a:xfrm>
            <a:off x="510000" y="2281085"/>
            <a:ext cx="6362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Step 3: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Find 5-nearest neighbors of point x</a:t>
            </a:r>
            <a:r>
              <a:rPr lang="en-US" altLang="zh-C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sz="2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6">
            <a:extLst>
              <a:ext uri="{FF2B5EF4-FFF2-40B4-BE49-F238E27FC236}">
                <a16:creationId xmlns:a16="http://schemas.microsoft.com/office/drawing/2014/main" id="{7EAEDD5F-82DF-28AF-9DC1-4940487FB39B}"/>
              </a:ext>
            </a:extLst>
          </p:cNvPr>
          <p:cNvSpPr txBox="1"/>
          <p:nvPr/>
        </p:nvSpPr>
        <p:spPr>
          <a:xfrm>
            <a:off x="510000" y="5202041"/>
            <a:ext cx="7688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Step 4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Majority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vote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5-nearest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neighbors.</a:t>
            </a:r>
          </a:p>
        </p:txBody>
      </p:sp>
      <p:sp>
        <p:nvSpPr>
          <p:cNvPr id="28" name="文本框 40">
            <a:extLst>
              <a:ext uri="{FF2B5EF4-FFF2-40B4-BE49-F238E27FC236}">
                <a16:creationId xmlns:a16="http://schemas.microsoft.com/office/drawing/2014/main" id="{8A3A24CD-292B-7320-F9D3-7345604DC3BA}"/>
              </a:ext>
            </a:extLst>
          </p:cNvPr>
          <p:cNvSpPr txBox="1"/>
          <p:nvPr/>
        </p:nvSpPr>
        <p:spPr>
          <a:xfrm>
            <a:off x="510000" y="5782307"/>
            <a:ext cx="10311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Since the majority of the 5-nearest neighbors are in Category A, x</a:t>
            </a:r>
            <a:r>
              <a:rPr lang="en-US" altLang="zh-C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belongs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Category A.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直接箭头连接符 39">
            <a:extLst>
              <a:ext uri="{FF2B5EF4-FFF2-40B4-BE49-F238E27FC236}">
                <a16:creationId xmlns:a16="http://schemas.microsoft.com/office/drawing/2014/main" id="{BE8AC41E-B8FF-3FDC-126C-6FB01D0156DF}"/>
              </a:ext>
            </a:extLst>
          </p:cNvPr>
          <p:cNvCxnSpPr>
            <a:cxnSpLocks/>
            <a:stCxn id="25" idx="6"/>
            <a:endCxn id="30" idx="1"/>
          </p:cNvCxnSpPr>
          <p:nvPr/>
        </p:nvCxnSpPr>
        <p:spPr>
          <a:xfrm flipV="1">
            <a:off x="3936716" y="3834822"/>
            <a:ext cx="1058958" cy="265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44">
            <a:extLst>
              <a:ext uri="{FF2B5EF4-FFF2-40B4-BE49-F238E27FC236}">
                <a16:creationId xmlns:a16="http://schemas.microsoft.com/office/drawing/2014/main" id="{C32F8D8E-3BC9-E262-C92D-C4A75EF2BC38}"/>
              </a:ext>
            </a:extLst>
          </p:cNvPr>
          <p:cNvSpPr txBox="1"/>
          <p:nvPr/>
        </p:nvSpPr>
        <p:spPr>
          <a:xfrm>
            <a:off x="4995674" y="3480879"/>
            <a:ext cx="2361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5-nearest neighbors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963A19C6-AA66-A454-34A1-5202A23CC532}"/>
              </a:ext>
            </a:extLst>
          </p:cNvPr>
          <p:cNvSpPr txBox="1"/>
          <p:nvPr/>
        </p:nvSpPr>
        <p:spPr>
          <a:xfrm>
            <a:off x="510000" y="1608234"/>
            <a:ext cx="7421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 illustrative example</a:t>
            </a:r>
          </a:p>
        </p:txBody>
      </p:sp>
    </p:spTree>
    <p:extLst>
      <p:ext uri="{BB962C8B-B14F-4D97-AF65-F5344CB8AC3E}">
        <p14:creationId xmlns:p14="http://schemas.microsoft.com/office/powerpoint/2010/main" val="406729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8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Non-parametric learning: KNN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4">
                <a:extLst>
                  <a:ext uri="{FF2B5EF4-FFF2-40B4-BE49-F238E27FC236}">
                    <a16:creationId xmlns:a16="http://schemas.microsoft.com/office/drawing/2014/main" id="{10BEBE31-8E15-739E-AFA3-9DFE223DD058}"/>
                  </a:ext>
                </a:extLst>
              </p:cNvPr>
              <p:cNvSpPr txBox="1"/>
              <p:nvPr/>
            </p:nvSpPr>
            <p:spPr>
              <a:xfrm>
                <a:off x="550377" y="2139584"/>
                <a:ext cx="1044108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 the previous example, we set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the query data is assigned to Category A.</a:t>
                </a:r>
              </a:p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What if we set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? 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4">
                <a:extLst>
                  <a:ext uri="{FF2B5EF4-FFF2-40B4-BE49-F238E27FC236}">
                    <a16:creationId xmlns:a16="http://schemas.microsoft.com/office/drawing/2014/main" id="{10BEBE31-8E15-739E-AFA3-9DFE223DD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77" y="2139584"/>
                <a:ext cx="10441084" cy="1200329"/>
              </a:xfrm>
              <a:prstGeom prst="rect">
                <a:avLst/>
              </a:prstGeom>
              <a:blipFill>
                <a:blip r:embed="rId3"/>
                <a:stretch>
                  <a:fillRect l="-876" t="-3553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67">
            <a:extLst>
              <a:ext uri="{FF2B5EF4-FFF2-40B4-BE49-F238E27FC236}">
                <a16:creationId xmlns:a16="http://schemas.microsoft.com/office/drawing/2014/main" id="{337A3A88-764E-3BED-B33B-6C0A54B353C7}"/>
              </a:ext>
            </a:extLst>
          </p:cNvPr>
          <p:cNvGrpSpPr/>
          <p:nvPr/>
        </p:nvGrpSpPr>
        <p:grpSpPr>
          <a:xfrm>
            <a:off x="602731" y="3942183"/>
            <a:ext cx="3435797" cy="2314055"/>
            <a:chOff x="318228" y="3890802"/>
            <a:chExt cx="3570514" cy="2304872"/>
          </a:xfrm>
        </p:grpSpPr>
        <p:cxnSp>
          <p:nvCxnSpPr>
            <p:cNvPr id="5" name="直接箭头连接符 68">
              <a:extLst>
                <a:ext uri="{FF2B5EF4-FFF2-40B4-BE49-F238E27FC236}">
                  <a16:creationId xmlns:a16="http://schemas.microsoft.com/office/drawing/2014/main" id="{9DB084C9-8983-E013-5C11-88E5690D7CB8}"/>
                </a:ext>
              </a:extLst>
            </p:cNvPr>
            <p:cNvCxnSpPr/>
            <p:nvPr/>
          </p:nvCxnSpPr>
          <p:spPr>
            <a:xfrm>
              <a:off x="318228" y="6043274"/>
              <a:ext cx="357051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69">
              <a:extLst>
                <a:ext uri="{FF2B5EF4-FFF2-40B4-BE49-F238E27FC236}">
                  <a16:creationId xmlns:a16="http://schemas.microsoft.com/office/drawing/2014/main" id="{30F15AB8-437D-A072-3426-0238D8914E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628" y="3890802"/>
              <a:ext cx="0" cy="23048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74">
            <a:extLst>
              <a:ext uri="{FF2B5EF4-FFF2-40B4-BE49-F238E27FC236}">
                <a16:creationId xmlns:a16="http://schemas.microsoft.com/office/drawing/2014/main" id="{6B0AA18C-DFE0-5AFB-06B8-997BC5AED1A0}"/>
              </a:ext>
            </a:extLst>
          </p:cNvPr>
          <p:cNvGrpSpPr/>
          <p:nvPr/>
        </p:nvGrpSpPr>
        <p:grpSpPr>
          <a:xfrm>
            <a:off x="895829" y="5218294"/>
            <a:ext cx="1856302" cy="952225"/>
            <a:chOff x="1960469" y="4552173"/>
            <a:chExt cx="1856302" cy="952225"/>
          </a:xfrm>
        </p:grpSpPr>
        <p:sp>
          <p:nvSpPr>
            <p:cNvPr id="9" name="椭圆 75">
              <a:extLst>
                <a:ext uri="{FF2B5EF4-FFF2-40B4-BE49-F238E27FC236}">
                  <a16:creationId xmlns:a16="http://schemas.microsoft.com/office/drawing/2014/main" id="{C3A9E398-01B1-0CCB-8428-096A4976432A}"/>
                </a:ext>
              </a:extLst>
            </p:cNvPr>
            <p:cNvSpPr/>
            <p:nvPr/>
          </p:nvSpPr>
          <p:spPr>
            <a:xfrm>
              <a:off x="2234057" y="4552173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椭圆 76">
              <a:extLst>
                <a:ext uri="{FF2B5EF4-FFF2-40B4-BE49-F238E27FC236}">
                  <a16:creationId xmlns:a16="http://schemas.microsoft.com/office/drawing/2014/main" id="{9AF66F02-2D98-968C-D0F5-8DD040978C1A}"/>
                </a:ext>
              </a:extLst>
            </p:cNvPr>
            <p:cNvSpPr/>
            <p:nvPr/>
          </p:nvSpPr>
          <p:spPr>
            <a:xfrm>
              <a:off x="2441275" y="4617927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椭圆 77">
              <a:extLst>
                <a:ext uri="{FF2B5EF4-FFF2-40B4-BE49-F238E27FC236}">
                  <a16:creationId xmlns:a16="http://schemas.microsoft.com/office/drawing/2014/main" id="{237395DE-106A-C7B0-0708-5542F96340B6}"/>
                </a:ext>
              </a:extLst>
            </p:cNvPr>
            <p:cNvSpPr/>
            <p:nvPr/>
          </p:nvSpPr>
          <p:spPr>
            <a:xfrm>
              <a:off x="1960469" y="4838738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椭圆 78">
              <a:extLst>
                <a:ext uri="{FF2B5EF4-FFF2-40B4-BE49-F238E27FC236}">
                  <a16:creationId xmlns:a16="http://schemas.microsoft.com/office/drawing/2014/main" id="{E1A85541-DE49-67B1-2A20-6258D4FEB81F}"/>
                </a:ext>
              </a:extLst>
            </p:cNvPr>
            <p:cNvSpPr/>
            <p:nvPr/>
          </p:nvSpPr>
          <p:spPr>
            <a:xfrm>
              <a:off x="2122988" y="4991745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椭圆 79">
              <a:extLst>
                <a:ext uri="{FF2B5EF4-FFF2-40B4-BE49-F238E27FC236}">
                  <a16:creationId xmlns:a16="http://schemas.microsoft.com/office/drawing/2014/main" id="{F1648569-EB36-AEF1-CA0B-AEE5C634AC3C}"/>
                </a:ext>
              </a:extLst>
            </p:cNvPr>
            <p:cNvSpPr/>
            <p:nvPr/>
          </p:nvSpPr>
          <p:spPr>
            <a:xfrm>
              <a:off x="2402625" y="4830882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椭圆 80">
              <a:extLst>
                <a:ext uri="{FF2B5EF4-FFF2-40B4-BE49-F238E27FC236}">
                  <a16:creationId xmlns:a16="http://schemas.microsoft.com/office/drawing/2014/main" id="{3F488687-0A31-C0D5-2EB8-079642BE712A}"/>
                </a:ext>
              </a:extLst>
            </p:cNvPr>
            <p:cNvSpPr/>
            <p:nvPr/>
          </p:nvSpPr>
          <p:spPr>
            <a:xfrm>
              <a:off x="2147842" y="4813300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文本框 81">
              <a:extLst>
                <a:ext uri="{FF2B5EF4-FFF2-40B4-BE49-F238E27FC236}">
                  <a16:creationId xmlns:a16="http://schemas.microsoft.com/office/drawing/2014/main" id="{A345CA15-1B1D-0BAA-D925-1B95F1F58D31}"/>
                </a:ext>
              </a:extLst>
            </p:cNvPr>
            <p:cNvSpPr txBox="1"/>
            <p:nvPr/>
          </p:nvSpPr>
          <p:spPr>
            <a:xfrm>
              <a:off x="2068805" y="5042733"/>
              <a:ext cx="17479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Category A</a:t>
              </a:r>
              <a:endPara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83">
            <a:extLst>
              <a:ext uri="{FF2B5EF4-FFF2-40B4-BE49-F238E27FC236}">
                <a16:creationId xmlns:a16="http://schemas.microsoft.com/office/drawing/2014/main" id="{21C188B6-677D-1223-1907-336AB124B7EC}"/>
              </a:ext>
            </a:extLst>
          </p:cNvPr>
          <p:cNvGrpSpPr/>
          <p:nvPr/>
        </p:nvGrpSpPr>
        <p:grpSpPr>
          <a:xfrm>
            <a:off x="1792382" y="4094908"/>
            <a:ext cx="1744524" cy="1026144"/>
            <a:chOff x="1839684" y="3977975"/>
            <a:chExt cx="1812926" cy="1022072"/>
          </a:xfrm>
        </p:grpSpPr>
        <p:sp>
          <p:nvSpPr>
            <p:cNvPr id="17" name="椭圆 84">
              <a:extLst>
                <a:ext uri="{FF2B5EF4-FFF2-40B4-BE49-F238E27FC236}">
                  <a16:creationId xmlns:a16="http://schemas.microsoft.com/office/drawing/2014/main" id="{C786D666-5A36-509C-E929-CA7234079846}"/>
                </a:ext>
              </a:extLst>
            </p:cNvPr>
            <p:cNvSpPr/>
            <p:nvPr/>
          </p:nvSpPr>
          <p:spPr>
            <a:xfrm>
              <a:off x="2253345" y="44049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椭圆 85">
              <a:extLst>
                <a:ext uri="{FF2B5EF4-FFF2-40B4-BE49-F238E27FC236}">
                  <a16:creationId xmlns:a16="http://schemas.microsoft.com/office/drawing/2014/main" id="{A54197BC-6A37-82D4-D0AA-572CD7B69FB7}"/>
                </a:ext>
              </a:extLst>
            </p:cNvPr>
            <p:cNvSpPr/>
            <p:nvPr/>
          </p:nvSpPr>
          <p:spPr>
            <a:xfrm>
              <a:off x="2405745" y="45573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椭圆 86">
              <a:extLst>
                <a:ext uri="{FF2B5EF4-FFF2-40B4-BE49-F238E27FC236}">
                  <a16:creationId xmlns:a16="http://schemas.microsoft.com/office/drawing/2014/main" id="{A938AA33-C389-5873-B19A-9F64A990EC8E}"/>
                </a:ext>
              </a:extLst>
            </p:cNvPr>
            <p:cNvSpPr/>
            <p:nvPr/>
          </p:nvSpPr>
          <p:spPr>
            <a:xfrm>
              <a:off x="2086430" y="47097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椭圆 87">
              <a:extLst>
                <a:ext uri="{FF2B5EF4-FFF2-40B4-BE49-F238E27FC236}">
                  <a16:creationId xmlns:a16="http://schemas.microsoft.com/office/drawing/2014/main" id="{64CE6F60-E3DE-9AA2-FE99-82146E9AD563}"/>
                </a:ext>
              </a:extLst>
            </p:cNvPr>
            <p:cNvSpPr/>
            <p:nvPr/>
          </p:nvSpPr>
          <p:spPr>
            <a:xfrm>
              <a:off x="2238830" y="48621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椭圆 88">
              <a:extLst>
                <a:ext uri="{FF2B5EF4-FFF2-40B4-BE49-F238E27FC236}">
                  <a16:creationId xmlns:a16="http://schemas.microsoft.com/office/drawing/2014/main" id="{C4C74F03-649A-686C-0D37-C21A1F74CDA2}"/>
                </a:ext>
              </a:extLst>
            </p:cNvPr>
            <p:cNvSpPr/>
            <p:nvPr/>
          </p:nvSpPr>
          <p:spPr>
            <a:xfrm>
              <a:off x="2391231" y="4746075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椭圆 89">
              <a:extLst>
                <a:ext uri="{FF2B5EF4-FFF2-40B4-BE49-F238E27FC236}">
                  <a16:creationId xmlns:a16="http://schemas.microsoft.com/office/drawing/2014/main" id="{DBCB7D6D-7A0D-C57C-74AA-EA31CE26E0AE}"/>
                </a:ext>
              </a:extLst>
            </p:cNvPr>
            <p:cNvSpPr/>
            <p:nvPr/>
          </p:nvSpPr>
          <p:spPr>
            <a:xfrm>
              <a:off x="2543631" y="4898475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椭圆 90">
              <a:extLst>
                <a:ext uri="{FF2B5EF4-FFF2-40B4-BE49-F238E27FC236}">
                  <a16:creationId xmlns:a16="http://schemas.microsoft.com/office/drawing/2014/main" id="{2FD160BA-1734-A0FE-D7B1-15294512021C}"/>
                </a:ext>
              </a:extLst>
            </p:cNvPr>
            <p:cNvSpPr/>
            <p:nvPr/>
          </p:nvSpPr>
          <p:spPr>
            <a:xfrm>
              <a:off x="2558145" y="47097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91">
              <a:extLst>
                <a:ext uri="{FF2B5EF4-FFF2-40B4-BE49-F238E27FC236}">
                  <a16:creationId xmlns:a16="http://schemas.microsoft.com/office/drawing/2014/main" id="{01D03D12-9846-3D48-4AF3-5B46CCF58728}"/>
                </a:ext>
              </a:extLst>
            </p:cNvPr>
            <p:cNvSpPr txBox="1"/>
            <p:nvPr/>
          </p:nvSpPr>
          <p:spPr>
            <a:xfrm>
              <a:off x="1839684" y="3977975"/>
              <a:ext cx="1812926" cy="459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Category B</a:t>
              </a:r>
              <a:endPara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椭圆 92">
            <a:extLst>
              <a:ext uri="{FF2B5EF4-FFF2-40B4-BE49-F238E27FC236}">
                <a16:creationId xmlns:a16="http://schemas.microsoft.com/office/drawing/2014/main" id="{F64A59DE-09B8-2C6C-793E-F91F9673BB1C}"/>
              </a:ext>
            </a:extLst>
          </p:cNvPr>
          <p:cNvSpPr/>
          <p:nvPr/>
        </p:nvSpPr>
        <p:spPr>
          <a:xfrm>
            <a:off x="1704339" y="5195687"/>
            <a:ext cx="97758" cy="1019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椭圆 93">
            <a:extLst>
              <a:ext uri="{FF2B5EF4-FFF2-40B4-BE49-F238E27FC236}">
                <a16:creationId xmlns:a16="http://schemas.microsoft.com/office/drawing/2014/main" id="{8B998F76-6A56-F77E-B3DB-A3AB5C8ACC4F}"/>
              </a:ext>
            </a:extLst>
          </p:cNvPr>
          <p:cNvSpPr/>
          <p:nvPr/>
        </p:nvSpPr>
        <p:spPr>
          <a:xfrm>
            <a:off x="1152333" y="4635188"/>
            <a:ext cx="1233398" cy="1201828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直接箭头连接符 94">
            <a:extLst>
              <a:ext uri="{FF2B5EF4-FFF2-40B4-BE49-F238E27FC236}">
                <a16:creationId xmlns:a16="http://schemas.microsoft.com/office/drawing/2014/main" id="{8B72E155-AEA3-D19C-67D5-73FC60AA29D1}"/>
              </a:ext>
            </a:extLst>
          </p:cNvPr>
          <p:cNvCxnSpPr>
            <a:cxnSpLocks/>
            <a:stCxn id="26" idx="6"/>
          </p:cNvCxnSpPr>
          <p:nvPr/>
        </p:nvCxnSpPr>
        <p:spPr>
          <a:xfrm flipV="1">
            <a:off x="2385731" y="5037730"/>
            <a:ext cx="621975" cy="198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95">
            <a:extLst>
              <a:ext uri="{FF2B5EF4-FFF2-40B4-BE49-F238E27FC236}">
                <a16:creationId xmlns:a16="http://schemas.microsoft.com/office/drawing/2014/main" id="{5EB4C513-60F3-FB19-74E2-6CAD19B65D31}"/>
              </a:ext>
            </a:extLst>
          </p:cNvPr>
          <p:cNvSpPr txBox="1"/>
          <p:nvPr/>
        </p:nvSpPr>
        <p:spPr>
          <a:xfrm>
            <a:off x="3044610" y="4723460"/>
            <a:ext cx="326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5-nearest neighbors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" name="组合 96">
            <a:extLst>
              <a:ext uri="{FF2B5EF4-FFF2-40B4-BE49-F238E27FC236}">
                <a16:creationId xmlns:a16="http://schemas.microsoft.com/office/drawing/2014/main" id="{55E0B4B3-DC25-6D1B-7F72-52F8BC9EA836}"/>
              </a:ext>
            </a:extLst>
          </p:cNvPr>
          <p:cNvGrpSpPr/>
          <p:nvPr/>
        </p:nvGrpSpPr>
        <p:grpSpPr>
          <a:xfrm>
            <a:off x="6370472" y="3927592"/>
            <a:ext cx="3435797" cy="2314055"/>
            <a:chOff x="318228" y="3890802"/>
            <a:chExt cx="3570514" cy="2304872"/>
          </a:xfrm>
        </p:grpSpPr>
        <p:cxnSp>
          <p:nvCxnSpPr>
            <p:cNvPr id="30" name="直接箭头连接符 97">
              <a:extLst>
                <a:ext uri="{FF2B5EF4-FFF2-40B4-BE49-F238E27FC236}">
                  <a16:creationId xmlns:a16="http://schemas.microsoft.com/office/drawing/2014/main" id="{15F9FD92-EC1D-338D-C5BF-2C4817864500}"/>
                </a:ext>
              </a:extLst>
            </p:cNvPr>
            <p:cNvCxnSpPr/>
            <p:nvPr/>
          </p:nvCxnSpPr>
          <p:spPr>
            <a:xfrm>
              <a:off x="318228" y="6043274"/>
              <a:ext cx="357051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98">
              <a:extLst>
                <a:ext uri="{FF2B5EF4-FFF2-40B4-BE49-F238E27FC236}">
                  <a16:creationId xmlns:a16="http://schemas.microsoft.com/office/drawing/2014/main" id="{F3F9710C-50DA-473D-623D-446C560B8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628" y="3890802"/>
              <a:ext cx="0" cy="230487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99">
            <a:extLst>
              <a:ext uri="{FF2B5EF4-FFF2-40B4-BE49-F238E27FC236}">
                <a16:creationId xmlns:a16="http://schemas.microsoft.com/office/drawing/2014/main" id="{617CB0EF-1A39-6DE6-F95C-70F0674CE9CB}"/>
              </a:ext>
            </a:extLst>
          </p:cNvPr>
          <p:cNvGrpSpPr/>
          <p:nvPr/>
        </p:nvGrpSpPr>
        <p:grpSpPr>
          <a:xfrm>
            <a:off x="6609607" y="5203703"/>
            <a:ext cx="1822704" cy="961501"/>
            <a:chOff x="1906506" y="4552173"/>
            <a:chExt cx="1822704" cy="961501"/>
          </a:xfrm>
        </p:grpSpPr>
        <p:sp>
          <p:nvSpPr>
            <p:cNvPr id="33" name="椭圆 100">
              <a:extLst>
                <a:ext uri="{FF2B5EF4-FFF2-40B4-BE49-F238E27FC236}">
                  <a16:creationId xmlns:a16="http://schemas.microsoft.com/office/drawing/2014/main" id="{54442E4A-A84C-7AB6-6384-52A5FB4DD60C}"/>
                </a:ext>
              </a:extLst>
            </p:cNvPr>
            <p:cNvSpPr/>
            <p:nvPr/>
          </p:nvSpPr>
          <p:spPr>
            <a:xfrm>
              <a:off x="2234057" y="4552173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椭圆 101">
              <a:extLst>
                <a:ext uri="{FF2B5EF4-FFF2-40B4-BE49-F238E27FC236}">
                  <a16:creationId xmlns:a16="http://schemas.microsoft.com/office/drawing/2014/main" id="{F4261C47-0FBF-6087-6894-DAB08F776877}"/>
                </a:ext>
              </a:extLst>
            </p:cNvPr>
            <p:cNvSpPr/>
            <p:nvPr/>
          </p:nvSpPr>
          <p:spPr>
            <a:xfrm>
              <a:off x="2441275" y="4617927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椭圆 102">
              <a:extLst>
                <a:ext uri="{FF2B5EF4-FFF2-40B4-BE49-F238E27FC236}">
                  <a16:creationId xmlns:a16="http://schemas.microsoft.com/office/drawing/2014/main" id="{27F03CC5-C5C5-6A62-120D-603167FE8791}"/>
                </a:ext>
              </a:extLst>
            </p:cNvPr>
            <p:cNvSpPr/>
            <p:nvPr/>
          </p:nvSpPr>
          <p:spPr>
            <a:xfrm>
              <a:off x="1960469" y="4838738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椭圆 103">
              <a:extLst>
                <a:ext uri="{FF2B5EF4-FFF2-40B4-BE49-F238E27FC236}">
                  <a16:creationId xmlns:a16="http://schemas.microsoft.com/office/drawing/2014/main" id="{108C4466-2D8C-747F-0883-D0DE8C034A87}"/>
                </a:ext>
              </a:extLst>
            </p:cNvPr>
            <p:cNvSpPr/>
            <p:nvPr/>
          </p:nvSpPr>
          <p:spPr>
            <a:xfrm>
              <a:off x="2122988" y="4991745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椭圆 104">
              <a:extLst>
                <a:ext uri="{FF2B5EF4-FFF2-40B4-BE49-F238E27FC236}">
                  <a16:creationId xmlns:a16="http://schemas.microsoft.com/office/drawing/2014/main" id="{C60EB3FB-0E88-61AD-D5BB-E8DCC39915AF}"/>
                </a:ext>
              </a:extLst>
            </p:cNvPr>
            <p:cNvSpPr/>
            <p:nvPr/>
          </p:nvSpPr>
          <p:spPr>
            <a:xfrm>
              <a:off x="2402625" y="4830882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椭圆 105">
              <a:extLst>
                <a:ext uri="{FF2B5EF4-FFF2-40B4-BE49-F238E27FC236}">
                  <a16:creationId xmlns:a16="http://schemas.microsoft.com/office/drawing/2014/main" id="{955663CE-9A63-2E28-C319-A10D0E00EB96}"/>
                </a:ext>
              </a:extLst>
            </p:cNvPr>
            <p:cNvSpPr/>
            <p:nvPr/>
          </p:nvSpPr>
          <p:spPr>
            <a:xfrm>
              <a:off x="2147842" y="4813300"/>
              <a:ext cx="108336" cy="10197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文本框 106">
              <a:extLst>
                <a:ext uri="{FF2B5EF4-FFF2-40B4-BE49-F238E27FC236}">
                  <a16:creationId xmlns:a16="http://schemas.microsoft.com/office/drawing/2014/main" id="{44791C85-1693-E918-4D4A-18DB62239CA9}"/>
                </a:ext>
              </a:extLst>
            </p:cNvPr>
            <p:cNvSpPr txBox="1"/>
            <p:nvPr/>
          </p:nvSpPr>
          <p:spPr>
            <a:xfrm>
              <a:off x="1906506" y="5052009"/>
              <a:ext cx="18227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Category A</a:t>
              </a:r>
              <a:endPara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组合 107">
            <a:extLst>
              <a:ext uri="{FF2B5EF4-FFF2-40B4-BE49-F238E27FC236}">
                <a16:creationId xmlns:a16="http://schemas.microsoft.com/office/drawing/2014/main" id="{E0ADAD33-0914-BB3A-78B8-558B2C8E135C}"/>
              </a:ext>
            </a:extLst>
          </p:cNvPr>
          <p:cNvGrpSpPr/>
          <p:nvPr/>
        </p:nvGrpSpPr>
        <p:grpSpPr>
          <a:xfrm>
            <a:off x="7488211" y="4109291"/>
            <a:ext cx="1913843" cy="1026144"/>
            <a:chOff x="1839684" y="3977975"/>
            <a:chExt cx="1988884" cy="1022072"/>
          </a:xfrm>
        </p:grpSpPr>
        <p:sp>
          <p:nvSpPr>
            <p:cNvPr id="41" name="椭圆 108">
              <a:extLst>
                <a:ext uri="{FF2B5EF4-FFF2-40B4-BE49-F238E27FC236}">
                  <a16:creationId xmlns:a16="http://schemas.microsoft.com/office/drawing/2014/main" id="{5B0913D9-5964-9B69-319E-EF7EAFB146AC}"/>
                </a:ext>
              </a:extLst>
            </p:cNvPr>
            <p:cNvSpPr/>
            <p:nvPr/>
          </p:nvSpPr>
          <p:spPr>
            <a:xfrm>
              <a:off x="2253345" y="44049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椭圆 109">
              <a:extLst>
                <a:ext uri="{FF2B5EF4-FFF2-40B4-BE49-F238E27FC236}">
                  <a16:creationId xmlns:a16="http://schemas.microsoft.com/office/drawing/2014/main" id="{20188581-7D96-E3F6-1C34-95B7A67C7291}"/>
                </a:ext>
              </a:extLst>
            </p:cNvPr>
            <p:cNvSpPr/>
            <p:nvPr/>
          </p:nvSpPr>
          <p:spPr>
            <a:xfrm>
              <a:off x="2405745" y="45573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椭圆 110">
              <a:extLst>
                <a:ext uri="{FF2B5EF4-FFF2-40B4-BE49-F238E27FC236}">
                  <a16:creationId xmlns:a16="http://schemas.microsoft.com/office/drawing/2014/main" id="{244DD058-735F-C349-8AEA-DFEACC92763A}"/>
                </a:ext>
              </a:extLst>
            </p:cNvPr>
            <p:cNvSpPr/>
            <p:nvPr/>
          </p:nvSpPr>
          <p:spPr>
            <a:xfrm>
              <a:off x="2086430" y="47097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椭圆 111">
              <a:extLst>
                <a:ext uri="{FF2B5EF4-FFF2-40B4-BE49-F238E27FC236}">
                  <a16:creationId xmlns:a16="http://schemas.microsoft.com/office/drawing/2014/main" id="{71759672-9F1A-4318-3B3E-92EB8F5F4D4D}"/>
                </a:ext>
              </a:extLst>
            </p:cNvPr>
            <p:cNvSpPr/>
            <p:nvPr/>
          </p:nvSpPr>
          <p:spPr>
            <a:xfrm>
              <a:off x="2238830" y="48621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椭圆 112">
              <a:extLst>
                <a:ext uri="{FF2B5EF4-FFF2-40B4-BE49-F238E27FC236}">
                  <a16:creationId xmlns:a16="http://schemas.microsoft.com/office/drawing/2014/main" id="{776FCBA4-3DD6-6B5E-2B94-97EC440D0083}"/>
                </a:ext>
              </a:extLst>
            </p:cNvPr>
            <p:cNvSpPr/>
            <p:nvPr/>
          </p:nvSpPr>
          <p:spPr>
            <a:xfrm>
              <a:off x="2391231" y="4746075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椭圆 113">
              <a:extLst>
                <a:ext uri="{FF2B5EF4-FFF2-40B4-BE49-F238E27FC236}">
                  <a16:creationId xmlns:a16="http://schemas.microsoft.com/office/drawing/2014/main" id="{5D21BEE8-77F6-C7D1-E1FE-317C503AA7BB}"/>
                </a:ext>
              </a:extLst>
            </p:cNvPr>
            <p:cNvSpPr/>
            <p:nvPr/>
          </p:nvSpPr>
          <p:spPr>
            <a:xfrm>
              <a:off x="2543631" y="4898475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椭圆 114">
              <a:extLst>
                <a:ext uri="{FF2B5EF4-FFF2-40B4-BE49-F238E27FC236}">
                  <a16:creationId xmlns:a16="http://schemas.microsoft.com/office/drawing/2014/main" id="{D5A3C3B9-7AF2-A5B9-1DD9-F68FA7924697}"/>
                </a:ext>
              </a:extLst>
            </p:cNvPr>
            <p:cNvSpPr/>
            <p:nvPr/>
          </p:nvSpPr>
          <p:spPr>
            <a:xfrm>
              <a:off x="2558145" y="4709787"/>
              <a:ext cx="101591" cy="101572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文本框 115">
              <a:extLst>
                <a:ext uri="{FF2B5EF4-FFF2-40B4-BE49-F238E27FC236}">
                  <a16:creationId xmlns:a16="http://schemas.microsoft.com/office/drawing/2014/main" id="{1C303F1E-B999-3ED8-6A3D-967C145FECC9}"/>
                </a:ext>
              </a:extLst>
            </p:cNvPr>
            <p:cNvSpPr txBox="1"/>
            <p:nvPr/>
          </p:nvSpPr>
          <p:spPr>
            <a:xfrm>
              <a:off x="1839684" y="3977975"/>
              <a:ext cx="1988884" cy="459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Category B</a:t>
              </a:r>
              <a:endParaRPr lang="zh-CN" alt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9" name="椭圆 116">
            <a:extLst>
              <a:ext uri="{FF2B5EF4-FFF2-40B4-BE49-F238E27FC236}">
                <a16:creationId xmlns:a16="http://schemas.microsoft.com/office/drawing/2014/main" id="{21F3FE0E-D613-83FF-71F6-97550659107F}"/>
              </a:ext>
            </a:extLst>
          </p:cNvPr>
          <p:cNvSpPr/>
          <p:nvPr/>
        </p:nvSpPr>
        <p:spPr>
          <a:xfrm>
            <a:off x="7472080" y="5181096"/>
            <a:ext cx="97758" cy="1019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椭圆 117">
            <a:extLst>
              <a:ext uri="{FF2B5EF4-FFF2-40B4-BE49-F238E27FC236}">
                <a16:creationId xmlns:a16="http://schemas.microsoft.com/office/drawing/2014/main" id="{23BAB9B0-58BA-6D91-4AF9-5CE6C20EE98C}"/>
              </a:ext>
            </a:extLst>
          </p:cNvPr>
          <p:cNvSpPr/>
          <p:nvPr/>
        </p:nvSpPr>
        <p:spPr>
          <a:xfrm>
            <a:off x="7090140" y="4760219"/>
            <a:ext cx="916097" cy="841754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直接箭头连接符 118">
            <a:extLst>
              <a:ext uri="{FF2B5EF4-FFF2-40B4-BE49-F238E27FC236}">
                <a16:creationId xmlns:a16="http://schemas.microsoft.com/office/drawing/2014/main" id="{64CECDE4-E971-4086-F448-944C10E91A32}"/>
              </a:ext>
            </a:extLst>
          </p:cNvPr>
          <p:cNvCxnSpPr>
            <a:cxnSpLocks/>
          </p:cNvCxnSpPr>
          <p:nvPr/>
        </p:nvCxnSpPr>
        <p:spPr>
          <a:xfrm flipV="1">
            <a:off x="8006237" y="5066234"/>
            <a:ext cx="777049" cy="243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119">
            <a:extLst>
              <a:ext uri="{FF2B5EF4-FFF2-40B4-BE49-F238E27FC236}">
                <a16:creationId xmlns:a16="http://schemas.microsoft.com/office/drawing/2014/main" id="{E7C66E6A-CA39-B767-23E0-7AAFD945881E}"/>
              </a:ext>
            </a:extLst>
          </p:cNvPr>
          <p:cNvSpPr txBox="1"/>
          <p:nvPr/>
        </p:nvSpPr>
        <p:spPr>
          <a:xfrm>
            <a:off x="8786215" y="4663548"/>
            <a:ext cx="3275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3-nearest neighbors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17">
            <a:extLst>
              <a:ext uri="{FF2B5EF4-FFF2-40B4-BE49-F238E27FC236}">
                <a16:creationId xmlns:a16="http://schemas.microsoft.com/office/drawing/2014/main" id="{6C63A4DD-D679-14E2-148F-C10F287E79AB}"/>
              </a:ext>
            </a:extLst>
          </p:cNvPr>
          <p:cNvSpPr txBox="1"/>
          <p:nvPr/>
        </p:nvSpPr>
        <p:spPr>
          <a:xfrm>
            <a:off x="560666" y="6304131"/>
            <a:ext cx="38486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belongs to Category 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120">
            <a:extLst>
              <a:ext uri="{FF2B5EF4-FFF2-40B4-BE49-F238E27FC236}">
                <a16:creationId xmlns:a16="http://schemas.microsoft.com/office/drawing/2014/main" id="{BC251D59-F26F-BCD0-4A9D-A0EE1689F731}"/>
              </a:ext>
            </a:extLst>
          </p:cNvPr>
          <p:cNvSpPr txBox="1"/>
          <p:nvPr/>
        </p:nvSpPr>
        <p:spPr>
          <a:xfrm>
            <a:off x="6411692" y="6268428"/>
            <a:ext cx="37312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zh-CN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belongs to Category B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121">
                <a:extLst>
                  <a:ext uri="{FF2B5EF4-FFF2-40B4-BE49-F238E27FC236}">
                    <a16:creationId xmlns:a16="http://schemas.microsoft.com/office/drawing/2014/main" id="{B04A4592-6341-618B-6029-65E4CB3844EE}"/>
                  </a:ext>
                </a:extLst>
              </p:cNvPr>
              <p:cNvSpPr txBox="1"/>
              <p:nvPr/>
            </p:nvSpPr>
            <p:spPr>
              <a:xfrm>
                <a:off x="6145374" y="3397451"/>
                <a:ext cx="14111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文本框 121">
                <a:extLst>
                  <a:ext uri="{FF2B5EF4-FFF2-40B4-BE49-F238E27FC236}">
                    <a16:creationId xmlns:a16="http://schemas.microsoft.com/office/drawing/2014/main" id="{B04A4592-6341-618B-6029-65E4CB384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374" y="3397451"/>
                <a:ext cx="141113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122">
                <a:extLst>
                  <a:ext uri="{FF2B5EF4-FFF2-40B4-BE49-F238E27FC236}">
                    <a16:creationId xmlns:a16="http://schemas.microsoft.com/office/drawing/2014/main" id="{2A698EFC-2FD9-FD3F-C800-FF806DAEA1BC}"/>
                  </a:ext>
                </a:extLst>
              </p:cNvPr>
              <p:cNvSpPr txBox="1"/>
              <p:nvPr/>
            </p:nvSpPr>
            <p:spPr>
              <a:xfrm>
                <a:off x="431801" y="3441387"/>
                <a:ext cx="14111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6" name="文本框 122">
                <a:extLst>
                  <a:ext uri="{FF2B5EF4-FFF2-40B4-BE49-F238E27FC236}">
                    <a16:creationId xmlns:a16="http://schemas.microsoft.com/office/drawing/2014/main" id="{2A698EFC-2FD9-FD3F-C800-FF806DAEA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01" y="3441387"/>
                <a:ext cx="141113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3">
            <a:extLst>
              <a:ext uri="{FF2B5EF4-FFF2-40B4-BE49-F238E27FC236}">
                <a16:creationId xmlns:a16="http://schemas.microsoft.com/office/drawing/2014/main" id="{8B9D8B4C-CC35-B281-0558-9E30AFDCD7DF}"/>
              </a:ext>
            </a:extLst>
          </p:cNvPr>
          <p:cNvSpPr txBox="1"/>
          <p:nvPr/>
        </p:nvSpPr>
        <p:spPr>
          <a:xfrm>
            <a:off x="539595" y="1611070"/>
            <a:ext cx="7421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effect of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in KNN</a:t>
            </a:r>
          </a:p>
        </p:txBody>
      </p:sp>
    </p:spTree>
    <p:extLst>
      <p:ext uri="{BB962C8B-B14F-4D97-AF65-F5344CB8AC3E}">
        <p14:creationId xmlns:p14="http://schemas.microsoft.com/office/powerpoint/2010/main" val="76093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/>
      <p:bldP spid="49" grpId="0" animBg="1"/>
      <p:bldP spid="50" grpId="0" animBg="1"/>
      <p:bldP spid="52" grpId="0"/>
      <p:bldP spid="53" grpId="0"/>
      <p:bldP spid="54" grpId="0"/>
      <p:bldP spid="55" grpId="0"/>
      <p:bldP spid="5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Non-parametric learning: KNN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62">
                <a:extLst>
                  <a:ext uri="{FF2B5EF4-FFF2-40B4-BE49-F238E27FC236}">
                    <a16:creationId xmlns:a16="http://schemas.microsoft.com/office/drawing/2014/main" id="{81D4FC18-500E-F6EE-7C43-B897E19C3678}"/>
                  </a:ext>
                </a:extLst>
              </p:cNvPr>
              <p:cNvSpPr txBox="1"/>
              <p:nvPr/>
            </p:nvSpPr>
            <p:spPr>
              <a:xfrm>
                <a:off x="539595" y="2355466"/>
                <a:ext cx="86815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called the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hyperparameter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KNN, which is pre-set.</a:t>
                </a:r>
              </a:p>
            </p:txBody>
          </p:sp>
        </mc:Choice>
        <mc:Fallback>
          <p:sp>
            <p:nvSpPr>
              <p:cNvPr id="3" name="文本框 62">
                <a:extLst>
                  <a:ext uri="{FF2B5EF4-FFF2-40B4-BE49-F238E27FC236}">
                    <a16:creationId xmlns:a16="http://schemas.microsoft.com/office/drawing/2014/main" id="{81D4FC18-500E-F6EE-7C43-B897E19C3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95" y="2355466"/>
                <a:ext cx="8681571" cy="461665"/>
              </a:xfrm>
              <a:prstGeom prst="rect">
                <a:avLst/>
              </a:prstGeom>
              <a:blipFill>
                <a:blip r:embed="rId3"/>
                <a:stretch>
                  <a:fillRect l="-211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64">
                <a:extLst>
                  <a:ext uri="{FF2B5EF4-FFF2-40B4-BE49-F238E27FC236}">
                    <a16:creationId xmlns:a16="http://schemas.microsoft.com/office/drawing/2014/main" id="{431F1C1E-0E91-EE6C-CB1A-C9E39117E76B}"/>
                  </a:ext>
                </a:extLst>
              </p:cNvPr>
              <p:cNvSpPr txBox="1"/>
              <p:nvPr/>
            </p:nvSpPr>
            <p:spPr>
              <a:xfrm>
                <a:off x="539595" y="3216296"/>
                <a:ext cx="8871691" cy="1277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Choosing an optimal value of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process called </a:t>
                </a:r>
                <a:r>
                  <a:rPr lang="en-US" altLang="zh-CN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hyperparameter tuning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There are rule of thumbs for selecting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4" name="文本框 64">
                <a:extLst>
                  <a:ext uri="{FF2B5EF4-FFF2-40B4-BE49-F238E27FC236}">
                    <a16:creationId xmlns:a16="http://schemas.microsoft.com/office/drawing/2014/main" id="{431F1C1E-0E91-EE6C-CB1A-C9E39117E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95" y="3216296"/>
                <a:ext cx="8871691" cy="1277273"/>
              </a:xfrm>
              <a:prstGeom prst="rect">
                <a:avLst/>
              </a:prstGeom>
              <a:blipFill>
                <a:blip r:embed="rId4"/>
                <a:stretch>
                  <a:fillRect l="-962" t="-3349" b="-105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3">
            <a:extLst>
              <a:ext uri="{FF2B5EF4-FFF2-40B4-BE49-F238E27FC236}">
                <a16:creationId xmlns:a16="http://schemas.microsoft.com/office/drawing/2014/main" id="{7849AF6A-E62C-C3A2-9ACE-469B033DF059}"/>
              </a:ext>
            </a:extLst>
          </p:cNvPr>
          <p:cNvSpPr txBox="1"/>
          <p:nvPr/>
        </p:nvSpPr>
        <p:spPr>
          <a:xfrm>
            <a:off x="539595" y="1611070"/>
            <a:ext cx="7421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selection of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in KNN</a:t>
            </a:r>
          </a:p>
        </p:txBody>
      </p:sp>
    </p:spTree>
    <p:extLst>
      <p:ext uri="{BB962C8B-B14F-4D97-AF65-F5344CB8AC3E}">
        <p14:creationId xmlns:p14="http://schemas.microsoft.com/office/powerpoint/2010/main" val="285840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Non-parametric learning: KNN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2EC26E37-F89A-C687-8650-7B6073A75F1E}"/>
              </a:ext>
            </a:extLst>
          </p:cNvPr>
          <p:cNvSpPr txBox="1"/>
          <p:nvPr/>
        </p:nvSpPr>
        <p:spPr>
          <a:xfrm>
            <a:off x="424118" y="1588782"/>
            <a:ext cx="10984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Suggestions in selecting 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zh-CN" altLang="en-US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F9D4B4E1-7701-6DEB-85B1-2575A7637635}"/>
              </a:ext>
            </a:extLst>
          </p:cNvPr>
          <p:cNvSpPr txBox="1"/>
          <p:nvPr/>
        </p:nvSpPr>
        <p:spPr>
          <a:xfrm>
            <a:off x="387347" y="2273297"/>
            <a:ext cx="11471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1)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should not be too small or too large.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K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 is too small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noise will have a higher influence on the result. 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K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altLang="zh-CN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too large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Lots of not useful information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文本框 13">
            <a:extLst>
              <a:ext uri="{FF2B5EF4-FFF2-40B4-BE49-F238E27FC236}">
                <a16:creationId xmlns:a16="http://schemas.microsoft.com/office/drawing/2014/main" id="{1345407C-53BC-D8D4-0C56-B96C55B4A68C}"/>
              </a:ext>
            </a:extLst>
          </p:cNvPr>
          <p:cNvSpPr txBox="1"/>
          <p:nvPr/>
        </p:nvSpPr>
        <p:spPr>
          <a:xfrm>
            <a:off x="473361" y="3602279"/>
            <a:ext cx="62580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2)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should be an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odd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number.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4">
            <a:extLst>
              <a:ext uri="{FF2B5EF4-FFF2-40B4-BE49-F238E27FC236}">
                <a16:creationId xmlns:a16="http://schemas.microsoft.com/office/drawing/2014/main" id="{3DD4959E-8D63-A551-DEE9-8AC6DE5B8A0D}"/>
              </a:ext>
            </a:extLst>
          </p:cNvPr>
          <p:cNvSpPr txBox="1"/>
          <p:nvPr/>
        </p:nvSpPr>
        <p:spPr>
          <a:xfrm>
            <a:off x="473361" y="4159526"/>
            <a:ext cx="11146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3)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Domain knowledge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also plays a role while choosing the optimum value of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16">
            <a:extLst>
              <a:ext uri="{FF2B5EF4-FFF2-40B4-BE49-F238E27FC236}">
                <a16:creationId xmlns:a16="http://schemas.microsoft.com/office/drawing/2014/main" id="{05853CFC-3298-4D27-44AA-4AF05E0312BD}"/>
              </a:ext>
            </a:extLst>
          </p:cNvPr>
          <p:cNvSpPr txBox="1"/>
          <p:nvPr/>
        </p:nvSpPr>
        <p:spPr>
          <a:xfrm>
            <a:off x="387347" y="4716773"/>
            <a:ext cx="112457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4)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Square Root Method: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set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to the square root of the number of samples in the example dataset.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52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CA855955-D4E2-478C-BCBC-3CED2C8CDA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B7A776-2012-475F-ABBE-A0FC8B15D1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3ED010-B7E9-4A42-9EEA-7B5792B240EE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1895</TotalTime>
  <Words>610</Words>
  <Application>Microsoft Office PowerPoint</Application>
  <PresentationFormat>Widescreen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Mapping Inputs to Outputs: Non-parametric ML Model</vt:lpstr>
      <vt:lpstr>Non-parametric models</vt:lpstr>
      <vt:lpstr>Non-parametric learning: KNN</vt:lpstr>
      <vt:lpstr>Non-parametric learning: KNN</vt:lpstr>
      <vt:lpstr>Non-parametric learning: KNN</vt:lpstr>
      <vt:lpstr>Non-parametric learning: KNN</vt:lpstr>
      <vt:lpstr>Non-parametric learning: KNN</vt:lpstr>
      <vt:lpstr>Non-parametric learning: KNN</vt:lpstr>
      <vt:lpstr>Non-parametric learning: KNN</vt:lpstr>
      <vt:lpstr>Non-parametric learning: KNN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73</cp:revision>
  <dcterms:created xsi:type="dcterms:W3CDTF">2021-01-06T14:22:07Z</dcterms:created>
  <dcterms:modified xsi:type="dcterms:W3CDTF">2024-09-06T08:53:21Z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