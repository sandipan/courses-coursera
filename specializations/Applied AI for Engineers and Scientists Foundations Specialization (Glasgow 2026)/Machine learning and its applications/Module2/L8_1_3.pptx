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13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78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46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84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46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09/07/2024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688811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Fundamental Concepts in Machine Learning Model Training (3)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6912457" cy="888786"/>
          </a:xfrm>
        </p:spPr>
        <p:txBody>
          <a:bodyPr/>
          <a:lstStyle/>
          <a:p>
            <a:r>
              <a:rPr lang="en-US" dirty="0"/>
              <a:t>Minimize loss function: the gradient descent method (optional)</a:t>
            </a:r>
          </a:p>
        </p:txBody>
      </p:sp>
      <p:sp>
        <p:nvSpPr>
          <p:cNvPr id="2" name="矩形 6">
            <a:extLst>
              <a:ext uri="{FF2B5EF4-FFF2-40B4-BE49-F238E27FC236}">
                <a16:creationId xmlns:a16="http://schemas.microsoft.com/office/drawing/2014/main" id="{964D3DAE-E33D-9E9C-2618-4D216D8E4CB6}"/>
              </a:ext>
            </a:extLst>
          </p:cNvPr>
          <p:cNvSpPr/>
          <p:nvPr/>
        </p:nvSpPr>
        <p:spPr>
          <a:xfrm>
            <a:off x="473823" y="1695633"/>
            <a:ext cx="99857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Gradient descent </a:t>
            </a:r>
            <a:r>
              <a:rPr lang="en-US" altLang="zh-CN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is a first-order iterative optimization algorithm for finding the local minima of a differentiable function. </a:t>
            </a:r>
            <a:endParaRPr lang="zh-CN" altLang="en-US" sz="2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09782D-A25D-8FC8-8E36-936B4A6C2834}"/>
              </a:ext>
            </a:extLst>
          </p:cNvPr>
          <p:cNvSpPr txBox="1"/>
          <p:nvPr/>
        </p:nvSpPr>
        <p:spPr>
          <a:xfrm>
            <a:off x="473823" y="2562782"/>
            <a:ext cx="6943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Gradient descent iteration: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33B3113F-4D9D-170D-F2E6-19A682E3E119}"/>
                  </a:ext>
                </a:extLst>
              </p:cNvPr>
              <p:cNvSpPr txBox="1"/>
              <p:nvPr/>
            </p:nvSpPr>
            <p:spPr>
              <a:xfrm>
                <a:off x="3656246" y="2577789"/>
                <a:ext cx="6025417" cy="475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+1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𝛼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+mj-ea"/>
                      </a:rPr>
                      <m:t>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           (1)            </a:t>
                </a:r>
                <a:endParaRPr lang="zh-CN" altLang="en-US" sz="2400" dirty="0"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33B3113F-4D9D-170D-F2E6-19A682E3E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246" y="2577789"/>
                <a:ext cx="6025417" cy="475387"/>
              </a:xfrm>
              <a:prstGeom prst="rect">
                <a:avLst/>
              </a:prstGeom>
              <a:blipFill>
                <a:blip r:embed="rId3"/>
                <a:stretch>
                  <a:fillRect t="-7692" r="-5668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9A6696DE-B88D-ED69-08CD-D1F15E953C61}"/>
                  </a:ext>
                </a:extLst>
              </p:cNvPr>
              <p:cNvSpPr txBox="1"/>
              <p:nvPr/>
            </p:nvSpPr>
            <p:spPr>
              <a:xfrm>
                <a:off x="473823" y="3274101"/>
                <a:ext cx="8240969" cy="844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𝛼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is the step size, also called </a:t>
                </a:r>
                <a:r>
                  <a:rPr lang="en-US" altLang="zh-CN" sz="2400" b="1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learning rate</a:t>
                </a:r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in ML.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+mj-ea"/>
                      </a:rPr>
                      <m:t>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is the gradient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j-ea"/>
                      </a:rPr>
                      <m:t>𝑙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at the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</a:rPr>
                          <m:t>𝒙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 :</a:t>
                </a:r>
                <a:endParaRPr lang="zh-CN" altLang="en-US" sz="2400" dirty="0"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9A6696DE-B88D-ED69-08CD-D1F15E953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23" y="3274101"/>
                <a:ext cx="8240969" cy="844077"/>
              </a:xfrm>
              <a:prstGeom prst="rect">
                <a:avLst/>
              </a:prstGeom>
              <a:blipFill>
                <a:blip r:embed="rId4"/>
                <a:stretch>
                  <a:fillRect l="-222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0">
                <a:extLst>
                  <a:ext uri="{FF2B5EF4-FFF2-40B4-BE49-F238E27FC236}">
                    <a16:creationId xmlns:a16="http://schemas.microsoft.com/office/drawing/2014/main" id="{A3A846CB-69AC-8F93-0F0B-6E977A50D5F5}"/>
                  </a:ext>
                </a:extLst>
              </p:cNvPr>
              <p:cNvSpPr txBox="1"/>
              <p:nvPr/>
            </p:nvSpPr>
            <p:spPr>
              <a:xfrm>
                <a:off x="2549236" y="4192631"/>
                <a:ext cx="2493467" cy="2307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mr>
                              <m:m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0">
                <a:extLst>
                  <a:ext uri="{FF2B5EF4-FFF2-40B4-BE49-F238E27FC236}">
                    <a16:creationId xmlns:a16="http://schemas.microsoft.com/office/drawing/2014/main" id="{A3A846CB-69AC-8F93-0F0B-6E977A50D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36" y="4192631"/>
                <a:ext cx="2493467" cy="2307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FF7E76-EC08-16DB-C9E8-A6CB33B09197}"/>
                  </a:ext>
                </a:extLst>
              </p:cNvPr>
              <p:cNvSpPr txBox="1"/>
              <p:nvPr/>
            </p:nvSpPr>
            <p:spPr>
              <a:xfrm>
                <a:off x="6441513" y="4657200"/>
                <a:ext cx="3240150" cy="1200329"/>
              </a:xfrm>
              <a:prstGeom prst="rect">
                <a:avLst/>
              </a:prstGeom>
              <a:noFill/>
              <a:ln>
                <a:solidFill>
                  <a:srgbClr val="00356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number of the current iteration;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dimension of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FF7E76-EC08-16DB-C9E8-A6CB33B09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513" y="4657200"/>
                <a:ext cx="3240150" cy="1200329"/>
              </a:xfrm>
              <a:prstGeom prst="rect">
                <a:avLst/>
              </a:prstGeom>
              <a:blipFill>
                <a:blip r:embed="rId6"/>
                <a:stretch>
                  <a:fillRect l="-2814" t="-3015" b="-10553"/>
                </a:stretch>
              </a:blipFill>
              <a:ln>
                <a:solidFill>
                  <a:srgbClr val="00356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12">
            <a:extLst>
              <a:ext uri="{FF2B5EF4-FFF2-40B4-BE49-F238E27FC236}">
                <a16:creationId xmlns:a16="http://schemas.microsoft.com/office/drawing/2014/main" id="{EE3AE202-2279-F967-CBB2-F13AE438877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686054" y="5257365"/>
            <a:ext cx="1755459" cy="8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Linear regression: gradient descent </a:t>
            </a:r>
            <a:r>
              <a:rPr lang="en-US" dirty="0"/>
              <a:t>(optional)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0">
                <a:extLst>
                  <a:ext uri="{FF2B5EF4-FFF2-40B4-BE49-F238E27FC236}">
                    <a16:creationId xmlns:a16="http://schemas.microsoft.com/office/drawing/2014/main" id="{9D9CC030-C4E3-CF3F-D832-C3A835B41F8A}"/>
                  </a:ext>
                </a:extLst>
              </p:cNvPr>
              <p:cNvSpPr txBox="1"/>
              <p:nvPr/>
            </p:nvSpPr>
            <p:spPr>
              <a:xfrm>
                <a:off x="431801" y="3258967"/>
                <a:ext cx="3834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gradient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0">
                <a:extLst>
                  <a:ext uri="{FF2B5EF4-FFF2-40B4-BE49-F238E27FC236}">
                    <a16:creationId xmlns:a16="http://schemas.microsoft.com/office/drawing/2014/main" id="{9D9CC030-C4E3-CF3F-D832-C3A835B41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1" y="3258967"/>
                <a:ext cx="3834333" cy="461665"/>
              </a:xfrm>
              <a:prstGeom prst="rect">
                <a:avLst/>
              </a:prstGeom>
              <a:blipFill>
                <a:blip r:embed="rId3"/>
                <a:stretch>
                  <a:fillRect l="-2544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11">
                <a:extLst>
                  <a:ext uri="{FF2B5EF4-FFF2-40B4-BE49-F238E27FC236}">
                    <a16:creationId xmlns:a16="http://schemas.microsoft.com/office/drawing/2014/main" id="{3DD38031-0675-6089-4EB9-0EAAF75ADFA3}"/>
                  </a:ext>
                </a:extLst>
              </p:cNvPr>
              <p:cNvSpPr txBox="1"/>
              <p:nvPr/>
            </p:nvSpPr>
            <p:spPr>
              <a:xfrm>
                <a:off x="2216883" y="2549452"/>
                <a:ext cx="2820756" cy="3540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11">
                <a:extLst>
                  <a:ext uri="{FF2B5EF4-FFF2-40B4-BE49-F238E27FC236}">
                    <a16:creationId xmlns:a16="http://schemas.microsoft.com/office/drawing/2014/main" id="{3DD38031-0675-6089-4EB9-0EAAF75AD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883" y="2549452"/>
                <a:ext cx="2820756" cy="35405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2">
                <a:extLst>
                  <a:ext uri="{FF2B5EF4-FFF2-40B4-BE49-F238E27FC236}">
                    <a16:creationId xmlns:a16="http://schemas.microsoft.com/office/drawing/2014/main" id="{5DB798F2-F140-8BC3-AEF7-370DEB565AEA}"/>
                  </a:ext>
                </a:extLst>
              </p:cNvPr>
              <p:cNvSpPr txBox="1"/>
              <p:nvPr/>
            </p:nvSpPr>
            <p:spPr>
              <a:xfrm>
                <a:off x="5114704" y="3068263"/>
                <a:ext cx="5654433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  <m:sSubSup>
                            <m:sSub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12">
                <a:extLst>
                  <a:ext uri="{FF2B5EF4-FFF2-40B4-BE49-F238E27FC236}">
                    <a16:creationId xmlns:a16="http://schemas.microsoft.com/office/drawing/2014/main" id="{5DB798F2-F140-8BC3-AEF7-370DEB565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704" y="3068263"/>
                <a:ext cx="5654433" cy="1172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5">
                <a:extLst>
                  <a:ext uri="{FF2B5EF4-FFF2-40B4-BE49-F238E27FC236}">
                    <a16:creationId xmlns:a16="http://schemas.microsoft.com/office/drawing/2014/main" id="{C6EB807E-AA56-D5E8-4BFF-64D67138B599}"/>
                  </a:ext>
                </a:extLst>
              </p:cNvPr>
              <p:cNvSpPr txBox="1"/>
              <p:nvPr/>
            </p:nvSpPr>
            <p:spPr>
              <a:xfrm>
                <a:off x="2655589" y="1250284"/>
                <a:ext cx="4764100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15">
                <a:extLst>
                  <a:ext uri="{FF2B5EF4-FFF2-40B4-BE49-F238E27FC236}">
                    <a16:creationId xmlns:a16="http://schemas.microsoft.com/office/drawing/2014/main" id="{C6EB807E-AA56-D5E8-4BFF-64D67138B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89" y="1250284"/>
                <a:ext cx="4764100" cy="11726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6">
                <a:extLst>
                  <a:ext uri="{FF2B5EF4-FFF2-40B4-BE49-F238E27FC236}">
                    <a16:creationId xmlns:a16="http://schemas.microsoft.com/office/drawing/2014/main" id="{667FB643-7DF8-8D8E-A919-2E67AAC47160}"/>
                  </a:ext>
                </a:extLst>
              </p:cNvPr>
              <p:cNvSpPr txBox="1"/>
              <p:nvPr/>
            </p:nvSpPr>
            <p:spPr>
              <a:xfrm>
                <a:off x="5958447" y="4240892"/>
                <a:ext cx="3646732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6">
                <a:extLst>
                  <a:ext uri="{FF2B5EF4-FFF2-40B4-BE49-F238E27FC236}">
                    <a16:creationId xmlns:a16="http://schemas.microsoft.com/office/drawing/2014/main" id="{667FB643-7DF8-8D8E-A919-2E67AAC47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447" y="4240892"/>
                <a:ext cx="3646732" cy="11726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4">
                <a:extLst>
                  <a:ext uri="{FF2B5EF4-FFF2-40B4-BE49-F238E27FC236}">
                    <a16:creationId xmlns:a16="http://schemas.microsoft.com/office/drawing/2014/main" id="{0937E50F-C57B-40D9-7442-4A0BAE0F3E1C}"/>
                  </a:ext>
                </a:extLst>
              </p:cNvPr>
              <p:cNvSpPr txBox="1"/>
              <p:nvPr/>
            </p:nvSpPr>
            <p:spPr>
              <a:xfrm>
                <a:off x="683038" y="6206320"/>
                <a:ext cx="10825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can be minimized by the gradient descent algorithm.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14">
                <a:extLst>
                  <a:ext uri="{FF2B5EF4-FFF2-40B4-BE49-F238E27FC236}">
                    <a16:creationId xmlns:a16="http://schemas.microsoft.com/office/drawing/2014/main" id="{0937E50F-C57B-40D9-7442-4A0BAE0F3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38" y="6206320"/>
                <a:ext cx="10825923" cy="461665"/>
              </a:xfrm>
              <a:prstGeom prst="rect">
                <a:avLst/>
              </a:prstGeom>
              <a:blipFill>
                <a:blip r:embed="rId8"/>
                <a:stretch>
                  <a:fillRect l="-84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86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Batch gradient descent (BGD)</a:t>
            </a:r>
          </a:p>
        </p:txBody>
      </p:sp>
      <p:sp>
        <p:nvSpPr>
          <p:cNvPr id="2" name="矩形 6">
            <a:extLst>
              <a:ext uri="{FF2B5EF4-FFF2-40B4-BE49-F238E27FC236}">
                <a16:creationId xmlns:a16="http://schemas.microsoft.com/office/drawing/2014/main" id="{0F5AB9E5-C0F7-EE81-16CF-1F96A482A6E2}"/>
              </a:ext>
            </a:extLst>
          </p:cNvPr>
          <p:cNvSpPr/>
          <p:nvPr/>
        </p:nvSpPr>
        <p:spPr>
          <a:xfrm>
            <a:off x="822478" y="1701606"/>
            <a:ext cx="96278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gradient descent algorithm, we need to compute the gradient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8">
            <a:extLst>
              <a:ext uri="{FF2B5EF4-FFF2-40B4-BE49-F238E27FC236}">
                <a16:creationId xmlns:a16="http://schemas.microsoft.com/office/drawing/2014/main" id="{90204A57-B276-D219-E331-6C9D0F8396B5}"/>
              </a:ext>
            </a:extLst>
          </p:cNvPr>
          <p:cNvSpPr/>
          <p:nvPr/>
        </p:nvSpPr>
        <p:spPr>
          <a:xfrm>
            <a:off x="1271095" y="5179093"/>
            <a:ext cx="79554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400" b="0" i="0" dirty="0">
              <a:solidFill>
                <a:srgbClr val="29292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5D299153-0B75-C143-D4BB-8A32E4D8BF3E}"/>
                  </a:ext>
                </a:extLst>
              </p:cNvPr>
              <p:cNvSpPr txBox="1"/>
              <p:nvPr/>
            </p:nvSpPr>
            <p:spPr>
              <a:xfrm>
                <a:off x="1037082" y="4690373"/>
                <a:ext cx="104059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BGD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all of the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training samples to compute the gradient;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 use the average gradient to update model parameters (e.g.,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LR).</a:t>
                </a:r>
              </a:p>
            </p:txBody>
          </p:sp>
        </mc:Choice>
        <mc:Fallback xmlns="">
          <p:sp>
            <p:nvSpPr>
              <p:cNvPr id="4" name="文本框 4">
                <a:extLst>
                  <a:ext uri="{FF2B5EF4-FFF2-40B4-BE49-F238E27FC236}">
                    <a16:creationId xmlns:a16="http://schemas.microsoft.com/office/drawing/2014/main" id="{5D299153-0B75-C143-D4BB-8A32E4D8B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082" y="4690373"/>
                <a:ext cx="10405911" cy="1200329"/>
              </a:xfrm>
              <a:prstGeom prst="rect">
                <a:avLst/>
              </a:prstGeom>
              <a:blipFill>
                <a:blip r:embed="rId3"/>
                <a:stretch>
                  <a:fillRect l="-762" t="-3553" b="-111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12">
            <a:extLst>
              <a:ext uri="{FF2B5EF4-FFF2-40B4-BE49-F238E27FC236}">
                <a16:creationId xmlns:a16="http://schemas.microsoft.com/office/drawing/2014/main" id="{C7C06E1B-F3EF-D205-4B29-88D4FDA24F11}"/>
              </a:ext>
            </a:extLst>
          </p:cNvPr>
          <p:cNvSpPr txBox="1"/>
          <p:nvPr/>
        </p:nvSpPr>
        <p:spPr>
          <a:xfrm>
            <a:off x="1037082" y="5441029"/>
            <a:ext cx="8546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its convergence is guaranteed.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lower exploration ability, high memory usage.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">
                <a:extLst>
                  <a:ext uri="{FF2B5EF4-FFF2-40B4-BE49-F238E27FC236}">
                    <a16:creationId xmlns:a16="http://schemas.microsoft.com/office/drawing/2014/main" id="{8967D7BD-6F55-35D7-47C7-721DCBDE2D55}"/>
                  </a:ext>
                </a:extLst>
              </p:cNvPr>
              <p:cNvSpPr txBox="1"/>
              <p:nvPr/>
            </p:nvSpPr>
            <p:spPr>
              <a:xfrm>
                <a:off x="2821186" y="2288804"/>
                <a:ext cx="4118642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  <m:sSubSup>
                            <m:sSub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11">
                <a:extLst>
                  <a:ext uri="{FF2B5EF4-FFF2-40B4-BE49-F238E27FC236}">
                    <a16:creationId xmlns:a16="http://schemas.microsoft.com/office/drawing/2014/main" id="{8967D7BD-6F55-35D7-47C7-721DCBDE2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186" y="2288804"/>
                <a:ext cx="4118642" cy="1172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13">
                <a:extLst>
                  <a:ext uri="{FF2B5EF4-FFF2-40B4-BE49-F238E27FC236}">
                    <a16:creationId xmlns:a16="http://schemas.microsoft.com/office/drawing/2014/main" id="{4479A11D-EB2B-7F7F-F773-6EAF533A01C1}"/>
                  </a:ext>
                </a:extLst>
              </p:cNvPr>
              <p:cNvSpPr txBox="1"/>
              <p:nvPr/>
            </p:nvSpPr>
            <p:spPr>
              <a:xfrm>
                <a:off x="2821186" y="3379480"/>
                <a:ext cx="3820807" cy="11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sSup>
                                <m:sSup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13">
                <a:extLst>
                  <a:ext uri="{FF2B5EF4-FFF2-40B4-BE49-F238E27FC236}">
                    <a16:creationId xmlns:a16="http://schemas.microsoft.com/office/drawing/2014/main" id="{4479A11D-EB2B-7F7F-F773-6EAF533A0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186" y="3379480"/>
                <a:ext cx="3820807" cy="1172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69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Stochastic gradient descent (SGD)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BDF5063B-C809-3CBC-813C-0E5BDC800890}"/>
              </a:ext>
            </a:extLst>
          </p:cNvPr>
          <p:cNvSpPr txBox="1"/>
          <p:nvPr/>
        </p:nvSpPr>
        <p:spPr>
          <a:xfrm>
            <a:off x="786879" y="3770330"/>
            <a:ext cx="8409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Less memory is required.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Stronger exploration ability.</a:t>
            </a: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6B839FB7-C567-0EE8-84CC-505836D3DA4F}"/>
              </a:ext>
            </a:extLst>
          </p:cNvPr>
          <p:cNvSpPr txBox="1"/>
          <p:nvPr/>
        </p:nvSpPr>
        <p:spPr>
          <a:xfrm>
            <a:off x="786878" y="1677940"/>
            <a:ext cx="86061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iteration of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SGD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Take a sample from the training set.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Calculate its gradient.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Update the model according to the gradient.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Repeat a) to c) for all the samples in the training set.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3">
            <a:extLst>
              <a:ext uri="{FF2B5EF4-FFF2-40B4-BE49-F238E27FC236}">
                <a16:creationId xmlns:a16="http://schemas.microsoft.com/office/drawing/2014/main" id="{5328F2B5-A300-9EC2-F6B1-391579E6EAEC}"/>
              </a:ext>
            </a:extLst>
          </p:cNvPr>
          <p:cNvSpPr txBox="1"/>
          <p:nvPr/>
        </p:nvSpPr>
        <p:spPr>
          <a:xfrm>
            <a:off x="786878" y="5124057"/>
            <a:ext cx="8409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Frequent model updating, computationally expensive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Gradient is noisy, slow convergence.</a:t>
            </a:r>
          </a:p>
        </p:txBody>
      </p:sp>
    </p:spTree>
    <p:extLst>
      <p:ext uri="{BB962C8B-B14F-4D97-AF65-F5344CB8AC3E}">
        <p14:creationId xmlns:p14="http://schemas.microsoft.com/office/powerpoint/2010/main" val="299932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Mini-batch gradient descent (MBGD)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C59E846C-096B-0645-25CB-CD9AFAFC996F}"/>
              </a:ext>
            </a:extLst>
          </p:cNvPr>
          <p:cNvSpPr txBox="1"/>
          <p:nvPr/>
        </p:nvSpPr>
        <p:spPr>
          <a:xfrm>
            <a:off x="620610" y="1648489"/>
            <a:ext cx="8780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BGD we use all samples at a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SGD we use only one sample at a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MBGD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we use a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mini-batch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at a time.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89AE5B8-6FC1-91B4-2D70-2842F140A345}"/>
                  </a:ext>
                </a:extLst>
              </p:cNvPr>
              <p:cNvSpPr txBox="1"/>
              <p:nvPr/>
            </p:nvSpPr>
            <p:spPr>
              <a:xfrm>
                <a:off x="620610" y="2943732"/>
                <a:ext cx="8996689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mini-batch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fixed number of </a:t>
                </a:r>
                <a14:m>
                  <m:oMath xmlns:m="http://schemas.openxmlformats.org/officeDocument/2006/math">
                    <m:r>
                      <a:rPr lang="en-GB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training samples with 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the</a:t>
                </a:r>
                <a:r>
                  <a:rPr lang="en-US" altLang="zh-CN" sz="2400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batch size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89AE5B8-6FC1-91B4-2D70-2842F140A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10" y="2943732"/>
                <a:ext cx="8996689" cy="1231940"/>
              </a:xfrm>
              <a:prstGeom prst="rect">
                <a:avLst/>
              </a:prstGeom>
              <a:blipFill>
                <a:blip r:embed="rId3"/>
                <a:stretch>
                  <a:fillRect l="-949" t="-3465" b="-84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10">
            <a:extLst>
              <a:ext uri="{FF2B5EF4-FFF2-40B4-BE49-F238E27FC236}">
                <a16:creationId xmlns:a16="http://schemas.microsoft.com/office/drawing/2014/main" id="{14898AA9-DA19-468D-7266-544CDD1145C4}"/>
              </a:ext>
            </a:extLst>
          </p:cNvPr>
          <p:cNvSpPr txBox="1"/>
          <p:nvPr/>
        </p:nvSpPr>
        <p:spPr>
          <a:xfrm>
            <a:off x="620610" y="4289052"/>
            <a:ext cx="86061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MBGD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Split the dataset into a number of mini-batches.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Take a mini-batch from the training set.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Calculate mean gradient of the mini-batch.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Update the model according to the mean gradient.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Repeat b) to d) for all the batches.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47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Mini-batch gradient descent (MBGD)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7024EDF1-CB02-928E-6D69-2D3370A3C454}"/>
              </a:ext>
            </a:extLst>
          </p:cNvPr>
          <p:cNvSpPr txBox="1"/>
          <p:nvPr/>
        </p:nvSpPr>
        <p:spPr>
          <a:xfrm>
            <a:off x="629128" y="4246956"/>
            <a:ext cx="92613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MBGD is a combination of BGD and SGD, 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can avoid converging to local minima to some extent.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Less memory is required.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Fast convergence.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7">
                <a:extLst>
                  <a:ext uri="{FF2B5EF4-FFF2-40B4-BE49-F238E27FC236}">
                    <a16:creationId xmlns:a16="http://schemas.microsoft.com/office/drawing/2014/main" id="{DC17EDC5-CD42-2A19-4EC9-F5D5AF5240C0}"/>
                  </a:ext>
                </a:extLst>
              </p:cNvPr>
              <p:cNvSpPr txBox="1"/>
              <p:nvPr/>
            </p:nvSpPr>
            <p:spPr>
              <a:xfrm>
                <a:off x="629128" y="1641548"/>
                <a:ext cx="96625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MBGD, </a:t>
                </a:r>
                <a14:m>
                  <m:oMath xmlns:m="http://schemas.openxmlformats.org/officeDocument/2006/math">
                    <m:r>
                      <a:rPr lang="en-GB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a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hyperparameter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affects the learning process.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7">
                <a:extLst>
                  <a:ext uri="{FF2B5EF4-FFF2-40B4-BE49-F238E27FC236}">
                    <a16:creationId xmlns:a16="http://schemas.microsoft.com/office/drawing/2014/main" id="{DC17EDC5-CD42-2A19-4EC9-F5D5AF524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8" y="1641548"/>
                <a:ext cx="9662537" cy="461665"/>
              </a:xfrm>
              <a:prstGeom prst="rect">
                <a:avLst/>
              </a:prstGeom>
              <a:blipFill>
                <a:blip r:embed="rId3"/>
                <a:stretch>
                  <a:fillRect l="-946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8">
                <a:extLst>
                  <a:ext uri="{FF2B5EF4-FFF2-40B4-BE49-F238E27FC236}">
                    <a16:creationId xmlns:a16="http://schemas.microsoft.com/office/drawing/2014/main" id="{0E82EDA6-AC3A-4BDF-8021-AD5A9AE95744}"/>
                  </a:ext>
                </a:extLst>
              </p:cNvPr>
              <p:cNvSpPr txBox="1"/>
              <p:nvPr/>
            </p:nvSpPr>
            <p:spPr>
              <a:xfrm>
                <a:off x="629128" y="2322361"/>
                <a:ext cx="809363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Small </a:t>
                </a:r>
                <a14:m>
                  <m:oMath xmlns:m="http://schemas.openxmlformats.org/officeDocument/2006/math">
                    <m:r>
                      <a:rPr lang="en-GB" altLang="zh-CN" sz="2400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SGD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</a:t>
                </a:r>
                <a14:m>
                  <m:oMath xmlns:m="http://schemas.openxmlformats.org/officeDocument/2006/math">
                    <m:r>
                      <a:rPr lang="en-GB" altLang="zh-CN" sz="2400" b="1" i="1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BGD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8">
                <a:extLst>
                  <a:ext uri="{FF2B5EF4-FFF2-40B4-BE49-F238E27FC236}">
                    <a16:creationId xmlns:a16="http://schemas.microsoft.com/office/drawing/2014/main" id="{0E82EDA6-AC3A-4BDF-8021-AD5A9AE95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8" y="2322361"/>
                <a:ext cx="8093638" cy="830997"/>
              </a:xfrm>
              <a:prstGeom prst="rect">
                <a:avLst/>
              </a:prstGeom>
              <a:blipFill>
                <a:blip r:embed="rId4"/>
                <a:stretch>
                  <a:fillRect l="-979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11">
                <a:extLst>
                  <a:ext uri="{FF2B5EF4-FFF2-40B4-BE49-F238E27FC236}">
                    <a16:creationId xmlns:a16="http://schemas.microsoft.com/office/drawing/2014/main" id="{FA206BB3-5B25-CD49-F8DF-35434D9B7716}"/>
                  </a:ext>
                </a:extLst>
              </p:cNvPr>
              <p:cNvSpPr txBox="1"/>
              <p:nvPr/>
            </p:nvSpPr>
            <p:spPr>
              <a:xfrm>
                <a:off x="629128" y="3429000"/>
                <a:ext cx="52879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good default for </a:t>
                </a:r>
                <a14:m>
                  <m:oMath xmlns:m="http://schemas.openxmlformats.org/officeDocument/2006/math">
                    <m:r>
                      <a:rPr lang="en-GB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32.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11">
                <a:extLst>
                  <a:ext uri="{FF2B5EF4-FFF2-40B4-BE49-F238E27FC236}">
                    <a16:creationId xmlns:a16="http://schemas.microsoft.com/office/drawing/2014/main" id="{FA206BB3-5B25-CD49-F8DF-35434D9B7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28" y="3429000"/>
                <a:ext cx="5287925" cy="461665"/>
              </a:xfrm>
              <a:prstGeom prst="rect">
                <a:avLst/>
              </a:prstGeom>
              <a:blipFill>
                <a:blip r:embed="rId5"/>
                <a:stretch>
                  <a:fillRect l="-1728" t="-9333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12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0EA38A-0245-4EE1-AE2E-736E45A3C44C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C67CE354-6A73-412A-9E9D-A435C775AC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E235BC-CF05-4C99-B6C5-4BEDC20F05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</TotalTime>
  <Words>499</Words>
  <Application>Microsoft Office PowerPoint</Application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Fundamental Concepts in Machine Learning Model Training (3)</vt:lpstr>
      <vt:lpstr>Minimize loss function: the gradient descent method (optional)</vt:lpstr>
      <vt:lpstr>Linear regression: gradient descent (optional)</vt:lpstr>
      <vt:lpstr>Batch gradient descent (BGD)</vt:lpstr>
      <vt:lpstr>Stochastic gradient descent (SGD)</vt:lpstr>
      <vt:lpstr>Mini-batch gradient descent (MBGD)</vt:lpstr>
      <vt:lpstr>Mini-batch gradient descent (MBGD)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68</cp:revision>
  <dcterms:created xsi:type="dcterms:W3CDTF">2021-01-06T14:22:07Z</dcterms:created>
  <dcterms:modified xsi:type="dcterms:W3CDTF">2024-07-09T10:37:33Z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