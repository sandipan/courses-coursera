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"/>
  </p:notesMasterIdLst>
  <p:sldIdLst>
    <p:sldId id="256" r:id="rId5"/>
    <p:sldId id="494" r:id="rId6"/>
    <p:sldId id="496" r:id="rId7"/>
    <p:sldId id="498" r:id="rId8"/>
    <p:sldId id="497" r:id="rId9"/>
    <p:sldId id="27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3359" autoAdjust="0"/>
    <p:restoredTop sz="96327"/>
  </p:normalViewPr>
  <p:slideViewPr>
    <p:cSldViewPr snapToGrid="0">
      <p:cViewPr varScale="1">
        <p:scale>
          <a:sx n="153" d="100"/>
          <a:sy n="153" d="100"/>
        </p:scale>
        <p:origin x="92" y="156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7/8/2024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2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8611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24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8307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08/07/2024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BAB3C4BD-A67A-4D47-6D5C-637F167E7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7314738" cy="78970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Fundamental Concepts in Machine Learning Model Training (2)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C54586-8882-6804-A250-091EB793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418" y="2576945"/>
            <a:ext cx="5680364" cy="10621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Professor Bo Liu</a:t>
            </a:r>
          </a:p>
          <a:p>
            <a:r>
              <a:rPr lang="en-GB" dirty="0">
                <a:solidFill>
                  <a:schemeClr val="tx1"/>
                </a:solidFill>
              </a:rPr>
              <a:t>James Watt 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US" dirty="0"/>
              <a:t>Training of a linear regression model</a:t>
            </a:r>
          </a:p>
        </p:txBody>
      </p:sp>
      <p:sp>
        <p:nvSpPr>
          <p:cNvPr id="2" name="文本框 9">
            <a:extLst>
              <a:ext uri="{FF2B5EF4-FFF2-40B4-BE49-F238E27FC236}">
                <a16:creationId xmlns:a16="http://schemas.microsoft.com/office/drawing/2014/main" id="{CD893D1A-7DB6-9729-10CF-A8956611415E}"/>
              </a:ext>
            </a:extLst>
          </p:cNvPr>
          <p:cNvSpPr txBox="1"/>
          <p:nvPr/>
        </p:nvSpPr>
        <p:spPr>
          <a:xfrm>
            <a:off x="810300" y="1643126"/>
            <a:ext cx="78448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MSE is mostly used in LR to define the loss function: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8">
                <a:extLst>
                  <a:ext uri="{FF2B5EF4-FFF2-40B4-BE49-F238E27FC236}">
                    <a16:creationId xmlns:a16="http://schemas.microsoft.com/office/drawing/2014/main" id="{E19E23AF-5CD1-8140-C20A-5094B090F4AA}"/>
                  </a:ext>
                </a:extLst>
              </p:cNvPr>
              <p:cNvSpPr txBox="1"/>
              <p:nvPr/>
            </p:nvSpPr>
            <p:spPr>
              <a:xfrm>
                <a:off x="2710269" y="2292099"/>
                <a:ext cx="3724371" cy="11726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)= 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CN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altLang="zh-CN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p>
                                  </m:sSup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zh-CN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CN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p>
                                      <m:r>
                                        <a:rPr lang="en-US" altLang="zh-CN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文本框 8">
                <a:extLst>
                  <a:ext uri="{FF2B5EF4-FFF2-40B4-BE49-F238E27FC236}">
                    <a16:creationId xmlns:a16="http://schemas.microsoft.com/office/drawing/2014/main" id="{E19E23AF-5CD1-8140-C20A-5094B090F4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0269" y="2292099"/>
                <a:ext cx="3724371" cy="11726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10">
                <a:extLst>
                  <a:ext uri="{FF2B5EF4-FFF2-40B4-BE49-F238E27FC236}">
                    <a16:creationId xmlns:a16="http://schemas.microsoft.com/office/drawing/2014/main" id="{CE8A89E7-D18C-F192-E3F0-876274B73459}"/>
                  </a:ext>
                </a:extLst>
              </p:cNvPr>
              <p:cNvSpPr txBox="1"/>
              <p:nvPr/>
            </p:nvSpPr>
            <p:spPr>
              <a:xfrm>
                <a:off x="810300" y="3579068"/>
                <a:ext cx="5939433" cy="8548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is the actual value;</a:t>
                </a:r>
                <a:endParaRPr lang="en-US" altLang="zh-CN" sz="2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p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sSup>
                      <m:sSupPr>
                        <m:ctrlP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is the predicted value.  </a:t>
                </a:r>
                <a:endParaRPr lang="zh-CN" altLang="en-US" sz="2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文本框 10">
                <a:extLst>
                  <a:ext uri="{FF2B5EF4-FFF2-40B4-BE49-F238E27FC236}">
                    <a16:creationId xmlns:a16="http://schemas.microsoft.com/office/drawing/2014/main" id="{CE8A89E7-D18C-F192-E3F0-876274B734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300" y="3579068"/>
                <a:ext cx="5939433" cy="854849"/>
              </a:xfrm>
              <a:prstGeom prst="rect">
                <a:avLst/>
              </a:prstGeom>
              <a:blipFill>
                <a:blip r:embed="rId4"/>
                <a:stretch>
                  <a:fillRect l="-1437" t="-3571" b="-16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12">
                <a:extLst>
                  <a:ext uri="{FF2B5EF4-FFF2-40B4-BE49-F238E27FC236}">
                    <a16:creationId xmlns:a16="http://schemas.microsoft.com/office/drawing/2014/main" id="{F72E6432-08D2-35EB-199E-AF0DE39780C3}"/>
                  </a:ext>
                </a:extLst>
              </p:cNvPr>
              <p:cNvSpPr txBox="1"/>
              <p:nvPr/>
            </p:nvSpPr>
            <p:spPr>
              <a:xfrm>
                <a:off x="2710269" y="5315532"/>
                <a:ext cx="4354349" cy="1185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)= 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CN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altLang="zh-CN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p>
                                  </m:sSup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4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  <m:sSup>
                                    <m:sSupPr>
                                      <m:ctrlPr>
                                        <a:rPr lang="en-US" altLang="zh-CN" sz="2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altLang="zh-CN" sz="2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p>
                                  </m:sSup>
                                  <m:r>
                                    <a:rPr lang="en-US" altLang="zh-CN" sz="24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文本框 12">
                <a:extLst>
                  <a:ext uri="{FF2B5EF4-FFF2-40B4-BE49-F238E27FC236}">
                    <a16:creationId xmlns:a16="http://schemas.microsoft.com/office/drawing/2014/main" id="{F72E6432-08D2-35EB-199E-AF0DE39780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0269" y="5315532"/>
                <a:ext cx="4354349" cy="118532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11">
                <a:extLst>
                  <a:ext uri="{FF2B5EF4-FFF2-40B4-BE49-F238E27FC236}">
                    <a16:creationId xmlns:a16="http://schemas.microsoft.com/office/drawing/2014/main" id="{9BAE495C-6485-5065-0B9C-72979E981F96}"/>
                  </a:ext>
                </a:extLst>
              </p:cNvPr>
              <p:cNvSpPr txBox="1"/>
              <p:nvPr/>
            </p:nvSpPr>
            <p:spPr>
              <a:xfrm>
                <a:off x="810300" y="4702209"/>
                <a:ext cx="5491717" cy="4735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Substitute the value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p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yields </a:t>
                </a:r>
                <a:endParaRPr lang="zh-CN" altLang="en-US" sz="2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6" name="文本框 11">
                <a:extLst>
                  <a:ext uri="{FF2B5EF4-FFF2-40B4-BE49-F238E27FC236}">
                    <a16:creationId xmlns:a16="http://schemas.microsoft.com/office/drawing/2014/main" id="{9BAE495C-6485-5065-0B9C-72979E981F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300" y="4702209"/>
                <a:ext cx="5491717" cy="473591"/>
              </a:xfrm>
              <a:prstGeom prst="rect">
                <a:avLst/>
              </a:prstGeom>
              <a:blipFill>
                <a:blip r:embed="rId6"/>
                <a:stretch>
                  <a:fillRect l="-1776" t="-6410" b="-294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6015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US" dirty="0"/>
              <a:t>Linear regression: minimize the loss</a:t>
            </a:r>
          </a:p>
        </p:txBody>
      </p:sp>
      <p:sp>
        <p:nvSpPr>
          <p:cNvPr id="2" name="文本框 7">
            <a:extLst>
              <a:ext uri="{FF2B5EF4-FFF2-40B4-BE49-F238E27FC236}">
                <a16:creationId xmlns:a16="http://schemas.microsoft.com/office/drawing/2014/main" id="{8C8BBA3D-3C44-980D-893D-B31DB58B91E7}"/>
              </a:ext>
            </a:extLst>
          </p:cNvPr>
          <p:cNvSpPr txBox="1"/>
          <p:nvPr/>
        </p:nvSpPr>
        <p:spPr>
          <a:xfrm>
            <a:off x="832481" y="1618095"/>
            <a:ext cx="83345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Our goal is to minimize the loss.</a:t>
            </a:r>
          </a:p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That is, to minimize the unconstrained optimization problem: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6">
                <a:extLst>
                  <a:ext uri="{FF2B5EF4-FFF2-40B4-BE49-F238E27FC236}">
                    <a16:creationId xmlns:a16="http://schemas.microsoft.com/office/drawing/2014/main" id="{EC405C34-291C-F21B-BA44-8922DA695EAF}"/>
                  </a:ext>
                </a:extLst>
              </p:cNvPr>
              <p:cNvSpPr txBox="1"/>
              <p:nvPr/>
            </p:nvSpPr>
            <p:spPr>
              <a:xfrm>
                <a:off x="1283688" y="2769555"/>
                <a:ext cx="6758991" cy="11726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𝑙</m:t>
                          </m:r>
                          <m:d>
                            <m:d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unc>
                            <m:func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e>
                                <m:lim>
                                  <m:r>
                                    <a:rPr lang="en-US" altLang="zh-CN" sz="2400" b="1" i="1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lim>
                              </m:limLow>
                            </m:fName>
                            <m:e>
                              <m:f>
                                <m:f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den>
                              </m:f>
                              <m:nary>
                                <m:naryPr>
                                  <m:chr m:val="∑"/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altLang="zh-CN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altLang="zh-CN" sz="240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altLang="zh-CN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p>
                                          </m:sSup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altLang="zh-CN" sz="2400" b="1" i="1" dirty="0">
                                              <a:latin typeface="Cambria Math" panose="02040503050406030204" pitchFamily="18" charset="0"/>
                                            </a:rPr>
                                            <m:t>𝒂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altLang="zh-CN" sz="2400" b="0" i="1" dirty="0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altLang="zh-CN" sz="2400" b="1" i="1" dirty="0" smtClean="0">
                                                  <a:latin typeface="Cambria Math" panose="02040503050406030204" pitchFamily="18" charset="0"/>
                                                </a:rPr>
                                                <m:t>𝒙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altLang="zh-CN" sz="2400" b="0" i="1" dirty="0" smtClean="0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p>
                                          </m:sSup>
                                          <m: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en-US" altLang="zh-CN" sz="24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" name="文本框 6">
                <a:extLst>
                  <a:ext uri="{FF2B5EF4-FFF2-40B4-BE49-F238E27FC236}">
                    <a16:creationId xmlns:a16="http://schemas.microsoft.com/office/drawing/2014/main" id="{EC405C34-291C-F21B-BA44-8922DA695E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3688" y="2769555"/>
                <a:ext cx="6758991" cy="11726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8">
                <a:extLst>
                  <a:ext uri="{FF2B5EF4-FFF2-40B4-BE49-F238E27FC236}">
                    <a16:creationId xmlns:a16="http://schemas.microsoft.com/office/drawing/2014/main" id="{8F68F821-E467-E307-14D0-E717A45E60C2}"/>
                  </a:ext>
                </a:extLst>
              </p:cNvPr>
              <p:cNvSpPr txBox="1"/>
              <p:nvPr/>
            </p:nvSpPr>
            <p:spPr>
              <a:xfrm>
                <a:off x="919861" y="5097468"/>
                <a:ext cx="8159759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𝑙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continuously differentiable and convex.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Gradient descent algorithm is suitable to minimize it. </a:t>
                </a:r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文本框 8">
                <a:extLst>
                  <a:ext uri="{FF2B5EF4-FFF2-40B4-BE49-F238E27FC236}">
                    <a16:creationId xmlns:a16="http://schemas.microsoft.com/office/drawing/2014/main" id="{8F68F821-E467-E307-14D0-E717A45E60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861" y="5097468"/>
                <a:ext cx="8159759" cy="830997"/>
              </a:xfrm>
              <a:prstGeom prst="rect">
                <a:avLst/>
              </a:prstGeom>
              <a:blipFill>
                <a:blip r:embed="rId4"/>
                <a:stretch>
                  <a:fillRect l="-1046" t="-5109" b="-160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E0921127-5B2D-C043-B8F1-270E041F69FE}"/>
                  </a:ext>
                </a:extLst>
              </p:cNvPr>
              <p:cNvSpPr txBox="1"/>
              <p:nvPr/>
            </p:nvSpPr>
            <p:spPr>
              <a:xfrm>
                <a:off x="1479661" y="4245212"/>
                <a:ext cx="75122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are the decision variables to be optimized.</a:t>
                </a:r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E0921127-5B2D-C043-B8F1-270E041F69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9661" y="4245212"/>
                <a:ext cx="7512255" cy="461665"/>
              </a:xfrm>
              <a:prstGeom prst="rect">
                <a:avLst/>
              </a:prstGeom>
              <a:blipFill>
                <a:blip r:embed="rId5"/>
                <a:stretch>
                  <a:fillRect t="-9211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0808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7" y="533614"/>
            <a:ext cx="6912457" cy="888786"/>
          </a:xfrm>
        </p:spPr>
        <p:txBody>
          <a:bodyPr/>
          <a:lstStyle/>
          <a:p>
            <a:r>
              <a:rPr lang="en-US" dirty="0"/>
              <a:t>Minimize loss function: the gradient descent method</a:t>
            </a:r>
          </a:p>
        </p:txBody>
      </p:sp>
      <p:sp>
        <p:nvSpPr>
          <p:cNvPr id="2" name="矩形 6">
            <a:extLst>
              <a:ext uri="{FF2B5EF4-FFF2-40B4-BE49-F238E27FC236}">
                <a16:creationId xmlns:a16="http://schemas.microsoft.com/office/drawing/2014/main" id="{964D3DAE-E33D-9E9C-2618-4D216D8E4CB6}"/>
              </a:ext>
            </a:extLst>
          </p:cNvPr>
          <p:cNvSpPr/>
          <p:nvPr/>
        </p:nvSpPr>
        <p:spPr>
          <a:xfrm>
            <a:off x="473823" y="1695633"/>
            <a:ext cx="998579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Gradient descent </a:t>
            </a:r>
            <a:r>
              <a:rPr lang="en-US" altLang="zh-CN" sz="24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is a first-order iterative optimization algorithm for finding the local minima of a differentiable function. </a:t>
            </a:r>
            <a:endParaRPr lang="zh-CN" altLang="en-US" sz="2400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C09782D-A25D-8FC8-8E36-936B4A6C2834}"/>
              </a:ext>
            </a:extLst>
          </p:cNvPr>
          <p:cNvSpPr txBox="1"/>
          <p:nvPr/>
        </p:nvSpPr>
        <p:spPr>
          <a:xfrm>
            <a:off x="473823" y="2562782"/>
            <a:ext cx="69437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Gradient descent iteration: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4">
                <a:extLst>
                  <a:ext uri="{FF2B5EF4-FFF2-40B4-BE49-F238E27FC236}">
                    <a16:creationId xmlns:a16="http://schemas.microsoft.com/office/drawing/2014/main" id="{33B3113F-4D9D-170D-F2E6-19A682E3E119}"/>
                  </a:ext>
                </a:extLst>
              </p:cNvPr>
              <p:cNvSpPr txBox="1"/>
              <p:nvPr/>
            </p:nvSpPr>
            <p:spPr>
              <a:xfrm>
                <a:off x="3656246" y="2577789"/>
                <a:ext cx="6025417" cy="4753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+mj-ea"/>
                          </a:rPr>
                        </m:ctrlPr>
                      </m:sSup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+mj-ea"/>
                          </a:rPr>
                          <m:t>𝒙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+mj-ea"/>
                          </a:rPr>
                          <m:t>𝑘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+mj-ea"/>
                          </a:rPr>
                          <m:t>+1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+mj-ea"/>
                      </a:rPr>
                      <m:t>=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+mj-ea"/>
                          </a:rPr>
                        </m:ctrlPr>
                      </m:sSup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+mj-ea"/>
                          </a:rPr>
                          <m:t>𝒙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+mj-ea"/>
                          </a:rPr>
                          <m:t>𝑘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+mj-ea"/>
                      </a:rPr>
                      <m:t>−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+mj-ea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+mj-ea"/>
                          </a:rPr>
                          <m:t>𝛼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+mj-ea"/>
                          </a:rPr>
                          <m:t>𝑘</m:t>
                        </m:r>
                      </m:sup>
                    </m:sSup>
                    <m:r>
                      <a:rPr lang="en-US" altLang="zh-CN" sz="2400" b="1" i="0" smtClean="0">
                        <a:latin typeface="Cambria Math" panose="02040503050406030204" pitchFamily="18" charset="0"/>
                        <a:ea typeface="+mj-ea"/>
                      </a:rPr>
                      <m:t>𝛁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+mj-ea"/>
                      </a:rPr>
                      <m:t>𝑙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+mj-ea"/>
                      </a:rPr>
                      <m:t>(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+mj-ea"/>
                          </a:rPr>
                        </m:ctrlPr>
                      </m:sSup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+mj-ea"/>
                          </a:rPr>
                          <m:t>𝒙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+mj-ea"/>
                          </a:rPr>
                          <m:t>𝑘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+mj-ea"/>
                      </a:rPr>
                      <m:t>)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ea typeface="+mj-ea"/>
                    <a:cs typeface="Arial" panose="020B0604020202020204" pitchFamily="34" charset="0"/>
                  </a:rPr>
                  <a:t>            (1)            </a:t>
                </a:r>
                <a:endParaRPr lang="zh-CN" altLang="en-US" sz="2400" dirty="0">
                  <a:latin typeface="Arial" panose="020B0604020202020204" pitchFamily="34" charset="0"/>
                  <a:ea typeface="+mj-ea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文本框 4">
                <a:extLst>
                  <a:ext uri="{FF2B5EF4-FFF2-40B4-BE49-F238E27FC236}">
                    <a16:creationId xmlns:a16="http://schemas.microsoft.com/office/drawing/2014/main" id="{33B3113F-4D9D-170D-F2E6-19A682E3E1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6246" y="2577789"/>
                <a:ext cx="6025417" cy="475387"/>
              </a:xfrm>
              <a:prstGeom prst="rect">
                <a:avLst/>
              </a:prstGeom>
              <a:blipFill>
                <a:blip r:embed="rId3"/>
                <a:stretch>
                  <a:fillRect t="-7692" r="-5668" b="-282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7">
                <a:extLst>
                  <a:ext uri="{FF2B5EF4-FFF2-40B4-BE49-F238E27FC236}">
                    <a16:creationId xmlns:a16="http://schemas.microsoft.com/office/drawing/2014/main" id="{9A6696DE-B88D-ED69-08CD-D1F15E953C61}"/>
                  </a:ext>
                </a:extLst>
              </p:cNvPr>
              <p:cNvSpPr txBox="1"/>
              <p:nvPr/>
            </p:nvSpPr>
            <p:spPr>
              <a:xfrm>
                <a:off x="473823" y="3274101"/>
                <a:ext cx="8240969" cy="8440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+mj-ea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+mj-ea"/>
                          </a:rPr>
                          <m:t>𝛼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+mj-ea"/>
                          </a:rPr>
                          <m:t>𝑘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+mj-ea"/>
                      </a:rPr>
                      <m:t>&gt;0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ea typeface="+mj-ea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ea typeface="+mj-ea"/>
                    <a:cs typeface="Arial" panose="020B0604020202020204" pitchFamily="34" charset="0"/>
                  </a:rPr>
                  <a:t>is the step size, also called </a:t>
                </a:r>
                <a:r>
                  <a:rPr lang="en-US" altLang="zh-CN" sz="2400" b="1" dirty="0">
                    <a:latin typeface="Arial" panose="020B0604020202020204" pitchFamily="34" charset="0"/>
                    <a:ea typeface="+mj-ea"/>
                    <a:cs typeface="Arial" panose="020B0604020202020204" pitchFamily="34" charset="0"/>
                  </a:rPr>
                  <a:t>learning rate</a:t>
                </a:r>
                <a:r>
                  <a:rPr lang="en-US" altLang="zh-CN" sz="2400" dirty="0">
                    <a:latin typeface="Arial" panose="020B0604020202020204" pitchFamily="34" charset="0"/>
                    <a:ea typeface="+mj-ea"/>
                    <a:cs typeface="Arial" panose="020B0604020202020204" pitchFamily="34" charset="0"/>
                  </a:rPr>
                  <a:t> in ML.</a:t>
                </a:r>
              </a:p>
              <a:p>
                <a14:m>
                  <m:oMath xmlns:m="http://schemas.openxmlformats.org/officeDocument/2006/math">
                    <m:r>
                      <a:rPr lang="en-US" altLang="zh-CN" sz="2400" b="1" i="1">
                        <a:latin typeface="Cambria Math" panose="02040503050406030204" pitchFamily="18" charset="0"/>
                        <a:ea typeface="+mj-ea"/>
                      </a:rPr>
                      <m:t>𝛁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+mj-ea"/>
                      </a:rPr>
                      <m:t>𝑙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+mj-ea"/>
                      </a:rPr>
                      <m:t>(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+mj-ea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  <a:ea typeface="+mj-ea"/>
                          </a:rPr>
                          <m:t>𝒙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+mj-ea"/>
                          </a:rPr>
                          <m:t>𝑘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+mj-ea"/>
                      </a:rPr>
                      <m:t>)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ea typeface="+mj-ea"/>
                    <a:cs typeface="Arial" panose="020B0604020202020204" pitchFamily="34" charset="0"/>
                  </a:rPr>
                  <a:t> is the gradient of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+mj-ea"/>
                      </a:rPr>
                      <m:t>𝑙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ea typeface="+mj-ea"/>
                    <a:cs typeface="Arial" panose="020B0604020202020204" pitchFamily="34" charset="0"/>
                  </a:rPr>
                  <a:t> at the point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+mj-ea"/>
                          </a:rPr>
                        </m:ctrlPr>
                      </m:sSup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+mj-ea"/>
                          </a:rPr>
                          <m:t>𝒙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+mj-ea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ea typeface="+mj-ea"/>
                    <a:cs typeface="Arial" panose="020B0604020202020204" pitchFamily="34" charset="0"/>
                  </a:rPr>
                  <a:t> :</a:t>
                </a:r>
                <a:endParaRPr lang="zh-CN" altLang="en-US" sz="2400" dirty="0">
                  <a:latin typeface="Arial" panose="020B0604020202020204" pitchFamily="34" charset="0"/>
                  <a:ea typeface="+mj-ea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文本框 7">
                <a:extLst>
                  <a:ext uri="{FF2B5EF4-FFF2-40B4-BE49-F238E27FC236}">
                    <a16:creationId xmlns:a16="http://schemas.microsoft.com/office/drawing/2014/main" id="{9A6696DE-B88D-ED69-08CD-D1F15E953C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823" y="3274101"/>
                <a:ext cx="8240969" cy="844077"/>
              </a:xfrm>
              <a:prstGeom prst="rect">
                <a:avLst/>
              </a:prstGeom>
              <a:blipFill>
                <a:blip r:embed="rId4"/>
                <a:stretch>
                  <a:fillRect l="-222" t="-4317" b="-158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10">
                <a:extLst>
                  <a:ext uri="{FF2B5EF4-FFF2-40B4-BE49-F238E27FC236}">
                    <a16:creationId xmlns:a16="http://schemas.microsoft.com/office/drawing/2014/main" id="{A3A846CB-69AC-8F93-0F0B-6E977A50D5F5}"/>
                  </a:ext>
                </a:extLst>
              </p:cNvPr>
              <p:cNvSpPr txBox="1"/>
              <p:nvPr/>
            </p:nvSpPr>
            <p:spPr>
              <a:xfrm>
                <a:off x="2549236" y="4192631"/>
                <a:ext cx="2493467" cy="23076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𝛁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f>
                                    <m:f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num>
                                    <m:den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sSubSup>
                                        <m:sSubSup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p>
                                      </m:sSubSup>
                                    </m:den>
                                  </m:f>
                                </m:e>
                              </m:mr>
                              <m:mr>
                                <m:e>
                                  <m:f>
                                    <m:f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num>
                                    <m:den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sSubSup>
                                        <m:sSubSup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  <m:sup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p>
                                      </m:sSubSup>
                                    </m:den>
                                  </m:f>
                                </m:e>
                              </m:mr>
                              <m:m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</m:mr>
                            </m:m>
                          </m:e>
                          <m:e>
                            <m:f>
                              <m:f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num>
                              <m:den>
                                <m:r>
                                  <m:rPr>
                                    <m:brk m:alnAt="7"/>
                                  </m:r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sSubSup>
                                  <m:sSubSup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bSup>
                              </m:den>
                            </m:f>
                          </m:e>
                        </m:eqArr>
                      </m:e>
                    </m:d>
                  </m:oMath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文本框 10">
                <a:extLst>
                  <a:ext uri="{FF2B5EF4-FFF2-40B4-BE49-F238E27FC236}">
                    <a16:creationId xmlns:a16="http://schemas.microsoft.com/office/drawing/2014/main" id="{A3A846CB-69AC-8F93-0F0B-6E977A50D5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9236" y="4192631"/>
                <a:ext cx="2493467" cy="230761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5FF7E76-EC08-16DB-C9E8-A6CB33B09197}"/>
                  </a:ext>
                </a:extLst>
              </p:cNvPr>
              <p:cNvSpPr txBox="1"/>
              <p:nvPr/>
            </p:nvSpPr>
            <p:spPr>
              <a:xfrm>
                <a:off x="6441513" y="4657200"/>
                <a:ext cx="3201251" cy="1200329"/>
              </a:xfrm>
              <a:prstGeom prst="rect">
                <a:avLst/>
              </a:prstGeom>
              <a:noFill/>
              <a:ln>
                <a:solidFill>
                  <a:srgbClr val="003561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GB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the number of the current iteration;</a:t>
                </a: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GB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the dimension of 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GB" sz="2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5FF7E76-EC08-16DB-C9E8-A6CB33B091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1513" y="4657200"/>
                <a:ext cx="3201251" cy="1200329"/>
              </a:xfrm>
              <a:prstGeom prst="rect">
                <a:avLst/>
              </a:prstGeom>
              <a:blipFill>
                <a:blip r:embed="rId6"/>
                <a:stretch>
                  <a:fillRect l="-2846" t="-3015" b="-10553"/>
                </a:stretch>
              </a:blipFill>
              <a:ln>
                <a:solidFill>
                  <a:srgbClr val="00356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直接箭头连接符 12">
            <a:extLst>
              <a:ext uri="{FF2B5EF4-FFF2-40B4-BE49-F238E27FC236}">
                <a16:creationId xmlns:a16="http://schemas.microsoft.com/office/drawing/2014/main" id="{EE3AE202-2279-F967-CBB2-F13AE438877A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4686054" y="5257365"/>
            <a:ext cx="1755459" cy="890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3850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8656829" cy="888786"/>
          </a:xfrm>
        </p:spPr>
        <p:txBody>
          <a:bodyPr/>
          <a:lstStyle/>
          <a:p>
            <a:r>
              <a:rPr lang="fr-FR" dirty="0" err="1"/>
              <a:t>Minimize</a:t>
            </a:r>
            <a:r>
              <a:rPr lang="fr-FR" dirty="0"/>
              <a:t> </a:t>
            </a:r>
            <a:r>
              <a:rPr lang="fr-FR" dirty="0" err="1"/>
              <a:t>loss</a:t>
            </a:r>
            <a:r>
              <a:rPr lang="fr-FR" dirty="0"/>
              <a:t> </a:t>
            </a:r>
            <a:r>
              <a:rPr lang="fr-FR" dirty="0" err="1"/>
              <a:t>function</a:t>
            </a:r>
            <a:r>
              <a:rPr lang="fr-FR" dirty="0"/>
              <a:t>: gradient </a:t>
            </a:r>
            <a:r>
              <a:rPr lang="fr-FR" dirty="0" err="1"/>
              <a:t>descent</a:t>
            </a:r>
            <a:r>
              <a:rPr lang="fr-FR" dirty="0"/>
              <a:t> </a:t>
            </a:r>
            <a:r>
              <a:rPr lang="fr-FR" dirty="0" err="1"/>
              <a:t>algorithm</a:t>
            </a: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8">
                <a:extLst>
                  <a:ext uri="{FF2B5EF4-FFF2-40B4-BE49-F238E27FC236}">
                    <a16:creationId xmlns:a16="http://schemas.microsoft.com/office/drawing/2014/main" id="{083AE8D5-7A0A-7C9A-EBF0-3D481AF17C0E}"/>
                  </a:ext>
                </a:extLst>
              </p:cNvPr>
              <p:cNvSpPr/>
              <p:nvPr/>
            </p:nvSpPr>
            <p:spPr>
              <a:xfrm>
                <a:off x="580867" y="1560402"/>
                <a:ext cx="8983011" cy="1247842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ea typeface="+mj-ea"/>
                    <a:cs typeface="Arial" panose="020B0604020202020204" pitchFamily="34" charset="0"/>
                  </a:rPr>
                  <a:t>Procedures of the gradient descent algorithm</a:t>
                </a:r>
              </a:p>
              <a:p>
                <a:pPr lvl="1">
                  <a:buFont typeface="+mj-lt"/>
                  <a:buAutoNum type="arabicPeriod"/>
                </a:pPr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ea typeface="+mj-ea"/>
                    <a:cs typeface="Arial" panose="020B0604020202020204" pitchFamily="34" charset="0"/>
                  </a:rPr>
                  <a:t>Set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sSupPr>
                      <m:e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𝒙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ea typeface="+mj-ea"/>
                    <a:cs typeface="Arial" panose="020B0604020202020204" pitchFamily="34" charset="0"/>
                  </a:rPr>
                  <a:t> to any starting point;</a:t>
                </a:r>
              </a:p>
              <a:p>
                <a:pPr lvl="1">
                  <a:buFont typeface="+mj-lt"/>
                  <a:buAutoNum type="arabicPeriod"/>
                </a:pPr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ea typeface="+mj-ea"/>
                    <a:cs typeface="Arial" panose="020B0604020202020204" pitchFamily="34" charset="0"/>
                  </a:rPr>
                  <a:t> Iterate according to Equation (1) until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𝑙</m:t>
                        </m:r>
                        <m:d>
                          <m:d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j-ea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j-ea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j-ea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j-ea"/>
                                  </a:rPr>
                                  <m:t>𝑘</m:t>
                                </m:r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j-ea"/>
                                  </a:rPr>
                                  <m:t>+1</m:t>
                                </m:r>
                              </m:sup>
                            </m:sSup>
                          </m:e>
                        </m:d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−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𝑙</m:t>
                        </m:r>
                        <m:d>
                          <m:d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j-ea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j-ea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j-ea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j-ea"/>
                                  </a:rPr>
                                  <m:t>𝑘</m:t>
                                </m:r>
                              </m:sup>
                            </m:sSup>
                          </m:e>
                        </m:d>
                      </m:e>
                    </m:d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</a:rPr>
                      <m:t>≤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</a:rPr>
                      <m:t>𝜖</m:t>
                    </m:r>
                  </m:oMath>
                </a14:m>
                <a:endParaRPr lang="en-US" altLang="zh-CN" sz="2400" dirty="0">
                  <a:solidFill>
                    <a:schemeClr val="tx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矩形 8">
                <a:extLst>
                  <a:ext uri="{FF2B5EF4-FFF2-40B4-BE49-F238E27FC236}">
                    <a16:creationId xmlns:a16="http://schemas.microsoft.com/office/drawing/2014/main" id="{083AE8D5-7A0A-7C9A-EBF0-3D481AF17C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867" y="1560402"/>
                <a:ext cx="8983011" cy="1247842"/>
              </a:xfrm>
              <a:prstGeom prst="rect">
                <a:avLst/>
              </a:prstGeom>
              <a:blipFill>
                <a:blip r:embed="rId3"/>
                <a:stretch>
                  <a:fillRect l="-949" t="-2899" b="-7729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10">
            <a:extLst>
              <a:ext uri="{FF2B5EF4-FFF2-40B4-BE49-F238E27FC236}">
                <a16:creationId xmlns:a16="http://schemas.microsoft.com/office/drawing/2014/main" id="{DE3BB1C2-EB2B-555A-BBCC-E4E9317CE2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8252" y="3793929"/>
            <a:ext cx="2829750" cy="263989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" name="图片 11">
            <a:extLst>
              <a:ext uri="{FF2B5EF4-FFF2-40B4-BE49-F238E27FC236}">
                <a16:creationId xmlns:a16="http://schemas.microsoft.com/office/drawing/2014/main" id="{6D682A43-A43A-E5B9-AFC2-AC5C12F178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3806" y="3752549"/>
            <a:ext cx="2882898" cy="27348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9">
                <a:extLst>
                  <a:ext uri="{FF2B5EF4-FFF2-40B4-BE49-F238E27FC236}">
                    <a16:creationId xmlns:a16="http://schemas.microsoft.com/office/drawing/2014/main" id="{39CF9D17-D8BB-4812-4454-7987A5AB9036}"/>
                  </a:ext>
                </a:extLst>
              </p:cNvPr>
              <p:cNvSpPr txBox="1"/>
              <p:nvPr/>
            </p:nvSpPr>
            <p:spPr>
              <a:xfrm>
                <a:off x="944761" y="2860412"/>
                <a:ext cx="7395767" cy="835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Example: gradient descent algorithm to minimize:</a:t>
                </a:r>
              </a:p>
              <a:p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                               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𝑙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文本框 9">
                <a:extLst>
                  <a:ext uri="{FF2B5EF4-FFF2-40B4-BE49-F238E27FC236}">
                    <a16:creationId xmlns:a16="http://schemas.microsoft.com/office/drawing/2014/main" id="{39CF9D17-D8BB-4812-4454-7987A5AB90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761" y="2860412"/>
                <a:ext cx="7395767" cy="835998"/>
              </a:xfrm>
              <a:prstGeom prst="rect">
                <a:avLst/>
              </a:prstGeom>
              <a:blipFill>
                <a:blip r:embed="rId6"/>
                <a:stretch>
                  <a:fillRect l="-1319" t="-5109" b="-21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12">
                <a:extLst>
                  <a:ext uri="{FF2B5EF4-FFF2-40B4-BE49-F238E27FC236}">
                    <a16:creationId xmlns:a16="http://schemas.microsoft.com/office/drawing/2014/main" id="{6B011AE8-B0E1-C8B9-4D9C-CEA87116DE69}"/>
                  </a:ext>
                </a:extLst>
              </p:cNvPr>
              <p:cNvSpPr txBox="1"/>
              <p:nvPr/>
            </p:nvSpPr>
            <p:spPr>
              <a:xfrm>
                <a:off x="3072137" y="6449351"/>
                <a:ext cx="14872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Graph of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endParaRPr lang="zh-CN" alt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文本框 12">
                <a:extLst>
                  <a:ext uri="{FF2B5EF4-FFF2-40B4-BE49-F238E27FC236}">
                    <a16:creationId xmlns:a16="http://schemas.microsoft.com/office/drawing/2014/main" id="{6B011AE8-B0E1-C8B9-4D9C-CEA87116DE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2137" y="6449351"/>
                <a:ext cx="1487265" cy="369332"/>
              </a:xfrm>
              <a:prstGeom prst="rect">
                <a:avLst/>
              </a:prstGeom>
              <a:blipFill>
                <a:blip r:embed="rId7"/>
                <a:stretch>
                  <a:fillRect l="-3689" t="-983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14">
                <a:extLst>
                  <a:ext uri="{FF2B5EF4-FFF2-40B4-BE49-F238E27FC236}">
                    <a16:creationId xmlns:a16="http://schemas.microsoft.com/office/drawing/2014/main" id="{8B398AED-4988-440B-5D5C-F4297F5EF49B}"/>
                  </a:ext>
                </a:extLst>
              </p:cNvPr>
              <p:cNvSpPr txBox="1"/>
              <p:nvPr/>
            </p:nvSpPr>
            <p:spPr>
              <a:xfrm>
                <a:off x="6635700" y="6451490"/>
                <a:ext cx="15762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Contour of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zh-CN" alt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文本框 14">
                <a:extLst>
                  <a:ext uri="{FF2B5EF4-FFF2-40B4-BE49-F238E27FC236}">
                    <a16:creationId xmlns:a16="http://schemas.microsoft.com/office/drawing/2014/main" id="{8B398AED-4988-440B-5D5C-F4297F5EF4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5700" y="6451490"/>
                <a:ext cx="1576296" cy="369332"/>
              </a:xfrm>
              <a:prstGeom prst="rect">
                <a:avLst/>
              </a:prstGeom>
              <a:blipFill>
                <a:blip r:embed="rId8"/>
                <a:stretch>
                  <a:fillRect l="-3488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椭圆 2">
            <a:extLst>
              <a:ext uri="{FF2B5EF4-FFF2-40B4-BE49-F238E27FC236}">
                <a16:creationId xmlns:a16="http://schemas.microsoft.com/office/drawing/2014/main" id="{A29F0A34-742C-8F6C-BA5B-69CB288E69E8}"/>
              </a:ext>
            </a:extLst>
          </p:cNvPr>
          <p:cNvSpPr/>
          <p:nvPr/>
        </p:nvSpPr>
        <p:spPr>
          <a:xfrm>
            <a:off x="7170122" y="4996068"/>
            <a:ext cx="99273" cy="9927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" name="直接箭头连接符 6">
            <a:extLst>
              <a:ext uri="{FF2B5EF4-FFF2-40B4-BE49-F238E27FC236}">
                <a16:creationId xmlns:a16="http://schemas.microsoft.com/office/drawing/2014/main" id="{9A8B3EA6-DF14-0A47-A23A-F52B2E56635A}"/>
              </a:ext>
            </a:extLst>
          </p:cNvPr>
          <p:cNvCxnSpPr>
            <a:cxnSpLocks/>
            <a:stCxn id="9" idx="7"/>
          </p:cNvCxnSpPr>
          <p:nvPr/>
        </p:nvCxnSpPr>
        <p:spPr>
          <a:xfrm flipV="1">
            <a:off x="7254857" y="4907743"/>
            <a:ext cx="1587666" cy="1028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3">
                <a:extLst>
                  <a:ext uri="{FF2B5EF4-FFF2-40B4-BE49-F238E27FC236}">
                    <a16:creationId xmlns:a16="http://schemas.microsoft.com/office/drawing/2014/main" id="{C79D2C51-8634-8E8E-AD0C-8A93DDEA7682}"/>
                  </a:ext>
                </a:extLst>
              </p:cNvPr>
              <p:cNvSpPr txBox="1"/>
              <p:nvPr/>
            </p:nvSpPr>
            <p:spPr>
              <a:xfrm>
                <a:off x="8842523" y="4584577"/>
                <a:ext cx="1002036" cy="646331"/>
              </a:xfrm>
              <a:prstGeom prst="rect">
                <a:avLst/>
              </a:prstGeom>
              <a:noFill/>
              <a:ln>
                <a:solidFill>
                  <a:srgbClr val="00B0F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Minima: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(0, 0)</m:t>
                    </m:r>
                  </m:oMath>
                </a14:m>
                <a:endParaRPr lang="zh-CN" alt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" name="文本框 13">
                <a:extLst>
                  <a:ext uri="{FF2B5EF4-FFF2-40B4-BE49-F238E27FC236}">
                    <a16:creationId xmlns:a16="http://schemas.microsoft.com/office/drawing/2014/main" id="{C79D2C51-8634-8E8E-AD0C-8A93DDEA76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2523" y="4584577"/>
                <a:ext cx="1002036" cy="646331"/>
              </a:xfrm>
              <a:prstGeom prst="rect">
                <a:avLst/>
              </a:prstGeom>
              <a:blipFill>
                <a:blip r:embed="rId9"/>
                <a:stretch>
                  <a:fillRect l="-4819" t="-3704" r="-9036" b="-7407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1710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 animBg="1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Thanks!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DDD16490E0A48848881CB6EECDF92" ma:contentTypeVersion="14" ma:contentTypeDescription="Create a new document." ma:contentTypeScope="" ma:versionID="7257862a4d6c3825659cc59ecdb78f01">
  <xsd:schema xmlns:xsd="http://www.w3.org/2001/XMLSchema" xmlns:xs="http://www.w3.org/2001/XMLSchema" xmlns:p="http://schemas.microsoft.com/office/2006/metadata/properties" xmlns:ns2="1cc9bed8-8410-44eb-bf25-ca1ea4636418" xmlns:ns3="dfc159fb-6789-415c-9027-b0bc58ba83c2" targetNamespace="http://schemas.microsoft.com/office/2006/metadata/properties" ma:root="true" ma:fieldsID="e75013956d80933023b8c9f213f858d3" ns2:_="" ns3:_="">
    <xsd:import namespace="1cc9bed8-8410-44eb-bf25-ca1ea4636418"/>
    <xsd:import namespace="dfc159fb-6789-415c-9027-b0bc58ba8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9bed8-8410-44eb-bf25-ca1ea4636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59fb-6789-415c-9027-b0bc58ba83c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9eadc21-23c5-47b9-90bf-40474c6df852}" ma:internalName="TaxCatchAll" ma:showField="CatchAllData" ma:web="dfc159fb-6789-415c-9027-b0bc58ba8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c9bed8-8410-44eb-bf25-ca1ea4636418">
      <Terms xmlns="http://schemas.microsoft.com/office/infopath/2007/PartnerControls"/>
    </lcf76f155ced4ddcb4097134ff3c332f>
    <TaxCatchAll xmlns="dfc159fb-6789-415c-9027-b0bc58ba83c2" xsi:nil="true"/>
  </documentManagement>
</p:properties>
</file>

<file path=customXml/itemProps1.xml><?xml version="1.0" encoding="utf-8"?>
<ds:datastoreItem xmlns:ds="http://schemas.openxmlformats.org/officeDocument/2006/customXml" ds:itemID="{FD8FB91C-4949-4026-9D8E-6ADD5382D3D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0037CC1-0A36-41B5-BB0E-F3111C5ED4D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c9bed8-8410-44eb-bf25-ca1ea4636418"/>
    <ds:schemaRef ds:uri="dfc159fb-6789-415c-9027-b0bc58ba83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04F3D55-78B9-43E6-B698-B77017BC0262}">
  <ds:schemaRefs>
    <ds:schemaRef ds:uri="http://schemas.microsoft.com/office/2006/metadata/properties"/>
    <ds:schemaRef ds:uri="http://schemas.microsoft.com/office/infopath/2007/PartnerControls"/>
    <ds:schemaRef ds:uri="1cc9bed8-8410-44eb-bf25-ca1ea4636418"/>
    <ds:schemaRef ds:uri="dfc159fb-6789-415c-9027-b0bc58ba83c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1889</TotalTime>
  <Words>292</Words>
  <Application>Microsoft Office PowerPoint</Application>
  <PresentationFormat>Widescreen</PresentationFormat>
  <Paragraphs>44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 Math</vt:lpstr>
      <vt:lpstr>Office Theme</vt:lpstr>
      <vt:lpstr>Fundamental Concepts in Machine Learning Model Training (2)</vt:lpstr>
      <vt:lpstr>Training of a linear regression model</vt:lpstr>
      <vt:lpstr>Linear regression: minimize the loss</vt:lpstr>
      <vt:lpstr>Minimize loss function: the gradient descent method</vt:lpstr>
      <vt:lpstr>Minimize loss function: gradient descent algorithm</vt:lpstr>
      <vt:lpstr>Thanks!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/>
  <cp:lastModifiedBy>Bo Liu</cp:lastModifiedBy>
  <cp:revision>61</cp:revision>
  <dcterms:created xsi:type="dcterms:W3CDTF">2021-01-06T14:22:07Z</dcterms:created>
  <dcterms:modified xsi:type="dcterms:W3CDTF">2024-07-08T15:59:54Z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0x0101009C3DDD16490E0A48848881CB6EECDF92</vt:lpwstr>
  </property>
</Properties>
</file>