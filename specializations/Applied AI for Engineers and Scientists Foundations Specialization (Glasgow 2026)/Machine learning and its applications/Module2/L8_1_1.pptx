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779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49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64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8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07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097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243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7" y="1657926"/>
            <a:ext cx="7057045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Fundamental Concepts in Machine Learning Model Training (1)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25">
            <a:extLst>
              <a:ext uri="{FF2B5EF4-FFF2-40B4-BE49-F238E27FC236}">
                <a16:creationId xmlns:a16="http://schemas.microsoft.com/office/drawing/2014/main" id="{7B5F91DF-D9DD-0F87-5369-E50539623C3A}"/>
              </a:ext>
            </a:extLst>
          </p:cNvPr>
          <p:cNvSpPr/>
          <p:nvPr/>
        </p:nvSpPr>
        <p:spPr>
          <a:xfrm>
            <a:off x="1703608" y="1907801"/>
            <a:ext cx="2519916" cy="1955315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33">
            <a:extLst>
              <a:ext uri="{FF2B5EF4-FFF2-40B4-BE49-F238E27FC236}">
                <a16:creationId xmlns:a16="http://schemas.microsoft.com/office/drawing/2014/main" id="{F6D91967-7DB7-7B99-AF37-22AA4357317C}"/>
              </a:ext>
            </a:extLst>
          </p:cNvPr>
          <p:cNvSpPr/>
          <p:nvPr/>
        </p:nvSpPr>
        <p:spPr>
          <a:xfrm>
            <a:off x="1699572" y="3939486"/>
            <a:ext cx="2519916" cy="1594025"/>
          </a:xfrm>
          <a:prstGeom prst="rect">
            <a:avLst/>
          </a:prstGeom>
          <a:solidFill>
            <a:srgbClr val="00B0F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Supervised learning flow</a:t>
            </a:r>
          </a:p>
        </p:txBody>
      </p:sp>
      <p:sp>
        <p:nvSpPr>
          <p:cNvPr id="2" name="矩形 4">
            <a:extLst>
              <a:ext uri="{FF2B5EF4-FFF2-40B4-BE49-F238E27FC236}">
                <a16:creationId xmlns:a16="http://schemas.microsoft.com/office/drawing/2014/main" id="{EB8BFBAD-EDB4-12B0-52A9-5240B3140DAC}"/>
              </a:ext>
            </a:extLst>
          </p:cNvPr>
          <p:cNvSpPr/>
          <p:nvPr/>
        </p:nvSpPr>
        <p:spPr>
          <a:xfrm>
            <a:off x="1547794" y="1812370"/>
            <a:ext cx="2850855" cy="38392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7">
            <a:extLst>
              <a:ext uri="{FF2B5EF4-FFF2-40B4-BE49-F238E27FC236}">
                <a16:creationId xmlns:a16="http://schemas.microsoft.com/office/drawing/2014/main" id="{3A3792FD-3894-656A-78F2-4410842D5DA6}"/>
              </a:ext>
            </a:extLst>
          </p:cNvPr>
          <p:cNvSpPr txBox="1"/>
          <p:nvPr/>
        </p:nvSpPr>
        <p:spPr>
          <a:xfrm>
            <a:off x="1856318" y="5716897"/>
            <a:ext cx="2159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Data</a:t>
            </a:r>
            <a:endParaRPr lang="zh-CN" altLang="en-US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11">
            <a:extLst>
              <a:ext uri="{FF2B5EF4-FFF2-40B4-BE49-F238E27FC236}">
                <a16:creationId xmlns:a16="http://schemas.microsoft.com/office/drawing/2014/main" id="{B916CC3F-1C4E-DB3A-3E1C-59EC414C5FD1}"/>
              </a:ext>
            </a:extLst>
          </p:cNvPr>
          <p:cNvSpPr txBox="1"/>
          <p:nvPr/>
        </p:nvSpPr>
        <p:spPr>
          <a:xfrm>
            <a:off x="2268030" y="1908256"/>
            <a:ext cx="1511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endParaRPr lang="zh-CN" altLang="en-US" sz="24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12">
            <a:extLst>
              <a:ext uri="{FF2B5EF4-FFF2-40B4-BE49-F238E27FC236}">
                <a16:creationId xmlns:a16="http://schemas.microsoft.com/office/drawing/2014/main" id="{6969894F-048F-92F2-E639-9AF58B397283}"/>
              </a:ext>
            </a:extLst>
          </p:cNvPr>
          <p:cNvSpPr/>
          <p:nvPr/>
        </p:nvSpPr>
        <p:spPr>
          <a:xfrm rot="10800000">
            <a:off x="7555389" y="4413318"/>
            <a:ext cx="446567" cy="400110"/>
          </a:xfrm>
          <a:prstGeom prst="rect">
            <a:avLst/>
          </a:prstGeom>
          <a:solidFill>
            <a:srgbClr val="7030A0">
              <a:alpha val="9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椭圆 14">
            <a:extLst>
              <a:ext uri="{FF2B5EF4-FFF2-40B4-BE49-F238E27FC236}">
                <a16:creationId xmlns:a16="http://schemas.microsoft.com/office/drawing/2014/main" id="{D6E19DC8-026A-03C0-16D0-9EDD40263825}"/>
              </a:ext>
            </a:extLst>
          </p:cNvPr>
          <p:cNvSpPr/>
          <p:nvPr/>
        </p:nvSpPr>
        <p:spPr>
          <a:xfrm>
            <a:off x="6749138" y="4331939"/>
            <a:ext cx="506923" cy="517410"/>
          </a:xfrm>
          <a:prstGeom prst="ellipse">
            <a:avLst/>
          </a:prstGeom>
          <a:solidFill>
            <a:srgbClr val="7030A0">
              <a:alpha val="9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18">
            <a:extLst>
              <a:ext uri="{FF2B5EF4-FFF2-40B4-BE49-F238E27FC236}">
                <a16:creationId xmlns:a16="http://schemas.microsoft.com/office/drawing/2014/main" id="{A4CEFC49-270A-CE21-E54F-B761F4019D89}"/>
              </a:ext>
            </a:extLst>
          </p:cNvPr>
          <p:cNvSpPr/>
          <p:nvPr/>
        </p:nvSpPr>
        <p:spPr>
          <a:xfrm>
            <a:off x="2031237" y="2465226"/>
            <a:ext cx="446567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19">
            <a:extLst>
              <a:ext uri="{FF2B5EF4-FFF2-40B4-BE49-F238E27FC236}">
                <a16:creationId xmlns:a16="http://schemas.microsoft.com/office/drawing/2014/main" id="{2B6CA01C-EA8E-A8A3-4841-36463008BBCE}"/>
              </a:ext>
            </a:extLst>
          </p:cNvPr>
          <p:cNvSpPr/>
          <p:nvPr/>
        </p:nvSpPr>
        <p:spPr>
          <a:xfrm>
            <a:off x="2800325" y="3181151"/>
            <a:ext cx="446567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椭圆 20">
            <a:extLst>
              <a:ext uri="{FF2B5EF4-FFF2-40B4-BE49-F238E27FC236}">
                <a16:creationId xmlns:a16="http://schemas.microsoft.com/office/drawing/2014/main" id="{81CD7861-F10A-9665-85FB-00529B1CD44D}"/>
              </a:ext>
            </a:extLst>
          </p:cNvPr>
          <p:cNvSpPr/>
          <p:nvPr/>
        </p:nvSpPr>
        <p:spPr>
          <a:xfrm>
            <a:off x="1971194" y="3097880"/>
            <a:ext cx="566651" cy="5659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椭圆 21">
            <a:extLst>
              <a:ext uri="{FF2B5EF4-FFF2-40B4-BE49-F238E27FC236}">
                <a16:creationId xmlns:a16="http://schemas.microsoft.com/office/drawing/2014/main" id="{E5344420-5124-341D-050B-893304EFAC60}"/>
              </a:ext>
            </a:extLst>
          </p:cNvPr>
          <p:cNvSpPr/>
          <p:nvPr/>
        </p:nvSpPr>
        <p:spPr>
          <a:xfrm>
            <a:off x="2680241" y="2381955"/>
            <a:ext cx="566651" cy="5659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等腰三角形 22">
            <a:extLst>
              <a:ext uri="{FF2B5EF4-FFF2-40B4-BE49-F238E27FC236}">
                <a16:creationId xmlns:a16="http://schemas.microsoft.com/office/drawing/2014/main" id="{D96ED1C3-D3B7-B879-C7F1-476069CED46D}"/>
              </a:ext>
            </a:extLst>
          </p:cNvPr>
          <p:cNvSpPr/>
          <p:nvPr/>
        </p:nvSpPr>
        <p:spPr>
          <a:xfrm>
            <a:off x="3449329" y="2374120"/>
            <a:ext cx="566651" cy="48270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: 圆角 23">
            <a:extLst>
              <a:ext uri="{FF2B5EF4-FFF2-40B4-BE49-F238E27FC236}">
                <a16:creationId xmlns:a16="http://schemas.microsoft.com/office/drawing/2014/main" id="{B281D2BF-7759-5CE5-529C-4BB43A4B5C88}"/>
              </a:ext>
            </a:extLst>
          </p:cNvPr>
          <p:cNvSpPr/>
          <p:nvPr/>
        </p:nvSpPr>
        <p:spPr>
          <a:xfrm>
            <a:off x="3530428" y="3181151"/>
            <a:ext cx="485552" cy="4001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26">
            <a:extLst>
              <a:ext uri="{FF2B5EF4-FFF2-40B4-BE49-F238E27FC236}">
                <a16:creationId xmlns:a16="http://schemas.microsoft.com/office/drawing/2014/main" id="{B9A831C4-D7A2-FBDE-EA5D-3ADAC9FDB286}"/>
              </a:ext>
            </a:extLst>
          </p:cNvPr>
          <p:cNvSpPr txBox="1"/>
          <p:nvPr/>
        </p:nvSpPr>
        <p:spPr>
          <a:xfrm>
            <a:off x="2407702" y="3935342"/>
            <a:ext cx="1208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Labels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34">
            <a:extLst>
              <a:ext uri="{FF2B5EF4-FFF2-40B4-BE49-F238E27FC236}">
                <a16:creationId xmlns:a16="http://schemas.microsoft.com/office/drawing/2014/main" id="{1A398A49-014E-8469-0D6D-D1AD2882D0BA}"/>
              </a:ext>
            </a:extLst>
          </p:cNvPr>
          <p:cNvSpPr txBox="1"/>
          <p:nvPr/>
        </p:nvSpPr>
        <p:spPr>
          <a:xfrm>
            <a:off x="1794807" y="4409041"/>
            <a:ext cx="1298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Square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35">
            <a:extLst>
              <a:ext uri="{FF2B5EF4-FFF2-40B4-BE49-F238E27FC236}">
                <a16:creationId xmlns:a16="http://schemas.microsoft.com/office/drawing/2014/main" id="{179A2FF1-CFEF-C3D7-56F5-620024E8B9FA}"/>
              </a:ext>
            </a:extLst>
          </p:cNvPr>
          <p:cNvSpPr txBox="1"/>
          <p:nvPr/>
        </p:nvSpPr>
        <p:spPr>
          <a:xfrm>
            <a:off x="3088188" y="4421031"/>
            <a:ext cx="1056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36">
            <a:extLst>
              <a:ext uri="{FF2B5EF4-FFF2-40B4-BE49-F238E27FC236}">
                <a16:creationId xmlns:a16="http://schemas.microsoft.com/office/drawing/2014/main" id="{5D7B1455-A4EE-6DE4-2156-8374F919F1A2}"/>
              </a:ext>
            </a:extLst>
          </p:cNvPr>
          <p:cNvSpPr txBox="1"/>
          <p:nvPr/>
        </p:nvSpPr>
        <p:spPr>
          <a:xfrm>
            <a:off x="2339662" y="4954945"/>
            <a:ext cx="1298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Triangle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: 圆角 37">
            <a:extLst>
              <a:ext uri="{FF2B5EF4-FFF2-40B4-BE49-F238E27FC236}">
                <a16:creationId xmlns:a16="http://schemas.microsoft.com/office/drawing/2014/main" id="{422754AD-AE0B-AAC4-CB17-56CD58924CCB}"/>
              </a:ext>
            </a:extLst>
          </p:cNvPr>
          <p:cNvSpPr/>
          <p:nvPr/>
        </p:nvSpPr>
        <p:spPr>
          <a:xfrm>
            <a:off x="4958693" y="2930434"/>
            <a:ext cx="1385815" cy="7555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箭头: 右 38">
            <a:extLst>
              <a:ext uri="{FF2B5EF4-FFF2-40B4-BE49-F238E27FC236}">
                <a16:creationId xmlns:a16="http://schemas.microsoft.com/office/drawing/2014/main" id="{77567BD1-2369-2C73-11C9-67F09B3E0E28}"/>
              </a:ext>
            </a:extLst>
          </p:cNvPr>
          <p:cNvSpPr/>
          <p:nvPr/>
        </p:nvSpPr>
        <p:spPr>
          <a:xfrm>
            <a:off x="4429725" y="3211467"/>
            <a:ext cx="522054" cy="1675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: 圆角 40">
            <a:extLst>
              <a:ext uri="{FF2B5EF4-FFF2-40B4-BE49-F238E27FC236}">
                <a16:creationId xmlns:a16="http://schemas.microsoft.com/office/drawing/2014/main" id="{A37334E8-633D-88AB-CE9B-8D5803D44C9C}"/>
              </a:ext>
            </a:extLst>
          </p:cNvPr>
          <p:cNvSpPr/>
          <p:nvPr/>
        </p:nvSpPr>
        <p:spPr>
          <a:xfrm>
            <a:off x="6986792" y="2928602"/>
            <a:ext cx="1378445" cy="7555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: 圆角 41">
            <a:extLst>
              <a:ext uri="{FF2B5EF4-FFF2-40B4-BE49-F238E27FC236}">
                <a16:creationId xmlns:a16="http://schemas.microsoft.com/office/drawing/2014/main" id="{248B144B-4BBE-1577-F9F9-79B8199F63D4}"/>
              </a:ext>
            </a:extLst>
          </p:cNvPr>
          <p:cNvSpPr/>
          <p:nvPr/>
        </p:nvSpPr>
        <p:spPr>
          <a:xfrm>
            <a:off x="6489018" y="4238798"/>
            <a:ext cx="1967200" cy="702401"/>
          </a:xfrm>
          <a:prstGeom prst="roundRect">
            <a:avLst/>
          </a:prstGeom>
          <a:solidFill>
            <a:srgbClr val="00B05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42">
            <a:extLst>
              <a:ext uri="{FF2B5EF4-FFF2-40B4-BE49-F238E27FC236}">
                <a16:creationId xmlns:a16="http://schemas.microsoft.com/office/drawing/2014/main" id="{ED4439BF-E14C-0544-0D81-17D5ABC95411}"/>
              </a:ext>
            </a:extLst>
          </p:cNvPr>
          <p:cNvSpPr txBox="1"/>
          <p:nvPr/>
        </p:nvSpPr>
        <p:spPr>
          <a:xfrm>
            <a:off x="6653467" y="4890722"/>
            <a:ext cx="1786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Data</a:t>
            </a:r>
            <a:endParaRPr lang="zh-CN" altLang="en-US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箭头: 右 43">
            <a:extLst>
              <a:ext uri="{FF2B5EF4-FFF2-40B4-BE49-F238E27FC236}">
                <a16:creationId xmlns:a16="http://schemas.microsoft.com/office/drawing/2014/main" id="{04BE0A30-341E-8959-4A51-941E9E0FB831}"/>
              </a:ext>
            </a:extLst>
          </p:cNvPr>
          <p:cNvSpPr/>
          <p:nvPr/>
        </p:nvSpPr>
        <p:spPr>
          <a:xfrm>
            <a:off x="6374836" y="3211467"/>
            <a:ext cx="529715" cy="21515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箭头: 上 44">
            <a:extLst>
              <a:ext uri="{FF2B5EF4-FFF2-40B4-BE49-F238E27FC236}">
                <a16:creationId xmlns:a16="http://schemas.microsoft.com/office/drawing/2014/main" id="{35B077DB-5C64-2832-A9E6-FCF7E01C863E}"/>
              </a:ext>
            </a:extLst>
          </p:cNvPr>
          <p:cNvSpPr/>
          <p:nvPr/>
        </p:nvSpPr>
        <p:spPr>
          <a:xfrm>
            <a:off x="7418617" y="3783079"/>
            <a:ext cx="136771" cy="398107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箭头: 右 45">
            <a:extLst>
              <a:ext uri="{FF2B5EF4-FFF2-40B4-BE49-F238E27FC236}">
                <a16:creationId xmlns:a16="http://schemas.microsoft.com/office/drawing/2014/main" id="{974A0008-31CF-993C-2FF6-051197FEB8A6}"/>
              </a:ext>
            </a:extLst>
          </p:cNvPr>
          <p:cNvSpPr/>
          <p:nvPr/>
        </p:nvSpPr>
        <p:spPr>
          <a:xfrm>
            <a:off x="8525240" y="3156871"/>
            <a:ext cx="607746" cy="21615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48">
            <a:extLst>
              <a:ext uri="{FF2B5EF4-FFF2-40B4-BE49-F238E27FC236}">
                <a16:creationId xmlns:a16="http://schemas.microsoft.com/office/drawing/2014/main" id="{690650B5-B0F8-B6EC-E375-324FFB42C813}"/>
              </a:ext>
            </a:extLst>
          </p:cNvPr>
          <p:cNvSpPr txBox="1"/>
          <p:nvPr/>
        </p:nvSpPr>
        <p:spPr>
          <a:xfrm>
            <a:off x="9196510" y="3273840"/>
            <a:ext cx="1291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Square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50">
            <a:extLst>
              <a:ext uri="{FF2B5EF4-FFF2-40B4-BE49-F238E27FC236}">
                <a16:creationId xmlns:a16="http://schemas.microsoft.com/office/drawing/2014/main" id="{9B82FD58-684D-63B4-8ADC-FF67A2B72852}"/>
              </a:ext>
            </a:extLst>
          </p:cNvPr>
          <p:cNvSpPr txBox="1"/>
          <p:nvPr/>
        </p:nvSpPr>
        <p:spPr>
          <a:xfrm>
            <a:off x="9196510" y="2838591"/>
            <a:ext cx="114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51">
            <a:extLst>
              <a:ext uri="{FF2B5EF4-FFF2-40B4-BE49-F238E27FC236}">
                <a16:creationId xmlns:a16="http://schemas.microsoft.com/office/drawing/2014/main" id="{FE45F143-73ED-A019-67DF-FD127F6896E1}"/>
              </a:ext>
            </a:extLst>
          </p:cNvPr>
          <p:cNvSpPr txBox="1"/>
          <p:nvPr/>
        </p:nvSpPr>
        <p:spPr>
          <a:xfrm>
            <a:off x="8948809" y="3870274"/>
            <a:ext cx="1695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  <a:endParaRPr lang="zh-CN" altLang="en-US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直接箭头连接符 2">
            <a:extLst>
              <a:ext uri="{FF2B5EF4-FFF2-40B4-BE49-F238E27FC236}">
                <a16:creationId xmlns:a16="http://schemas.microsoft.com/office/drawing/2014/main" id="{4886515A-56AD-1872-275B-353110BBF987}"/>
              </a:ext>
            </a:extLst>
          </p:cNvPr>
          <p:cNvCxnSpPr>
            <a:cxnSpLocks/>
          </p:cNvCxnSpPr>
          <p:nvPr/>
        </p:nvCxnSpPr>
        <p:spPr>
          <a:xfrm flipH="1" flipV="1">
            <a:off x="5589001" y="3783079"/>
            <a:ext cx="265176" cy="186849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9">
            <a:extLst>
              <a:ext uri="{FF2B5EF4-FFF2-40B4-BE49-F238E27FC236}">
                <a16:creationId xmlns:a16="http://schemas.microsoft.com/office/drawing/2014/main" id="{FEB1617F-B4B6-A472-652F-EE438A275725}"/>
              </a:ext>
            </a:extLst>
          </p:cNvPr>
          <p:cNvSpPr txBox="1"/>
          <p:nvPr/>
        </p:nvSpPr>
        <p:spPr>
          <a:xfrm>
            <a:off x="4727551" y="5753373"/>
            <a:ext cx="2850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happens in training?</a:t>
            </a:r>
            <a:endParaRPr lang="zh-CN" alt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2" grpId="0" animBg="1"/>
      <p:bldP spid="3" grpId="0"/>
      <p:bldP spid="4" grpId="0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/>
      <p:bldP spid="17" grpId="0"/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  <p:bldP spid="28" grpId="0"/>
      <p:bldP spid="29" grpId="0"/>
      <p:bldP spid="30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Hyperparameters vs. model parameters </a:t>
            </a:r>
          </a:p>
        </p:txBody>
      </p:sp>
      <p:sp>
        <p:nvSpPr>
          <p:cNvPr id="2" name="文本框 47">
            <a:extLst>
              <a:ext uri="{FF2B5EF4-FFF2-40B4-BE49-F238E27FC236}">
                <a16:creationId xmlns:a16="http://schemas.microsoft.com/office/drawing/2014/main" id="{98A3068C-F8A1-DD7F-00BB-ED527996304D}"/>
              </a:ext>
            </a:extLst>
          </p:cNvPr>
          <p:cNvSpPr txBox="1"/>
          <p:nvPr/>
        </p:nvSpPr>
        <p:spPr>
          <a:xfrm>
            <a:off x="531845" y="4030591"/>
            <a:ext cx="11140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Model parameters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are configuration variables that are internal to the model and whose values are estimated from data.</a:t>
            </a:r>
          </a:p>
        </p:txBody>
      </p:sp>
      <p:sp>
        <p:nvSpPr>
          <p:cNvPr id="3" name="文本框 53">
            <a:extLst>
              <a:ext uri="{FF2B5EF4-FFF2-40B4-BE49-F238E27FC236}">
                <a16:creationId xmlns:a16="http://schemas.microsoft.com/office/drawing/2014/main" id="{4BBA2F71-A6C8-6782-01B8-8A35B2DA3797}"/>
              </a:ext>
            </a:extLst>
          </p:cNvPr>
          <p:cNvSpPr txBox="1"/>
          <p:nvPr/>
        </p:nvSpPr>
        <p:spPr>
          <a:xfrm>
            <a:off x="650901" y="1697642"/>
            <a:ext cx="96643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Hyperparameters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are pre-set parameters whose values are used to control the learning process.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54">
                <a:extLst>
                  <a:ext uri="{FF2B5EF4-FFF2-40B4-BE49-F238E27FC236}">
                    <a16:creationId xmlns:a16="http://schemas.microsoft.com/office/drawing/2014/main" id="{E33E6097-545A-C191-AF5C-20C36D652F93}"/>
                  </a:ext>
                </a:extLst>
              </p:cNvPr>
              <p:cNvSpPr txBox="1"/>
              <p:nvPr/>
            </p:nvSpPr>
            <p:spPr>
              <a:xfrm>
                <a:off x="1064360" y="2616127"/>
                <a:ext cx="966431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E.g.,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KNN, etc.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Hyperparameters are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set manually and before the training.</a:t>
                </a:r>
              </a:p>
            </p:txBody>
          </p:sp>
        </mc:Choice>
        <mc:Fallback>
          <p:sp>
            <p:nvSpPr>
              <p:cNvPr id="4" name="文本框 54">
                <a:extLst>
                  <a:ext uri="{FF2B5EF4-FFF2-40B4-BE49-F238E27FC236}">
                    <a16:creationId xmlns:a16="http://schemas.microsoft.com/office/drawing/2014/main" id="{E33E6097-545A-C191-AF5C-20C36D652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360" y="2616127"/>
                <a:ext cx="9664315" cy="830997"/>
              </a:xfrm>
              <a:prstGeom prst="rect">
                <a:avLst/>
              </a:prstGeom>
              <a:blipFill>
                <a:blip r:embed="rId3"/>
                <a:stretch>
                  <a:fillRect l="-883" t="-5147" b="-169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55">
                <a:extLst>
                  <a:ext uri="{FF2B5EF4-FFF2-40B4-BE49-F238E27FC236}">
                    <a16:creationId xmlns:a16="http://schemas.microsoft.com/office/drawing/2014/main" id="{DFD43E65-807B-1134-934D-30A8827A3C03}"/>
                  </a:ext>
                </a:extLst>
              </p:cNvPr>
              <p:cNvSpPr txBox="1"/>
              <p:nvPr/>
            </p:nvSpPr>
            <p:spPr>
              <a:xfrm>
                <a:off x="962934" y="5124057"/>
                <a:ext cx="966431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E.g., coefficient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constant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linear regression.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 parameters are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learned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through training. </a:t>
                </a:r>
              </a:p>
            </p:txBody>
          </p:sp>
        </mc:Choice>
        <mc:Fallback xmlns="">
          <p:sp>
            <p:nvSpPr>
              <p:cNvPr id="5" name="文本框 55">
                <a:extLst>
                  <a:ext uri="{FF2B5EF4-FFF2-40B4-BE49-F238E27FC236}">
                    <a16:creationId xmlns:a16="http://schemas.microsoft.com/office/drawing/2014/main" id="{DFD43E65-807B-1134-934D-30A8827A3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934" y="5124057"/>
                <a:ext cx="9664315" cy="830997"/>
              </a:xfrm>
              <a:prstGeom prst="rect">
                <a:avLst/>
              </a:prstGeom>
              <a:blipFill>
                <a:blip r:embed="rId4"/>
                <a:stretch>
                  <a:fillRect l="-883" t="-5147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110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Loss function</a:t>
            </a:r>
          </a:p>
        </p:txBody>
      </p:sp>
      <p:sp>
        <p:nvSpPr>
          <p:cNvPr id="2" name="文本框 11">
            <a:extLst>
              <a:ext uri="{FF2B5EF4-FFF2-40B4-BE49-F238E27FC236}">
                <a16:creationId xmlns:a16="http://schemas.microsoft.com/office/drawing/2014/main" id="{8ABFF687-8C35-A44E-D0A0-01E9F11D2C78}"/>
              </a:ext>
            </a:extLst>
          </p:cNvPr>
          <p:cNvSpPr txBox="1"/>
          <p:nvPr/>
        </p:nvSpPr>
        <p:spPr>
          <a:xfrm>
            <a:off x="652181" y="1697847"/>
            <a:ext cx="94435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Loss function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 a function that evaluates the difference between the actual output and the predicted output of the model.</a:t>
            </a:r>
          </a:p>
        </p:txBody>
      </p:sp>
      <p:sp>
        <p:nvSpPr>
          <p:cNvPr id="3" name="文本框 13">
            <a:extLst>
              <a:ext uri="{FF2B5EF4-FFF2-40B4-BE49-F238E27FC236}">
                <a16:creationId xmlns:a16="http://schemas.microsoft.com/office/drawing/2014/main" id="{B0F09CE1-E8C4-A554-830F-BA88ABEADF02}"/>
              </a:ext>
            </a:extLst>
          </p:cNvPr>
          <p:cNvSpPr txBox="1"/>
          <p:nvPr/>
        </p:nvSpPr>
        <p:spPr>
          <a:xfrm>
            <a:off x="652181" y="2874342"/>
            <a:ext cx="8491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value calculated by the loss function is called “loss.” </a:t>
            </a:r>
          </a:p>
        </p:txBody>
      </p:sp>
      <p:sp>
        <p:nvSpPr>
          <p:cNvPr id="4" name="文本框 14">
            <a:extLst>
              <a:ext uri="{FF2B5EF4-FFF2-40B4-BE49-F238E27FC236}">
                <a16:creationId xmlns:a16="http://schemas.microsoft.com/office/drawing/2014/main" id="{FEAA1C12-7B5C-4B76-FBD4-299A812984BA}"/>
              </a:ext>
            </a:extLst>
          </p:cNvPr>
          <p:cNvSpPr txBox="1"/>
          <p:nvPr/>
        </p:nvSpPr>
        <p:spPr>
          <a:xfrm>
            <a:off x="652182" y="3886993"/>
            <a:ext cx="84915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There are various kinds of loss functions: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Mean squared error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Mean absolute error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Categorical cross entropy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…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64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Model training</a:t>
            </a:r>
          </a:p>
        </p:txBody>
      </p:sp>
      <p:sp>
        <p:nvSpPr>
          <p:cNvPr id="2" name="文本框 12">
            <a:extLst>
              <a:ext uri="{FF2B5EF4-FFF2-40B4-BE49-F238E27FC236}">
                <a16:creationId xmlns:a16="http://schemas.microsoft.com/office/drawing/2014/main" id="{A5DA08B5-A250-8D38-270E-43EA71CCD12A}"/>
              </a:ext>
            </a:extLst>
          </p:cNvPr>
          <p:cNvSpPr txBox="1"/>
          <p:nvPr/>
        </p:nvSpPr>
        <p:spPr>
          <a:xfrm>
            <a:off x="652701" y="1695050"/>
            <a:ext cx="10404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Model training is to find the optimal values for the model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to minimize the loss.</a:t>
            </a:r>
          </a:p>
        </p:txBody>
      </p:sp>
      <p:sp>
        <p:nvSpPr>
          <p:cNvPr id="3" name="文本框 16">
            <a:extLst>
              <a:ext uri="{FF2B5EF4-FFF2-40B4-BE49-F238E27FC236}">
                <a16:creationId xmlns:a16="http://schemas.microsoft.com/office/drawing/2014/main" id="{6783DC44-1CFF-1C9B-5A50-BFAC875E8487}"/>
              </a:ext>
            </a:extLst>
          </p:cNvPr>
          <p:cNvSpPr txBox="1"/>
          <p:nvPr/>
        </p:nvSpPr>
        <p:spPr>
          <a:xfrm>
            <a:off x="652701" y="3609886"/>
            <a:ext cx="6935333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 train a model: 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First, define a loss function.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Then, minimize the loss function.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Obtain the optimal model parameters.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17">
            <a:extLst>
              <a:ext uri="{FF2B5EF4-FFF2-40B4-BE49-F238E27FC236}">
                <a16:creationId xmlns:a16="http://schemas.microsoft.com/office/drawing/2014/main" id="{3E41C05A-D781-F436-FFBE-F0C30671984F}"/>
              </a:ext>
            </a:extLst>
          </p:cNvPr>
          <p:cNvSpPr txBox="1"/>
          <p:nvPr/>
        </p:nvSpPr>
        <p:spPr>
          <a:xfrm>
            <a:off x="1826775" y="5909411"/>
            <a:ext cx="2520865" cy="46166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 a model </a:t>
            </a:r>
            <a:endParaRPr lang="zh-CN" alt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箭头: 左右 4">
            <a:extLst>
              <a:ext uri="{FF2B5EF4-FFF2-40B4-BE49-F238E27FC236}">
                <a16:creationId xmlns:a16="http://schemas.microsoft.com/office/drawing/2014/main" id="{90C16801-24BC-EDD6-CA6E-1CC6A46F65A2}"/>
              </a:ext>
            </a:extLst>
          </p:cNvPr>
          <p:cNvSpPr/>
          <p:nvPr/>
        </p:nvSpPr>
        <p:spPr>
          <a:xfrm>
            <a:off x="4462399" y="6063268"/>
            <a:ext cx="878541" cy="14175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13">
            <a:extLst>
              <a:ext uri="{FF2B5EF4-FFF2-40B4-BE49-F238E27FC236}">
                <a16:creationId xmlns:a16="http://schemas.microsoft.com/office/drawing/2014/main" id="{C7163620-9A72-36F1-BD46-1E52621D3C1C}"/>
              </a:ext>
            </a:extLst>
          </p:cNvPr>
          <p:cNvSpPr txBox="1"/>
          <p:nvPr/>
        </p:nvSpPr>
        <p:spPr>
          <a:xfrm>
            <a:off x="5455699" y="5909411"/>
            <a:ext cx="2876537" cy="46166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Minimize a function</a:t>
            </a:r>
            <a:endParaRPr lang="zh-CN" alt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54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Loss functions in regression: MSE</a:t>
            </a:r>
          </a:p>
        </p:txBody>
      </p:sp>
      <p:sp>
        <p:nvSpPr>
          <p:cNvPr id="2" name="文本框 4">
            <a:extLst>
              <a:ext uri="{FF2B5EF4-FFF2-40B4-BE49-F238E27FC236}">
                <a16:creationId xmlns:a16="http://schemas.microsoft.com/office/drawing/2014/main" id="{0B14D3DC-F2B7-23E1-ACA5-A64798840C35}"/>
              </a:ext>
            </a:extLst>
          </p:cNvPr>
          <p:cNvSpPr txBox="1"/>
          <p:nvPr/>
        </p:nvSpPr>
        <p:spPr>
          <a:xfrm>
            <a:off x="627088" y="1584140"/>
            <a:ext cx="5010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 Mean squared error (MSE)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7">
                <a:extLst>
                  <a:ext uri="{FF2B5EF4-FFF2-40B4-BE49-F238E27FC236}">
                    <a16:creationId xmlns:a16="http://schemas.microsoft.com/office/drawing/2014/main" id="{2F357E45-0613-83DE-1FE7-DF0776425052}"/>
                  </a:ext>
                </a:extLst>
              </p:cNvPr>
              <p:cNvSpPr txBox="1"/>
              <p:nvPr/>
            </p:nvSpPr>
            <p:spPr>
              <a:xfrm>
                <a:off x="3084120" y="2189133"/>
                <a:ext cx="3604437" cy="1130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7">
                <a:extLst>
                  <a:ext uri="{FF2B5EF4-FFF2-40B4-BE49-F238E27FC236}">
                    <a16:creationId xmlns:a16="http://schemas.microsoft.com/office/drawing/2014/main" id="{2F357E45-0613-83DE-1FE7-DF0776425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120" y="2189133"/>
                <a:ext cx="3604437" cy="1130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8">
            <a:extLst>
              <a:ext uri="{FF2B5EF4-FFF2-40B4-BE49-F238E27FC236}">
                <a16:creationId xmlns:a16="http://schemas.microsoft.com/office/drawing/2014/main" id="{688A1377-3475-61A9-7E57-567E2BF7092A}"/>
              </a:ext>
            </a:extLst>
          </p:cNvPr>
          <p:cNvSpPr txBox="1"/>
          <p:nvPr/>
        </p:nvSpPr>
        <p:spPr>
          <a:xfrm>
            <a:off x="1183963" y="3397304"/>
            <a:ext cx="101767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MSE is always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convex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differentiable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easy to optimize.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MSE is not robust to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outliers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19">
            <a:extLst>
              <a:ext uri="{FF2B5EF4-FFF2-40B4-BE49-F238E27FC236}">
                <a16:creationId xmlns:a16="http://schemas.microsoft.com/office/drawing/2014/main" id="{8357E9B7-6234-3067-60AB-BF25AC1EF5E2}"/>
              </a:ext>
            </a:extLst>
          </p:cNvPr>
          <p:cNvSpPr txBox="1"/>
          <p:nvPr/>
        </p:nvSpPr>
        <p:spPr>
          <a:xfrm>
            <a:off x="1138921" y="4296041"/>
            <a:ext cx="78680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data points that are noticeably different from the rest.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组合 26">
            <a:extLst>
              <a:ext uri="{FF2B5EF4-FFF2-40B4-BE49-F238E27FC236}">
                <a16:creationId xmlns:a16="http://schemas.microsoft.com/office/drawing/2014/main" id="{38D02C5A-C749-2A4B-1583-6A22BB45D66F}"/>
              </a:ext>
            </a:extLst>
          </p:cNvPr>
          <p:cNvGrpSpPr/>
          <p:nvPr/>
        </p:nvGrpSpPr>
        <p:grpSpPr>
          <a:xfrm>
            <a:off x="2279150" y="4949456"/>
            <a:ext cx="2469703" cy="1908544"/>
            <a:chOff x="4186504" y="1672856"/>
            <a:chExt cx="2469703" cy="1908544"/>
          </a:xfrm>
        </p:grpSpPr>
        <p:cxnSp>
          <p:nvCxnSpPr>
            <p:cNvPr id="7" name="直接箭头连接符 27">
              <a:extLst>
                <a:ext uri="{FF2B5EF4-FFF2-40B4-BE49-F238E27FC236}">
                  <a16:creationId xmlns:a16="http://schemas.microsoft.com/office/drawing/2014/main" id="{0976B0FB-C321-20FE-1969-C61145DD8922}"/>
                </a:ext>
              </a:extLst>
            </p:cNvPr>
            <p:cNvCxnSpPr/>
            <p:nvPr/>
          </p:nvCxnSpPr>
          <p:spPr>
            <a:xfrm>
              <a:off x="4253248" y="3363432"/>
              <a:ext cx="240295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28">
              <a:extLst>
                <a:ext uri="{FF2B5EF4-FFF2-40B4-BE49-F238E27FC236}">
                  <a16:creationId xmlns:a16="http://schemas.microsoft.com/office/drawing/2014/main" id="{5282A850-050D-5F99-272F-9452330760E8}"/>
                </a:ext>
              </a:extLst>
            </p:cNvPr>
            <p:cNvCxnSpPr/>
            <p:nvPr/>
          </p:nvCxnSpPr>
          <p:spPr>
            <a:xfrm flipV="1">
              <a:off x="4380839" y="1672856"/>
              <a:ext cx="0" cy="190854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椭圆 29">
              <a:extLst>
                <a:ext uri="{FF2B5EF4-FFF2-40B4-BE49-F238E27FC236}">
                  <a16:creationId xmlns:a16="http://schemas.microsoft.com/office/drawing/2014/main" id="{D1327BC1-9A1E-1584-1ECA-A7CD5D5D3522}"/>
                </a:ext>
              </a:extLst>
            </p:cNvPr>
            <p:cNvSpPr/>
            <p:nvPr/>
          </p:nvSpPr>
          <p:spPr>
            <a:xfrm>
              <a:off x="4563022" y="288791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30">
              <a:extLst>
                <a:ext uri="{FF2B5EF4-FFF2-40B4-BE49-F238E27FC236}">
                  <a16:creationId xmlns:a16="http://schemas.microsoft.com/office/drawing/2014/main" id="{20F73D10-B820-6E60-B47B-AEBE3458683A}"/>
                </a:ext>
              </a:extLst>
            </p:cNvPr>
            <p:cNvSpPr/>
            <p:nvPr/>
          </p:nvSpPr>
          <p:spPr>
            <a:xfrm>
              <a:off x="4886288" y="283076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31">
              <a:extLst>
                <a:ext uri="{FF2B5EF4-FFF2-40B4-BE49-F238E27FC236}">
                  <a16:creationId xmlns:a16="http://schemas.microsoft.com/office/drawing/2014/main" id="{A4943DBC-0FF4-FED4-D8D6-37494F9CD82E}"/>
                </a:ext>
              </a:extLst>
            </p:cNvPr>
            <p:cNvSpPr/>
            <p:nvPr/>
          </p:nvSpPr>
          <p:spPr>
            <a:xfrm>
              <a:off x="5039676" y="261438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32">
              <a:extLst>
                <a:ext uri="{FF2B5EF4-FFF2-40B4-BE49-F238E27FC236}">
                  <a16:creationId xmlns:a16="http://schemas.microsoft.com/office/drawing/2014/main" id="{03EDBAFA-411D-52EE-04F4-533A90A807DC}"/>
                </a:ext>
              </a:extLst>
            </p:cNvPr>
            <p:cNvSpPr/>
            <p:nvPr/>
          </p:nvSpPr>
          <p:spPr>
            <a:xfrm>
              <a:off x="5476261" y="254260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33">
              <a:extLst>
                <a:ext uri="{FF2B5EF4-FFF2-40B4-BE49-F238E27FC236}">
                  <a16:creationId xmlns:a16="http://schemas.microsoft.com/office/drawing/2014/main" id="{623AFE27-2534-5188-3852-5712769DF758}"/>
                </a:ext>
              </a:extLst>
            </p:cNvPr>
            <p:cNvSpPr/>
            <p:nvPr/>
          </p:nvSpPr>
          <p:spPr>
            <a:xfrm>
              <a:off x="5560785" y="225739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椭圆 34">
              <a:extLst>
                <a:ext uri="{FF2B5EF4-FFF2-40B4-BE49-F238E27FC236}">
                  <a16:creationId xmlns:a16="http://schemas.microsoft.com/office/drawing/2014/main" id="{1DF3363A-17C4-5F7C-30D7-10A45ED20938}"/>
                </a:ext>
              </a:extLst>
            </p:cNvPr>
            <p:cNvSpPr/>
            <p:nvPr/>
          </p:nvSpPr>
          <p:spPr>
            <a:xfrm>
              <a:off x="5951671" y="227374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椭圆 35">
              <a:extLst>
                <a:ext uri="{FF2B5EF4-FFF2-40B4-BE49-F238E27FC236}">
                  <a16:creationId xmlns:a16="http://schemas.microsoft.com/office/drawing/2014/main" id="{A2C4B52A-FA76-6D06-EA85-681557051240}"/>
                </a:ext>
              </a:extLst>
            </p:cNvPr>
            <p:cNvSpPr/>
            <p:nvPr/>
          </p:nvSpPr>
          <p:spPr>
            <a:xfrm>
              <a:off x="6127123" y="205272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椭圆 36">
              <a:extLst>
                <a:ext uri="{FF2B5EF4-FFF2-40B4-BE49-F238E27FC236}">
                  <a16:creationId xmlns:a16="http://schemas.microsoft.com/office/drawing/2014/main" id="{76DF9E51-E1EC-9039-1C41-EAD26237FB91}"/>
                </a:ext>
              </a:extLst>
            </p:cNvPr>
            <p:cNvSpPr/>
            <p:nvPr/>
          </p:nvSpPr>
          <p:spPr>
            <a:xfrm>
              <a:off x="5696537" y="242543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椭圆 37">
              <a:extLst>
                <a:ext uri="{FF2B5EF4-FFF2-40B4-BE49-F238E27FC236}">
                  <a16:creationId xmlns:a16="http://schemas.microsoft.com/office/drawing/2014/main" id="{6A5DC59D-9B82-4FB3-D148-811FEF3893B3}"/>
                </a:ext>
              </a:extLst>
            </p:cNvPr>
            <p:cNvSpPr/>
            <p:nvPr/>
          </p:nvSpPr>
          <p:spPr>
            <a:xfrm>
              <a:off x="4478498" y="311576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椭圆 38">
              <a:extLst>
                <a:ext uri="{FF2B5EF4-FFF2-40B4-BE49-F238E27FC236}">
                  <a16:creationId xmlns:a16="http://schemas.microsoft.com/office/drawing/2014/main" id="{D3CA66FE-786F-79BF-C8A1-CE3F5F9C18FA}"/>
                </a:ext>
              </a:extLst>
            </p:cNvPr>
            <p:cNvSpPr/>
            <p:nvPr/>
          </p:nvSpPr>
          <p:spPr>
            <a:xfrm>
              <a:off x="5239020" y="262084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" name="直接连接符 39">
              <a:extLst>
                <a:ext uri="{FF2B5EF4-FFF2-40B4-BE49-F238E27FC236}">
                  <a16:creationId xmlns:a16="http://schemas.microsoft.com/office/drawing/2014/main" id="{4E846485-F577-ADE9-E72A-D2A6CB8585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504" y="1901278"/>
              <a:ext cx="2274474" cy="1393892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1" name="椭圆 40">
            <a:extLst>
              <a:ext uri="{FF2B5EF4-FFF2-40B4-BE49-F238E27FC236}">
                <a16:creationId xmlns:a16="http://schemas.microsoft.com/office/drawing/2014/main" id="{B44BA57F-580A-E8AC-4535-D318B7001DB2}"/>
              </a:ext>
            </a:extLst>
          </p:cNvPr>
          <p:cNvSpPr/>
          <p:nvPr/>
        </p:nvSpPr>
        <p:spPr>
          <a:xfrm>
            <a:off x="3892462" y="6331661"/>
            <a:ext cx="84524" cy="84524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直接箭头连接符 42">
            <a:extLst>
              <a:ext uri="{FF2B5EF4-FFF2-40B4-BE49-F238E27FC236}">
                <a16:creationId xmlns:a16="http://schemas.microsoft.com/office/drawing/2014/main" id="{D7B2B0F0-6F48-5A70-05FA-C9C582B223E9}"/>
              </a:ext>
            </a:extLst>
          </p:cNvPr>
          <p:cNvCxnSpPr>
            <a:cxnSpLocks/>
          </p:cNvCxnSpPr>
          <p:nvPr/>
        </p:nvCxnSpPr>
        <p:spPr>
          <a:xfrm flipH="1">
            <a:off x="4080218" y="5625106"/>
            <a:ext cx="1312924" cy="659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43">
            <a:extLst>
              <a:ext uri="{FF2B5EF4-FFF2-40B4-BE49-F238E27FC236}">
                <a16:creationId xmlns:a16="http://schemas.microsoft.com/office/drawing/2014/main" id="{90BD1CC0-E716-9369-C07D-3ABC078AAD07}"/>
              </a:ext>
            </a:extLst>
          </p:cNvPr>
          <p:cNvSpPr txBox="1"/>
          <p:nvPr/>
        </p:nvSpPr>
        <p:spPr>
          <a:xfrm>
            <a:off x="5394081" y="5259936"/>
            <a:ext cx="950479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outliers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52">
                <a:extLst>
                  <a:ext uri="{FF2B5EF4-FFF2-40B4-BE49-F238E27FC236}">
                    <a16:creationId xmlns:a16="http://schemas.microsoft.com/office/drawing/2014/main" id="{F16B0A80-9261-A5BB-34B4-B5C3F6299634}"/>
                  </a:ext>
                </a:extLst>
              </p:cNvPr>
              <p:cNvSpPr txBox="1"/>
              <p:nvPr/>
            </p:nvSpPr>
            <p:spPr>
              <a:xfrm>
                <a:off x="7549291" y="2135307"/>
                <a:ext cx="2265071" cy="1035668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20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actual value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 predicted value</a:t>
                </a:r>
                <a:endParaRPr lang="zh-CN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文本框 52">
                <a:extLst>
                  <a:ext uri="{FF2B5EF4-FFF2-40B4-BE49-F238E27FC236}">
                    <a16:creationId xmlns:a16="http://schemas.microsoft.com/office/drawing/2014/main" id="{F16B0A80-9261-A5BB-34B4-B5C3F6299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291" y="2135307"/>
                <a:ext cx="2265071" cy="1035668"/>
              </a:xfrm>
              <a:prstGeom prst="rect">
                <a:avLst/>
              </a:prstGeom>
              <a:blipFill>
                <a:blip r:embed="rId4"/>
                <a:stretch>
                  <a:fillRect l="-2406" t="-1163" b="-930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54">
            <a:extLst>
              <a:ext uri="{FF2B5EF4-FFF2-40B4-BE49-F238E27FC236}">
                <a16:creationId xmlns:a16="http://schemas.microsoft.com/office/drawing/2014/main" id="{0417BF0C-BA6C-1330-E99A-D07DD0A05D68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6434097" y="2653141"/>
            <a:ext cx="1115194" cy="101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126">
            <a:extLst>
              <a:ext uri="{FF2B5EF4-FFF2-40B4-BE49-F238E27FC236}">
                <a16:creationId xmlns:a16="http://schemas.microsoft.com/office/drawing/2014/main" id="{3A39490A-0533-C759-70A9-44C85FB3C074}"/>
              </a:ext>
            </a:extLst>
          </p:cNvPr>
          <p:cNvGrpSpPr/>
          <p:nvPr/>
        </p:nvGrpSpPr>
        <p:grpSpPr>
          <a:xfrm>
            <a:off x="7154506" y="4903719"/>
            <a:ext cx="2400128" cy="1922585"/>
            <a:chOff x="4446942" y="4374768"/>
            <a:chExt cx="2400128" cy="1922585"/>
          </a:xfrm>
        </p:grpSpPr>
        <p:cxnSp>
          <p:nvCxnSpPr>
            <p:cNvPr id="27" name="直接箭头连接符 64">
              <a:extLst>
                <a:ext uri="{FF2B5EF4-FFF2-40B4-BE49-F238E27FC236}">
                  <a16:creationId xmlns:a16="http://schemas.microsoft.com/office/drawing/2014/main" id="{3783BD71-D827-28D4-2748-986E5977026B}"/>
                </a:ext>
              </a:extLst>
            </p:cNvPr>
            <p:cNvCxnSpPr>
              <a:cxnSpLocks/>
            </p:cNvCxnSpPr>
            <p:nvPr/>
          </p:nvCxnSpPr>
          <p:spPr>
            <a:xfrm>
              <a:off x="4446942" y="6098061"/>
              <a:ext cx="24001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65">
              <a:extLst>
                <a:ext uri="{FF2B5EF4-FFF2-40B4-BE49-F238E27FC236}">
                  <a16:creationId xmlns:a16="http://schemas.microsoft.com/office/drawing/2014/main" id="{0BEBED5D-3884-A4E9-B36C-2AC651D771A6}"/>
                </a:ext>
              </a:extLst>
            </p:cNvPr>
            <p:cNvCxnSpPr/>
            <p:nvPr/>
          </p:nvCxnSpPr>
          <p:spPr>
            <a:xfrm flipV="1">
              <a:off x="4615990" y="4374768"/>
              <a:ext cx="0" cy="19225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椭圆 67">
              <a:extLst>
                <a:ext uri="{FF2B5EF4-FFF2-40B4-BE49-F238E27FC236}">
                  <a16:creationId xmlns:a16="http://schemas.microsoft.com/office/drawing/2014/main" id="{811227CA-7871-7458-0648-119B3C65D0AC}"/>
                </a:ext>
              </a:extLst>
            </p:cNvPr>
            <p:cNvSpPr/>
            <p:nvPr/>
          </p:nvSpPr>
          <p:spPr>
            <a:xfrm>
              <a:off x="5329033" y="551570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椭圆 68">
              <a:extLst>
                <a:ext uri="{FF2B5EF4-FFF2-40B4-BE49-F238E27FC236}">
                  <a16:creationId xmlns:a16="http://schemas.microsoft.com/office/drawing/2014/main" id="{617C2096-6547-09F0-FB03-4FBEEA720E68}"/>
                </a:ext>
              </a:extLst>
            </p:cNvPr>
            <p:cNvSpPr/>
            <p:nvPr/>
          </p:nvSpPr>
          <p:spPr>
            <a:xfrm>
              <a:off x="5489424" y="571316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椭圆 71">
              <a:extLst>
                <a:ext uri="{FF2B5EF4-FFF2-40B4-BE49-F238E27FC236}">
                  <a16:creationId xmlns:a16="http://schemas.microsoft.com/office/drawing/2014/main" id="{D83544A9-9501-6C9B-A8D1-3DE572C55EA2}"/>
                </a:ext>
              </a:extLst>
            </p:cNvPr>
            <p:cNvSpPr/>
            <p:nvPr/>
          </p:nvSpPr>
          <p:spPr>
            <a:xfrm>
              <a:off x="5397036" y="537848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椭圆 89">
              <a:extLst>
                <a:ext uri="{FF2B5EF4-FFF2-40B4-BE49-F238E27FC236}">
                  <a16:creationId xmlns:a16="http://schemas.microsoft.com/office/drawing/2014/main" id="{7C5DF691-2B9A-8444-891D-7E579C66CA3D}"/>
                </a:ext>
              </a:extLst>
            </p:cNvPr>
            <p:cNvSpPr/>
            <p:nvPr/>
          </p:nvSpPr>
          <p:spPr>
            <a:xfrm>
              <a:off x="5513899" y="532960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椭圆 90">
              <a:extLst>
                <a:ext uri="{FF2B5EF4-FFF2-40B4-BE49-F238E27FC236}">
                  <a16:creationId xmlns:a16="http://schemas.microsoft.com/office/drawing/2014/main" id="{F1354EB8-F649-C88E-FC62-8636ABB656C2}"/>
                </a:ext>
              </a:extLst>
            </p:cNvPr>
            <p:cNvSpPr/>
            <p:nvPr/>
          </p:nvSpPr>
          <p:spPr>
            <a:xfrm>
              <a:off x="5471637" y="499134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椭圆 92">
              <a:extLst>
                <a:ext uri="{FF2B5EF4-FFF2-40B4-BE49-F238E27FC236}">
                  <a16:creationId xmlns:a16="http://schemas.microsoft.com/office/drawing/2014/main" id="{655A654F-50D9-9CEA-FE87-4E39D58CA0DB}"/>
                </a:ext>
              </a:extLst>
            </p:cNvPr>
            <p:cNvSpPr/>
            <p:nvPr/>
          </p:nvSpPr>
          <p:spPr>
            <a:xfrm>
              <a:off x="5488922" y="554598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椭圆 94">
              <a:extLst>
                <a:ext uri="{FF2B5EF4-FFF2-40B4-BE49-F238E27FC236}">
                  <a16:creationId xmlns:a16="http://schemas.microsoft.com/office/drawing/2014/main" id="{DAC17912-41DC-2B75-8B39-25A34AA746E8}"/>
                </a:ext>
              </a:extLst>
            </p:cNvPr>
            <p:cNvSpPr/>
            <p:nvPr/>
          </p:nvSpPr>
          <p:spPr>
            <a:xfrm>
              <a:off x="5350738" y="5069080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椭圆 97">
              <a:extLst>
                <a:ext uri="{FF2B5EF4-FFF2-40B4-BE49-F238E27FC236}">
                  <a16:creationId xmlns:a16="http://schemas.microsoft.com/office/drawing/2014/main" id="{66D013D4-032D-C86E-AF41-15ACEDE31351}"/>
                </a:ext>
              </a:extLst>
            </p:cNvPr>
            <p:cNvSpPr/>
            <p:nvPr/>
          </p:nvSpPr>
          <p:spPr>
            <a:xfrm>
              <a:off x="5595239" y="558664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椭圆 98">
              <a:extLst>
                <a:ext uri="{FF2B5EF4-FFF2-40B4-BE49-F238E27FC236}">
                  <a16:creationId xmlns:a16="http://schemas.microsoft.com/office/drawing/2014/main" id="{24912C3C-4FDE-FA50-C580-2A9D6ED6202F}"/>
                </a:ext>
              </a:extLst>
            </p:cNvPr>
            <p:cNvSpPr/>
            <p:nvPr/>
          </p:nvSpPr>
          <p:spPr>
            <a:xfrm>
              <a:off x="5371295" y="483379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椭圆 102">
              <a:extLst>
                <a:ext uri="{FF2B5EF4-FFF2-40B4-BE49-F238E27FC236}">
                  <a16:creationId xmlns:a16="http://schemas.microsoft.com/office/drawing/2014/main" id="{1D93A1EA-EACF-73EE-3632-0D567BF7D04B}"/>
                </a:ext>
              </a:extLst>
            </p:cNvPr>
            <p:cNvSpPr/>
            <p:nvPr/>
          </p:nvSpPr>
          <p:spPr>
            <a:xfrm>
              <a:off x="5513899" y="513347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椭圆 103">
              <a:extLst>
                <a:ext uri="{FF2B5EF4-FFF2-40B4-BE49-F238E27FC236}">
                  <a16:creationId xmlns:a16="http://schemas.microsoft.com/office/drawing/2014/main" id="{6715ECFB-0517-64C2-1C6B-264A24796827}"/>
                </a:ext>
              </a:extLst>
            </p:cNvPr>
            <p:cNvSpPr/>
            <p:nvPr/>
          </p:nvSpPr>
          <p:spPr>
            <a:xfrm>
              <a:off x="5637124" y="542713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椭圆 106">
              <a:extLst>
                <a:ext uri="{FF2B5EF4-FFF2-40B4-BE49-F238E27FC236}">
                  <a16:creationId xmlns:a16="http://schemas.microsoft.com/office/drawing/2014/main" id="{B8B65472-B9D7-38B5-B950-09E7231E6AB3}"/>
                </a:ext>
              </a:extLst>
            </p:cNvPr>
            <p:cNvSpPr/>
            <p:nvPr/>
          </p:nvSpPr>
          <p:spPr>
            <a:xfrm>
              <a:off x="5531184" y="525657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椭圆 107">
              <a:extLst>
                <a:ext uri="{FF2B5EF4-FFF2-40B4-BE49-F238E27FC236}">
                  <a16:creationId xmlns:a16="http://schemas.microsoft.com/office/drawing/2014/main" id="{AA7F6F8C-F87E-78DC-2C23-56F03077BE64}"/>
                </a:ext>
              </a:extLst>
            </p:cNvPr>
            <p:cNvSpPr/>
            <p:nvPr/>
          </p:nvSpPr>
          <p:spPr>
            <a:xfrm>
              <a:off x="5711411" y="540042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椭圆 108">
              <a:extLst>
                <a:ext uri="{FF2B5EF4-FFF2-40B4-BE49-F238E27FC236}">
                  <a16:creationId xmlns:a16="http://schemas.microsoft.com/office/drawing/2014/main" id="{518302B7-D31F-FB62-DEDE-5F90B75F53C5}"/>
                </a:ext>
              </a:extLst>
            </p:cNvPr>
            <p:cNvSpPr/>
            <p:nvPr/>
          </p:nvSpPr>
          <p:spPr>
            <a:xfrm>
              <a:off x="5786776" y="559809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椭圆 109">
              <a:extLst>
                <a:ext uri="{FF2B5EF4-FFF2-40B4-BE49-F238E27FC236}">
                  <a16:creationId xmlns:a16="http://schemas.microsoft.com/office/drawing/2014/main" id="{F37A49B7-C4BD-71B0-75A6-0630BB282152}"/>
                </a:ext>
              </a:extLst>
            </p:cNvPr>
            <p:cNvSpPr/>
            <p:nvPr/>
          </p:nvSpPr>
          <p:spPr>
            <a:xfrm>
              <a:off x="5512461" y="470509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椭圆 110">
              <a:extLst>
                <a:ext uri="{FF2B5EF4-FFF2-40B4-BE49-F238E27FC236}">
                  <a16:creationId xmlns:a16="http://schemas.microsoft.com/office/drawing/2014/main" id="{A622A201-8B13-6B3C-4D5F-A3963F510AE5}"/>
                </a:ext>
              </a:extLst>
            </p:cNvPr>
            <p:cNvSpPr/>
            <p:nvPr/>
          </p:nvSpPr>
          <p:spPr>
            <a:xfrm>
              <a:off x="5578862" y="502694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椭圆 111">
              <a:extLst>
                <a:ext uri="{FF2B5EF4-FFF2-40B4-BE49-F238E27FC236}">
                  <a16:creationId xmlns:a16="http://schemas.microsoft.com/office/drawing/2014/main" id="{B2E4CFBA-8A55-AFAC-280F-C2537EC66D56}"/>
                </a:ext>
              </a:extLst>
            </p:cNvPr>
            <p:cNvSpPr/>
            <p:nvPr/>
          </p:nvSpPr>
          <p:spPr>
            <a:xfrm>
              <a:off x="5779414" y="526319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椭圆 112">
              <a:extLst>
                <a:ext uri="{FF2B5EF4-FFF2-40B4-BE49-F238E27FC236}">
                  <a16:creationId xmlns:a16="http://schemas.microsoft.com/office/drawing/2014/main" id="{B0EB77D7-BD56-8843-3004-1935254D00A2}"/>
                </a:ext>
              </a:extLst>
            </p:cNvPr>
            <p:cNvSpPr/>
            <p:nvPr/>
          </p:nvSpPr>
          <p:spPr>
            <a:xfrm>
              <a:off x="5695368" y="516822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椭圆 113">
              <a:extLst>
                <a:ext uri="{FF2B5EF4-FFF2-40B4-BE49-F238E27FC236}">
                  <a16:creationId xmlns:a16="http://schemas.microsoft.com/office/drawing/2014/main" id="{EC2F5449-07FE-90F0-E364-E71D9CC612A2}"/>
                </a:ext>
              </a:extLst>
            </p:cNvPr>
            <p:cNvSpPr/>
            <p:nvPr/>
          </p:nvSpPr>
          <p:spPr>
            <a:xfrm>
              <a:off x="5896277" y="521431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椭圆 114">
              <a:extLst>
                <a:ext uri="{FF2B5EF4-FFF2-40B4-BE49-F238E27FC236}">
                  <a16:creationId xmlns:a16="http://schemas.microsoft.com/office/drawing/2014/main" id="{330CBD82-97C0-5F05-CEF8-74D9B6FCC70B}"/>
                </a:ext>
              </a:extLst>
            </p:cNvPr>
            <p:cNvSpPr/>
            <p:nvPr/>
          </p:nvSpPr>
          <p:spPr>
            <a:xfrm>
              <a:off x="5854015" y="487605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椭圆 115">
              <a:extLst>
                <a:ext uri="{FF2B5EF4-FFF2-40B4-BE49-F238E27FC236}">
                  <a16:creationId xmlns:a16="http://schemas.microsoft.com/office/drawing/2014/main" id="{121ACAEE-6C07-9CD1-A304-86262FA42EE7}"/>
                </a:ext>
              </a:extLst>
            </p:cNvPr>
            <p:cNvSpPr/>
            <p:nvPr/>
          </p:nvSpPr>
          <p:spPr>
            <a:xfrm>
              <a:off x="5584712" y="483112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椭圆 116">
              <a:extLst>
                <a:ext uri="{FF2B5EF4-FFF2-40B4-BE49-F238E27FC236}">
                  <a16:creationId xmlns:a16="http://schemas.microsoft.com/office/drawing/2014/main" id="{606DA001-7C30-C2E0-5103-E9CDE29B0249}"/>
                </a:ext>
              </a:extLst>
            </p:cNvPr>
            <p:cNvSpPr/>
            <p:nvPr/>
          </p:nvSpPr>
          <p:spPr>
            <a:xfrm>
              <a:off x="5871300" y="543069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椭圆 117">
              <a:extLst>
                <a:ext uri="{FF2B5EF4-FFF2-40B4-BE49-F238E27FC236}">
                  <a16:creationId xmlns:a16="http://schemas.microsoft.com/office/drawing/2014/main" id="{400A62D5-50AF-9D5C-6FAA-9A63918077EE}"/>
                </a:ext>
              </a:extLst>
            </p:cNvPr>
            <p:cNvSpPr/>
            <p:nvPr/>
          </p:nvSpPr>
          <p:spPr>
            <a:xfrm>
              <a:off x="5733116" y="495379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椭圆 118">
              <a:extLst>
                <a:ext uri="{FF2B5EF4-FFF2-40B4-BE49-F238E27FC236}">
                  <a16:creationId xmlns:a16="http://schemas.microsoft.com/office/drawing/2014/main" id="{71B7805B-0B00-3634-5251-AD240E5765DE}"/>
                </a:ext>
              </a:extLst>
            </p:cNvPr>
            <p:cNvSpPr/>
            <p:nvPr/>
          </p:nvSpPr>
          <p:spPr>
            <a:xfrm>
              <a:off x="5977617" y="547135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椭圆 119">
              <a:extLst>
                <a:ext uri="{FF2B5EF4-FFF2-40B4-BE49-F238E27FC236}">
                  <a16:creationId xmlns:a16="http://schemas.microsoft.com/office/drawing/2014/main" id="{746103FE-4098-F7E2-8D2E-A675E9514100}"/>
                </a:ext>
              </a:extLst>
            </p:cNvPr>
            <p:cNvSpPr/>
            <p:nvPr/>
          </p:nvSpPr>
          <p:spPr>
            <a:xfrm>
              <a:off x="5753673" y="471850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椭圆 120">
              <a:extLst>
                <a:ext uri="{FF2B5EF4-FFF2-40B4-BE49-F238E27FC236}">
                  <a16:creationId xmlns:a16="http://schemas.microsoft.com/office/drawing/2014/main" id="{330E4C48-5A6B-9E09-9ACE-7BDACE30E7AA}"/>
                </a:ext>
              </a:extLst>
            </p:cNvPr>
            <p:cNvSpPr/>
            <p:nvPr/>
          </p:nvSpPr>
          <p:spPr>
            <a:xfrm>
              <a:off x="5896277" y="5018190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椭圆 121">
              <a:extLst>
                <a:ext uri="{FF2B5EF4-FFF2-40B4-BE49-F238E27FC236}">
                  <a16:creationId xmlns:a16="http://schemas.microsoft.com/office/drawing/2014/main" id="{D572DF25-860F-1D6B-D6C4-59D8233027D5}"/>
                </a:ext>
              </a:extLst>
            </p:cNvPr>
            <p:cNvSpPr/>
            <p:nvPr/>
          </p:nvSpPr>
          <p:spPr>
            <a:xfrm>
              <a:off x="6019502" y="531184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椭圆 122">
              <a:extLst>
                <a:ext uri="{FF2B5EF4-FFF2-40B4-BE49-F238E27FC236}">
                  <a16:creationId xmlns:a16="http://schemas.microsoft.com/office/drawing/2014/main" id="{E687B8D4-A09A-F59F-F665-8F639980AB85}"/>
                </a:ext>
              </a:extLst>
            </p:cNvPr>
            <p:cNvSpPr/>
            <p:nvPr/>
          </p:nvSpPr>
          <p:spPr>
            <a:xfrm>
              <a:off x="4785039" y="5789690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7" name="直接箭头连接符 124">
            <a:extLst>
              <a:ext uri="{FF2B5EF4-FFF2-40B4-BE49-F238E27FC236}">
                <a16:creationId xmlns:a16="http://schemas.microsoft.com/office/drawing/2014/main" id="{987E07B4-1D43-A08C-1219-54DC8E29F164}"/>
              </a:ext>
            </a:extLst>
          </p:cNvPr>
          <p:cNvCxnSpPr>
            <a:cxnSpLocks/>
          </p:cNvCxnSpPr>
          <p:nvPr/>
        </p:nvCxnSpPr>
        <p:spPr>
          <a:xfrm>
            <a:off x="6337715" y="5645212"/>
            <a:ext cx="1116755" cy="667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96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Loss functions in regression: MSE</a:t>
            </a:r>
          </a:p>
        </p:txBody>
      </p:sp>
      <p:grpSp>
        <p:nvGrpSpPr>
          <p:cNvPr id="2" name="组合 26">
            <a:extLst>
              <a:ext uri="{FF2B5EF4-FFF2-40B4-BE49-F238E27FC236}">
                <a16:creationId xmlns:a16="http://schemas.microsoft.com/office/drawing/2014/main" id="{18AC845B-7D5C-AA44-AED4-7F77F7F21693}"/>
              </a:ext>
            </a:extLst>
          </p:cNvPr>
          <p:cNvGrpSpPr/>
          <p:nvPr/>
        </p:nvGrpSpPr>
        <p:grpSpPr>
          <a:xfrm>
            <a:off x="2050952" y="1861742"/>
            <a:ext cx="2469703" cy="1908544"/>
            <a:chOff x="4186504" y="1672856"/>
            <a:chExt cx="2469703" cy="1908544"/>
          </a:xfrm>
        </p:grpSpPr>
        <p:cxnSp>
          <p:nvCxnSpPr>
            <p:cNvPr id="3" name="直接箭头连接符 27">
              <a:extLst>
                <a:ext uri="{FF2B5EF4-FFF2-40B4-BE49-F238E27FC236}">
                  <a16:creationId xmlns:a16="http://schemas.microsoft.com/office/drawing/2014/main" id="{C04D5616-A36B-BFE8-9063-124BBF94F2F6}"/>
                </a:ext>
              </a:extLst>
            </p:cNvPr>
            <p:cNvCxnSpPr/>
            <p:nvPr/>
          </p:nvCxnSpPr>
          <p:spPr>
            <a:xfrm>
              <a:off x="4253248" y="3363432"/>
              <a:ext cx="240295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28">
              <a:extLst>
                <a:ext uri="{FF2B5EF4-FFF2-40B4-BE49-F238E27FC236}">
                  <a16:creationId xmlns:a16="http://schemas.microsoft.com/office/drawing/2014/main" id="{D19F7F11-E39A-0C3A-BFA8-BCE2EC1EBBAE}"/>
                </a:ext>
              </a:extLst>
            </p:cNvPr>
            <p:cNvCxnSpPr/>
            <p:nvPr/>
          </p:nvCxnSpPr>
          <p:spPr>
            <a:xfrm flipV="1">
              <a:off x="4380839" y="1672856"/>
              <a:ext cx="0" cy="190854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椭圆 29">
              <a:extLst>
                <a:ext uri="{FF2B5EF4-FFF2-40B4-BE49-F238E27FC236}">
                  <a16:creationId xmlns:a16="http://schemas.microsoft.com/office/drawing/2014/main" id="{ACB67FF4-3D68-F6CE-8EFE-7BF7A56763C8}"/>
                </a:ext>
              </a:extLst>
            </p:cNvPr>
            <p:cNvSpPr/>
            <p:nvPr/>
          </p:nvSpPr>
          <p:spPr>
            <a:xfrm>
              <a:off x="4563022" y="288791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椭圆 30">
              <a:extLst>
                <a:ext uri="{FF2B5EF4-FFF2-40B4-BE49-F238E27FC236}">
                  <a16:creationId xmlns:a16="http://schemas.microsoft.com/office/drawing/2014/main" id="{F75AE752-79E3-70BA-64C8-4DB55CA9C7A8}"/>
                </a:ext>
              </a:extLst>
            </p:cNvPr>
            <p:cNvSpPr/>
            <p:nvPr/>
          </p:nvSpPr>
          <p:spPr>
            <a:xfrm>
              <a:off x="4886288" y="283076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椭圆 31">
              <a:extLst>
                <a:ext uri="{FF2B5EF4-FFF2-40B4-BE49-F238E27FC236}">
                  <a16:creationId xmlns:a16="http://schemas.microsoft.com/office/drawing/2014/main" id="{C5809435-FF84-81AA-6097-84A78F71E96C}"/>
                </a:ext>
              </a:extLst>
            </p:cNvPr>
            <p:cNvSpPr/>
            <p:nvPr/>
          </p:nvSpPr>
          <p:spPr>
            <a:xfrm>
              <a:off x="5039676" y="261438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32">
              <a:extLst>
                <a:ext uri="{FF2B5EF4-FFF2-40B4-BE49-F238E27FC236}">
                  <a16:creationId xmlns:a16="http://schemas.microsoft.com/office/drawing/2014/main" id="{C477D550-CEFE-D21E-1AFB-C37B8006FF94}"/>
                </a:ext>
              </a:extLst>
            </p:cNvPr>
            <p:cNvSpPr/>
            <p:nvPr/>
          </p:nvSpPr>
          <p:spPr>
            <a:xfrm>
              <a:off x="5476261" y="254260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33">
              <a:extLst>
                <a:ext uri="{FF2B5EF4-FFF2-40B4-BE49-F238E27FC236}">
                  <a16:creationId xmlns:a16="http://schemas.microsoft.com/office/drawing/2014/main" id="{B2A29312-CE48-F458-51DA-0BB7E399C729}"/>
                </a:ext>
              </a:extLst>
            </p:cNvPr>
            <p:cNvSpPr/>
            <p:nvPr/>
          </p:nvSpPr>
          <p:spPr>
            <a:xfrm>
              <a:off x="5560785" y="225739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34">
              <a:extLst>
                <a:ext uri="{FF2B5EF4-FFF2-40B4-BE49-F238E27FC236}">
                  <a16:creationId xmlns:a16="http://schemas.microsoft.com/office/drawing/2014/main" id="{6CA3F1B7-9327-7FB9-E6D2-B4D0420113E6}"/>
                </a:ext>
              </a:extLst>
            </p:cNvPr>
            <p:cNvSpPr/>
            <p:nvPr/>
          </p:nvSpPr>
          <p:spPr>
            <a:xfrm>
              <a:off x="5951671" y="227374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35">
              <a:extLst>
                <a:ext uri="{FF2B5EF4-FFF2-40B4-BE49-F238E27FC236}">
                  <a16:creationId xmlns:a16="http://schemas.microsoft.com/office/drawing/2014/main" id="{1CC6EBF4-5E8D-87C9-DA56-1A8E4D936697}"/>
                </a:ext>
              </a:extLst>
            </p:cNvPr>
            <p:cNvSpPr/>
            <p:nvPr/>
          </p:nvSpPr>
          <p:spPr>
            <a:xfrm>
              <a:off x="6127123" y="205272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36">
              <a:extLst>
                <a:ext uri="{FF2B5EF4-FFF2-40B4-BE49-F238E27FC236}">
                  <a16:creationId xmlns:a16="http://schemas.microsoft.com/office/drawing/2014/main" id="{E6915517-798E-05D6-7E96-56DEDA809B3F}"/>
                </a:ext>
              </a:extLst>
            </p:cNvPr>
            <p:cNvSpPr/>
            <p:nvPr/>
          </p:nvSpPr>
          <p:spPr>
            <a:xfrm>
              <a:off x="5696537" y="242543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37">
              <a:extLst>
                <a:ext uri="{FF2B5EF4-FFF2-40B4-BE49-F238E27FC236}">
                  <a16:creationId xmlns:a16="http://schemas.microsoft.com/office/drawing/2014/main" id="{3B63F6B8-B868-C077-5748-5B2AC263FE98}"/>
                </a:ext>
              </a:extLst>
            </p:cNvPr>
            <p:cNvSpPr/>
            <p:nvPr/>
          </p:nvSpPr>
          <p:spPr>
            <a:xfrm>
              <a:off x="4478498" y="311576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椭圆 38">
              <a:extLst>
                <a:ext uri="{FF2B5EF4-FFF2-40B4-BE49-F238E27FC236}">
                  <a16:creationId xmlns:a16="http://schemas.microsoft.com/office/drawing/2014/main" id="{7F644A07-C0EC-AD44-0DD7-4E9786D97169}"/>
                </a:ext>
              </a:extLst>
            </p:cNvPr>
            <p:cNvSpPr/>
            <p:nvPr/>
          </p:nvSpPr>
          <p:spPr>
            <a:xfrm>
              <a:off x="5239020" y="262084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直接连接符 39">
              <a:extLst>
                <a:ext uri="{FF2B5EF4-FFF2-40B4-BE49-F238E27FC236}">
                  <a16:creationId xmlns:a16="http://schemas.microsoft.com/office/drawing/2014/main" id="{3EF949CF-5575-3E40-86EA-913EF3E9DE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504" y="1901278"/>
              <a:ext cx="2274474" cy="1393892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椭圆 40">
            <a:extLst>
              <a:ext uri="{FF2B5EF4-FFF2-40B4-BE49-F238E27FC236}">
                <a16:creationId xmlns:a16="http://schemas.microsoft.com/office/drawing/2014/main" id="{76045D1C-B04D-6021-340E-DA9AB4DABC87}"/>
              </a:ext>
            </a:extLst>
          </p:cNvPr>
          <p:cNvSpPr/>
          <p:nvPr/>
        </p:nvSpPr>
        <p:spPr>
          <a:xfrm>
            <a:off x="4167356" y="3179842"/>
            <a:ext cx="84524" cy="84524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直接箭头连接符 42">
            <a:extLst>
              <a:ext uri="{FF2B5EF4-FFF2-40B4-BE49-F238E27FC236}">
                <a16:creationId xmlns:a16="http://schemas.microsoft.com/office/drawing/2014/main" id="{E9670E24-DB9B-B6CD-9551-BBF19BF7F0EB}"/>
              </a:ext>
            </a:extLst>
          </p:cNvPr>
          <p:cNvCxnSpPr>
            <a:cxnSpLocks/>
          </p:cNvCxnSpPr>
          <p:nvPr/>
        </p:nvCxnSpPr>
        <p:spPr>
          <a:xfrm flipH="1">
            <a:off x="4325426" y="2916759"/>
            <a:ext cx="846457" cy="268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43">
            <a:extLst>
              <a:ext uri="{FF2B5EF4-FFF2-40B4-BE49-F238E27FC236}">
                <a16:creationId xmlns:a16="http://schemas.microsoft.com/office/drawing/2014/main" id="{7C33672E-2F5D-B3B4-C057-60016C89CF15}"/>
              </a:ext>
            </a:extLst>
          </p:cNvPr>
          <p:cNvSpPr txBox="1"/>
          <p:nvPr/>
        </p:nvSpPr>
        <p:spPr>
          <a:xfrm>
            <a:off x="5171108" y="2564381"/>
            <a:ext cx="950479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outliers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组合 126">
            <a:extLst>
              <a:ext uri="{FF2B5EF4-FFF2-40B4-BE49-F238E27FC236}">
                <a16:creationId xmlns:a16="http://schemas.microsoft.com/office/drawing/2014/main" id="{FF333AD6-BE85-E028-BE62-6418E68C9783}"/>
              </a:ext>
            </a:extLst>
          </p:cNvPr>
          <p:cNvGrpSpPr/>
          <p:nvPr/>
        </p:nvGrpSpPr>
        <p:grpSpPr>
          <a:xfrm>
            <a:off x="6943732" y="1877399"/>
            <a:ext cx="2400128" cy="1922585"/>
            <a:chOff x="4446942" y="4374768"/>
            <a:chExt cx="2400128" cy="1922585"/>
          </a:xfrm>
        </p:grpSpPr>
        <p:cxnSp>
          <p:nvCxnSpPr>
            <p:cNvPr id="21" name="直接箭头连接符 64">
              <a:extLst>
                <a:ext uri="{FF2B5EF4-FFF2-40B4-BE49-F238E27FC236}">
                  <a16:creationId xmlns:a16="http://schemas.microsoft.com/office/drawing/2014/main" id="{E6580EF0-E444-4097-689A-CC339AAB7280}"/>
                </a:ext>
              </a:extLst>
            </p:cNvPr>
            <p:cNvCxnSpPr>
              <a:cxnSpLocks/>
            </p:cNvCxnSpPr>
            <p:nvPr/>
          </p:nvCxnSpPr>
          <p:spPr>
            <a:xfrm>
              <a:off x="4446942" y="6098061"/>
              <a:ext cx="24001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65">
              <a:extLst>
                <a:ext uri="{FF2B5EF4-FFF2-40B4-BE49-F238E27FC236}">
                  <a16:creationId xmlns:a16="http://schemas.microsoft.com/office/drawing/2014/main" id="{ED43FEC1-9DEC-858F-F2FC-9083755D3C65}"/>
                </a:ext>
              </a:extLst>
            </p:cNvPr>
            <p:cNvCxnSpPr/>
            <p:nvPr/>
          </p:nvCxnSpPr>
          <p:spPr>
            <a:xfrm flipV="1">
              <a:off x="4615990" y="4374768"/>
              <a:ext cx="0" cy="19225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椭圆 67">
              <a:extLst>
                <a:ext uri="{FF2B5EF4-FFF2-40B4-BE49-F238E27FC236}">
                  <a16:creationId xmlns:a16="http://schemas.microsoft.com/office/drawing/2014/main" id="{DEEB3FC3-1765-0129-9DA7-EB4CD32E26B0}"/>
                </a:ext>
              </a:extLst>
            </p:cNvPr>
            <p:cNvSpPr/>
            <p:nvPr/>
          </p:nvSpPr>
          <p:spPr>
            <a:xfrm>
              <a:off x="5329033" y="551570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椭圆 68">
              <a:extLst>
                <a:ext uri="{FF2B5EF4-FFF2-40B4-BE49-F238E27FC236}">
                  <a16:creationId xmlns:a16="http://schemas.microsoft.com/office/drawing/2014/main" id="{4107C0ED-7C46-1743-B19C-67F88CC669AA}"/>
                </a:ext>
              </a:extLst>
            </p:cNvPr>
            <p:cNvSpPr/>
            <p:nvPr/>
          </p:nvSpPr>
          <p:spPr>
            <a:xfrm>
              <a:off x="5489424" y="571316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椭圆 71">
              <a:extLst>
                <a:ext uri="{FF2B5EF4-FFF2-40B4-BE49-F238E27FC236}">
                  <a16:creationId xmlns:a16="http://schemas.microsoft.com/office/drawing/2014/main" id="{8EE20A13-8304-EE55-3DC4-B219ACF5BB84}"/>
                </a:ext>
              </a:extLst>
            </p:cNvPr>
            <p:cNvSpPr/>
            <p:nvPr/>
          </p:nvSpPr>
          <p:spPr>
            <a:xfrm>
              <a:off x="5397036" y="537848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椭圆 89">
              <a:extLst>
                <a:ext uri="{FF2B5EF4-FFF2-40B4-BE49-F238E27FC236}">
                  <a16:creationId xmlns:a16="http://schemas.microsoft.com/office/drawing/2014/main" id="{156F520A-E343-40E9-EAA8-750E1DFE4C4F}"/>
                </a:ext>
              </a:extLst>
            </p:cNvPr>
            <p:cNvSpPr/>
            <p:nvPr/>
          </p:nvSpPr>
          <p:spPr>
            <a:xfrm>
              <a:off x="5513899" y="532960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椭圆 90">
              <a:extLst>
                <a:ext uri="{FF2B5EF4-FFF2-40B4-BE49-F238E27FC236}">
                  <a16:creationId xmlns:a16="http://schemas.microsoft.com/office/drawing/2014/main" id="{555DF2F7-576A-0B9E-48A8-C89C739360E8}"/>
                </a:ext>
              </a:extLst>
            </p:cNvPr>
            <p:cNvSpPr/>
            <p:nvPr/>
          </p:nvSpPr>
          <p:spPr>
            <a:xfrm>
              <a:off x="5471637" y="499134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椭圆 92">
              <a:extLst>
                <a:ext uri="{FF2B5EF4-FFF2-40B4-BE49-F238E27FC236}">
                  <a16:creationId xmlns:a16="http://schemas.microsoft.com/office/drawing/2014/main" id="{09FBAC48-13A3-CE65-6250-FE2A04F07986}"/>
                </a:ext>
              </a:extLst>
            </p:cNvPr>
            <p:cNvSpPr/>
            <p:nvPr/>
          </p:nvSpPr>
          <p:spPr>
            <a:xfrm>
              <a:off x="5488922" y="554598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椭圆 94">
              <a:extLst>
                <a:ext uri="{FF2B5EF4-FFF2-40B4-BE49-F238E27FC236}">
                  <a16:creationId xmlns:a16="http://schemas.microsoft.com/office/drawing/2014/main" id="{7C957AE1-9550-B02E-9E03-D9D6A2066355}"/>
                </a:ext>
              </a:extLst>
            </p:cNvPr>
            <p:cNvSpPr/>
            <p:nvPr/>
          </p:nvSpPr>
          <p:spPr>
            <a:xfrm>
              <a:off x="5350738" y="5069080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椭圆 97">
              <a:extLst>
                <a:ext uri="{FF2B5EF4-FFF2-40B4-BE49-F238E27FC236}">
                  <a16:creationId xmlns:a16="http://schemas.microsoft.com/office/drawing/2014/main" id="{AF87EBB8-ED63-7074-9C82-034E18A99F10}"/>
                </a:ext>
              </a:extLst>
            </p:cNvPr>
            <p:cNvSpPr/>
            <p:nvPr/>
          </p:nvSpPr>
          <p:spPr>
            <a:xfrm>
              <a:off x="5595239" y="558664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椭圆 98">
              <a:extLst>
                <a:ext uri="{FF2B5EF4-FFF2-40B4-BE49-F238E27FC236}">
                  <a16:creationId xmlns:a16="http://schemas.microsoft.com/office/drawing/2014/main" id="{D899F90B-BD81-CAB0-F480-39B4DBC4BA87}"/>
                </a:ext>
              </a:extLst>
            </p:cNvPr>
            <p:cNvSpPr/>
            <p:nvPr/>
          </p:nvSpPr>
          <p:spPr>
            <a:xfrm>
              <a:off x="5371295" y="483379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椭圆 102">
              <a:extLst>
                <a:ext uri="{FF2B5EF4-FFF2-40B4-BE49-F238E27FC236}">
                  <a16:creationId xmlns:a16="http://schemas.microsoft.com/office/drawing/2014/main" id="{88FED06C-439A-19EE-DAB8-969115CE42D8}"/>
                </a:ext>
              </a:extLst>
            </p:cNvPr>
            <p:cNvSpPr/>
            <p:nvPr/>
          </p:nvSpPr>
          <p:spPr>
            <a:xfrm>
              <a:off x="5513899" y="513347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椭圆 103">
              <a:extLst>
                <a:ext uri="{FF2B5EF4-FFF2-40B4-BE49-F238E27FC236}">
                  <a16:creationId xmlns:a16="http://schemas.microsoft.com/office/drawing/2014/main" id="{3726D51F-8C4A-5BAB-12C3-CB991CDF5EA8}"/>
                </a:ext>
              </a:extLst>
            </p:cNvPr>
            <p:cNvSpPr/>
            <p:nvPr/>
          </p:nvSpPr>
          <p:spPr>
            <a:xfrm>
              <a:off x="5637124" y="542713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椭圆 106">
              <a:extLst>
                <a:ext uri="{FF2B5EF4-FFF2-40B4-BE49-F238E27FC236}">
                  <a16:creationId xmlns:a16="http://schemas.microsoft.com/office/drawing/2014/main" id="{9AEB5A8C-35A2-09C3-9BBD-42E89D1B8DF3}"/>
                </a:ext>
              </a:extLst>
            </p:cNvPr>
            <p:cNvSpPr/>
            <p:nvPr/>
          </p:nvSpPr>
          <p:spPr>
            <a:xfrm>
              <a:off x="5531184" y="525657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椭圆 107">
              <a:extLst>
                <a:ext uri="{FF2B5EF4-FFF2-40B4-BE49-F238E27FC236}">
                  <a16:creationId xmlns:a16="http://schemas.microsoft.com/office/drawing/2014/main" id="{1C61CAF6-BC80-E193-3490-F0DB7880F8C8}"/>
                </a:ext>
              </a:extLst>
            </p:cNvPr>
            <p:cNvSpPr/>
            <p:nvPr/>
          </p:nvSpPr>
          <p:spPr>
            <a:xfrm>
              <a:off x="5711411" y="540042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椭圆 108">
              <a:extLst>
                <a:ext uri="{FF2B5EF4-FFF2-40B4-BE49-F238E27FC236}">
                  <a16:creationId xmlns:a16="http://schemas.microsoft.com/office/drawing/2014/main" id="{345E91A1-8CCA-7D93-1C7C-239A12672FA4}"/>
                </a:ext>
              </a:extLst>
            </p:cNvPr>
            <p:cNvSpPr/>
            <p:nvPr/>
          </p:nvSpPr>
          <p:spPr>
            <a:xfrm>
              <a:off x="5786776" y="559809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椭圆 109">
              <a:extLst>
                <a:ext uri="{FF2B5EF4-FFF2-40B4-BE49-F238E27FC236}">
                  <a16:creationId xmlns:a16="http://schemas.microsoft.com/office/drawing/2014/main" id="{F16701E4-C87D-5BB4-B749-8E665E61AB5F}"/>
                </a:ext>
              </a:extLst>
            </p:cNvPr>
            <p:cNvSpPr/>
            <p:nvPr/>
          </p:nvSpPr>
          <p:spPr>
            <a:xfrm>
              <a:off x="5512461" y="470509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椭圆 110">
              <a:extLst>
                <a:ext uri="{FF2B5EF4-FFF2-40B4-BE49-F238E27FC236}">
                  <a16:creationId xmlns:a16="http://schemas.microsoft.com/office/drawing/2014/main" id="{1ABE87AD-326E-F7E7-3961-B07C9696C7C6}"/>
                </a:ext>
              </a:extLst>
            </p:cNvPr>
            <p:cNvSpPr/>
            <p:nvPr/>
          </p:nvSpPr>
          <p:spPr>
            <a:xfrm>
              <a:off x="5578862" y="502694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椭圆 111">
              <a:extLst>
                <a:ext uri="{FF2B5EF4-FFF2-40B4-BE49-F238E27FC236}">
                  <a16:creationId xmlns:a16="http://schemas.microsoft.com/office/drawing/2014/main" id="{2C98AFB9-3187-9582-4F92-36B44AE9CF67}"/>
                </a:ext>
              </a:extLst>
            </p:cNvPr>
            <p:cNvSpPr/>
            <p:nvPr/>
          </p:nvSpPr>
          <p:spPr>
            <a:xfrm>
              <a:off x="5779414" y="526319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椭圆 112">
              <a:extLst>
                <a:ext uri="{FF2B5EF4-FFF2-40B4-BE49-F238E27FC236}">
                  <a16:creationId xmlns:a16="http://schemas.microsoft.com/office/drawing/2014/main" id="{7F68E5DF-45E2-DBD8-4FC9-8284BB4187D8}"/>
                </a:ext>
              </a:extLst>
            </p:cNvPr>
            <p:cNvSpPr/>
            <p:nvPr/>
          </p:nvSpPr>
          <p:spPr>
            <a:xfrm>
              <a:off x="5695368" y="516822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椭圆 113">
              <a:extLst>
                <a:ext uri="{FF2B5EF4-FFF2-40B4-BE49-F238E27FC236}">
                  <a16:creationId xmlns:a16="http://schemas.microsoft.com/office/drawing/2014/main" id="{B0B4F756-9993-2671-07AB-33E6D03481B3}"/>
                </a:ext>
              </a:extLst>
            </p:cNvPr>
            <p:cNvSpPr/>
            <p:nvPr/>
          </p:nvSpPr>
          <p:spPr>
            <a:xfrm>
              <a:off x="5896277" y="521431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椭圆 114">
              <a:extLst>
                <a:ext uri="{FF2B5EF4-FFF2-40B4-BE49-F238E27FC236}">
                  <a16:creationId xmlns:a16="http://schemas.microsoft.com/office/drawing/2014/main" id="{4E7EA926-D4D5-9301-1075-84D83E31070F}"/>
                </a:ext>
              </a:extLst>
            </p:cNvPr>
            <p:cNvSpPr/>
            <p:nvPr/>
          </p:nvSpPr>
          <p:spPr>
            <a:xfrm>
              <a:off x="5854015" y="487605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椭圆 115">
              <a:extLst>
                <a:ext uri="{FF2B5EF4-FFF2-40B4-BE49-F238E27FC236}">
                  <a16:creationId xmlns:a16="http://schemas.microsoft.com/office/drawing/2014/main" id="{35923405-63DC-5CF5-F2BE-E53FB161560F}"/>
                </a:ext>
              </a:extLst>
            </p:cNvPr>
            <p:cNvSpPr/>
            <p:nvPr/>
          </p:nvSpPr>
          <p:spPr>
            <a:xfrm>
              <a:off x="5584712" y="483112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椭圆 116">
              <a:extLst>
                <a:ext uri="{FF2B5EF4-FFF2-40B4-BE49-F238E27FC236}">
                  <a16:creationId xmlns:a16="http://schemas.microsoft.com/office/drawing/2014/main" id="{76E0D6A9-ADF4-2B7E-E08A-2DC133517DE1}"/>
                </a:ext>
              </a:extLst>
            </p:cNvPr>
            <p:cNvSpPr/>
            <p:nvPr/>
          </p:nvSpPr>
          <p:spPr>
            <a:xfrm>
              <a:off x="5871300" y="543069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椭圆 117">
              <a:extLst>
                <a:ext uri="{FF2B5EF4-FFF2-40B4-BE49-F238E27FC236}">
                  <a16:creationId xmlns:a16="http://schemas.microsoft.com/office/drawing/2014/main" id="{2B7B0422-A918-2A51-5F96-1844145DEB2A}"/>
                </a:ext>
              </a:extLst>
            </p:cNvPr>
            <p:cNvSpPr/>
            <p:nvPr/>
          </p:nvSpPr>
          <p:spPr>
            <a:xfrm>
              <a:off x="5733116" y="495379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椭圆 118">
              <a:extLst>
                <a:ext uri="{FF2B5EF4-FFF2-40B4-BE49-F238E27FC236}">
                  <a16:creationId xmlns:a16="http://schemas.microsoft.com/office/drawing/2014/main" id="{DFF66120-BA62-0172-EFA6-CDD0CA1BBFAC}"/>
                </a:ext>
              </a:extLst>
            </p:cNvPr>
            <p:cNvSpPr/>
            <p:nvPr/>
          </p:nvSpPr>
          <p:spPr>
            <a:xfrm>
              <a:off x="5977617" y="547135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椭圆 119">
              <a:extLst>
                <a:ext uri="{FF2B5EF4-FFF2-40B4-BE49-F238E27FC236}">
                  <a16:creationId xmlns:a16="http://schemas.microsoft.com/office/drawing/2014/main" id="{96EE27B3-4F0D-80BA-B0C1-FB6B1D3E407A}"/>
                </a:ext>
              </a:extLst>
            </p:cNvPr>
            <p:cNvSpPr/>
            <p:nvPr/>
          </p:nvSpPr>
          <p:spPr>
            <a:xfrm>
              <a:off x="5753673" y="471850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椭圆 120">
              <a:extLst>
                <a:ext uri="{FF2B5EF4-FFF2-40B4-BE49-F238E27FC236}">
                  <a16:creationId xmlns:a16="http://schemas.microsoft.com/office/drawing/2014/main" id="{27B1A890-D80E-EBD3-6F83-66E2A1330EBB}"/>
                </a:ext>
              </a:extLst>
            </p:cNvPr>
            <p:cNvSpPr/>
            <p:nvPr/>
          </p:nvSpPr>
          <p:spPr>
            <a:xfrm>
              <a:off x="5896277" y="5018190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椭圆 121">
              <a:extLst>
                <a:ext uri="{FF2B5EF4-FFF2-40B4-BE49-F238E27FC236}">
                  <a16:creationId xmlns:a16="http://schemas.microsoft.com/office/drawing/2014/main" id="{488C72A0-F4A2-D48C-C104-7D86A0EB9B09}"/>
                </a:ext>
              </a:extLst>
            </p:cNvPr>
            <p:cNvSpPr/>
            <p:nvPr/>
          </p:nvSpPr>
          <p:spPr>
            <a:xfrm>
              <a:off x="6019502" y="531184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椭圆 122">
              <a:extLst>
                <a:ext uri="{FF2B5EF4-FFF2-40B4-BE49-F238E27FC236}">
                  <a16:creationId xmlns:a16="http://schemas.microsoft.com/office/drawing/2014/main" id="{564D79FE-75E3-20D5-3A2C-3B9571ECBFAB}"/>
                </a:ext>
              </a:extLst>
            </p:cNvPr>
            <p:cNvSpPr/>
            <p:nvPr/>
          </p:nvSpPr>
          <p:spPr>
            <a:xfrm>
              <a:off x="4785039" y="5789690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1" name="直接箭头连接符 124">
            <a:extLst>
              <a:ext uri="{FF2B5EF4-FFF2-40B4-BE49-F238E27FC236}">
                <a16:creationId xmlns:a16="http://schemas.microsoft.com/office/drawing/2014/main" id="{27A7818C-A1B1-2D6F-9A39-FF6C62B2C9FB}"/>
              </a:ext>
            </a:extLst>
          </p:cNvPr>
          <p:cNvCxnSpPr>
            <a:cxnSpLocks/>
          </p:cNvCxnSpPr>
          <p:nvPr/>
        </p:nvCxnSpPr>
        <p:spPr>
          <a:xfrm>
            <a:off x="6122076" y="2916759"/>
            <a:ext cx="1043707" cy="363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60">
                <a:extLst>
                  <a:ext uri="{FF2B5EF4-FFF2-40B4-BE49-F238E27FC236}">
                    <a16:creationId xmlns:a16="http://schemas.microsoft.com/office/drawing/2014/main" id="{9085EA07-F17B-686E-F676-BAEDD0B10768}"/>
                  </a:ext>
                </a:extLst>
              </p:cNvPr>
              <p:cNvSpPr txBox="1"/>
              <p:nvPr/>
            </p:nvSpPr>
            <p:spPr>
              <a:xfrm>
                <a:off x="880030" y="4792390"/>
                <a:ext cx="10367133" cy="854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If the k-</a:t>
                </a:r>
                <a:r>
                  <a:rPr lang="en-US" altLang="zh-CN" sz="24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altLang="zh-CN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sample is an outlier, the difference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will be large.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loss will be dominated by outliers 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squared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MSE.</a:t>
                </a:r>
              </a:p>
            </p:txBody>
          </p:sp>
        </mc:Choice>
        <mc:Fallback xmlns="">
          <p:sp>
            <p:nvSpPr>
              <p:cNvPr id="52" name="文本框 60">
                <a:extLst>
                  <a:ext uri="{FF2B5EF4-FFF2-40B4-BE49-F238E27FC236}">
                    <a16:creationId xmlns:a16="http://schemas.microsoft.com/office/drawing/2014/main" id="{9085EA07-F17B-686E-F676-BAEDD0B10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30" y="4792390"/>
                <a:ext cx="10367133" cy="854849"/>
              </a:xfrm>
              <a:prstGeom prst="rect">
                <a:avLst/>
              </a:prstGeom>
              <a:blipFill>
                <a:blip r:embed="rId3"/>
                <a:stretch>
                  <a:fillRect l="-764" t="-3571" r="-1764" b="-1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61">
            <a:extLst>
              <a:ext uri="{FF2B5EF4-FFF2-40B4-BE49-F238E27FC236}">
                <a16:creationId xmlns:a16="http://schemas.microsoft.com/office/drawing/2014/main" id="{DFFCBAF7-7420-6497-8E68-31845D58052F}"/>
              </a:ext>
            </a:extLst>
          </p:cNvPr>
          <p:cNvSpPr txBox="1"/>
          <p:nvPr/>
        </p:nvSpPr>
        <p:spPr>
          <a:xfrm>
            <a:off x="880030" y="4157780"/>
            <a:ext cx="4865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MSE is not robust to outliers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03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Loss functions in regression: MAE</a:t>
            </a:r>
          </a:p>
        </p:txBody>
      </p:sp>
      <p:sp>
        <p:nvSpPr>
          <p:cNvPr id="2" name="文本框 15">
            <a:extLst>
              <a:ext uri="{FF2B5EF4-FFF2-40B4-BE49-F238E27FC236}">
                <a16:creationId xmlns:a16="http://schemas.microsoft.com/office/drawing/2014/main" id="{D62E4A06-D32E-5030-6602-B0D38FFAFC8D}"/>
              </a:ext>
            </a:extLst>
          </p:cNvPr>
          <p:cNvSpPr txBox="1"/>
          <p:nvPr/>
        </p:nvSpPr>
        <p:spPr>
          <a:xfrm>
            <a:off x="683052" y="1620723"/>
            <a:ext cx="5039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 Mean absolute error (MAE)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17">
                <a:extLst>
                  <a:ext uri="{FF2B5EF4-FFF2-40B4-BE49-F238E27FC236}">
                    <a16:creationId xmlns:a16="http://schemas.microsoft.com/office/drawing/2014/main" id="{6C4D0BE4-5A83-E723-4854-4260B9EC2485}"/>
                  </a:ext>
                </a:extLst>
              </p:cNvPr>
              <p:cNvSpPr txBox="1"/>
              <p:nvPr/>
            </p:nvSpPr>
            <p:spPr>
              <a:xfrm>
                <a:off x="3733955" y="2113632"/>
                <a:ext cx="3604437" cy="1130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17">
                <a:extLst>
                  <a:ext uri="{FF2B5EF4-FFF2-40B4-BE49-F238E27FC236}">
                    <a16:creationId xmlns:a16="http://schemas.microsoft.com/office/drawing/2014/main" id="{6C4D0BE4-5A83-E723-4854-4260B9EC2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955" y="2113632"/>
                <a:ext cx="3604437" cy="1130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18">
            <a:extLst>
              <a:ext uri="{FF2B5EF4-FFF2-40B4-BE49-F238E27FC236}">
                <a16:creationId xmlns:a16="http://schemas.microsoft.com/office/drawing/2014/main" id="{B22A2709-8347-B75B-950A-1FFC385D5860}"/>
              </a:ext>
            </a:extLst>
          </p:cNvPr>
          <p:cNvSpPr txBox="1"/>
          <p:nvPr/>
        </p:nvSpPr>
        <p:spPr>
          <a:xfrm>
            <a:off x="1490519" y="3447963"/>
            <a:ext cx="92109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MAE is more robust to outliers 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why?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But it is not differentiable, which makes it hard to optimize.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组合 11">
            <a:extLst>
              <a:ext uri="{FF2B5EF4-FFF2-40B4-BE49-F238E27FC236}">
                <a16:creationId xmlns:a16="http://schemas.microsoft.com/office/drawing/2014/main" id="{D294985C-5560-3CA5-46F2-659DD01B6D7F}"/>
              </a:ext>
            </a:extLst>
          </p:cNvPr>
          <p:cNvGrpSpPr/>
          <p:nvPr/>
        </p:nvGrpSpPr>
        <p:grpSpPr>
          <a:xfrm>
            <a:off x="2349797" y="4655744"/>
            <a:ext cx="2469703" cy="1908544"/>
            <a:chOff x="4186504" y="1672856"/>
            <a:chExt cx="2469703" cy="1908544"/>
          </a:xfrm>
        </p:grpSpPr>
        <p:cxnSp>
          <p:nvCxnSpPr>
            <p:cNvPr id="6" name="直接箭头连接符 12">
              <a:extLst>
                <a:ext uri="{FF2B5EF4-FFF2-40B4-BE49-F238E27FC236}">
                  <a16:creationId xmlns:a16="http://schemas.microsoft.com/office/drawing/2014/main" id="{B6018C69-AF62-9D30-7D86-D575A1014D3A}"/>
                </a:ext>
              </a:extLst>
            </p:cNvPr>
            <p:cNvCxnSpPr/>
            <p:nvPr/>
          </p:nvCxnSpPr>
          <p:spPr>
            <a:xfrm>
              <a:off x="4253248" y="3363432"/>
              <a:ext cx="240295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13">
              <a:extLst>
                <a:ext uri="{FF2B5EF4-FFF2-40B4-BE49-F238E27FC236}">
                  <a16:creationId xmlns:a16="http://schemas.microsoft.com/office/drawing/2014/main" id="{D4F77FAF-3E4F-32F7-DE18-714A20148528}"/>
                </a:ext>
              </a:extLst>
            </p:cNvPr>
            <p:cNvCxnSpPr/>
            <p:nvPr/>
          </p:nvCxnSpPr>
          <p:spPr>
            <a:xfrm flipV="1">
              <a:off x="4380839" y="1672856"/>
              <a:ext cx="0" cy="190854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椭圆 19">
              <a:extLst>
                <a:ext uri="{FF2B5EF4-FFF2-40B4-BE49-F238E27FC236}">
                  <a16:creationId xmlns:a16="http://schemas.microsoft.com/office/drawing/2014/main" id="{DF45A3D8-21C2-A1EE-9E42-109A9452BED8}"/>
                </a:ext>
              </a:extLst>
            </p:cNvPr>
            <p:cNvSpPr/>
            <p:nvPr/>
          </p:nvSpPr>
          <p:spPr>
            <a:xfrm>
              <a:off x="4563022" y="288791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20">
              <a:extLst>
                <a:ext uri="{FF2B5EF4-FFF2-40B4-BE49-F238E27FC236}">
                  <a16:creationId xmlns:a16="http://schemas.microsoft.com/office/drawing/2014/main" id="{781DB76F-1EE7-E880-299C-5C6FD0247D38}"/>
                </a:ext>
              </a:extLst>
            </p:cNvPr>
            <p:cNvSpPr/>
            <p:nvPr/>
          </p:nvSpPr>
          <p:spPr>
            <a:xfrm>
              <a:off x="4886288" y="283076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22">
              <a:extLst>
                <a:ext uri="{FF2B5EF4-FFF2-40B4-BE49-F238E27FC236}">
                  <a16:creationId xmlns:a16="http://schemas.microsoft.com/office/drawing/2014/main" id="{53D0B1A2-4E9F-7C23-376C-6C74F62F03C3}"/>
                </a:ext>
              </a:extLst>
            </p:cNvPr>
            <p:cNvSpPr/>
            <p:nvPr/>
          </p:nvSpPr>
          <p:spPr>
            <a:xfrm>
              <a:off x="5039676" y="261438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23">
              <a:extLst>
                <a:ext uri="{FF2B5EF4-FFF2-40B4-BE49-F238E27FC236}">
                  <a16:creationId xmlns:a16="http://schemas.microsoft.com/office/drawing/2014/main" id="{AF628C70-6C05-5F35-F5B6-97CBE73587ED}"/>
                </a:ext>
              </a:extLst>
            </p:cNvPr>
            <p:cNvSpPr/>
            <p:nvPr/>
          </p:nvSpPr>
          <p:spPr>
            <a:xfrm>
              <a:off x="5476261" y="254260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24">
              <a:extLst>
                <a:ext uri="{FF2B5EF4-FFF2-40B4-BE49-F238E27FC236}">
                  <a16:creationId xmlns:a16="http://schemas.microsoft.com/office/drawing/2014/main" id="{67C80825-43A2-832A-FF58-DBD205D28E80}"/>
                </a:ext>
              </a:extLst>
            </p:cNvPr>
            <p:cNvSpPr/>
            <p:nvPr/>
          </p:nvSpPr>
          <p:spPr>
            <a:xfrm>
              <a:off x="5560785" y="225739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25">
              <a:extLst>
                <a:ext uri="{FF2B5EF4-FFF2-40B4-BE49-F238E27FC236}">
                  <a16:creationId xmlns:a16="http://schemas.microsoft.com/office/drawing/2014/main" id="{690AF88A-A092-3805-C23D-1DA366B8BB51}"/>
                </a:ext>
              </a:extLst>
            </p:cNvPr>
            <p:cNvSpPr/>
            <p:nvPr/>
          </p:nvSpPr>
          <p:spPr>
            <a:xfrm>
              <a:off x="5951671" y="227374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椭圆 26">
              <a:extLst>
                <a:ext uri="{FF2B5EF4-FFF2-40B4-BE49-F238E27FC236}">
                  <a16:creationId xmlns:a16="http://schemas.microsoft.com/office/drawing/2014/main" id="{58F7D067-635F-4E74-FE9F-CC1DAEED53DF}"/>
                </a:ext>
              </a:extLst>
            </p:cNvPr>
            <p:cNvSpPr/>
            <p:nvPr/>
          </p:nvSpPr>
          <p:spPr>
            <a:xfrm>
              <a:off x="6127123" y="205272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椭圆 27">
              <a:extLst>
                <a:ext uri="{FF2B5EF4-FFF2-40B4-BE49-F238E27FC236}">
                  <a16:creationId xmlns:a16="http://schemas.microsoft.com/office/drawing/2014/main" id="{FD306E31-0138-88CC-E4EF-04DC7F559777}"/>
                </a:ext>
              </a:extLst>
            </p:cNvPr>
            <p:cNvSpPr/>
            <p:nvPr/>
          </p:nvSpPr>
          <p:spPr>
            <a:xfrm>
              <a:off x="5696537" y="242543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椭圆 28">
              <a:extLst>
                <a:ext uri="{FF2B5EF4-FFF2-40B4-BE49-F238E27FC236}">
                  <a16:creationId xmlns:a16="http://schemas.microsoft.com/office/drawing/2014/main" id="{3B1C54FE-B33A-CBD5-CB8D-046455D36AF6}"/>
                </a:ext>
              </a:extLst>
            </p:cNvPr>
            <p:cNvSpPr/>
            <p:nvPr/>
          </p:nvSpPr>
          <p:spPr>
            <a:xfrm>
              <a:off x="4478498" y="311576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椭圆 29">
              <a:extLst>
                <a:ext uri="{FF2B5EF4-FFF2-40B4-BE49-F238E27FC236}">
                  <a16:creationId xmlns:a16="http://schemas.microsoft.com/office/drawing/2014/main" id="{86D2FEE7-0550-2DCF-0B5A-5FFA6D1923F3}"/>
                </a:ext>
              </a:extLst>
            </p:cNvPr>
            <p:cNvSpPr/>
            <p:nvPr/>
          </p:nvSpPr>
          <p:spPr>
            <a:xfrm>
              <a:off x="5239020" y="262084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9" name="直接连接符 30">
              <a:extLst>
                <a:ext uri="{FF2B5EF4-FFF2-40B4-BE49-F238E27FC236}">
                  <a16:creationId xmlns:a16="http://schemas.microsoft.com/office/drawing/2014/main" id="{4185884F-081A-E3A0-6DE2-EF94F4AF9F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504" y="1901278"/>
              <a:ext cx="2274474" cy="1393892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0" name="椭圆 31">
            <a:extLst>
              <a:ext uri="{FF2B5EF4-FFF2-40B4-BE49-F238E27FC236}">
                <a16:creationId xmlns:a16="http://schemas.microsoft.com/office/drawing/2014/main" id="{60E171FB-FCD5-D66F-7F4A-681E8A14C26A}"/>
              </a:ext>
            </a:extLst>
          </p:cNvPr>
          <p:cNvSpPr/>
          <p:nvPr/>
        </p:nvSpPr>
        <p:spPr>
          <a:xfrm>
            <a:off x="4558372" y="5949339"/>
            <a:ext cx="84524" cy="84524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直接箭头连接符 32">
            <a:extLst>
              <a:ext uri="{FF2B5EF4-FFF2-40B4-BE49-F238E27FC236}">
                <a16:creationId xmlns:a16="http://schemas.microsoft.com/office/drawing/2014/main" id="{B5DA26E6-7F05-14D0-21E0-67637BC197DF}"/>
              </a:ext>
            </a:extLst>
          </p:cNvPr>
          <p:cNvCxnSpPr>
            <a:cxnSpLocks/>
          </p:cNvCxnSpPr>
          <p:nvPr/>
        </p:nvCxnSpPr>
        <p:spPr>
          <a:xfrm flipH="1">
            <a:off x="4710227" y="5581112"/>
            <a:ext cx="588076" cy="368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33">
            <a:extLst>
              <a:ext uri="{FF2B5EF4-FFF2-40B4-BE49-F238E27FC236}">
                <a16:creationId xmlns:a16="http://schemas.microsoft.com/office/drawing/2014/main" id="{E7F1094B-2F99-31AB-E8C6-7B117FE95160}"/>
              </a:ext>
            </a:extLst>
          </p:cNvPr>
          <p:cNvSpPr txBox="1"/>
          <p:nvPr/>
        </p:nvSpPr>
        <p:spPr>
          <a:xfrm>
            <a:off x="5289323" y="5204990"/>
            <a:ext cx="950479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outliers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组合 34">
            <a:extLst>
              <a:ext uri="{FF2B5EF4-FFF2-40B4-BE49-F238E27FC236}">
                <a16:creationId xmlns:a16="http://schemas.microsoft.com/office/drawing/2014/main" id="{FA0D4907-23DD-12FA-E612-18465BF5BEC5}"/>
              </a:ext>
            </a:extLst>
          </p:cNvPr>
          <p:cNvGrpSpPr/>
          <p:nvPr/>
        </p:nvGrpSpPr>
        <p:grpSpPr>
          <a:xfrm>
            <a:off x="7154717" y="4613029"/>
            <a:ext cx="2400128" cy="1922585"/>
            <a:chOff x="4446942" y="4374768"/>
            <a:chExt cx="2400128" cy="1922585"/>
          </a:xfrm>
        </p:grpSpPr>
        <p:cxnSp>
          <p:nvCxnSpPr>
            <p:cNvPr id="24" name="直接箭头连接符 35">
              <a:extLst>
                <a:ext uri="{FF2B5EF4-FFF2-40B4-BE49-F238E27FC236}">
                  <a16:creationId xmlns:a16="http://schemas.microsoft.com/office/drawing/2014/main" id="{72FC5931-2F64-4198-536D-C3B5B6102CF3}"/>
                </a:ext>
              </a:extLst>
            </p:cNvPr>
            <p:cNvCxnSpPr>
              <a:cxnSpLocks/>
            </p:cNvCxnSpPr>
            <p:nvPr/>
          </p:nvCxnSpPr>
          <p:spPr>
            <a:xfrm>
              <a:off x="4446942" y="6098061"/>
              <a:ext cx="24001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36">
              <a:extLst>
                <a:ext uri="{FF2B5EF4-FFF2-40B4-BE49-F238E27FC236}">
                  <a16:creationId xmlns:a16="http://schemas.microsoft.com/office/drawing/2014/main" id="{308DB6C6-6248-4A73-6A9B-362CE63B1BB7}"/>
                </a:ext>
              </a:extLst>
            </p:cNvPr>
            <p:cNvCxnSpPr/>
            <p:nvPr/>
          </p:nvCxnSpPr>
          <p:spPr>
            <a:xfrm flipV="1">
              <a:off x="4615990" y="4374768"/>
              <a:ext cx="0" cy="19225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37">
              <a:extLst>
                <a:ext uri="{FF2B5EF4-FFF2-40B4-BE49-F238E27FC236}">
                  <a16:creationId xmlns:a16="http://schemas.microsoft.com/office/drawing/2014/main" id="{83727FD9-FFC2-FB18-1848-5CF188725BA2}"/>
                </a:ext>
              </a:extLst>
            </p:cNvPr>
            <p:cNvSpPr/>
            <p:nvPr/>
          </p:nvSpPr>
          <p:spPr>
            <a:xfrm>
              <a:off x="5329033" y="551570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椭圆 38">
              <a:extLst>
                <a:ext uri="{FF2B5EF4-FFF2-40B4-BE49-F238E27FC236}">
                  <a16:creationId xmlns:a16="http://schemas.microsoft.com/office/drawing/2014/main" id="{011D665D-D956-57EE-6FB8-8AA77792B57F}"/>
                </a:ext>
              </a:extLst>
            </p:cNvPr>
            <p:cNvSpPr/>
            <p:nvPr/>
          </p:nvSpPr>
          <p:spPr>
            <a:xfrm>
              <a:off x="5489424" y="571316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椭圆 39">
              <a:extLst>
                <a:ext uri="{FF2B5EF4-FFF2-40B4-BE49-F238E27FC236}">
                  <a16:creationId xmlns:a16="http://schemas.microsoft.com/office/drawing/2014/main" id="{0CB22366-71C1-A8B0-4A41-864A8FB1775D}"/>
                </a:ext>
              </a:extLst>
            </p:cNvPr>
            <p:cNvSpPr/>
            <p:nvPr/>
          </p:nvSpPr>
          <p:spPr>
            <a:xfrm>
              <a:off x="5397036" y="537848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椭圆 40">
              <a:extLst>
                <a:ext uri="{FF2B5EF4-FFF2-40B4-BE49-F238E27FC236}">
                  <a16:creationId xmlns:a16="http://schemas.microsoft.com/office/drawing/2014/main" id="{4026D81B-7358-34D8-CD58-9BE059BDE2C0}"/>
                </a:ext>
              </a:extLst>
            </p:cNvPr>
            <p:cNvSpPr/>
            <p:nvPr/>
          </p:nvSpPr>
          <p:spPr>
            <a:xfrm>
              <a:off x="5513899" y="532960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椭圆 41">
              <a:extLst>
                <a:ext uri="{FF2B5EF4-FFF2-40B4-BE49-F238E27FC236}">
                  <a16:creationId xmlns:a16="http://schemas.microsoft.com/office/drawing/2014/main" id="{374C122F-0A76-81AB-F6FD-049F5CD539BB}"/>
                </a:ext>
              </a:extLst>
            </p:cNvPr>
            <p:cNvSpPr/>
            <p:nvPr/>
          </p:nvSpPr>
          <p:spPr>
            <a:xfrm>
              <a:off x="5471637" y="499134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椭圆 42">
              <a:extLst>
                <a:ext uri="{FF2B5EF4-FFF2-40B4-BE49-F238E27FC236}">
                  <a16:creationId xmlns:a16="http://schemas.microsoft.com/office/drawing/2014/main" id="{3B669186-D2CE-3BD0-0E64-CE998568A671}"/>
                </a:ext>
              </a:extLst>
            </p:cNvPr>
            <p:cNvSpPr/>
            <p:nvPr/>
          </p:nvSpPr>
          <p:spPr>
            <a:xfrm>
              <a:off x="5488922" y="554598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椭圆 43">
              <a:extLst>
                <a:ext uri="{FF2B5EF4-FFF2-40B4-BE49-F238E27FC236}">
                  <a16:creationId xmlns:a16="http://schemas.microsoft.com/office/drawing/2014/main" id="{2939BB01-72FA-A04B-DAEC-D65DEB6AF2F5}"/>
                </a:ext>
              </a:extLst>
            </p:cNvPr>
            <p:cNvSpPr/>
            <p:nvPr/>
          </p:nvSpPr>
          <p:spPr>
            <a:xfrm>
              <a:off x="5350738" y="5069080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椭圆 44">
              <a:extLst>
                <a:ext uri="{FF2B5EF4-FFF2-40B4-BE49-F238E27FC236}">
                  <a16:creationId xmlns:a16="http://schemas.microsoft.com/office/drawing/2014/main" id="{CC3A5A4D-CA49-CAEC-9E9F-0F3B24A1C92C}"/>
                </a:ext>
              </a:extLst>
            </p:cNvPr>
            <p:cNvSpPr/>
            <p:nvPr/>
          </p:nvSpPr>
          <p:spPr>
            <a:xfrm>
              <a:off x="5595239" y="558664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椭圆 45">
              <a:extLst>
                <a:ext uri="{FF2B5EF4-FFF2-40B4-BE49-F238E27FC236}">
                  <a16:creationId xmlns:a16="http://schemas.microsoft.com/office/drawing/2014/main" id="{CF6AEFF1-FB40-3BFC-3E36-1AE0DC2C5953}"/>
                </a:ext>
              </a:extLst>
            </p:cNvPr>
            <p:cNvSpPr/>
            <p:nvPr/>
          </p:nvSpPr>
          <p:spPr>
            <a:xfrm>
              <a:off x="5371295" y="483379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椭圆 46">
              <a:extLst>
                <a:ext uri="{FF2B5EF4-FFF2-40B4-BE49-F238E27FC236}">
                  <a16:creationId xmlns:a16="http://schemas.microsoft.com/office/drawing/2014/main" id="{F9378325-36F0-4925-0BD3-7A89E4CF0BF3}"/>
                </a:ext>
              </a:extLst>
            </p:cNvPr>
            <p:cNvSpPr/>
            <p:nvPr/>
          </p:nvSpPr>
          <p:spPr>
            <a:xfrm>
              <a:off x="5513899" y="513347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椭圆 47">
              <a:extLst>
                <a:ext uri="{FF2B5EF4-FFF2-40B4-BE49-F238E27FC236}">
                  <a16:creationId xmlns:a16="http://schemas.microsoft.com/office/drawing/2014/main" id="{7749AE62-D88E-E115-8A51-6C4DF17BFCF2}"/>
                </a:ext>
              </a:extLst>
            </p:cNvPr>
            <p:cNvSpPr/>
            <p:nvPr/>
          </p:nvSpPr>
          <p:spPr>
            <a:xfrm>
              <a:off x="5637124" y="542713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椭圆 48">
              <a:extLst>
                <a:ext uri="{FF2B5EF4-FFF2-40B4-BE49-F238E27FC236}">
                  <a16:creationId xmlns:a16="http://schemas.microsoft.com/office/drawing/2014/main" id="{8260DD53-18B3-351D-9E71-A58865632185}"/>
                </a:ext>
              </a:extLst>
            </p:cNvPr>
            <p:cNvSpPr/>
            <p:nvPr/>
          </p:nvSpPr>
          <p:spPr>
            <a:xfrm>
              <a:off x="5531184" y="525657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椭圆 49">
              <a:extLst>
                <a:ext uri="{FF2B5EF4-FFF2-40B4-BE49-F238E27FC236}">
                  <a16:creationId xmlns:a16="http://schemas.microsoft.com/office/drawing/2014/main" id="{7D81213E-33E3-0009-FCFC-3A484AEFF52D}"/>
                </a:ext>
              </a:extLst>
            </p:cNvPr>
            <p:cNvSpPr/>
            <p:nvPr/>
          </p:nvSpPr>
          <p:spPr>
            <a:xfrm>
              <a:off x="5711411" y="540042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椭圆 50">
              <a:extLst>
                <a:ext uri="{FF2B5EF4-FFF2-40B4-BE49-F238E27FC236}">
                  <a16:creationId xmlns:a16="http://schemas.microsoft.com/office/drawing/2014/main" id="{4031F26A-E4CE-CE09-D3C6-68EC60AD927F}"/>
                </a:ext>
              </a:extLst>
            </p:cNvPr>
            <p:cNvSpPr/>
            <p:nvPr/>
          </p:nvSpPr>
          <p:spPr>
            <a:xfrm>
              <a:off x="5786776" y="559809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椭圆 51">
              <a:extLst>
                <a:ext uri="{FF2B5EF4-FFF2-40B4-BE49-F238E27FC236}">
                  <a16:creationId xmlns:a16="http://schemas.microsoft.com/office/drawing/2014/main" id="{CF48C914-AB31-C9C7-B17E-BBAA53E43859}"/>
                </a:ext>
              </a:extLst>
            </p:cNvPr>
            <p:cNvSpPr/>
            <p:nvPr/>
          </p:nvSpPr>
          <p:spPr>
            <a:xfrm>
              <a:off x="5512461" y="470509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椭圆 52">
              <a:extLst>
                <a:ext uri="{FF2B5EF4-FFF2-40B4-BE49-F238E27FC236}">
                  <a16:creationId xmlns:a16="http://schemas.microsoft.com/office/drawing/2014/main" id="{5AEB1D42-2241-AC7F-0DAD-E0417CE478D4}"/>
                </a:ext>
              </a:extLst>
            </p:cNvPr>
            <p:cNvSpPr/>
            <p:nvPr/>
          </p:nvSpPr>
          <p:spPr>
            <a:xfrm>
              <a:off x="5578862" y="502694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椭圆 53">
              <a:extLst>
                <a:ext uri="{FF2B5EF4-FFF2-40B4-BE49-F238E27FC236}">
                  <a16:creationId xmlns:a16="http://schemas.microsoft.com/office/drawing/2014/main" id="{91CFF1B5-FFF7-0C09-9466-08E682B20721}"/>
                </a:ext>
              </a:extLst>
            </p:cNvPr>
            <p:cNvSpPr/>
            <p:nvPr/>
          </p:nvSpPr>
          <p:spPr>
            <a:xfrm>
              <a:off x="5779414" y="526319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椭圆 54">
              <a:extLst>
                <a:ext uri="{FF2B5EF4-FFF2-40B4-BE49-F238E27FC236}">
                  <a16:creationId xmlns:a16="http://schemas.microsoft.com/office/drawing/2014/main" id="{6C2F9CDD-68E2-A629-2231-49CCB94AAB05}"/>
                </a:ext>
              </a:extLst>
            </p:cNvPr>
            <p:cNvSpPr/>
            <p:nvPr/>
          </p:nvSpPr>
          <p:spPr>
            <a:xfrm>
              <a:off x="5695368" y="516822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椭圆 55">
              <a:extLst>
                <a:ext uri="{FF2B5EF4-FFF2-40B4-BE49-F238E27FC236}">
                  <a16:creationId xmlns:a16="http://schemas.microsoft.com/office/drawing/2014/main" id="{96DB72AA-934E-41A3-E3EC-058ACBB570E2}"/>
                </a:ext>
              </a:extLst>
            </p:cNvPr>
            <p:cNvSpPr/>
            <p:nvPr/>
          </p:nvSpPr>
          <p:spPr>
            <a:xfrm>
              <a:off x="5896277" y="521431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椭圆 56">
              <a:extLst>
                <a:ext uri="{FF2B5EF4-FFF2-40B4-BE49-F238E27FC236}">
                  <a16:creationId xmlns:a16="http://schemas.microsoft.com/office/drawing/2014/main" id="{5F044F25-0C29-20A1-BF90-DD5215CB5579}"/>
                </a:ext>
              </a:extLst>
            </p:cNvPr>
            <p:cNvSpPr/>
            <p:nvPr/>
          </p:nvSpPr>
          <p:spPr>
            <a:xfrm>
              <a:off x="5854015" y="487605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椭圆 57">
              <a:extLst>
                <a:ext uri="{FF2B5EF4-FFF2-40B4-BE49-F238E27FC236}">
                  <a16:creationId xmlns:a16="http://schemas.microsoft.com/office/drawing/2014/main" id="{D3D192FC-430F-DD14-2F70-BBD532D67918}"/>
                </a:ext>
              </a:extLst>
            </p:cNvPr>
            <p:cNvSpPr/>
            <p:nvPr/>
          </p:nvSpPr>
          <p:spPr>
            <a:xfrm>
              <a:off x="5584712" y="483112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椭圆 58">
              <a:extLst>
                <a:ext uri="{FF2B5EF4-FFF2-40B4-BE49-F238E27FC236}">
                  <a16:creationId xmlns:a16="http://schemas.microsoft.com/office/drawing/2014/main" id="{407577BE-1AF5-1725-D18B-09B8BD1BCA01}"/>
                </a:ext>
              </a:extLst>
            </p:cNvPr>
            <p:cNvSpPr/>
            <p:nvPr/>
          </p:nvSpPr>
          <p:spPr>
            <a:xfrm>
              <a:off x="5871300" y="543069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椭圆 59">
              <a:extLst>
                <a:ext uri="{FF2B5EF4-FFF2-40B4-BE49-F238E27FC236}">
                  <a16:creationId xmlns:a16="http://schemas.microsoft.com/office/drawing/2014/main" id="{F2BD59EC-3AA4-1CDC-9908-8CC49FF227A7}"/>
                </a:ext>
              </a:extLst>
            </p:cNvPr>
            <p:cNvSpPr/>
            <p:nvPr/>
          </p:nvSpPr>
          <p:spPr>
            <a:xfrm>
              <a:off x="5733116" y="495379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椭圆 60">
              <a:extLst>
                <a:ext uri="{FF2B5EF4-FFF2-40B4-BE49-F238E27FC236}">
                  <a16:creationId xmlns:a16="http://schemas.microsoft.com/office/drawing/2014/main" id="{82DE9D8E-6033-35C9-CE9E-55521F6A49BA}"/>
                </a:ext>
              </a:extLst>
            </p:cNvPr>
            <p:cNvSpPr/>
            <p:nvPr/>
          </p:nvSpPr>
          <p:spPr>
            <a:xfrm>
              <a:off x="5977617" y="547135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椭圆 61">
              <a:extLst>
                <a:ext uri="{FF2B5EF4-FFF2-40B4-BE49-F238E27FC236}">
                  <a16:creationId xmlns:a16="http://schemas.microsoft.com/office/drawing/2014/main" id="{EBE4A4DD-E084-729D-743F-D32B21A73CC0}"/>
                </a:ext>
              </a:extLst>
            </p:cNvPr>
            <p:cNvSpPr/>
            <p:nvPr/>
          </p:nvSpPr>
          <p:spPr>
            <a:xfrm>
              <a:off x="5753673" y="471850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椭圆 62">
              <a:extLst>
                <a:ext uri="{FF2B5EF4-FFF2-40B4-BE49-F238E27FC236}">
                  <a16:creationId xmlns:a16="http://schemas.microsoft.com/office/drawing/2014/main" id="{C00CB62D-7844-58F2-BAA2-1B3C2F188D48}"/>
                </a:ext>
              </a:extLst>
            </p:cNvPr>
            <p:cNvSpPr/>
            <p:nvPr/>
          </p:nvSpPr>
          <p:spPr>
            <a:xfrm>
              <a:off x="5896277" y="5018190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椭圆 63">
              <a:extLst>
                <a:ext uri="{FF2B5EF4-FFF2-40B4-BE49-F238E27FC236}">
                  <a16:creationId xmlns:a16="http://schemas.microsoft.com/office/drawing/2014/main" id="{D14355B2-911E-5A5B-A70F-14D9E802EED7}"/>
                </a:ext>
              </a:extLst>
            </p:cNvPr>
            <p:cNvSpPr/>
            <p:nvPr/>
          </p:nvSpPr>
          <p:spPr>
            <a:xfrm>
              <a:off x="6019502" y="531184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椭圆 64">
              <a:extLst>
                <a:ext uri="{FF2B5EF4-FFF2-40B4-BE49-F238E27FC236}">
                  <a16:creationId xmlns:a16="http://schemas.microsoft.com/office/drawing/2014/main" id="{E81F281D-B7A2-7785-1870-529FA7728C63}"/>
                </a:ext>
              </a:extLst>
            </p:cNvPr>
            <p:cNvSpPr/>
            <p:nvPr/>
          </p:nvSpPr>
          <p:spPr>
            <a:xfrm>
              <a:off x="4785039" y="5789690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4" name="直接箭头连接符 65">
            <a:extLst>
              <a:ext uri="{FF2B5EF4-FFF2-40B4-BE49-F238E27FC236}">
                <a16:creationId xmlns:a16="http://schemas.microsoft.com/office/drawing/2014/main" id="{08FB00FB-39BB-A399-108D-3218393AA550}"/>
              </a:ext>
            </a:extLst>
          </p:cNvPr>
          <p:cNvCxnSpPr>
            <a:cxnSpLocks/>
          </p:cNvCxnSpPr>
          <p:nvPr/>
        </p:nvCxnSpPr>
        <p:spPr>
          <a:xfrm>
            <a:off x="6242768" y="5583039"/>
            <a:ext cx="1180384" cy="452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811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Loss functions in classification</a:t>
            </a:r>
          </a:p>
        </p:txBody>
      </p:sp>
      <p:sp>
        <p:nvSpPr>
          <p:cNvPr id="2" name="文本框 6">
            <a:extLst>
              <a:ext uri="{FF2B5EF4-FFF2-40B4-BE49-F238E27FC236}">
                <a16:creationId xmlns:a16="http://schemas.microsoft.com/office/drawing/2014/main" id="{7D07E4A1-C39D-3DCD-5C4A-9C8F05F21DC5}"/>
              </a:ext>
            </a:extLst>
          </p:cNvPr>
          <p:cNvSpPr txBox="1"/>
          <p:nvPr/>
        </p:nvSpPr>
        <p:spPr>
          <a:xfrm>
            <a:off x="408374" y="1664947"/>
            <a:ext cx="5018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 Binary cross entropy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7">
                <a:extLst>
                  <a:ext uri="{FF2B5EF4-FFF2-40B4-BE49-F238E27FC236}">
                    <a16:creationId xmlns:a16="http://schemas.microsoft.com/office/drawing/2014/main" id="{DD76B12D-292D-4DA5-03B7-1FCF5D2CA22D}"/>
                  </a:ext>
                </a:extLst>
              </p:cNvPr>
              <p:cNvSpPr txBox="1"/>
              <p:nvPr/>
            </p:nvSpPr>
            <p:spPr>
              <a:xfrm>
                <a:off x="977037" y="2857544"/>
                <a:ext cx="6023301" cy="84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400" i="0">
                              <a:latin typeface="Cambria Math" panose="02040503050406030204" pitchFamily="18" charset="0"/>
                            </a:rPr>
                            <m:t>log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7">
                <a:extLst>
                  <a:ext uri="{FF2B5EF4-FFF2-40B4-BE49-F238E27FC236}">
                    <a16:creationId xmlns:a16="http://schemas.microsoft.com/office/drawing/2014/main" id="{DD76B12D-292D-4DA5-03B7-1FCF5D2CA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037" y="2857544"/>
                <a:ext cx="6023301" cy="84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8">
            <a:extLst>
              <a:ext uri="{FF2B5EF4-FFF2-40B4-BE49-F238E27FC236}">
                <a16:creationId xmlns:a16="http://schemas.microsoft.com/office/drawing/2014/main" id="{4BB404BD-0949-649E-9D13-EAA4FFFF51C1}"/>
              </a:ext>
            </a:extLst>
          </p:cNvPr>
          <p:cNvSpPr txBox="1"/>
          <p:nvPr/>
        </p:nvSpPr>
        <p:spPr>
          <a:xfrm>
            <a:off x="809747" y="5797481"/>
            <a:ext cx="8229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Cross entropy is differentiable (easier to optimize).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However, it has multiple local minima.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9">
            <a:extLst>
              <a:ext uri="{FF2B5EF4-FFF2-40B4-BE49-F238E27FC236}">
                <a16:creationId xmlns:a16="http://schemas.microsoft.com/office/drawing/2014/main" id="{474CA91C-E353-BADA-CADD-9595A1403353}"/>
              </a:ext>
            </a:extLst>
          </p:cNvPr>
          <p:cNvSpPr txBox="1"/>
          <p:nvPr/>
        </p:nvSpPr>
        <p:spPr>
          <a:xfrm>
            <a:off x="408374" y="3796433"/>
            <a:ext cx="5039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 Categorical cross entropy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1">
                <a:extLst>
                  <a:ext uri="{FF2B5EF4-FFF2-40B4-BE49-F238E27FC236}">
                    <a16:creationId xmlns:a16="http://schemas.microsoft.com/office/drawing/2014/main" id="{2E3D857D-06B7-B561-BCD2-E24CC31CE4AB}"/>
                  </a:ext>
                </a:extLst>
              </p:cNvPr>
              <p:cNvSpPr txBox="1"/>
              <p:nvPr/>
            </p:nvSpPr>
            <p:spPr>
              <a:xfrm>
                <a:off x="977037" y="4952762"/>
                <a:ext cx="4547347" cy="613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⁡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11">
                <a:extLst>
                  <a:ext uri="{FF2B5EF4-FFF2-40B4-BE49-F238E27FC236}">
                    <a16:creationId xmlns:a16="http://schemas.microsoft.com/office/drawing/2014/main" id="{2E3D857D-06B7-B561-BCD2-E24CC31CE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037" y="4952762"/>
                <a:ext cx="4547347" cy="613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2">
            <a:extLst>
              <a:ext uri="{FF2B5EF4-FFF2-40B4-BE49-F238E27FC236}">
                <a16:creationId xmlns:a16="http://schemas.microsoft.com/office/drawing/2014/main" id="{5117654C-86AA-82F1-BE19-9236E2D9986D}"/>
              </a:ext>
            </a:extLst>
          </p:cNvPr>
          <p:cNvSpPr txBox="1"/>
          <p:nvPr/>
        </p:nvSpPr>
        <p:spPr>
          <a:xfrm>
            <a:off x="716285" y="2060881"/>
            <a:ext cx="10041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Binary cross entropy is applied when the number of categories is 2.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14">
            <a:extLst>
              <a:ext uri="{FF2B5EF4-FFF2-40B4-BE49-F238E27FC236}">
                <a16:creationId xmlns:a16="http://schemas.microsoft.com/office/drawing/2014/main" id="{1B1E9B29-1B5E-E15E-5D5F-259A4DF74BD3}"/>
              </a:ext>
            </a:extLst>
          </p:cNvPr>
          <p:cNvSpPr txBox="1"/>
          <p:nvPr/>
        </p:nvSpPr>
        <p:spPr>
          <a:xfrm>
            <a:off x="716285" y="4257384"/>
            <a:ext cx="8875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Categorical cross entropy is used for multiclass classification.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658613-4698-BA6F-1266-2D129B453DB6}"/>
                  </a:ext>
                </a:extLst>
              </p:cNvPr>
              <p:cNvSpPr txBox="1"/>
              <p:nvPr/>
            </p:nvSpPr>
            <p:spPr>
              <a:xfrm>
                <a:off x="6963091" y="5041972"/>
                <a:ext cx="4718685" cy="461665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：</a:t>
                </a:r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number of categories.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658613-4698-BA6F-1266-2D129B453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091" y="5041972"/>
                <a:ext cx="4718685" cy="461665"/>
              </a:xfrm>
              <a:prstGeom prst="rect">
                <a:avLst/>
              </a:prstGeom>
              <a:blipFill>
                <a:blip r:embed="rId5"/>
                <a:stretch>
                  <a:fillRect l="-129" t="-10256" b="-2820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箭头连接符 15">
            <a:extLst>
              <a:ext uri="{FF2B5EF4-FFF2-40B4-BE49-F238E27FC236}">
                <a16:creationId xmlns:a16="http://schemas.microsoft.com/office/drawing/2014/main" id="{D262D823-43EE-8CAB-457C-4976F72D0699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4642867" y="5272805"/>
            <a:ext cx="23202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4">
                <a:extLst>
                  <a:ext uri="{FF2B5EF4-FFF2-40B4-BE49-F238E27FC236}">
                    <a16:creationId xmlns:a16="http://schemas.microsoft.com/office/drawing/2014/main" id="{EF45CE00-C6EB-2873-A1D1-52D5095B3D24}"/>
                  </a:ext>
                </a:extLst>
              </p:cNvPr>
              <p:cNvSpPr txBox="1"/>
              <p:nvPr/>
            </p:nvSpPr>
            <p:spPr>
              <a:xfrm>
                <a:off x="7675315" y="3074140"/>
                <a:ext cx="4019570" cy="461665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：</a:t>
                </a:r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number of samples.</a:t>
                </a:r>
              </a:p>
            </p:txBody>
          </p:sp>
        </mc:Choice>
        <mc:Fallback xmlns="">
          <p:sp>
            <p:nvSpPr>
              <p:cNvPr id="12" name="TextBox 4">
                <a:extLst>
                  <a:ext uri="{FF2B5EF4-FFF2-40B4-BE49-F238E27FC236}">
                    <a16:creationId xmlns:a16="http://schemas.microsoft.com/office/drawing/2014/main" id="{EF45CE00-C6EB-2873-A1D1-52D5095B3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315" y="3074140"/>
                <a:ext cx="4019570" cy="461665"/>
              </a:xfrm>
              <a:prstGeom prst="rect">
                <a:avLst/>
              </a:prstGeom>
              <a:blipFill>
                <a:blip r:embed="rId6"/>
                <a:stretch>
                  <a:fillRect l="-151" t="-10256" b="-2820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20">
            <a:extLst>
              <a:ext uri="{FF2B5EF4-FFF2-40B4-BE49-F238E27FC236}">
                <a16:creationId xmlns:a16="http://schemas.microsoft.com/office/drawing/2014/main" id="{53406667-E9EC-E737-1C93-9A7F971C34EE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7109927" y="3304973"/>
            <a:ext cx="565388" cy="2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96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DBD418-FB4F-40BA-AFFE-747241C8D7B8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E77EFFBB-C484-451A-8388-58AA8D01F9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4B9A99-71EB-4D9F-8CDB-5772C480E6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1905</TotalTime>
  <Words>456</Words>
  <Application>Microsoft Office PowerPoint</Application>
  <PresentationFormat>Widescreen</PresentationFormat>
  <Paragraphs>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Fundamental Concepts in Machine Learning Model Training (1)</vt:lpstr>
      <vt:lpstr>Supervised learning flow</vt:lpstr>
      <vt:lpstr>Hyperparameters vs. model parameters </vt:lpstr>
      <vt:lpstr>Loss function</vt:lpstr>
      <vt:lpstr>Model training</vt:lpstr>
      <vt:lpstr>Loss functions in regression: MSE</vt:lpstr>
      <vt:lpstr>Loss functions in regression: MSE</vt:lpstr>
      <vt:lpstr>Loss functions in regression: MAE</vt:lpstr>
      <vt:lpstr>Loss functions in classification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71</cp:revision>
  <dcterms:created xsi:type="dcterms:W3CDTF">2021-01-06T14:22:07Z</dcterms:created>
  <dcterms:modified xsi:type="dcterms:W3CDTF">2024-07-08T15:30:26Z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