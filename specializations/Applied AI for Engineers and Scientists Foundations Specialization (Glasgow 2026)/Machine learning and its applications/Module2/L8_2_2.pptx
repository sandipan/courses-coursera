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7" r:id="rId7"/>
    <p:sldId id="498" r:id="rId8"/>
    <p:sldId id="496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 autoAdjust="0"/>
    <p:restoredTop sz="96327"/>
  </p:normalViewPr>
  <p:slideViewPr>
    <p:cSldViewPr snapToGrid="0">
      <p:cViewPr varScale="1">
        <p:scale>
          <a:sx n="152" d="100"/>
          <a:sy n="152" d="100"/>
        </p:scale>
        <p:origin x="124" y="188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03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59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36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81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878320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Fundamental Concepts in Machine Learning Model Evaluation (2)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Bias-variance trade-off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762F773A-583B-8235-F46B-5C4F4B3BBB99}"/>
              </a:ext>
            </a:extLst>
          </p:cNvPr>
          <p:cNvSpPr txBox="1"/>
          <p:nvPr/>
        </p:nvSpPr>
        <p:spPr>
          <a:xfrm>
            <a:off x="357090" y="2839287"/>
            <a:ext cx="11564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good balance between bias and variance such that it minimizes the total error.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3">
            <a:extLst>
              <a:ext uri="{FF2B5EF4-FFF2-40B4-BE49-F238E27FC236}">
                <a16:creationId xmlns:a16="http://schemas.microsoft.com/office/drawing/2014/main" id="{1233194D-3591-9B90-D087-33F28304C35B}"/>
              </a:ext>
            </a:extLst>
          </p:cNvPr>
          <p:cNvSpPr txBox="1"/>
          <p:nvPr/>
        </p:nvSpPr>
        <p:spPr>
          <a:xfrm>
            <a:off x="357090" y="1579480"/>
            <a:ext cx="87705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altLang="zh-CN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escaping the relationship between bias and variance: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Increasing the bias will decrease the variance.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Increasing the variance will decrease the bias.</a:t>
            </a: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3BCC5A9A-42E6-44C3-70D5-6D948E62F79C}"/>
              </a:ext>
            </a:extLst>
          </p:cNvPr>
          <p:cNvSpPr txBox="1"/>
          <p:nvPr/>
        </p:nvSpPr>
        <p:spPr>
          <a:xfrm>
            <a:off x="6841795" y="6177633"/>
            <a:ext cx="3353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Algorithm complexity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1">
            <a:extLst>
              <a:ext uri="{FF2B5EF4-FFF2-40B4-BE49-F238E27FC236}">
                <a16:creationId xmlns:a16="http://schemas.microsoft.com/office/drawing/2014/main" id="{AE6BA4F4-799F-C191-3367-6A5D40A0152E}"/>
              </a:ext>
            </a:extLst>
          </p:cNvPr>
          <p:cNvSpPr txBox="1"/>
          <p:nvPr/>
        </p:nvSpPr>
        <p:spPr>
          <a:xfrm>
            <a:off x="3846204" y="3521183"/>
            <a:ext cx="904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箭头连接符 4">
            <a:extLst>
              <a:ext uri="{FF2B5EF4-FFF2-40B4-BE49-F238E27FC236}">
                <a16:creationId xmlns:a16="http://schemas.microsoft.com/office/drawing/2014/main" id="{A0FF286A-9205-3708-7AE8-C53753BEA4A6}"/>
              </a:ext>
            </a:extLst>
          </p:cNvPr>
          <p:cNvCxnSpPr>
            <a:cxnSpLocks/>
          </p:cNvCxnSpPr>
          <p:nvPr/>
        </p:nvCxnSpPr>
        <p:spPr>
          <a:xfrm>
            <a:off x="4482341" y="6168695"/>
            <a:ext cx="53171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7">
            <a:extLst>
              <a:ext uri="{FF2B5EF4-FFF2-40B4-BE49-F238E27FC236}">
                <a16:creationId xmlns:a16="http://schemas.microsoft.com/office/drawing/2014/main" id="{CD17C2DA-73D8-9893-F72C-62A4E3FE3C34}"/>
              </a:ext>
            </a:extLst>
          </p:cNvPr>
          <p:cNvCxnSpPr/>
          <p:nvPr/>
        </p:nvCxnSpPr>
        <p:spPr>
          <a:xfrm flipV="1">
            <a:off x="4750705" y="3500772"/>
            <a:ext cx="0" cy="28863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15">
            <a:extLst>
              <a:ext uri="{FF2B5EF4-FFF2-40B4-BE49-F238E27FC236}">
                <a16:creationId xmlns:a16="http://schemas.microsoft.com/office/drawing/2014/main" id="{78A9914C-9B5B-0CDE-3E64-C68E87E36852}"/>
              </a:ext>
            </a:extLst>
          </p:cNvPr>
          <p:cNvSpPr/>
          <p:nvPr/>
        </p:nvSpPr>
        <p:spPr>
          <a:xfrm>
            <a:off x="5190339" y="4144100"/>
            <a:ext cx="4114454" cy="1715541"/>
          </a:xfrm>
          <a:custGeom>
            <a:avLst/>
            <a:gdLst>
              <a:gd name="connsiteX0" fmla="*/ 0 w 4112304"/>
              <a:gd name="connsiteY0" fmla="*/ 0 h 1613647"/>
              <a:gd name="connsiteX1" fmla="*/ 330413 w 4112304"/>
              <a:gd name="connsiteY1" fmla="*/ 530198 h 1613647"/>
              <a:gd name="connsiteX2" fmla="*/ 906716 w 4112304"/>
              <a:gd name="connsiteY2" fmla="*/ 1021976 h 1613647"/>
              <a:gd name="connsiteX3" fmla="*/ 1567543 w 4112304"/>
              <a:gd name="connsiteY3" fmla="*/ 1275549 h 1613647"/>
              <a:gd name="connsiteX4" fmla="*/ 2581835 w 4112304"/>
              <a:gd name="connsiteY4" fmla="*/ 1475334 h 1613647"/>
              <a:gd name="connsiteX5" fmla="*/ 3480867 w 4112304"/>
              <a:gd name="connsiteY5" fmla="*/ 1582911 h 1613647"/>
              <a:gd name="connsiteX6" fmla="*/ 4049485 w 4112304"/>
              <a:gd name="connsiteY6" fmla="*/ 1605963 h 1613647"/>
              <a:gd name="connsiteX7" fmla="*/ 4072538 w 4112304"/>
              <a:gd name="connsiteY7" fmla="*/ 1613647 h 161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2304" h="1613647">
                <a:moveTo>
                  <a:pt x="0" y="0"/>
                </a:moveTo>
                <a:cubicBezTo>
                  <a:pt x="89647" y="179934"/>
                  <a:pt x="179294" y="359869"/>
                  <a:pt x="330413" y="530198"/>
                </a:cubicBezTo>
                <a:cubicBezTo>
                  <a:pt x="481532" y="700527"/>
                  <a:pt x="700528" y="897751"/>
                  <a:pt x="906716" y="1021976"/>
                </a:cubicBezTo>
                <a:cubicBezTo>
                  <a:pt x="1112904" y="1146201"/>
                  <a:pt x="1288357" y="1199989"/>
                  <a:pt x="1567543" y="1275549"/>
                </a:cubicBezTo>
                <a:cubicBezTo>
                  <a:pt x="1846729" y="1351109"/>
                  <a:pt x="2262948" y="1424107"/>
                  <a:pt x="2581835" y="1475334"/>
                </a:cubicBezTo>
                <a:cubicBezTo>
                  <a:pt x="2900722" y="1526561"/>
                  <a:pt x="3236259" y="1561140"/>
                  <a:pt x="3480867" y="1582911"/>
                </a:cubicBezTo>
                <a:cubicBezTo>
                  <a:pt x="3725475" y="1604682"/>
                  <a:pt x="3950873" y="1600840"/>
                  <a:pt x="4049485" y="1605963"/>
                </a:cubicBezTo>
                <a:cubicBezTo>
                  <a:pt x="4148097" y="1611086"/>
                  <a:pt x="4110317" y="1612366"/>
                  <a:pt x="4072538" y="1613647"/>
                </a:cubicBezTo>
              </a:path>
            </a:pathLst>
          </a:cu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任意多边形: 形状 16">
            <a:extLst>
              <a:ext uri="{FF2B5EF4-FFF2-40B4-BE49-F238E27FC236}">
                <a16:creationId xmlns:a16="http://schemas.microsoft.com/office/drawing/2014/main" id="{9D84271E-7C82-EC7D-4E84-4F4D8A13A405}"/>
              </a:ext>
            </a:extLst>
          </p:cNvPr>
          <p:cNvSpPr/>
          <p:nvPr/>
        </p:nvSpPr>
        <p:spPr>
          <a:xfrm>
            <a:off x="5269739" y="4070576"/>
            <a:ext cx="4014186" cy="1952449"/>
          </a:xfrm>
          <a:custGeom>
            <a:avLst/>
            <a:gdLst>
              <a:gd name="connsiteX0" fmla="*/ 3496235 w 3496235"/>
              <a:gd name="connsiteY0" fmla="*/ 0 h 1836484"/>
              <a:gd name="connsiteX1" fmla="*/ 3311818 w 3496235"/>
              <a:gd name="connsiteY1" fmla="*/ 468726 h 1836484"/>
              <a:gd name="connsiteX2" fmla="*/ 3035193 w 3496235"/>
              <a:gd name="connsiteY2" fmla="*/ 814508 h 1836484"/>
              <a:gd name="connsiteX3" fmla="*/ 2435839 w 3496235"/>
              <a:gd name="connsiteY3" fmla="*/ 1167973 h 1836484"/>
              <a:gd name="connsiteX4" fmla="*/ 1874904 w 3496235"/>
              <a:gd name="connsiteY4" fmla="*/ 1367758 h 1836484"/>
              <a:gd name="connsiteX5" fmla="*/ 1221761 w 3496235"/>
              <a:gd name="connsiteY5" fmla="*/ 1552175 h 1836484"/>
              <a:gd name="connsiteX6" fmla="*/ 307361 w 3496235"/>
              <a:gd name="connsiteY6" fmla="*/ 1782696 h 1836484"/>
              <a:gd name="connsiteX7" fmla="*/ 0 w 3496235"/>
              <a:gd name="connsiteY7" fmla="*/ 1836484 h 1836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235" h="1836484">
                <a:moveTo>
                  <a:pt x="3496235" y="0"/>
                </a:moveTo>
                <a:cubicBezTo>
                  <a:pt x="3442446" y="166487"/>
                  <a:pt x="3388658" y="332975"/>
                  <a:pt x="3311818" y="468726"/>
                </a:cubicBezTo>
                <a:cubicBezTo>
                  <a:pt x="3234978" y="604477"/>
                  <a:pt x="3181189" y="697967"/>
                  <a:pt x="3035193" y="814508"/>
                </a:cubicBezTo>
                <a:cubicBezTo>
                  <a:pt x="2889197" y="931049"/>
                  <a:pt x="2629220" y="1075765"/>
                  <a:pt x="2435839" y="1167973"/>
                </a:cubicBezTo>
                <a:cubicBezTo>
                  <a:pt x="2242457" y="1260181"/>
                  <a:pt x="2077250" y="1303724"/>
                  <a:pt x="1874904" y="1367758"/>
                </a:cubicBezTo>
                <a:cubicBezTo>
                  <a:pt x="1672558" y="1431792"/>
                  <a:pt x="1483018" y="1483019"/>
                  <a:pt x="1221761" y="1552175"/>
                </a:cubicBezTo>
                <a:cubicBezTo>
                  <a:pt x="960504" y="1621331"/>
                  <a:pt x="510988" y="1735311"/>
                  <a:pt x="307361" y="1782696"/>
                </a:cubicBezTo>
                <a:cubicBezTo>
                  <a:pt x="103734" y="1830081"/>
                  <a:pt x="51867" y="1833282"/>
                  <a:pt x="0" y="1836484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任意多边形: 形状 20">
            <a:extLst>
              <a:ext uri="{FF2B5EF4-FFF2-40B4-BE49-F238E27FC236}">
                <a16:creationId xmlns:a16="http://schemas.microsoft.com/office/drawing/2014/main" id="{23929B16-AC79-82AE-FF47-F582FD0F7EE3}"/>
              </a:ext>
            </a:extLst>
          </p:cNvPr>
          <p:cNvSpPr/>
          <p:nvPr/>
        </p:nvSpPr>
        <p:spPr>
          <a:xfrm rot="256195">
            <a:off x="5169471" y="3710528"/>
            <a:ext cx="4114453" cy="1399604"/>
          </a:xfrm>
          <a:custGeom>
            <a:avLst/>
            <a:gdLst>
              <a:gd name="connsiteX0" fmla="*/ 0 w 3601307"/>
              <a:gd name="connsiteY0" fmla="*/ 237991 h 1317681"/>
              <a:gd name="connsiteX1" fmla="*/ 303087 w 3601307"/>
              <a:gd name="connsiteY1" fmla="*/ 582175 h 1317681"/>
              <a:gd name="connsiteX2" fmla="*/ 647272 w 3601307"/>
              <a:gd name="connsiteY2" fmla="*/ 910948 h 1317681"/>
              <a:gd name="connsiteX3" fmla="*/ 1155842 w 3601307"/>
              <a:gd name="connsiteY3" fmla="*/ 1193488 h 1317681"/>
              <a:gd name="connsiteX4" fmla="*/ 1720921 w 3601307"/>
              <a:gd name="connsiteY4" fmla="*/ 1316778 h 1317681"/>
              <a:gd name="connsiteX5" fmla="*/ 2234629 w 3601307"/>
              <a:gd name="connsiteY5" fmla="*/ 1234584 h 1317681"/>
              <a:gd name="connsiteX6" fmla="*/ 2676418 w 3601307"/>
              <a:gd name="connsiteY6" fmla="*/ 977730 h 1317681"/>
              <a:gd name="connsiteX7" fmla="*/ 2979505 w 3601307"/>
              <a:gd name="connsiteY7" fmla="*/ 664369 h 1317681"/>
              <a:gd name="connsiteX8" fmla="*/ 3282593 w 3601307"/>
              <a:gd name="connsiteY8" fmla="*/ 320184 h 1317681"/>
              <a:gd name="connsiteX9" fmla="*/ 3549721 w 3601307"/>
              <a:gd name="connsiteY9" fmla="*/ 47919 h 1317681"/>
              <a:gd name="connsiteX10" fmla="*/ 3601092 w 3601307"/>
              <a:gd name="connsiteY10" fmla="*/ 1686 h 1317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01307" h="1317681">
                <a:moveTo>
                  <a:pt x="0" y="237991"/>
                </a:moveTo>
                <a:cubicBezTo>
                  <a:pt x="97604" y="354003"/>
                  <a:pt x="195208" y="470016"/>
                  <a:pt x="303087" y="582175"/>
                </a:cubicBezTo>
                <a:cubicBezTo>
                  <a:pt x="410966" y="694334"/>
                  <a:pt x="505146" y="809063"/>
                  <a:pt x="647272" y="910948"/>
                </a:cubicBezTo>
                <a:cubicBezTo>
                  <a:pt x="789398" y="1012833"/>
                  <a:pt x="976901" y="1125850"/>
                  <a:pt x="1155842" y="1193488"/>
                </a:cubicBezTo>
                <a:cubicBezTo>
                  <a:pt x="1334784" y="1261126"/>
                  <a:pt x="1541123" y="1309929"/>
                  <a:pt x="1720921" y="1316778"/>
                </a:cubicBezTo>
                <a:cubicBezTo>
                  <a:pt x="1900719" y="1323627"/>
                  <a:pt x="2075380" y="1291092"/>
                  <a:pt x="2234629" y="1234584"/>
                </a:cubicBezTo>
                <a:cubicBezTo>
                  <a:pt x="2393879" y="1178076"/>
                  <a:pt x="2552272" y="1072766"/>
                  <a:pt x="2676418" y="977730"/>
                </a:cubicBezTo>
                <a:cubicBezTo>
                  <a:pt x="2800564" y="882694"/>
                  <a:pt x="2878476" y="773960"/>
                  <a:pt x="2979505" y="664369"/>
                </a:cubicBezTo>
                <a:cubicBezTo>
                  <a:pt x="3080534" y="554778"/>
                  <a:pt x="3187557" y="422926"/>
                  <a:pt x="3282593" y="320184"/>
                </a:cubicBezTo>
                <a:cubicBezTo>
                  <a:pt x="3377629" y="217442"/>
                  <a:pt x="3496638" y="101002"/>
                  <a:pt x="3549721" y="47919"/>
                </a:cubicBezTo>
                <a:cubicBezTo>
                  <a:pt x="3602804" y="-5164"/>
                  <a:pt x="3601948" y="-1739"/>
                  <a:pt x="3601092" y="1686"/>
                </a:cubicBezTo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24">
                <a:extLst>
                  <a:ext uri="{FF2B5EF4-FFF2-40B4-BE49-F238E27FC236}">
                    <a16:creationId xmlns:a16="http://schemas.microsoft.com/office/drawing/2014/main" id="{1FC8F144-9253-1B45-C784-D69C9AC2160C}"/>
                  </a:ext>
                </a:extLst>
              </p:cNvPr>
              <p:cNvSpPr txBox="1"/>
              <p:nvPr/>
            </p:nvSpPr>
            <p:spPr>
              <a:xfrm>
                <a:off x="5030554" y="5112221"/>
                <a:ext cx="8551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24">
                <a:extLst>
                  <a:ext uri="{FF2B5EF4-FFF2-40B4-BE49-F238E27FC236}">
                    <a16:creationId xmlns:a16="http://schemas.microsoft.com/office/drawing/2014/main" id="{1FC8F144-9253-1B45-C784-D69C9AC21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554" y="5112221"/>
                <a:ext cx="855147" cy="461665"/>
              </a:xfrm>
              <a:prstGeom prst="rect">
                <a:avLst/>
              </a:prstGeom>
              <a:blipFill>
                <a:blip r:embed="rId3"/>
                <a:stretch>
                  <a:fillRect l="-1418" r="-7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25">
                <a:extLst>
                  <a:ext uri="{FF2B5EF4-FFF2-40B4-BE49-F238E27FC236}">
                    <a16:creationId xmlns:a16="http://schemas.microsoft.com/office/drawing/2014/main" id="{15DD4B89-473F-4BBF-F557-1E492BF452F1}"/>
                  </a:ext>
                </a:extLst>
              </p:cNvPr>
              <p:cNvSpPr txBox="1"/>
              <p:nvPr/>
            </p:nvSpPr>
            <p:spPr>
              <a:xfrm>
                <a:off x="8758422" y="4908924"/>
                <a:ext cx="14371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𝑉𝑎𝑟𝑖𝑎𝑛𝑐𝑒</m:t>
                      </m:r>
                    </m:oMath>
                  </m:oMathPara>
                </a14:m>
                <a:endParaRPr lang="zh-CN" altLang="en-US" sz="2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25">
                <a:extLst>
                  <a:ext uri="{FF2B5EF4-FFF2-40B4-BE49-F238E27FC236}">
                    <a16:creationId xmlns:a16="http://schemas.microsoft.com/office/drawing/2014/main" id="{15DD4B89-473F-4BBF-F557-1E492BF45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422" y="4908924"/>
                <a:ext cx="1437116" cy="461665"/>
              </a:xfrm>
              <a:prstGeom prst="rect">
                <a:avLst/>
              </a:prstGeom>
              <a:blipFill>
                <a:blip r:embed="rId4"/>
                <a:stretch>
                  <a:fillRect l="-851" r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26">
                <a:extLst>
                  <a:ext uri="{FF2B5EF4-FFF2-40B4-BE49-F238E27FC236}">
                    <a16:creationId xmlns:a16="http://schemas.microsoft.com/office/drawing/2014/main" id="{96529537-0E71-2A25-FFCA-E487869C08B3}"/>
                  </a:ext>
                </a:extLst>
              </p:cNvPr>
              <p:cNvSpPr txBox="1"/>
              <p:nvPr/>
            </p:nvSpPr>
            <p:spPr>
              <a:xfrm>
                <a:off x="8838861" y="3377414"/>
                <a:ext cx="17276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26">
                <a:extLst>
                  <a:ext uri="{FF2B5EF4-FFF2-40B4-BE49-F238E27FC236}">
                    <a16:creationId xmlns:a16="http://schemas.microsoft.com/office/drawing/2014/main" id="{96529537-0E71-2A25-FFCA-E487869C0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861" y="3377414"/>
                <a:ext cx="1727656" cy="461665"/>
              </a:xfrm>
              <a:prstGeom prst="rect">
                <a:avLst/>
              </a:prstGeom>
              <a:blipFill>
                <a:blip r:embed="rId5"/>
                <a:stretch>
                  <a:fillRect l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28">
            <a:extLst>
              <a:ext uri="{FF2B5EF4-FFF2-40B4-BE49-F238E27FC236}">
                <a16:creationId xmlns:a16="http://schemas.microsoft.com/office/drawing/2014/main" id="{1BABE2F9-AF9D-F769-2C96-24DE8BA75DB9}"/>
              </a:ext>
            </a:extLst>
          </p:cNvPr>
          <p:cNvCxnSpPr>
            <a:cxnSpLocks/>
          </p:cNvCxnSpPr>
          <p:nvPr/>
        </p:nvCxnSpPr>
        <p:spPr>
          <a:xfrm>
            <a:off x="7161447" y="4144100"/>
            <a:ext cx="0" cy="1878925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31">
            <a:extLst>
              <a:ext uri="{FF2B5EF4-FFF2-40B4-BE49-F238E27FC236}">
                <a16:creationId xmlns:a16="http://schemas.microsoft.com/office/drawing/2014/main" id="{1CFF0E41-6649-9772-4604-B4927D7D1016}"/>
              </a:ext>
            </a:extLst>
          </p:cNvPr>
          <p:cNvSpPr txBox="1"/>
          <p:nvPr/>
        </p:nvSpPr>
        <p:spPr>
          <a:xfrm>
            <a:off x="5973851" y="3536076"/>
            <a:ext cx="2466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Optimal balance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33">
            <a:extLst>
              <a:ext uri="{FF2B5EF4-FFF2-40B4-BE49-F238E27FC236}">
                <a16:creationId xmlns:a16="http://schemas.microsoft.com/office/drawing/2014/main" id="{C6EB6218-07E5-0027-383D-F60C85EE52DD}"/>
              </a:ext>
            </a:extLst>
          </p:cNvPr>
          <p:cNvSpPr txBox="1"/>
          <p:nvPr/>
        </p:nvSpPr>
        <p:spPr>
          <a:xfrm>
            <a:off x="331852" y="4480559"/>
            <a:ext cx="3941803" cy="83099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Optimal balance never overfit or underfit the model.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0" grpId="0" animBg="1"/>
      <p:bldP spid="11" grpId="0" animBg="1"/>
      <p:bldP spid="12" grpId="0"/>
      <p:bldP spid="13" grpId="0"/>
      <p:bldP spid="14" grpId="0"/>
      <p:bldP spid="16" grpId="0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Bias-variance trade-off: linear regression</a:t>
            </a:r>
          </a:p>
        </p:txBody>
      </p:sp>
      <p:pic>
        <p:nvPicPr>
          <p:cNvPr id="2" name="图片 8">
            <a:extLst>
              <a:ext uri="{FF2B5EF4-FFF2-40B4-BE49-F238E27FC236}">
                <a16:creationId xmlns:a16="http://schemas.microsoft.com/office/drawing/2014/main" id="{0B654241-9B9E-A6AC-3DA4-8AC8E185C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95" y="2094330"/>
            <a:ext cx="4263709" cy="3543616"/>
          </a:xfrm>
          <a:prstGeom prst="rect">
            <a:avLst/>
          </a:prstGeom>
        </p:spPr>
      </p:pic>
      <p:pic>
        <p:nvPicPr>
          <p:cNvPr id="3" name="图片 4">
            <a:extLst>
              <a:ext uri="{FF2B5EF4-FFF2-40B4-BE49-F238E27FC236}">
                <a16:creationId xmlns:a16="http://schemas.microsoft.com/office/drawing/2014/main" id="{699F61A9-0682-0972-16BF-9563100F7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470" y="2086650"/>
            <a:ext cx="4193222" cy="3550752"/>
          </a:xfrm>
          <a:prstGeom prst="rect">
            <a:avLst/>
          </a:prstGeom>
        </p:spPr>
      </p:pic>
      <p:sp>
        <p:nvSpPr>
          <p:cNvPr id="4" name="文本框 11">
            <a:extLst>
              <a:ext uri="{FF2B5EF4-FFF2-40B4-BE49-F238E27FC236}">
                <a16:creationId xmlns:a16="http://schemas.microsoft.com/office/drawing/2014/main" id="{8C10B3B3-54C0-2956-6D64-5C88E5A090FA}"/>
              </a:ext>
            </a:extLst>
          </p:cNvPr>
          <p:cNvSpPr txBox="1"/>
          <p:nvPr/>
        </p:nvSpPr>
        <p:spPr>
          <a:xfrm>
            <a:off x="2505758" y="5650025"/>
            <a:ext cx="192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Training set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3">
            <a:extLst>
              <a:ext uri="{FF2B5EF4-FFF2-40B4-BE49-F238E27FC236}">
                <a16:creationId xmlns:a16="http://schemas.microsoft.com/office/drawing/2014/main" id="{85CBD8D6-CF18-63E1-47C2-990E54806EB1}"/>
              </a:ext>
            </a:extLst>
          </p:cNvPr>
          <p:cNvSpPr txBox="1"/>
          <p:nvPr/>
        </p:nvSpPr>
        <p:spPr>
          <a:xfrm>
            <a:off x="564250" y="1506906"/>
            <a:ext cx="3756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High bias fitting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14">
            <a:extLst>
              <a:ext uri="{FF2B5EF4-FFF2-40B4-BE49-F238E27FC236}">
                <a16:creationId xmlns:a16="http://schemas.microsoft.com/office/drawing/2014/main" id="{8430A379-8125-9E5C-DCEF-77361BA0510A}"/>
              </a:ext>
            </a:extLst>
          </p:cNvPr>
          <p:cNvSpPr txBox="1"/>
          <p:nvPr/>
        </p:nvSpPr>
        <p:spPr>
          <a:xfrm>
            <a:off x="7402484" y="5653830"/>
            <a:ext cx="1331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Test set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6">
            <a:extLst>
              <a:ext uri="{FF2B5EF4-FFF2-40B4-BE49-F238E27FC236}">
                <a16:creationId xmlns:a16="http://schemas.microsoft.com/office/drawing/2014/main" id="{F47D4679-B840-3BFC-786B-E0388837D569}"/>
              </a:ext>
            </a:extLst>
          </p:cNvPr>
          <p:cNvSpPr txBox="1"/>
          <p:nvPr/>
        </p:nvSpPr>
        <p:spPr>
          <a:xfrm>
            <a:off x="564250" y="6301652"/>
            <a:ext cx="10847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high bias model has high prediction errors on both training set and test set.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56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Bias-variance trade-off: linear regression</a:t>
            </a:r>
          </a:p>
        </p:txBody>
      </p:sp>
      <p:pic>
        <p:nvPicPr>
          <p:cNvPr id="2" name="图片 9">
            <a:extLst>
              <a:ext uri="{FF2B5EF4-FFF2-40B4-BE49-F238E27FC236}">
                <a16:creationId xmlns:a16="http://schemas.microsoft.com/office/drawing/2014/main" id="{B23B537A-1E8A-AFF7-095E-2C2E65362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236" y="2176850"/>
            <a:ext cx="3701089" cy="3253855"/>
          </a:xfrm>
          <a:prstGeom prst="rect">
            <a:avLst/>
          </a:prstGeom>
        </p:spPr>
      </p:pic>
      <p:sp>
        <p:nvSpPr>
          <p:cNvPr id="4" name="文本框 13">
            <a:extLst>
              <a:ext uri="{FF2B5EF4-FFF2-40B4-BE49-F238E27FC236}">
                <a16:creationId xmlns:a16="http://schemas.microsoft.com/office/drawing/2014/main" id="{7470749B-93E6-F12D-5D7B-042DD6A0712E}"/>
              </a:ext>
            </a:extLst>
          </p:cNvPr>
          <p:cNvSpPr txBox="1"/>
          <p:nvPr/>
        </p:nvSpPr>
        <p:spPr>
          <a:xfrm>
            <a:off x="2505834" y="5493719"/>
            <a:ext cx="1624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Training set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15">
            <a:extLst>
              <a:ext uri="{FF2B5EF4-FFF2-40B4-BE49-F238E27FC236}">
                <a16:creationId xmlns:a16="http://schemas.microsoft.com/office/drawing/2014/main" id="{0F7ABD7C-AF3C-0CBC-4E1C-A8771D627C2A}"/>
              </a:ext>
            </a:extLst>
          </p:cNvPr>
          <p:cNvSpPr txBox="1"/>
          <p:nvPr/>
        </p:nvSpPr>
        <p:spPr>
          <a:xfrm>
            <a:off x="7457751" y="5508777"/>
            <a:ext cx="1122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Test set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6">
            <a:extLst>
              <a:ext uri="{FF2B5EF4-FFF2-40B4-BE49-F238E27FC236}">
                <a16:creationId xmlns:a16="http://schemas.microsoft.com/office/drawing/2014/main" id="{7DDA75EB-D1B5-CA34-EA93-90F6B469B422}"/>
              </a:ext>
            </a:extLst>
          </p:cNvPr>
          <p:cNvSpPr txBox="1"/>
          <p:nvPr/>
        </p:nvSpPr>
        <p:spPr>
          <a:xfrm>
            <a:off x="387167" y="5908887"/>
            <a:ext cx="10557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high variance model has very low prediction error on the training 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But has high error on test set.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A456FD9B-B48B-8D30-8D1A-43C8C0E695A4}"/>
              </a:ext>
            </a:extLst>
          </p:cNvPr>
          <p:cNvSpPr txBox="1"/>
          <p:nvPr/>
        </p:nvSpPr>
        <p:spPr>
          <a:xfrm>
            <a:off x="564250" y="1506906"/>
            <a:ext cx="3756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High variance fitting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A3B836C-F62D-9772-4CB3-716CD857D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383" y="2154866"/>
            <a:ext cx="4127046" cy="332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3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Generalization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011DD0ED-4D19-040C-5E94-21BF0A3BDE1A}"/>
              </a:ext>
            </a:extLst>
          </p:cNvPr>
          <p:cNvSpPr txBox="1"/>
          <p:nvPr/>
        </p:nvSpPr>
        <p:spPr>
          <a:xfrm>
            <a:off x="502792" y="1514192"/>
            <a:ext cx="96955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refers to how well the knowledge learned by an ML model apply to new data not seen by the model.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8846D8F5-A334-7854-A318-E89863C20135}"/>
              </a:ext>
            </a:extLst>
          </p:cNvPr>
          <p:cNvSpPr txBox="1"/>
          <p:nvPr/>
        </p:nvSpPr>
        <p:spPr>
          <a:xfrm>
            <a:off x="502792" y="2990546"/>
            <a:ext cx="103487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Good ML model generalizes well from the training data to any other data in the problem domain.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9">
            <a:extLst>
              <a:ext uri="{FF2B5EF4-FFF2-40B4-BE49-F238E27FC236}">
                <a16:creationId xmlns:a16="http://schemas.microsoft.com/office/drawing/2014/main" id="{6F02AADC-20D9-50AB-F1F9-38CB8CE902CC}"/>
              </a:ext>
            </a:extLst>
          </p:cNvPr>
          <p:cNvGrpSpPr/>
          <p:nvPr/>
        </p:nvGrpSpPr>
        <p:grpSpPr>
          <a:xfrm>
            <a:off x="2345033" y="4469482"/>
            <a:ext cx="2469703" cy="1908544"/>
            <a:chOff x="4186504" y="1672856"/>
            <a:chExt cx="2469703" cy="1908544"/>
          </a:xfrm>
        </p:grpSpPr>
        <p:cxnSp>
          <p:nvCxnSpPr>
            <p:cNvPr id="5" name="直接箭头连接符 10">
              <a:extLst>
                <a:ext uri="{FF2B5EF4-FFF2-40B4-BE49-F238E27FC236}">
                  <a16:creationId xmlns:a16="http://schemas.microsoft.com/office/drawing/2014/main" id="{CBB63456-3712-2CE4-E41A-B5392DD3522D}"/>
                </a:ext>
              </a:extLst>
            </p:cNvPr>
            <p:cNvCxnSpPr/>
            <p:nvPr/>
          </p:nvCxnSpPr>
          <p:spPr>
            <a:xfrm>
              <a:off x="4253248" y="3363432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11">
              <a:extLst>
                <a:ext uri="{FF2B5EF4-FFF2-40B4-BE49-F238E27FC236}">
                  <a16:creationId xmlns:a16="http://schemas.microsoft.com/office/drawing/2014/main" id="{8C5F6671-F365-5528-D827-ADC47FDF6246}"/>
                </a:ext>
              </a:extLst>
            </p:cNvPr>
            <p:cNvCxnSpPr/>
            <p:nvPr/>
          </p:nvCxnSpPr>
          <p:spPr>
            <a:xfrm flipV="1">
              <a:off x="4380839" y="1672856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12">
              <a:extLst>
                <a:ext uri="{FF2B5EF4-FFF2-40B4-BE49-F238E27FC236}">
                  <a16:creationId xmlns:a16="http://schemas.microsoft.com/office/drawing/2014/main" id="{3EC3F587-2FB0-EF7C-20A3-73D785B8CE2E}"/>
                </a:ext>
              </a:extLst>
            </p:cNvPr>
            <p:cNvSpPr/>
            <p:nvPr/>
          </p:nvSpPr>
          <p:spPr>
            <a:xfrm>
              <a:off x="4563022" y="28879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3">
              <a:extLst>
                <a:ext uri="{FF2B5EF4-FFF2-40B4-BE49-F238E27FC236}">
                  <a16:creationId xmlns:a16="http://schemas.microsoft.com/office/drawing/2014/main" id="{664E8F0E-9EBA-6BC6-E363-C2AA13919740}"/>
                </a:ext>
              </a:extLst>
            </p:cNvPr>
            <p:cNvSpPr/>
            <p:nvPr/>
          </p:nvSpPr>
          <p:spPr>
            <a:xfrm>
              <a:off x="4886288" y="283076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4">
              <a:extLst>
                <a:ext uri="{FF2B5EF4-FFF2-40B4-BE49-F238E27FC236}">
                  <a16:creationId xmlns:a16="http://schemas.microsoft.com/office/drawing/2014/main" id="{B36839F3-CA63-80F1-0442-90688B09FD6C}"/>
                </a:ext>
              </a:extLst>
            </p:cNvPr>
            <p:cNvSpPr/>
            <p:nvPr/>
          </p:nvSpPr>
          <p:spPr>
            <a:xfrm>
              <a:off x="5039676" y="26143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5">
              <a:extLst>
                <a:ext uri="{FF2B5EF4-FFF2-40B4-BE49-F238E27FC236}">
                  <a16:creationId xmlns:a16="http://schemas.microsoft.com/office/drawing/2014/main" id="{101C0D56-25A4-E6B9-6747-13862E614624}"/>
                </a:ext>
              </a:extLst>
            </p:cNvPr>
            <p:cNvSpPr/>
            <p:nvPr/>
          </p:nvSpPr>
          <p:spPr>
            <a:xfrm>
              <a:off x="5476261" y="2542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6">
              <a:extLst>
                <a:ext uri="{FF2B5EF4-FFF2-40B4-BE49-F238E27FC236}">
                  <a16:creationId xmlns:a16="http://schemas.microsoft.com/office/drawing/2014/main" id="{88D49D40-C2F6-0604-B6EB-7C26CAB056AF}"/>
                </a:ext>
              </a:extLst>
            </p:cNvPr>
            <p:cNvSpPr/>
            <p:nvPr/>
          </p:nvSpPr>
          <p:spPr>
            <a:xfrm>
              <a:off x="5560785" y="222032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17">
              <a:extLst>
                <a:ext uri="{FF2B5EF4-FFF2-40B4-BE49-F238E27FC236}">
                  <a16:creationId xmlns:a16="http://schemas.microsoft.com/office/drawing/2014/main" id="{26339CDE-6C09-B9E1-1943-31A8BB6845EA}"/>
                </a:ext>
              </a:extLst>
            </p:cNvPr>
            <p:cNvSpPr/>
            <p:nvPr/>
          </p:nvSpPr>
          <p:spPr>
            <a:xfrm>
              <a:off x="5951671" y="227374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18">
              <a:extLst>
                <a:ext uri="{FF2B5EF4-FFF2-40B4-BE49-F238E27FC236}">
                  <a16:creationId xmlns:a16="http://schemas.microsoft.com/office/drawing/2014/main" id="{F3A6EEB3-AF4A-E7ED-F9EE-1410B9F911A1}"/>
                </a:ext>
              </a:extLst>
            </p:cNvPr>
            <p:cNvSpPr/>
            <p:nvPr/>
          </p:nvSpPr>
          <p:spPr>
            <a:xfrm>
              <a:off x="6127123" y="205272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19">
              <a:extLst>
                <a:ext uri="{FF2B5EF4-FFF2-40B4-BE49-F238E27FC236}">
                  <a16:creationId xmlns:a16="http://schemas.microsoft.com/office/drawing/2014/main" id="{0EFA343D-2D1C-693F-D775-55F61C9C2BE8}"/>
                </a:ext>
              </a:extLst>
            </p:cNvPr>
            <p:cNvSpPr/>
            <p:nvPr/>
          </p:nvSpPr>
          <p:spPr>
            <a:xfrm>
              <a:off x="5696537" y="247485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20">
              <a:extLst>
                <a:ext uri="{FF2B5EF4-FFF2-40B4-BE49-F238E27FC236}">
                  <a16:creationId xmlns:a16="http://schemas.microsoft.com/office/drawing/2014/main" id="{FE712D84-F110-38A3-F01F-D85F9A629CB0}"/>
                </a:ext>
              </a:extLst>
            </p:cNvPr>
            <p:cNvSpPr/>
            <p:nvPr/>
          </p:nvSpPr>
          <p:spPr>
            <a:xfrm>
              <a:off x="4478498" y="311576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22">
              <a:extLst>
                <a:ext uri="{FF2B5EF4-FFF2-40B4-BE49-F238E27FC236}">
                  <a16:creationId xmlns:a16="http://schemas.microsoft.com/office/drawing/2014/main" id="{1516039A-B0DB-EA28-2333-F104DAC10FEE}"/>
                </a:ext>
              </a:extLst>
            </p:cNvPr>
            <p:cNvSpPr/>
            <p:nvPr/>
          </p:nvSpPr>
          <p:spPr>
            <a:xfrm>
              <a:off x="5239020" y="26208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直接连接符 23">
              <a:extLst>
                <a:ext uri="{FF2B5EF4-FFF2-40B4-BE49-F238E27FC236}">
                  <a16:creationId xmlns:a16="http://schemas.microsoft.com/office/drawing/2014/main" id="{63DFFA3C-5E14-DB51-9641-DC24BA7D1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504" y="1901278"/>
              <a:ext cx="2274474" cy="1393892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9" name="组合 24">
            <a:extLst>
              <a:ext uri="{FF2B5EF4-FFF2-40B4-BE49-F238E27FC236}">
                <a16:creationId xmlns:a16="http://schemas.microsoft.com/office/drawing/2014/main" id="{4F957AD8-D238-3F3D-AEE7-77D7223DF085}"/>
              </a:ext>
            </a:extLst>
          </p:cNvPr>
          <p:cNvGrpSpPr/>
          <p:nvPr/>
        </p:nvGrpSpPr>
        <p:grpSpPr>
          <a:xfrm>
            <a:off x="6601478" y="4404440"/>
            <a:ext cx="2400128" cy="1922585"/>
            <a:chOff x="377144" y="4176348"/>
            <a:chExt cx="2400128" cy="1922585"/>
          </a:xfrm>
        </p:grpSpPr>
        <p:sp>
          <p:nvSpPr>
            <p:cNvPr id="20" name="弧形 25">
              <a:extLst>
                <a:ext uri="{FF2B5EF4-FFF2-40B4-BE49-F238E27FC236}">
                  <a16:creationId xmlns:a16="http://schemas.microsoft.com/office/drawing/2014/main" id="{7D006AAB-7965-7672-1815-05C69EC24A71}"/>
                </a:ext>
              </a:extLst>
            </p:cNvPr>
            <p:cNvSpPr/>
            <p:nvPr/>
          </p:nvSpPr>
          <p:spPr>
            <a:xfrm rot="12478146">
              <a:off x="860060" y="4272217"/>
              <a:ext cx="1900589" cy="1306465"/>
            </a:xfrm>
            <a:prstGeom prst="arc">
              <a:avLst>
                <a:gd name="adj1" fmla="val 11733525"/>
                <a:gd name="adj2" fmla="val 21393328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" name="组合 26">
              <a:extLst>
                <a:ext uri="{FF2B5EF4-FFF2-40B4-BE49-F238E27FC236}">
                  <a16:creationId xmlns:a16="http://schemas.microsoft.com/office/drawing/2014/main" id="{D0697E13-C8E5-CAD3-7F09-B037AAFF00DF}"/>
                </a:ext>
              </a:extLst>
            </p:cNvPr>
            <p:cNvGrpSpPr/>
            <p:nvPr/>
          </p:nvGrpSpPr>
          <p:grpSpPr>
            <a:xfrm>
              <a:off x="377144" y="4176348"/>
              <a:ext cx="2400128" cy="1922585"/>
              <a:chOff x="491928" y="4185138"/>
              <a:chExt cx="2400128" cy="1922585"/>
            </a:xfrm>
          </p:grpSpPr>
          <p:cxnSp>
            <p:nvCxnSpPr>
              <p:cNvPr id="22" name="直接箭头连接符 27">
                <a:extLst>
                  <a:ext uri="{FF2B5EF4-FFF2-40B4-BE49-F238E27FC236}">
                    <a16:creationId xmlns:a16="http://schemas.microsoft.com/office/drawing/2014/main" id="{3CDF23A0-6C41-8C6F-B230-2643AC21E7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928" y="5908431"/>
                <a:ext cx="240012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8">
                <a:extLst>
                  <a:ext uri="{FF2B5EF4-FFF2-40B4-BE49-F238E27FC236}">
                    <a16:creationId xmlns:a16="http://schemas.microsoft.com/office/drawing/2014/main" id="{185D7C82-5BB3-675F-BE23-93C0E20A8896}"/>
                  </a:ext>
                </a:extLst>
              </p:cNvPr>
              <p:cNvCxnSpPr/>
              <p:nvPr/>
            </p:nvCxnSpPr>
            <p:spPr>
              <a:xfrm flipV="1">
                <a:off x="660976" y="4185138"/>
                <a:ext cx="0" cy="19225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9">
                <a:extLst>
                  <a:ext uri="{FF2B5EF4-FFF2-40B4-BE49-F238E27FC236}">
                    <a16:creationId xmlns:a16="http://schemas.microsoft.com/office/drawing/2014/main" id="{B13585C6-F811-68EE-294C-60FE716E9027}"/>
                  </a:ext>
                </a:extLst>
              </p:cNvPr>
              <p:cNvSpPr/>
              <p:nvPr/>
            </p:nvSpPr>
            <p:spPr>
              <a:xfrm>
                <a:off x="888452" y="5309821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椭圆 30">
                <a:extLst>
                  <a:ext uri="{FF2B5EF4-FFF2-40B4-BE49-F238E27FC236}">
                    <a16:creationId xmlns:a16="http://schemas.microsoft.com/office/drawing/2014/main" id="{30A0B236-B20E-3A78-C6DC-856973EDEE1E}"/>
                  </a:ext>
                </a:extLst>
              </p:cNvPr>
              <p:cNvSpPr/>
              <p:nvPr/>
            </p:nvSpPr>
            <p:spPr>
              <a:xfrm>
                <a:off x="1068679" y="545366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椭圆 31">
                <a:extLst>
                  <a:ext uri="{FF2B5EF4-FFF2-40B4-BE49-F238E27FC236}">
                    <a16:creationId xmlns:a16="http://schemas.microsoft.com/office/drawing/2014/main" id="{46F21661-0692-9B3C-D2AC-AA99DB1723C7}"/>
                  </a:ext>
                </a:extLst>
              </p:cNvPr>
              <p:cNvSpPr/>
              <p:nvPr/>
            </p:nvSpPr>
            <p:spPr>
              <a:xfrm>
                <a:off x="1229070" y="565112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椭圆 32">
                <a:extLst>
                  <a:ext uri="{FF2B5EF4-FFF2-40B4-BE49-F238E27FC236}">
                    <a16:creationId xmlns:a16="http://schemas.microsoft.com/office/drawing/2014/main" id="{5E42FF5D-4F13-F154-155A-D1DC3CBCD975}"/>
                  </a:ext>
                </a:extLst>
              </p:cNvPr>
              <p:cNvSpPr/>
              <p:nvPr/>
            </p:nvSpPr>
            <p:spPr>
              <a:xfrm>
                <a:off x="869729" y="4758335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椭圆 33">
                <a:extLst>
                  <a:ext uri="{FF2B5EF4-FFF2-40B4-BE49-F238E27FC236}">
                    <a16:creationId xmlns:a16="http://schemas.microsoft.com/office/drawing/2014/main" id="{9E768B78-C585-0731-A230-31B446C7517B}"/>
                  </a:ext>
                </a:extLst>
              </p:cNvPr>
              <p:cNvSpPr/>
              <p:nvPr/>
            </p:nvSpPr>
            <p:spPr>
              <a:xfrm>
                <a:off x="936130" y="508018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椭圆 34">
                <a:extLst>
                  <a:ext uri="{FF2B5EF4-FFF2-40B4-BE49-F238E27FC236}">
                    <a16:creationId xmlns:a16="http://schemas.microsoft.com/office/drawing/2014/main" id="{82753078-7DBC-1CD7-AC57-C122227B18C2}"/>
                  </a:ext>
                </a:extLst>
              </p:cNvPr>
              <p:cNvSpPr/>
              <p:nvPr/>
            </p:nvSpPr>
            <p:spPr>
              <a:xfrm>
                <a:off x="1136682" y="531643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椭圆 35">
                <a:extLst>
                  <a:ext uri="{FF2B5EF4-FFF2-40B4-BE49-F238E27FC236}">
                    <a16:creationId xmlns:a16="http://schemas.microsoft.com/office/drawing/2014/main" id="{B7F9DCFB-7889-69A6-AFC0-45ED291FBC9D}"/>
                  </a:ext>
                </a:extLst>
              </p:cNvPr>
              <p:cNvSpPr/>
              <p:nvPr/>
            </p:nvSpPr>
            <p:spPr>
              <a:xfrm>
                <a:off x="1052636" y="5221472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椭圆 36">
                <a:extLst>
                  <a:ext uri="{FF2B5EF4-FFF2-40B4-BE49-F238E27FC236}">
                    <a16:creationId xmlns:a16="http://schemas.microsoft.com/office/drawing/2014/main" id="{F25749A0-8BCD-625C-247B-CD8F45B1ED4C}"/>
                  </a:ext>
                </a:extLst>
              </p:cNvPr>
              <p:cNvSpPr/>
              <p:nvPr/>
            </p:nvSpPr>
            <p:spPr>
              <a:xfrm>
                <a:off x="1319571" y="5399323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椭圆 37">
                <a:extLst>
                  <a:ext uri="{FF2B5EF4-FFF2-40B4-BE49-F238E27FC236}">
                    <a16:creationId xmlns:a16="http://schemas.microsoft.com/office/drawing/2014/main" id="{A1D13232-60CC-B94A-98A9-BDD8491B032D}"/>
                  </a:ext>
                </a:extLst>
              </p:cNvPr>
              <p:cNvSpPr/>
              <p:nvPr/>
            </p:nvSpPr>
            <p:spPr>
              <a:xfrm>
                <a:off x="1404095" y="4999798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38">
                <a:extLst>
                  <a:ext uri="{FF2B5EF4-FFF2-40B4-BE49-F238E27FC236}">
                    <a16:creationId xmlns:a16="http://schemas.microsoft.com/office/drawing/2014/main" id="{3BAA8DF6-95F1-292D-8B4F-A589F0828A7B}"/>
                  </a:ext>
                </a:extLst>
              </p:cNvPr>
              <p:cNvSpPr/>
              <p:nvPr/>
            </p:nvSpPr>
            <p:spPr>
              <a:xfrm>
                <a:off x="1424262" y="4697671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39">
                <a:extLst>
                  <a:ext uri="{FF2B5EF4-FFF2-40B4-BE49-F238E27FC236}">
                    <a16:creationId xmlns:a16="http://schemas.microsoft.com/office/drawing/2014/main" id="{403774E4-97D7-3791-7F07-A0BAD963A0BE}"/>
                  </a:ext>
                </a:extLst>
              </p:cNvPr>
              <p:cNvSpPr/>
              <p:nvPr/>
            </p:nvSpPr>
            <p:spPr>
              <a:xfrm>
                <a:off x="1389007" y="520909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40">
                <a:extLst>
                  <a:ext uri="{FF2B5EF4-FFF2-40B4-BE49-F238E27FC236}">
                    <a16:creationId xmlns:a16="http://schemas.microsoft.com/office/drawing/2014/main" id="{5C2703BC-F7BC-9B4A-9CB0-69D3375D12DF}"/>
                  </a:ext>
                </a:extLst>
              </p:cNvPr>
              <p:cNvSpPr/>
              <p:nvPr/>
            </p:nvSpPr>
            <p:spPr>
              <a:xfrm>
                <a:off x="1524252" y="5308233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41">
                <a:extLst>
                  <a:ext uri="{FF2B5EF4-FFF2-40B4-BE49-F238E27FC236}">
                    <a16:creationId xmlns:a16="http://schemas.microsoft.com/office/drawing/2014/main" id="{846FC0BB-714D-E305-C2F0-82BB9AE54FB2}"/>
                  </a:ext>
                </a:extLst>
              </p:cNvPr>
              <p:cNvSpPr/>
              <p:nvPr/>
            </p:nvSpPr>
            <p:spPr>
              <a:xfrm>
                <a:off x="1681588" y="5400413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42">
                <a:extLst>
                  <a:ext uri="{FF2B5EF4-FFF2-40B4-BE49-F238E27FC236}">
                    <a16:creationId xmlns:a16="http://schemas.microsoft.com/office/drawing/2014/main" id="{6728B60F-B0DE-A01A-A497-BAF9DA4B323F}"/>
                  </a:ext>
                </a:extLst>
              </p:cNvPr>
              <p:cNvSpPr/>
              <p:nvPr/>
            </p:nvSpPr>
            <p:spPr>
              <a:xfrm>
                <a:off x="1563444" y="4761974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43">
                <a:extLst>
                  <a:ext uri="{FF2B5EF4-FFF2-40B4-BE49-F238E27FC236}">
                    <a16:creationId xmlns:a16="http://schemas.microsoft.com/office/drawing/2014/main" id="{3C9D9A32-5259-D18E-5259-13EFE4D77171}"/>
                  </a:ext>
                </a:extLst>
              </p:cNvPr>
              <p:cNvSpPr/>
              <p:nvPr/>
            </p:nvSpPr>
            <p:spPr>
              <a:xfrm>
                <a:off x="1609066" y="493085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44">
                <a:extLst>
                  <a:ext uri="{FF2B5EF4-FFF2-40B4-BE49-F238E27FC236}">
                    <a16:creationId xmlns:a16="http://schemas.microsoft.com/office/drawing/2014/main" id="{0F5AA3CB-5844-CC20-63D5-3FF47BBBFD3F}"/>
                  </a:ext>
                </a:extLst>
              </p:cNvPr>
              <p:cNvSpPr/>
              <p:nvPr/>
            </p:nvSpPr>
            <p:spPr>
              <a:xfrm>
                <a:off x="1095368" y="467309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45">
                <a:extLst>
                  <a:ext uri="{FF2B5EF4-FFF2-40B4-BE49-F238E27FC236}">
                    <a16:creationId xmlns:a16="http://schemas.microsoft.com/office/drawing/2014/main" id="{01A6BBAC-7866-EA0D-D46B-9EC42231E634}"/>
                  </a:ext>
                </a:extLst>
              </p:cNvPr>
              <p:cNvSpPr/>
              <p:nvPr/>
            </p:nvSpPr>
            <p:spPr>
              <a:xfrm>
                <a:off x="1321566" y="486588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矩形 46">
                <a:extLst>
                  <a:ext uri="{FF2B5EF4-FFF2-40B4-BE49-F238E27FC236}">
                    <a16:creationId xmlns:a16="http://schemas.microsoft.com/office/drawing/2014/main" id="{DDB82E56-34B8-DA86-B0DD-AA6E6813C04F}"/>
                  </a:ext>
                </a:extLst>
              </p:cNvPr>
              <p:cNvSpPr/>
              <p:nvPr/>
            </p:nvSpPr>
            <p:spPr>
              <a:xfrm>
                <a:off x="1371619" y="554361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47">
                <a:extLst>
                  <a:ext uri="{FF2B5EF4-FFF2-40B4-BE49-F238E27FC236}">
                    <a16:creationId xmlns:a16="http://schemas.microsoft.com/office/drawing/2014/main" id="{A01F9E5E-9186-D0CE-05A6-65A814E9E544}"/>
                  </a:ext>
                </a:extLst>
              </p:cNvPr>
              <p:cNvSpPr/>
              <p:nvPr/>
            </p:nvSpPr>
            <p:spPr>
              <a:xfrm>
                <a:off x="1829326" y="488960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48">
                <a:extLst>
                  <a:ext uri="{FF2B5EF4-FFF2-40B4-BE49-F238E27FC236}">
                    <a16:creationId xmlns:a16="http://schemas.microsoft.com/office/drawing/2014/main" id="{09506BFB-1ABF-DDC7-4AF6-C2BE63EA5BD8}"/>
                  </a:ext>
                </a:extLst>
              </p:cNvPr>
              <p:cNvSpPr/>
              <p:nvPr/>
            </p:nvSpPr>
            <p:spPr>
              <a:xfrm>
                <a:off x="1958032" y="505136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矩形 49">
                <a:extLst>
                  <a:ext uri="{FF2B5EF4-FFF2-40B4-BE49-F238E27FC236}">
                    <a16:creationId xmlns:a16="http://schemas.microsoft.com/office/drawing/2014/main" id="{84BADBDF-8EC3-7382-D540-AE83F988F4A6}"/>
                  </a:ext>
                </a:extLst>
              </p:cNvPr>
              <p:cNvSpPr/>
              <p:nvPr/>
            </p:nvSpPr>
            <p:spPr>
              <a:xfrm>
                <a:off x="1818555" y="5155206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50">
                <a:extLst>
                  <a:ext uri="{FF2B5EF4-FFF2-40B4-BE49-F238E27FC236}">
                    <a16:creationId xmlns:a16="http://schemas.microsoft.com/office/drawing/2014/main" id="{27923DE7-465D-CA43-891A-C5CB688F287F}"/>
                  </a:ext>
                </a:extLst>
              </p:cNvPr>
              <p:cNvSpPr/>
              <p:nvPr/>
            </p:nvSpPr>
            <p:spPr>
              <a:xfrm>
                <a:off x="1968803" y="5389362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矩形 51">
                <a:extLst>
                  <a:ext uri="{FF2B5EF4-FFF2-40B4-BE49-F238E27FC236}">
                    <a16:creationId xmlns:a16="http://schemas.microsoft.com/office/drawing/2014/main" id="{191732DC-5BE2-6489-BF9E-2ECFA67F0E51}"/>
                  </a:ext>
                </a:extLst>
              </p:cNvPr>
              <p:cNvSpPr/>
              <p:nvPr/>
            </p:nvSpPr>
            <p:spPr>
              <a:xfrm>
                <a:off x="1829326" y="549319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椭圆 52">
                <a:extLst>
                  <a:ext uri="{FF2B5EF4-FFF2-40B4-BE49-F238E27FC236}">
                    <a16:creationId xmlns:a16="http://schemas.microsoft.com/office/drawing/2014/main" id="{922ED75F-7B6D-C6F6-4824-746347EE0D85}"/>
                  </a:ext>
                </a:extLst>
              </p:cNvPr>
              <p:cNvSpPr/>
              <p:nvPr/>
            </p:nvSpPr>
            <p:spPr>
              <a:xfrm>
                <a:off x="1585819" y="563458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椭圆 53">
                <a:extLst>
                  <a:ext uri="{FF2B5EF4-FFF2-40B4-BE49-F238E27FC236}">
                    <a16:creationId xmlns:a16="http://schemas.microsoft.com/office/drawing/2014/main" id="{06E0CBD1-E71F-40D5-DAFC-D024BA227048}"/>
                  </a:ext>
                </a:extLst>
              </p:cNvPr>
              <p:cNvSpPr/>
              <p:nvPr/>
            </p:nvSpPr>
            <p:spPr>
              <a:xfrm>
                <a:off x="911991" y="436873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椭圆 54">
                <a:extLst>
                  <a:ext uri="{FF2B5EF4-FFF2-40B4-BE49-F238E27FC236}">
                    <a16:creationId xmlns:a16="http://schemas.microsoft.com/office/drawing/2014/main" id="{814A1E80-1559-7AE7-2062-82980B245A33}"/>
                  </a:ext>
                </a:extLst>
              </p:cNvPr>
              <p:cNvSpPr/>
              <p:nvPr/>
            </p:nvSpPr>
            <p:spPr>
              <a:xfrm>
                <a:off x="941980" y="4884370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椭圆 55">
                <a:extLst>
                  <a:ext uri="{FF2B5EF4-FFF2-40B4-BE49-F238E27FC236}">
                    <a16:creationId xmlns:a16="http://schemas.microsoft.com/office/drawing/2014/main" id="{13E0D96F-0DED-63CC-4868-891E2F15D1A5}"/>
                  </a:ext>
                </a:extLst>
              </p:cNvPr>
              <p:cNvSpPr/>
              <p:nvPr/>
            </p:nvSpPr>
            <p:spPr>
              <a:xfrm>
                <a:off x="1435935" y="568977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矩形 56">
                <a:extLst>
                  <a:ext uri="{FF2B5EF4-FFF2-40B4-BE49-F238E27FC236}">
                    <a16:creationId xmlns:a16="http://schemas.microsoft.com/office/drawing/2014/main" id="{4029F451-4C0F-7DAD-8097-F38E33ECD32D}"/>
                  </a:ext>
                </a:extLst>
              </p:cNvPr>
              <p:cNvSpPr/>
              <p:nvPr/>
            </p:nvSpPr>
            <p:spPr>
              <a:xfrm>
                <a:off x="2139295" y="5499316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椭圆 57">
                <a:extLst>
                  <a:ext uri="{FF2B5EF4-FFF2-40B4-BE49-F238E27FC236}">
                    <a16:creationId xmlns:a16="http://schemas.microsoft.com/office/drawing/2014/main" id="{A7A53EC9-B519-A083-A917-844D4EE415A5}"/>
                  </a:ext>
                </a:extLst>
              </p:cNvPr>
              <p:cNvSpPr/>
              <p:nvPr/>
            </p:nvSpPr>
            <p:spPr>
              <a:xfrm>
                <a:off x="1849012" y="568977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矩形 58">
                <a:extLst>
                  <a:ext uri="{FF2B5EF4-FFF2-40B4-BE49-F238E27FC236}">
                    <a16:creationId xmlns:a16="http://schemas.microsoft.com/office/drawing/2014/main" id="{751E72BD-27A5-4789-39CD-137AF030BD7A}"/>
                  </a:ext>
                </a:extLst>
              </p:cNvPr>
              <p:cNvSpPr/>
              <p:nvPr/>
            </p:nvSpPr>
            <p:spPr>
              <a:xfrm>
                <a:off x="1646498" y="5104812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矩形 59">
                <a:extLst>
                  <a:ext uri="{FF2B5EF4-FFF2-40B4-BE49-F238E27FC236}">
                    <a16:creationId xmlns:a16="http://schemas.microsoft.com/office/drawing/2014/main" id="{8AD8C808-1B80-3ADF-E859-87037F0201B4}"/>
                  </a:ext>
                </a:extLst>
              </p:cNvPr>
              <p:cNvSpPr/>
              <p:nvPr/>
            </p:nvSpPr>
            <p:spPr>
              <a:xfrm>
                <a:off x="1230762" y="5003291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椭圆 60">
                <a:extLst>
                  <a:ext uri="{FF2B5EF4-FFF2-40B4-BE49-F238E27FC236}">
                    <a16:creationId xmlns:a16="http://schemas.microsoft.com/office/drawing/2014/main" id="{13AE5F8F-5812-8561-6585-F079D2FA9DFE}"/>
                  </a:ext>
                </a:extLst>
              </p:cNvPr>
              <p:cNvSpPr/>
              <p:nvPr/>
            </p:nvSpPr>
            <p:spPr>
              <a:xfrm>
                <a:off x="2225077" y="5730801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椭圆 61">
                <a:extLst>
                  <a:ext uri="{FF2B5EF4-FFF2-40B4-BE49-F238E27FC236}">
                    <a16:creationId xmlns:a16="http://schemas.microsoft.com/office/drawing/2014/main" id="{FC24F155-F917-135D-7A69-5E99DE6B0AE4}"/>
                  </a:ext>
                </a:extLst>
              </p:cNvPr>
              <p:cNvSpPr/>
              <p:nvPr/>
            </p:nvSpPr>
            <p:spPr>
              <a:xfrm>
                <a:off x="911991" y="454988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矩形 62">
                <a:extLst>
                  <a:ext uri="{FF2B5EF4-FFF2-40B4-BE49-F238E27FC236}">
                    <a16:creationId xmlns:a16="http://schemas.microsoft.com/office/drawing/2014/main" id="{6EB3DBD3-6B41-5181-A149-0BC562B4B7CE}"/>
                  </a:ext>
                </a:extLst>
              </p:cNvPr>
              <p:cNvSpPr/>
              <p:nvPr/>
            </p:nvSpPr>
            <p:spPr>
              <a:xfrm>
                <a:off x="1127351" y="445488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矩形 63">
                <a:extLst>
                  <a:ext uri="{FF2B5EF4-FFF2-40B4-BE49-F238E27FC236}">
                    <a16:creationId xmlns:a16="http://schemas.microsoft.com/office/drawing/2014/main" id="{E9623252-A94A-E331-C139-1D3304EA0E05}"/>
                  </a:ext>
                </a:extLst>
              </p:cNvPr>
              <p:cNvSpPr/>
              <p:nvPr/>
            </p:nvSpPr>
            <p:spPr>
              <a:xfrm>
                <a:off x="1114575" y="4838020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矩形 64">
                <a:extLst>
                  <a:ext uri="{FF2B5EF4-FFF2-40B4-BE49-F238E27FC236}">
                    <a16:creationId xmlns:a16="http://schemas.microsoft.com/office/drawing/2014/main" id="{93DEA74A-B1A5-E7F3-3928-8214076124F8}"/>
                  </a:ext>
                </a:extLst>
              </p:cNvPr>
              <p:cNvSpPr/>
              <p:nvPr/>
            </p:nvSpPr>
            <p:spPr>
              <a:xfrm>
                <a:off x="2394765" y="5490207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椭圆 65">
                <a:extLst>
                  <a:ext uri="{FF2B5EF4-FFF2-40B4-BE49-F238E27FC236}">
                    <a16:creationId xmlns:a16="http://schemas.microsoft.com/office/drawing/2014/main" id="{067FADCB-7C79-FEC0-B1AC-93923FA6397F}"/>
                  </a:ext>
                </a:extLst>
              </p:cNvPr>
              <p:cNvSpPr/>
              <p:nvPr/>
            </p:nvSpPr>
            <p:spPr>
              <a:xfrm>
                <a:off x="2012173" y="575417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椭圆 66">
                <a:extLst>
                  <a:ext uri="{FF2B5EF4-FFF2-40B4-BE49-F238E27FC236}">
                    <a16:creationId xmlns:a16="http://schemas.microsoft.com/office/drawing/2014/main" id="{E68AF9B9-106B-EA21-C706-3E7FD7B587C6}"/>
                  </a:ext>
                </a:extLst>
              </p:cNvPr>
              <p:cNvSpPr/>
              <p:nvPr/>
            </p:nvSpPr>
            <p:spPr>
              <a:xfrm>
                <a:off x="2417888" y="5721225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2" name="文本框 67">
            <a:extLst>
              <a:ext uri="{FF2B5EF4-FFF2-40B4-BE49-F238E27FC236}">
                <a16:creationId xmlns:a16="http://schemas.microsoft.com/office/drawing/2014/main" id="{A0985642-75C2-A797-8E62-02416EB4B229}"/>
              </a:ext>
            </a:extLst>
          </p:cNvPr>
          <p:cNvSpPr txBox="1"/>
          <p:nvPr/>
        </p:nvSpPr>
        <p:spPr>
          <a:xfrm>
            <a:off x="2940348" y="6158701"/>
            <a:ext cx="1509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68">
            <a:extLst>
              <a:ext uri="{FF2B5EF4-FFF2-40B4-BE49-F238E27FC236}">
                <a16:creationId xmlns:a16="http://schemas.microsoft.com/office/drawing/2014/main" id="{82846FC1-E9A9-0496-C2FC-0C9A22FCC620}"/>
              </a:ext>
            </a:extLst>
          </p:cNvPr>
          <p:cNvSpPr txBox="1"/>
          <p:nvPr/>
        </p:nvSpPr>
        <p:spPr>
          <a:xfrm>
            <a:off x="7040264" y="6141329"/>
            <a:ext cx="1759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61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Bias-variance trade-off: linear regression</a:t>
            </a:r>
          </a:p>
        </p:txBody>
      </p:sp>
      <p:pic>
        <p:nvPicPr>
          <p:cNvPr id="2" name="图片 12">
            <a:extLst>
              <a:ext uri="{FF2B5EF4-FFF2-40B4-BE49-F238E27FC236}">
                <a16:creationId xmlns:a16="http://schemas.microsoft.com/office/drawing/2014/main" id="{C65BE552-6609-96AC-A438-9B12C49A2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700" y="1972796"/>
            <a:ext cx="4056416" cy="3448188"/>
          </a:xfrm>
          <a:prstGeom prst="rect">
            <a:avLst/>
          </a:prstGeom>
        </p:spPr>
      </p:pic>
      <p:pic>
        <p:nvPicPr>
          <p:cNvPr id="3" name="图片 15">
            <a:extLst>
              <a:ext uri="{FF2B5EF4-FFF2-40B4-BE49-F238E27FC236}">
                <a16:creationId xmlns:a16="http://schemas.microsoft.com/office/drawing/2014/main" id="{245E7DBE-C6AC-B83B-75F2-8EC8CE925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474" y="1961701"/>
            <a:ext cx="4129991" cy="3435270"/>
          </a:xfrm>
          <a:prstGeom prst="rect">
            <a:avLst/>
          </a:prstGeom>
        </p:spPr>
      </p:pic>
      <p:sp>
        <p:nvSpPr>
          <p:cNvPr id="4" name="文本框 18">
            <a:extLst>
              <a:ext uri="{FF2B5EF4-FFF2-40B4-BE49-F238E27FC236}">
                <a16:creationId xmlns:a16="http://schemas.microsoft.com/office/drawing/2014/main" id="{9595CC6B-142D-0D09-413A-488B0D090839}"/>
              </a:ext>
            </a:extLst>
          </p:cNvPr>
          <p:cNvSpPr txBox="1"/>
          <p:nvPr/>
        </p:nvSpPr>
        <p:spPr>
          <a:xfrm>
            <a:off x="2775613" y="5396971"/>
            <a:ext cx="146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Training 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22">
            <a:extLst>
              <a:ext uri="{FF2B5EF4-FFF2-40B4-BE49-F238E27FC236}">
                <a16:creationId xmlns:a16="http://schemas.microsoft.com/office/drawing/2014/main" id="{071CD486-F5DA-FF08-D22D-4860A5EF8961}"/>
              </a:ext>
            </a:extLst>
          </p:cNvPr>
          <p:cNvSpPr txBox="1"/>
          <p:nvPr/>
        </p:nvSpPr>
        <p:spPr>
          <a:xfrm>
            <a:off x="7449230" y="5425540"/>
            <a:ext cx="10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Test 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9">
            <a:extLst>
              <a:ext uri="{FF2B5EF4-FFF2-40B4-BE49-F238E27FC236}">
                <a16:creationId xmlns:a16="http://schemas.microsoft.com/office/drawing/2014/main" id="{B1EA460C-95E6-E35A-BCC2-1BC5CA11152A}"/>
              </a:ext>
            </a:extLst>
          </p:cNvPr>
          <p:cNvSpPr txBox="1"/>
          <p:nvPr/>
        </p:nvSpPr>
        <p:spPr>
          <a:xfrm>
            <a:off x="638896" y="6093553"/>
            <a:ext cx="10753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good fitting model has low prediction errors on both training set and test set.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C3C40DCF-ECD5-879B-ED2C-E37B355A036F}"/>
              </a:ext>
            </a:extLst>
          </p:cNvPr>
          <p:cNvSpPr txBox="1"/>
          <p:nvPr/>
        </p:nvSpPr>
        <p:spPr>
          <a:xfrm>
            <a:off x="564250" y="1506906"/>
            <a:ext cx="3756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Good fitting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30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AA165F-ACA1-42F1-99ED-5E57F42C8CE8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42D9B204-F5E5-4609-8790-964D7FEA13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E0781E-4838-443B-9F47-273C706996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2155</TotalTime>
  <Words>224</Words>
  <Application>Microsoft Office PowerPoint</Application>
  <PresentationFormat>Widescreen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Fundamental Concepts in Machine Learning Model Evaluation (2)</vt:lpstr>
      <vt:lpstr>Bias-variance trade-off</vt:lpstr>
      <vt:lpstr>Bias-variance trade-off: linear regression</vt:lpstr>
      <vt:lpstr>Bias-variance trade-off: linear regression</vt:lpstr>
      <vt:lpstr>Generalization</vt:lpstr>
      <vt:lpstr>Bias-variance trade-off: linear regression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72</cp:revision>
  <dcterms:created xsi:type="dcterms:W3CDTF">2021-01-06T14:22:07Z</dcterms:created>
  <dcterms:modified xsi:type="dcterms:W3CDTF">2024-08-16T17:58:39Z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