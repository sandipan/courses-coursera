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503" r:id="rId14"/>
    <p:sldId id="504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6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44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45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4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46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40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97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85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37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26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14/08/2024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Summary of the ML Process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27">
            <a:extLst>
              <a:ext uri="{FF2B5EF4-FFF2-40B4-BE49-F238E27FC236}">
                <a16:creationId xmlns:a16="http://schemas.microsoft.com/office/drawing/2014/main" id="{856AB563-7870-09D4-A266-E4FBE38724B5}"/>
              </a:ext>
            </a:extLst>
          </p:cNvPr>
          <p:cNvSpPr/>
          <p:nvPr/>
        </p:nvSpPr>
        <p:spPr>
          <a:xfrm>
            <a:off x="4244170" y="2148257"/>
            <a:ext cx="2613829" cy="1020302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The ML overview</a:t>
            </a:r>
          </a:p>
        </p:txBody>
      </p:sp>
      <p:sp>
        <p:nvSpPr>
          <p:cNvPr id="2" name="箭头: 右 9">
            <a:extLst>
              <a:ext uri="{FF2B5EF4-FFF2-40B4-BE49-F238E27FC236}">
                <a16:creationId xmlns:a16="http://schemas.microsoft.com/office/drawing/2014/main" id="{B9E19EF7-0265-E43E-1DD1-EDAE38EF5D0D}"/>
              </a:ext>
            </a:extLst>
          </p:cNvPr>
          <p:cNvSpPr/>
          <p:nvPr/>
        </p:nvSpPr>
        <p:spPr>
          <a:xfrm>
            <a:off x="1851333" y="4002876"/>
            <a:ext cx="387345" cy="215173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11">
            <a:extLst>
              <a:ext uri="{FF2B5EF4-FFF2-40B4-BE49-F238E27FC236}">
                <a16:creationId xmlns:a16="http://schemas.microsoft.com/office/drawing/2014/main" id="{1D6BFA53-8C97-1089-0410-0DF88AF42AF1}"/>
              </a:ext>
            </a:extLst>
          </p:cNvPr>
          <p:cNvSpPr/>
          <p:nvPr/>
        </p:nvSpPr>
        <p:spPr>
          <a:xfrm>
            <a:off x="2313931" y="3689442"/>
            <a:ext cx="2215489" cy="885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Data representation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箭头: 右 12">
            <a:extLst>
              <a:ext uri="{FF2B5EF4-FFF2-40B4-BE49-F238E27FC236}">
                <a16:creationId xmlns:a16="http://schemas.microsoft.com/office/drawing/2014/main" id="{2CF35625-587E-E085-18A6-D91413056A8A}"/>
              </a:ext>
            </a:extLst>
          </p:cNvPr>
          <p:cNvSpPr/>
          <p:nvPr/>
        </p:nvSpPr>
        <p:spPr>
          <a:xfrm>
            <a:off x="4595006" y="3990051"/>
            <a:ext cx="404359" cy="211182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13">
            <a:extLst>
              <a:ext uri="{FF2B5EF4-FFF2-40B4-BE49-F238E27FC236}">
                <a16:creationId xmlns:a16="http://schemas.microsoft.com/office/drawing/2014/main" id="{B895E62A-BC62-F7ED-8EA2-9BF44FDDD427}"/>
              </a:ext>
            </a:extLst>
          </p:cNvPr>
          <p:cNvSpPr/>
          <p:nvPr/>
        </p:nvSpPr>
        <p:spPr>
          <a:xfrm>
            <a:off x="5073369" y="3689443"/>
            <a:ext cx="1959797" cy="885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Select ML algorithms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箭头: 右 14">
            <a:extLst>
              <a:ext uri="{FF2B5EF4-FFF2-40B4-BE49-F238E27FC236}">
                <a16:creationId xmlns:a16="http://schemas.microsoft.com/office/drawing/2014/main" id="{FCC289D0-5392-5EDB-1451-359F179F4995}"/>
              </a:ext>
            </a:extLst>
          </p:cNvPr>
          <p:cNvSpPr/>
          <p:nvPr/>
        </p:nvSpPr>
        <p:spPr>
          <a:xfrm>
            <a:off x="7089167" y="4000935"/>
            <a:ext cx="433349" cy="24152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16">
            <a:extLst>
              <a:ext uri="{FF2B5EF4-FFF2-40B4-BE49-F238E27FC236}">
                <a16:creationId xmlns:a16="http://schemas.microsoft.com/office/drawing/2014/main" id="{752E55DC-2AFE-24B4-066A-36395E98AA4C}"/>
              </a:ext>
            </a:extLst>
          </p:cNvPr>
          <p:cNvSpPr/>
          <p:nvPr/>
        </p:nvSpPr>
        <p:spPr>
          <a:xfrm>
            <a:off x="7629010" y="3689442"/>
            <a:ext cx="1618942" cy="885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Model training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17">
            <a:extLst>
              <a:ext uri="{FF2B5EF4-FFF2-40B4-BE49-F238E27FC236}">
                <a16:creationId xmlns:a16="http://schemas.microsoft.com/office/drawing/2014/main" id="{FFE21159-7FAE-3AA5-C129-8E350559DF12}"/>
              </a:ext>
            </a:extLst>
          </p:cNvPr>
          <p:cNvSpPr/>
          <p:nvPr/>
        </p:nvSpPr>
        <p:spPr>
          <a:xfrm>
            <a:off x="9843796" y="3689442"/>
            <a:ext cx="1698158" cy="885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Model evaluation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箭头: 右 18">
            <a:extLst>
              <a:ext uri="{FF2B5EF4-FFF2-40B4-BE49-F238E27FC236}">
                <a16:creationId xmlns:a16="http://schemas.microsoft.com/office/drawing/2014/main" id="{007DC27C-B72F-00B1-AB43-1524E6F7B6B9}"/>
              </a:ext>
            </a:extLst>
          </p:cNvPr>
          <p:cNvSpPr/>
          <p:nvPr/>
        </p:nvSpPr>
        <p:spPr>
          <a:xfrm>
            <a:off x="9372788" y="3998885"/>
            <a:ext cx="346172" cy="24152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4">
            <a:extLst>
              <a:ext uri="{FF2B5EF4-FFF2-40B4-BE49-F238E27FC236}">
                <a16:creationId xmlns:a16="http://schemas.microsoft.com/office/drawing/2014/main" id="{FA572C3A-3422-037F-5249-DDA42D397C58}"/>
              </a:ext>
            </a:extLst>
          </p:cNvPr>
          <p:cNvSpPr/>
          <p:nvPr/>
        </p:nvSpPr>
        <p:spPr>
          <a:xfrm>
            <a:off x="4490265" y="2335243"/>
            <a:ext cx="2134469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ML overview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图片 40">
            <a:extLst>
              <a:ext uri="{FF2B5EF4-FFF2-40B4-BE49-F238E27FC236}">
                <a16:creationId xmlns:a16="http://schemas.microsoft.com/office/drawing/2014/main" id="{D53EA077-828A-DAEB-D874-CB5CC1217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24" y="3325827"/>
            <a:ext cx="1670952" cy="178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" grpId="0" animBg="1"/>
      <p:bldP spid="3" grpId="0" animBg="1"/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An overview of ML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A5F2BA-C23B-BC4C-67A5-08614F209B0F}"/>
              </a:ext>
            </a:extLst>
          </p:cNvPr>
          <p:cNvSpPr txBox="1"/>
          <p:nvPr/>
        </p:nvSpPr>
        <p:spPr>
          <a:xfrm>
            <a:off x="711118" y="2649010"/>
            <a:ext cx="6301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Traditional Programming vs. ML.</a:t>
            </a:r>
          </a:p>
        </p:txBody>
      </p:sp>
      <p:sp>
        <p:nvSpPr>
          <p:cNvPr id="3" name="文本框 10">
            <a:extLst>
              <a:ext uri="{FF2B5EF4-FFF2-40B4-BE49-F238E27FC236}">
                <a16:creationId xmlns:a16="http://schemas.microsoft.com/office/drawing/2014/main" id="{BD70346A-F992-DE83-EA28-498EC1AFF73A}"/>
              </a:ext>
            </a:extLst>
          </p:cNvPr>
          <p:cNvSpPr txBox="1"/>
          <p:nvPr/>
        </p:nvSpPr>
        <p:spPr>
          <a:xfrm>
            <a:off x="729804" y="3726264"/>
            <a:ext cx="8031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Types of ML: </a:t>
            </a: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supervised, unsupervised, semi-supervised.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46">
            <a:extLst>
              <a:ext uri="{FF2B5EF4-FFF2-40B4-BE49-F238E27FC236}">
                <a16:creationId xmlns:a16="http://schemas.microsoft.com/office/drawing/2014/main" id="{EB11D81F-0934-AF39-12E4-6FC895777E5D}"/>
              </a:ext>
            </a:extLst>
          </p:cNvPr>
          <p:cNvSpPr txBox="1"/>
          <p:nvPr/>
        </p:nvSpPr>
        <p:spPr>
          <a:xfrm>
            <a:off x="729804" y="5124057"/>
            <a:ext cx="77475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Supervised learning: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9">
            <a:extLst>
              <a:ext uri="{FF2B5EF4-FFF2-40B4-BE49-F238E27FC236}">
                <a16:creationId xmlns:a16="http://schemas.microsoft.com/office/drawing/2014/main" id="{A8A3F7E1-BA5D-7787-27A8-4AEC3DB6C95D}"/>
              </a:ext>
            </a:extLst>
          </p:cNvPr>
          <p:cNvSpPr txBox="1"/>
          <p:nvPr/>
        </p:nvSpPr>
        <p:spPr>
          <a:xfrm>
            <a:off x="711118" y="1711632"/>
            <a:ext cx="4313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What is ML?</a:t>
            </a:r>
          </a:p>
        </p:txBody>
      </p:sp>
    </p:spTree>
    <p:extLst>
      <p:ext uri="{BB962C8B-B14F-4D97-AF65-F5344CB8AC3E}">
        <p14:creationId xmlns:p14="http://schemas.microsoft.com/office/powerpoint/2010/main" val="208032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Data and data representation in ML</a:t>
            </a:r>
            <a:endParaRPr lang="en-US" dirty="0"/>
          </a:p>
        </p:txBody>
      </p:sp>
      <p:sp>
        <p:nvSpPr>
          <p:cNvPr id="2" name="矩形: 圆角 27">
            <a:extLst>
              <a:ext uri="{FF2B5EF4-FFF2-40B4-BE49-F238E27FC236}">
                <a16:creationId xmlns:a16="http://schemas.microsoft.com/office/drawing/2014/main" id="{EA54E416-36C4-014B-54D2-6A98C6E9C245}"/>
              </a:ext>
            </a:extLst>
          </p:cNvPr>
          <p:cNvSpPr/>
          <p:nvPr/>
        </p:nvSpPr>
        <p:spPr>
          <a:xfrm>
            <a:off x="650045" y="3628156"/>
            <a:ext cx="4117897" cy="1020302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F5E7D67-548B-E9FB-2F22-439F7D7F0E2C}"/>
              </a:ext>
            </a:extLst>
          </p:cNvPr>
          <p:cNvGrpSpPr/>
          <p:nvPr/>
        </p:nvGrpSpPr>
        <p:grpSpPr>
          <a:xfrm>
            <a:off x="1851333" y="2335243"/>
            <a:ext cx="9690621" cy="2242977"/>
            <a:chOff x="1851333" y="2335243"/>
            <a:chExt cx="9690621" cy="2242977"/>
          </a:xfrm>
        </p:grpSpPr>
        <p:sp>
          <p:nvSpPr>
            <p:cNvPr id="3" name="箭头: 右 9">
              <a:extLst>
                <a:ext uri="{FF2B5EF4-FFF2-40B4-BE49-F238E27FC236}">
                  <a16:creationId xmlns:a16="http://schemas.microsoft.com/office/drawing/2014/main" id="{1EEF335A-1634-7299-47FC-8AB7026E7DDD}"/>
                </a:ext>
              </a:extLst>
            </p:cNvPr>
            <p:cNvSpPr/>
            <p:nvPr/>
          </p:nvSpPr>
          <p:spPr>
            <a:xfrm>
              <a:off x="1851333" y="4002876"/>
              <a:ext cx="387345" cy="215173"/>
            </a:xfrm>
            <a:prstGeom prst="rightArrow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矩形 11">
              <a:extLst>
                <a:ext uri="{FF2B5EF4-FFF2-40B4-BE49-F238E27FC236}">
                  <a16:creationId xmlns:a16="http://schemas.microsoft.com/office/drawing/2014/main" id="{7FA0DED3-6D4F-F5F2-4662-F2D38A415FA1}"/>
                </a:ext>
              </a:extLst>
            </p:cNvPr>
            <p:cNvSpPr/>
            <p:nvPr/>
          </p:nvSpPr>
          <p:spPr>
            <a:xfrm>
              <a:off x="2313931" y="3692274"/>
              <a:ext cx="2215489" cy="8859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Data representation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箭头: 右 12">
              <a:extLst>
                <a:ext uri="{FF2B5EF4-FFF2-40B4-BE49-F238E27FC236}">
                  <a16:creationId xmlns:a16="http://schemas.microsoft.com/office/drawing/2014/main" id="{7929DEC1-C0A6-71C2-C97B-6E0657343627}"/>
                </a:ext>
              </a:extLst>
            </p:cNvPr>
            <p:cNvSpPr/>
            <p:nvPr/>
          </p:nvSpPr>
          <p:spPr>
            <a:xfrm>
              <a:off x="4595006" y="3990051"/>
              <a:ext cx="404359" cy="211182"/>
            </a:xfrm>
            <a:prstGeom prst="rightArrow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13">
              <a:extLst>
                <a:ext uri="{FF2B5EF4-FFF2-40B4-BE49-F238E27FC236}">
                  <a16:creationId xmlns:a16="http://schemas.microsoft.com/office/drawing/2014/main" id="{0FC581F7-108E-EB29-A960-D89390BBE3F7}"/>
                </a:ext>
              </a:extLst>
            </p:cNvPr>
            <p:cNvSpPr/>
            <p:nvPr/>
          </p:nvSpPr>
          <p:spPr>
            <a:xfrm>
              <a:off x="5073369" y="3692274"/>
              <a:ext cx="1959797" cy="8859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Select ML algorithms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箭头: 右 14">
              <a:extLst>
                <a:ext uri="{FF2B5EF4-FFF2-40B4-BE49-F238E27FC236}">
                  <a16:creationId xmlns:a16="http://schemas.microsoft.com/office/drawing/2014/main" id="{AEDE9E92-D99B-519B-3109-095FFD4B88F7}"/>
                </a:ext>
              </a:extLst>
            </p:cNvPr>
            <p:cNvSpPr/>
            <p:nvPr/>
          </p:nvSpPr>
          <p:spPr>
            <a:xfrm>
              <a:off x="7089167" y="4000935"/>
              <a:ext cx="433349" cy="241520"/>
            </a:xfrm>
            <a:prstGeom prst="rightArrow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矩形 16">
              <a:extLst>
                <a:ext uri="{FF2B5EF4-FFF2-40B4-BE49-F238E27FC236}">
                  <a16:creationId xmlns:a16="http://schemas.microsoft.com/office/drawing/2014/main" id="{58CA2591-C5E0-3F07-343B-F82462E57180}"/>
                </a:ext>
              </a:extLst>
            </p:cNvPr>
            <p:cNvSpPr/>
            <p:nvPr/>
          </p:nvSpPr>
          <p:spPr>
            <a:xfrm>
              <a:off x="7629010" y="3692274"/>
              <a:ext cx="1618942" cy="8859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Model training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7">
              <a:extLst>
                <a:ext uri="{FF2B5EF4-FFF2-40B4-BE49-F238E27FC236}">
                  <a16:creationId xmlns:a16="http://schemas.microsoft.com/office/drawing/2014/main" id="{CA9C412F-0DF0-2157-B9CA-D743AD28244F}"/>
                </a:ext>
              </a:extLst>
            </p:cNvPr>
            <p:cNvSpPr/>
            <p:nvPr/>
          </p:nvSpPr>
          <p:spPr>
            <a:xfrm>
              <a:off x="9843796" y="3692274"/>
              <a:ext cx="1698158" cy="8859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Model evaluation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箭头: 右 18">
              <a:extLst>
                <a:ext uri="{FF2B5EF4-FFF2-40B4-BE49-F238E27FC236}">
                  <a16:creationId xmlns:a16="http://schemas.microsoft.com/office/drawing/2014/main" id="{BC0FFD6C-D867-AF42-DAFF-D736F2D3BF21}"/>
                </a:ext>
              </a:extLst>
            </p:cNvPr>
            <p:cNvSpPr/>
            <p:nvPr/>
          </p:nvSpPr>
          <p:spPr>
            <a:xfrm>
              <a:off x="9372788" y="3998885"/>
              <a:ext cx="346172" cy="241520"/>
            </a:xfrm>
            <a:prstGeom prst="rightArrow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矩形 4">
              <a:extLst>
                <a:ext uri="{FF2B5EF4-FFF2-40B4-BE49-F238E27FC236}">
                  <a16:creationId xmlns:a16="http://schemas.microsoft.com/office/drawing/2014/main" id="{6041ED66-4AB5-2570-286D-8BCA0EA77143}"/>
                </a:ext>
              </a:extLst>
            </p:cNvPr>
            <p:cNvSpPr/>
            <p:nvPr/>
          </p:nvSpPr>
          <p:spPr>
            <a:xfrm>
              <a:off x="4490265" y="2335243"/>
              <a:ext cx="2134469" cy="6463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ML overview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5" name="图片 40">
            <a:extLst>
              <a:ext uri="{FF2B5EF4-FFF2-40B4-BE49-F238E27FC236}">
                <a16:creationId xmlns:a16="http://schemas.microsoft.com/office/drawing/2014/main" id="{C481EC25-EF61-57B1-6586-4746413BC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32" y="3670062"/>
            <a:ext cx="841978" cy="89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8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Data and data representation in ML</a:t>
            </a:r>
          </a:p>
        </p:txBody>
      </p:sp>
      <p:sp>
        <p:nvSpPr>
          <p:cNvPr id="2" name="文本框 12">
            <a:extLst>
              <a:ext uri="{FF2B5EF4-FFF2-40B4-BE49-F238E27FC236}">
                <a16:creationId xmlns:a16="http://schemas.microsoft.com/office/drawing/2014/main" id="{4DBC0891-6539-75F5-0CBA-F358C328FE19}"/>
              </a:ext>
            </a:extLst>
          </p:cNvPr>
          <p:cNvSpPr txBox="1"/>
          <p:nvPr/>
        </p:nvSpPr>
        <p:spPr>
          <a:xfrm>
            <a:off x="642219" y="3093220"/>
            <a:ext cx="84736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Data types in ML: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Numerical data: discrete, continuous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Categorical data: binary, nominal, ordinal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文本框 14">
            <a:extLst>
              <a:ext uri="{FF2B5EF4-FFF2-40B4-BE49-F238E27FC236}">
                <a16:creationId xmlns:a16="http://schemas.microsoft.com/office/drawing/2014/main" id="{58B46FCD-1ED2-AF19-6FA3-CE65EB2C94E1}"/>
              </a:ext>
            </a:extLst>
          </p:cNvPr>
          <p:cNvSpPr txBox="1"/>
          <p:nvPr/>
        </p:nvSpPr>
        <p:spPr>
          <a:xfrm>
            <a:off x="642219" y="4752203"/>
            <a:ext cx="87236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Encoding of nominal data: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One-hot encoding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Dummy encoding</a:t>
            </a:r>
          </a:p>
        </p:txBody>
      </p:sp>
      <p:sp>
        <p:nvSpPr>
          <p:cNvPr id="4" name="文本框 11">
            <a:extLst>
              <a:ext uri="{FF2B5EF4-FFF2-40B4-BE49-F238E27FC236}">
                <a16:creationId xmlns:a16="http://schemas.microsoft.com/office/drawing/2014/main" id="{16D462C1-6695-DB56-E49D-998A0B79B26D}"/>
              </a:ext>
            </a:extLst>
          </p:cNvPr>
          <p:cNvSpPr txBox="1"/>
          <p:nvPr/>
        </p:nvSpPr>
        <p:spPr>
          <a:xfrm>
            <a:off x="626183" y="1733455"/>
            <a:ext cx="91429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Basic concepts in ML: </a:t>
            </a: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Dataset, sample, feature, label, model, training set, test set.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37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Select ML models</a:t>
            </a:r>
          </a:p>
        </p:txBody>
      </p:sp>
      <p:sp>
        <p:nvSpPr>
          <p:cNvPr id="2" name="矩形: 圆角 27">
            <a:extLst>
              <a:ext uri="{FF2B5EF4-FFF2-40B4-BE49-F238E27FC236}">
                <a16:creationId xmlns:a16="http://schemas.microsoft.com/office/drawing/2014/main" id="{E5787902-5950-7174-A8D7-659096A797F3}"/>
              </a:ext>
            </a:extLst>
          </p:cNvPr>
          <p:cNvSpPr/>
          <p:nvPr/>
        </p:nvSpPr>
        <p:spPr>
          <a:xfrm>
            <a:off x="4851823" y="3628156"/>
            <a:ext cx="2416723" cy="1020302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69F958D-1D8F-8D3A-9E95-AAE199725DC3}"/>
              </a:ext>
            </a:extLst>
          </p:cNvPr>
          <p:cNvGrpSpPr/>
          <p:nvPr/>
        </p:nvGrpSpPr>
        <p:grpSpPr>
          <a:xfrm>
            <a:off x="1851333" y="2335243"/>
            <a:ext cx="9690621" cy="2242977"/>
            <a:chOff x="1851333" y="2335243"/>
            <a:chExt cx="9690621" cy="2242977"/>
          </a:xfrm>
        </p:grpSpPr>
        <p:sp>
          <p:nvSpPr>
            <p:cNvPr id="3" name="箭头: 右 9">
              <a:extLst>
                <a:ext uri="{FF2B5EF4-FFF2-40B4-BE49-F238E27FC236}">
                  <a16:creationId xmlns:a16="http://schemas.microsoft.com/office/drawing/2014/main" id="{BC0F57DD-D70C-186D-CF2B-C88E9E149109}"/>
                </a:ext>
              </a:extLst>
            </p:cNvPr>
            <p:cNvSpPr/>
            <p:nvPr/>
          </p:nvSpPr>
          <p:spPr>
            <a:xfrm>
              <a:off x="1851333" y="4002876"/>
              <a:ext cx="387345" cy="215173"/>
            </a:xfrm>
            <a:prstGeom prst="rightArrow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矩形 11">
              <a:extLst>
                <a:ext uri="{FF2B5EF4-FFF2-40B4-BE49-F238E27FC236}">
                  <a16:creationId xmlns:a16="http://schemas.microsoft.com/office/drawing/2014/main" id="{4904E934-996E-8203-4EAB-56BBFD69EF93}"/>
                </a:ext>
              </a:extLst>
            </p:cNvPr>
            <p:cNvSpPr/>
            <p:nvPr/>
          </p:nvSpPr>
          <p:spPr>
            <a:xfrm>
              <a:off x="2313931" y="3692274"/>
              <a:ext cx="2215489" cy="8859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Data representation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箭头: 右 12">
              <a:extLst>
                <a:ext uri="{FF2B5EF4-FFF2-40B4-BE49-F238E27FC236}">
                  <a16:creationId xmlns:a16="http://schemas.microsoft.com/office/drawing/2014/main" id="{60CC2AB8-3EDB-C1A1-831D-4492798ACFA3}"/>
                </a:ext>
              </a:extLst>
            </p:cNvPr>
            <p:cNvSpPr/>
            <p:nvPr/>
          </p:nvSpPr>
          <p:spPr>
            <a:xfrm>
              <a:off x="4595006" y="3990051"/>
              <a:ext cx="404359" cy="211182"/>
            </a:xfrm>
            <a:prstGeom prst="rightArrow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13">
              <a:extLst>
                <a:ext uri="{FF2B5EF4-FFF2-40B4-BE49-F238E27FC236}">
                  <a16:creationId xmlns:a16="http://schemas.microsoft.com/office/drawing/2014/main" id="{19CE3A41-F71D-94A8-FA72-EF8745CDE09D}"/>
                </a:ext>
              </a:extLst>
            </p:cNvPr>
            <p:cNvSpPr/>
            <p:nvPr/>
          </p:nvSpPr>
          <p:spPr>
            <a:xfrm>
              <a:off x="5073369" y="3692274"/>
              <a:ext cx="1959797" cy="8859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Select ML algorithms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箭头: 右 14">
              <a:extLst>
                <a:ext uri="{FF2B5EF4-FFF2-40B4-BE49-F238E27FC236}">
                  <a16:creationId xmlns:a16="http://schemas.microsoft.com/office/drawing/2014/main" id="{EC7FB5BD-7032-89D5-E206-809A66B285B2}"/>
                </a:ext>
              </a:extLst>
            </p:cNvPr>
            <p:cNvSpPr/>
            <p:nvPr/>
          </p:nvSpPr>
          <p:spPr>
            <a:xfrm>
              <a:off x="7089167" y="4000935"/>
              <a:ext cx="433349" cy="241520"/>
            </a:xfrm>
            <a:prstGeom prst="rightArrow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矩形 16">
              <a:extLst>
                <a:ext uri="{FF2B5EF4-FFF2-40B4-BE49-F238E27FC236}">
                  <a16:creationId xmlns:a16="http://schemas.microsoft.com/office/drawing/2014/main" id="{A6EC1055-83F9-F013-6410-DC3F3B3ABD41}"/>
                </a:ext>
              </a:extLst>
            </p:cNvPr>
            <p:cNvSpPr/>
            <p:nvPr/>
          </p:nvSpPr>
          <p:spPr>
            <a:xfrm>
              <a:off x="7629010" y="3692274"/>
              <a:ext cx="1618942" cy="8859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Model training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7">
              <a:extLst>
                <a:ext uri="{FF2B5EF4-FFF2-40B4-BE49-F238E27FC236}">
                  <a16:creationId xmlns:a16="http://schemas.microsoft.com/office/drawing/2014/main" id="{DD8B7144-2528-184D-5598-97D2321DBB25}"/>
                </a:ext>
              </a:extLst>
            </p:cNvPr>
            <p:cNvSpPr/>
            <p:nvPr/>
          </p:nvSpPr>
          <p:spPr>
            <a:xfrm>
              <a:off x="9843796" y="3692274"/>
              <a:ext cx="1698158" cy="8859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Model evaluation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箭头: 右 18">
              <a:extLst>
                <a:ext uri="{FF2B5EF4-FFF2-40B4-BE49-F238E27FC236}">
                  <a16:creationId xmlns:a16="http://schemas.microsoft.com/office/drawing/2014/main" id="{794D91AE-AB0C-2261-D4A2-3E89487A7AB5}"/>
                </a:ext>
              </a:extLst>
            </p:cNvPr>
            <p:cNvSpPr/>
            <p:nvPr/>
          </p:nvSpPr>
          <p:spPr>
            <a:xfrm>
              <a:off x="9372788" y="3998885"/>
              <a:ext cx="346172" cy="241520"/>
            </a:xfrm>
            <a:prstGeom prst="rightArrow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矩形 4">
              <a:extLst>
                <a:ext uri="{FF2B5EF4-FFF2-40B4-BE49-F238E27FC236}">
                  <a16:creationId xmlns:a16="http://schemas.microsoft.com/office/drawing/2014/main" id="{8A3896A7-31E0-2C9E-03A4-6C78A976C980}"/>
                </a:ext>
              </a:extLst>
            </p:cNvPr>
            <p:cNvSpPr/>
            <p:nvPr/>
          </p:nvSpPr>
          <p:spPr>
            <a:xfrm>
              <a:off x="4490265" y="2335243"/>
              <a:ext cx="2134469" cy="6463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ML overview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5" name="图片 40">
            <a:extLst>
              <a:ext uri="{FF2B5EF4-FFF2-40B4-BE49-F238E27FC236}">
                <a16:creationId xmlns:a16="http://schemas.microsoft.com/office/drawing/2014/main" id="{52722F76-BEBE-483E-DD22-54DED4C0D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19" y="3660879"/>
            <a:ext cx="841978" cy="89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5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Select ML models</a:t>
            </a:r>
          </a:p>
        </p:txBody>
      </p:sp>
      <p:sp>
        <p:nvSpPr>
          <p:cNvPr id="3" name="文本框 9">
            <a:extLst>
              <a:ext uri="{FF2B5EF4-FFF2-40B4-BE49-F238E27FC236}">
                <a16:creationId xmlns:a16="http://schemas.microsoft.com/office/drawing/2014/main" id="{8C7CD616-33D1-4980-DEC8-1FE026E8EA6D}"/>
              </a:ext>
            </a:extLst>
          </p:cNvPr>
          <p:cNvSpPr txBox="1"/>
          <p:nvPr/>
        </p:nvSpPr>
        <p:spPr>
          <a:xfrm>
            <a:off x="891119" y="3865940"/>
            <a:ext cx="77794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Non-parametric models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: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KNN and its principles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Classification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with KNN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MATLAB implementation of KNN</a:t>
            </a:r>
          </a:p>
        </p:txBody>
      </p:sp>
      <p:sp>
        <p:nvSpPr>
          <p:cNvPr id="4" name="文本框 16">
            <a:extLst>
              <a:ext uri="{FF2B5EF4-FFF2-40B4-BE49-F238E27FC236}">
                <a16:creationId xmlns:a16="http://schemas.microsoft.com/office/drawing/2014/main" id="{3DCFCACB-B2AB-0E2E-EFDF-1FDCCB2B2444}"/>
              </a:ext>
            </a:extLst>
          </p:cNvPr>
          <p:cNvSpPr txBox="1"/>
          <p:nvPr/>
        </p:nvSpPr>
        <p:spPr>
          <a:xfrm>
            <a:off x="891119" y="1859340"/>
            <a:ext cx="769183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Parametric models: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inear regression (LR) and its principles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Financial prediction with LR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MATLAB implementation of LR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203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Training of ML models</a:t>
            </a:r>
          </a:p>
        </p:txBody>
      </p:sp>
      <p:sp>
        <p:nvSpPr>
          <p:cNvPr id="2" name="矩形: 圆角 27">
            <a:extLst>
              <a:ext uri="{FF2B5EF4-FFF2-40B4-BE49-F238E27FC236}">
                <a16:creationId xmlns:a16="http://schemas.microsoft.com/office/drawing/2014/main" id="{91079C10-2BD0-EBF0-3ECC-932C4A3E4DFF}"/>
              </a:ext>
            </a:extLst>
          </p:cNvPr>
          <p:cNvSpPr/>
          <p:nvPr/>
        </p:nvSpPr>
        <p:spPr>
          <a:xfrm>
            <a:off x="7333859" y="3628156"/>
            <a:ext cx="2215489" cy="1020302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9802DA1-7900-A85A-200A-1E4FB2E84F0A}"/>
              </a:ext>
            </a:extLst>
          </p:cNvPr>
          <p:cNvGrpSpPr/>
          <p:nvPr/>
        </p:nvGrpSpPr>
        <p:grpSpPr>
          <a:xfrm>
            <a:off x="1851333" y="2335243"/>
            <a:ext cx="9690621" cy="2242977"/>
            <a:chOff x="1851333" y="2335243"/>
            <a:chExt cx="9690621" cy="2242977"/>
          </a:xfrm>
        </p:grpSpPr>
        <p:sp>
          <p:nvSpPr>
            <p:cNvPr id="3" name="箭头: 右 9">
              <a:extLst>
                <a:ext uri="{FF2B5EF4-FFF2-40B4-BE49-F238E27FC236}">
                  <a16:creationId xmlns:a16="http://schemas.microsoft.com/office/drawing/2014/main" id="{393465B5-543E-D4C6-A548-D69A03A2503C}"/>
                </a:ext>
              </a:extLst>
            </p:cNvPr>
            <p:cNvSpPr/>
            <p:nvPr/>
          </p:nvSpPr>
          <p:spPr>
            <a:xfrm>
              <a:off x="1851333" y="4002876"/>
              <a:ext cx="387345" cy="215173"/>
            </a:xfrm>
            <a:prstGeom prst="rightArrow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矩形 11">
              <a:extLst>
                <a:ext uri="{FF2B5EF4-FFF2-40B4-BE49-F238E27FC236}">
                  <a16:creationId xmlns:a16="http://schemas.microsoft.com/office/drawing/2014/main" id="{D32D5DE9-1449-2B0B-E304-1A8DE21873E6}"/>
                </a:ext>
              </a:extLst>
            </p:cNvPr>
            <p:cNvSpPr/>
            <p:nvPr/>
          </p:nvSpPr>
          <p:spPr>
            <a:xfrm>
              <a:off x="2313931" y="3692274"/>
              <a:ext cx="2215489" cy="8859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Data representation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箭头: 右 12">
              <a:extLst>
                <a:ext uri="{FF2B5EF4-FFF2-40B4-BE49-F238E27FC236}">
                  <a16:creationId xmlns:a16="http://schemas.microsoft.com/office/drawing/2014/main" id="{AD1866F5-61BD-30F0-95D6-2AEE0E99A84C}"/>
                </a:ext>
              </a:extLst>
            </p:cNvPr>
            <p:cNvSpPr/>
            <p:nvPr/>
          </p:nvSpPr>
          <p:spPr>
            <a:xfrm>
              <a:off x="4595006" y="3990051"/>
              <a:ext cx="404359" cy="211182"/>
            </a:xfrm>
            <a:prstGeom prst="rightArrow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13">
              <a:extLst>
                <a:ext uri="{FF2B5EF4-FFF2-40B4-BE49-F238E27FC236}">
                  <a16:creationId xmlns:a16="http://schemas.microsoft.com/office/drawing/2014/main" id="{CC670179-EDFA-A3B3-EBFA-45406085B253}"/>
                </a:ext>
              </a:extLst>
            </p:cNvPr>
            <p:cNvSpPr/>
            <p:nvPr/>
          </p:nvSpPr>
          <p:spPr>
            <a:xfrm>
              <a:off x="5073369" y="3692274"/>
              <a:ext cx="1959797" cy="8859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Select ML algorithms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箭头: 右 14">
              <a:extLst>
                <a:ext uri="{FF2B5EF4-FFF2-40B4-BE49-F238E27FC236}">
                  <a16:creationId xmlns:a16="http://schemas.microsoft.com/office/drawing/2014/main" id="{433D7470-AA54-709D-9A7E-8949F74275A2}"/>
                </a:ext>
              </a:extLst>
            </p:cNvPr>
            <p:cNvSpPr/>
            <p:nvPr/>
          </p:nvSpPr>
          <p:spPr>
            <a:xfrm>
              <a:off x="7089167" y="4000935"/>
              <a:ext cx="433349" cy="241520"/>
            </a:xfrm>
            <a:prstGeom prst="rightArrow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矩形 16">
              <a:extLst>
                <a:ext uri="{FF2B5EF4-FFF2-40B4-BE49-F238E27FC236}">
                  <a16:creationId xmlns:a16="http://schemas.microsoft.com/office/drawing/2014/main" id="{502B332C-03AE-F6C7-7DB0-D704103A6CCA}"/>
                </a:ext>
              </a:extLst>
            </p:cNvPr>
            <p:cNvSpPr/>
            <p:nvPr/>
          </p:nvSpPr>
          <p:spPr>
            <a:xfrm>
              <a:off x="7629010" y="3692274"/>
              <a:ext cx="1618942" cy="8859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Model training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7">
              <a:extLst>
                <a:ext uri="{FF2B5EF4-FFF2-40B4-BE49-F238E27FC236}">
                  <a16:creationId xmlns:a16="http://schemas.microsoft.com/office/drawing/2014/main" id="{1DDD2C2D-799A-4A80-690A-65557C8EE640}"/>
                </a:ext>
              </a:extLst>
            </p:cNvPr>
            <p:cNvSpPr/>
            <p:nvPr/>
          </p:nvSpPr>
          <p:spPr>
            <a:xfrm>
              <a:off x="9843796" y="3692274"/>
              <a:ext cx="1698158" cy="8859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Model evaluation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箭头: 右 18">
              <a:extLst>
                <a:ext uri="{FF2B5EF4-FFF2-40B4-BE49-F238E27FC236}">
                  <a16:creationId xmlns:a16="http://schemas.microsoft.com/office/drawing/2014/main" id="{4559EAB9-D80D-BF5B-B9C4-4E15CDFBBFBA}"/>
                </a:ext>
              </a:extLst>
            </p:cNvPr>
            <p:cNvSpPr/>
            <p:nvPr/>
          </p:nvSpPr>
          <p:spPr>
            <a:xfrm>
              <a:off x="9372788" y="3998885"/>
              <a:ext cx="346172" cy="241520"/>
            </a:xfrm>
            <a:prstGeom prst="rightArrow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矩形 4">
              <a:extLst>
                <a:ext uri="{FF2B5EF4-FFF2-40B4-BE49-F238E27FC236}">
                  <a16:creationId xmlns:a16="http://schemas.microsoft.com/office/drawing/2014/main" id="{9DCAE9AD-2B1E-7E39-5CAD-0B08AF23237E}"/>
                </a:ext>
              </a:extLst>
            </p:cNvPr>
            <p:cNvSpPr/>
            <p:nvPr/>
          </p:nvSpPr>
          <p:spPr>
            <a:xfrm>
              <a:off x="4490265" y="2335243"/>
              <a:ext cx="2134469" cy="6463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ML overview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5" name="图片 40">
            <a:extLst>
              <a:ext uri="{FF2B5EF4-FFF2-40B4-BE49-F238E27FC236}">
                <a16:creationId xmlns:a16="http://schemas.microsoft.com/office/drawing/2014/main" id="{902D83D2-8E01-CAD5-8057-C8D610FFF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32" y="3670062"/>
            <a:ext cx="841978" cy="89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18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Training of ML models</a:t>
            </a:r>
          </a:p>
        </p:txBody>
      </p:sp>
      <p:sp>
        <p:nvSpPr>
          <p:cNvPr id="3" name="文本框 9">
            <a:extLst>
              <a:ext uri="{FF2B5EF4-FFF2-40B4-BE49-F238E27FC236}">
                <a16:creationId xmlns:a16="http://schemas.microsoft.com/office/drawing/2014/main" id="{CBA4D372-10AB-EED3-3114-2B26A51CC235}"/>
              </a:ext>
            </a:extLst>
          </p:cNvPr>
          <p:cNvSpPr txBox="1"/>
          <p:nvPr/>
        </p:nvSpPr>
        <p:spPr>
          <a:xfrm>
            <a:off x="722032" y="1832157"/>
            <a:ext cx="64326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Loss function: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Regression: MSE, MAE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Classification: cross entropy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1">
            <a:extLst>
              <a:ext uri="{FF2B5EF4-FFF2-40B4-BE49-F238E27FC236}">
                <a16:creationId xmlns:a16="http://schemas.microsoft.com/office/drawing/2014/main" id="{4CFBB810-0397-CD60-A7F7-5F58CD4C9FF0}"/>
              </a:ext>
            </a:extLst>
          </p:cNvPr>
          <p:cNvSpPr txBox="1"/>
          <p:nvPr/>
        </p:nvSpPr>
        <p:spPr>
          <a:xfrm>
            <a:off x="708040" y="4442714"/>
            <a:ext cx="64326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Three kinds of gradient descent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Batch gradient descent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Stochastic gradient descent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Mini-batch gradient descent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12">
            <a:extLst>
              <a:ext uri="{FF2B5EF4-FFF2-40B4-BE49-F238E27FC236}">
                <a16:creationId xmlns:a16="http://schemas.microsoft.com/office/drawing/2014/main" id="{5D03FA38-8027-AD64-C626-8B251E7CAA18}"/>
              </a:ext>
            </a:extLst>
          </p:cNvPr>
          <p:cNvSpPr txBox="1"/>
          <p:nvPr/>
        </p:nvSpPr>
        <p:spPr>
          <a:xfrm>
            <a:off x="708040" y="3225350"/>
            <a:ext cx="80730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Loss function minimization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Gradient descent algorithm</a:t>
            </a:r>
          </a:p>
        </p:txBody>
      </p:sp>
    </p:spTree>
    <p:extLst>
      <p:ext uri="{BB962C8B-B14F-4D97-AF65-F5344CB8AC3E}">
        <p14:creationId xmlns:p14="http://schemas.microsoft.com/office/powerpoint/2010/main" val="395240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Evaluation of ML models</a:t>
            </a:r>
          </a:p>
        </p:txBody>
      </p:sp>
      <p:sp>
        <p:nvSpPr>
          <p:cNvPr id="2" name="矩形: 圆角 27">
            <a:extLst>
              <a:ext uri="{FF2B5EF4-FFF2-40B4-BE49-F238E27FC236}">
                <a16:creationId xmlns:a16="http://schemas.microsoft.com/office/drawing/2014/main" id="{84BA89F3-31E9-AE18-393A-4039919D3F92}"/>
              </a:ext>
            </a:extLst>
          </p:cNvPr>
          <p:cNvSpPr/>
          <p:nvPr/>
        </p:nvSpPr>
        <p:spPr>
          <a:xfrm>
            <a:off x="9535884" y="3628156"/>
            <a:ext cx="2215489" cy="1020302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3A01DD-0908-A062-0617-32CEE0CCAEDE}"/>
              </a:ext>
            </a:extLst>
          </p:cNvPr>
          <p:cNvGrpSpPr/>
          <p:nvPr/>
        </p:nvGrpSpPr>
        <p:grpSpPr>
          <a:xfrm>
            <a:off x="1851333" y="2335243"/>
            <a:ext cx="9690621" cy="2242977"/>
            <a:chOff x="1851333" y="2335243"/>
            <a:chExt cx="9690621" cy="2242977"/>
          </a:xfrm>
        </p:grpSpPr>
        <p:sp>
          <p:nvSpPr>
            <p:cNvPr id="3" name="箭头: 右 9">
              <a:extLst>
                <a:ext uri="{FF2B5EF4-FFF2-40B4-BE49-F238E27FC236}">
                  <a16:creationId xmlns:a16="http://schemas.microsoft.com/office/drawing/2014/main" id="{7B9253B6-A6B3-8991-30F2-D374E8CDB400}"/>
                </a:ext>
              </a:extLst>
            </p:cNvPr>
            <p:cNvSpPr/>
            <p:nvPr/>
          </p:nvSpPr>
          <p:spPr>
            <a:xfrm>
              <a:off x="1851333" y="4002876"/>
              <a:ext cx="387345" cy="215173"/>
            </a:xfrm>
            <a:prstGeom prst="rightArrow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矩形 11">
              <a:extLst>
                <a:ext uri="{FF2B5EF4-FFF2-40B4-BE49-F238E27FC236}">
                  <a16:creationId xmlns:a16="http://schemas.microsoft.com/office/drawing/2014/main" id="{8554F3EC-7005-8BB4-BCA6-DA909093B917}"/>
                </a:ext>
              </a:extLst>
            </p:cNvPr>
            <p:cNvSpPr/>
            <p:nvPr/>
          </p:nvSpPr>
          <p:spPr>
            <a:xfrm>
              <a:off x="2313931" y="3692274"/>
              <a:ext cx="2215489" cy="8859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Data representation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箭头: 右 12">
              <a:extLst>
                <a:ext uri="{FF2B5EF4-FFF2-40B4-BE49-F238E27FC236}">
                  <a16:creationId xmlns:a16="http://schemas.microsoft.com/office/drawing/2014/main" id="{DB2E18A8-8E40-9142-A736-92F4B9944957}"/>
                </a:ext>
              </a:extLst>
            </p:cNvPr>
            <p:cNvSpPr/>
            <p:nvPr/>
          </p:nvSpPr>
          <p:spPr>
            <a:xfrm>
              <a:off x="4595006" y="3990051"/>
              <a:ext cx="404359" cy="211182"/>
            </a:xfrm>
            <a:prstGeom prst="rightArrow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13">
              <a:extLst>
                <a:ext uri="{FF2B5EF4-FFF2-40B4-BE49-F238E27FC236}">
                  <a16:creationId xmlns:a16="http://schemas.microsoft.com/office/drawing/2014/main" id="{93BAE515-41BF-F21B-7DCB-2DE072AE64CA}"/>
                </a:ext>
              </a:extLst>
            </p:cNvPr>
            <p:cNvSpPr/>
            <p:nvPr/>
          </p:nvSpPr>
          <p:spPr>
            <a:xfrm>
              <a:off x="5073369" y="3692274"/>
              <a:ext cx="1959797" cy="8859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Select ML algorithms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箭头: 右 14">
              <a:extLst>
                <a:ext uri="{FF2B5EF4-FFF2-40B4-BE49-F238E27FC236}">
                  <a16:creationId xmlns:a16="http://schemas.microsoft.com/office/drawing/2014/main" id="{F8DDEC0B-C59A-577D-3641-70D20409A1E2}"/>
                </a:ext>
              </a:extLst>
            </p:cNvPr>
            <p:cNvSpPr/>
            <p:nvPr/>
          </p:nvSpPr>
          <p:spPr>
            <a:xfrm>
              <a:off x="7089167" y="4000935"/>
              <a:ext cx="433349" cy="241520"/>
            </a:xfrm>
            <a:prstGeom prst="rightArrow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矩形 16">
              <a:extLst>
                <a:ext uri="{FF2B5EF4-FFF2-40B4-BE49-F238E27FC236}">
                  <a16:creationId xmlns:a16="http://schemas.microsoft.com/office/drawing/2014/main" id="{39EF01DD-8C4E-3EEE-D486-525C6BDC4FC3}"/>
                </a:ext>
              </a:extLst>
            </p:cNvPr>
            <p:cNvSpPr/>
            <p:nvPr/>
          </p:nvSpPr>
          <p:spPr>
            <a:xfrm>
              <a:off x="7629010" y="3692274"/>
              <a:ext cx="1618942" cy="8859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Model training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17">
              <a:extLst>
                <a:ext uri="{FF2B5EF4-FFF2-40B4-BE49-F238E27FC236}">
                  <a16:creationId xmlns:a16="http://schemas.microsoft.com/office/drawing/2014/main" id="{11B3F36D-8292-F43F-7366-BD154BDF9F8C}"/>
                </a:ext>
              </a:extLst>
            </p:cNvPr>
            <p:cNvSpPr/>
            <p:nvPr/>
          </p:nvSpPr>
          <p:spPr>
            <a:xfrm>
              <a:off x="9843796" y="3692274"/>
              <a:ext cx="1698158" cy="8859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Model evaluation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箭头: 右 18">
              <a:extLst>
                <a:ext uri="{FF2B5EF4-FFF2-40B4-BE49-F238E27FC236}">
                  <a16:creationId xmlns:a16="http://schemas.microsoft.com/office/drawing/2014/main" id="{F755C03F-6159-5B7C-737D-A3D2E13DCDB1}"/>
                </a:ext>
              </a:extLst>
            </p:cNvPr>
            <p:cNvSpPr/>
            <p:nvPr/>
          </p:nvSpPr>
          <p:spPr>
            <a:xfrm>
              <a:off x="9372788" y="3998885"/>
              <a:ext cx="346172" cy="241520"/>
            </a:xfrm>
            <a:prstGeom prst="rightArrow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矩形 4">
              <a:extLst>
                <a:ext uri="{FF2B5EF4-FFF2-40B4-BE49-F238E27FC236}">
                  <a16:creationId xmlns:a16="http://schemas.microsoft.com/office/drawing/2014/main" id="{56A03193-51CF-4C56-0EA4-A574E2E7844B}"/>
                </a:ext>
              </a:extLst>
            </p:cNvPr>
            <p:cNvSpPr/>
            <p:nvPr/>
          </p:nvSpPr>
          <p:spPr>
            <a:xfrm>
              <a:off x="4490265" y="2335243"/>
              <a:ext cx="2134469" cy="6463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ML overview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5" name="图片 40">
            <a:extLst>
              <a:ext uri="{FF2B5EF4-FFF2-40B4-BE49-F238E27FC236}">
                <a16:creationId xmlns:a16="http://schemas.microsoft.com/office/drawing/2014/main" id="{DA096670-5AB6-39C9-E918-3D447ADBD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32" y="3670062"/>
            <a:ext cx="841978" cy="89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46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Evaluation of ML models</a:t>
            </a:r>
          </a:p>
        </p:txBody>
      </p:sp>
      <p:sp>
        <p:nvSpPr>
          <p:cNvPr id="2" name="文本框 7">
            <a:extLst>
              <a:ext uri="{FF2B5EF4-FFF2-40B4-BE49-F238E27FC236}">
                <a16:creationId xmlns:a16="http://schemas.microsoft.com/office/drawing/2014/main" id="{C21D665A-65C1-5EC5-E836-9FAEA7307B59}"/>
              </a:ext>
            </a:extLst>
          </p:cNvPr>
          <p:cNvSpPr txBox="1"/>
          <p:nvPr/>
        </p:nvSpPr>
        <p:spPr>
          <a:xfrm>
            <a:off x="760626" y="1708368"/>
            <a:ext cx="9210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Bias and Variance: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definition, influence on prediction error</a:t>
            </a:r>
          </a:p>
        </p:txBody>
      </p:sp>
      <p:sp>
        <p:nvSpPr>
          <p:cNvPr id="3" name="文本框 9">
            <a:extLst>
              <a:ext uri="{FF2B5EF4-FFF2-40B4-BE49-F238E27FC236}">
                <a16:creationId xmlns:a16="http://schemas.microsoft.com/office/drawing/2014/main" id="{6F2186FB-9DB2-A4CD-31E4-73F6EA297DC8}"/>
              </a:ext>
            </a:extLst>
          </p:cNvPr>
          <p:cNvSpPr txBox="1"/>
          <p:nvPr/>
        </p:nvSpPr>
        <p:spPr>
          <a:xfrm>
            <a:off x="760625" y="2554305"/>
            <a:ext cx="6432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Underfitting: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detection, avoidance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0">
            <a:extLst>
              <a:ext uri="{FF2B5EF4-FFF2-40B4-BE49-F238E27FC236}">
                <a16:creationId xmlns:a16="http://schemas.microsoft.com/office/drawing/2014/main" id="{63F4E00F-717B-B3FB-5883-C2FF4F367EFB}"/>
              </a:ext>
            </a:extLst>
          </p:cNvPr>
          <p:cNvSpPr txBox="1"/>
          <p:nvPr/>
        </p:nvSpPr>
        <p:spPr>
          <a:xfrm>
            <a:off x="760626" y="3430177"/>
            <a:ext cx="6432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Overfitting: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detection, avoidance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11">
            <a:extLst>
              <a:ext uri="{FF2B5EF4-FFF2-40B4-BE49-F238E27FC236}">
                <a16:creationId xmlns:a16="http://schemas.microsoft.com/office/drawing/2014/main" id="{6AD878B7-1C5F-2FDC-6324-F264D352D372}"/>
              </a:ext>
            </a:extLst>
          </p:cNvPr>
          <p:cNvSpPr txBox="1"/>
          <p:nvPr/>
        </p:nvSpPr>
        <p:spPr>
          <a:xfrm>
            <a:off x="760624" y="5641042"/>
            <a:ext cx="64326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Bias-variance trade-off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principles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good fitting</a:t>
            </a:r>
          </a:p>
        </p:txBody>
      </p:sp>
      <p:sp>
        <p:nvSpPr>
          <p:cNvPr id="6" name="文本框 12">
            <a:extLst>
              <a:ext uri="{FF2B5EF4-FFF2-40B4-BE49-F238E27FC236}">
                <a16:creationId xmlns:a16="http://schemas.microsoft.com/office/drawing/2014/main" id="{A71376CF-625E-3D0F-EE9C-B6BEC1053406}"/>
              </a:ext>
            </a:extLst>
          </p:cNvPr>
          <p:cNvSpPr txBox="1"/>
          <p:nvPr/>
        </p:nvSpPr>
        <p:spPr>
          <a:xfrm>
            <a:off x="760626" y="4206861"/>
            <a:ext cx="80730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K fold cross-validation: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principles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bias-variance estimation by k fold cross-validation </a:t>
            </a:r>
          </a:p>
        </p:txBody>
      </p:sp>
    </p:spTree>
    <p:extLst>
      <p:ext uri="{BB962C8B-B14F-4D97-AF65-F5344CB8AC3E}">
        <p14:creationId xmlns:p14="http://schemas.microsoft.com/office/powerpoint/2010/main" val="427559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186783-BD24-4063-B3F8-47A9094E2A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0B1202-4244-4BD1-ABAF-942BE0E9CE9A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B95094FA-4FC4-4615-9A1C-C9880301BF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1895</TotalTime>
  <Words>302</Words>
  <Application>Microsoft Office PowerPoint</Application>
  <PresentationFormat>Widescreen</PresentationFormat>
  <Paragraphs>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Summary of the ML Process</vt:lpstr>
      <vt:lpstr>The ML overview</vt:lpstr>
      <vt:lpstr>An overview of ML</vt:lpstr>
      <vt:lpstr>Data and data representation in ML</vt:lpstr>
      <vt:lpstr>Data and data representation in ML</vt:lpstr>
      <vt:lpstr>Select ML models</vt:lpstr>
      <vt:lpstr>Select ML models</vt:lpstr>
      <vt:lpstr>Training of ML models</vt:lpstr>
      <vt:lpstr>Training of ML models</vt:lpstr>
      <vt:lpstr>Evaluation of ML models</vt:lpstr>
      <vt:lpstr>Evaluation of ML models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77</cp:revision>
  <dcterms:created xsi:type="dcterms:W3CDTF">2021-01-06T14:22:07Z</dcterms:created>
  <dcterms:modified xsi:type="dcterms:W3CDTF">2024-08-14T13:38:12Z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