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56" r:id="rId5"/>
    <p:sldId id="479" r:id="rId6"/>
    <p:sldId id="480" r:id="rId7"/>
    <p:sldId id="487" r:id="rId8"/>
    <p:sldId id="488" r:id="rId9"/>
    <p:sldId id="489" r:id="rId10"/>
    <p:sldId id="490" r:id="rId11"/>
    <p:sldId id="491" r:id="rId12"/>
    <p:sldId id="492" r:id="rId13"/>
    <p:sldId id="481" r:id="rId14"/>
    <p:sldId id="483" r:id="rId15"/>
    <p:sldId id="493" r:id="rId16"/>
    <p:sldId id="496" r:id="rId17"/>
    <p:sldId id="494" r:id="rId18"/>
    <p:sldId id="273" r:id="rId19"/>
    <p:sldId id="49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05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977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442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67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284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994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711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8540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1050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364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156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2559E32-3873-7D45-B9C6-C4F839B30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81BC6CA5-FB54-8746-B1B1-0D09602CEAE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1699336"/>
            <a:ext cx="2452283" cy="457573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DECEF87-946C-834D-8550-61FE3D91A5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49235" y="1705343"/>
            <a:ext cx="9210963" cy="4526124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 b="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Body text Arial 24pt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6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19/08/2024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3" r:id="rId2"/>
    <p:sldLayoutId id="2147483652" r:id="rId3"/>
    <p:sldLayoutId id="2147483653" r:id="rId4"/>
    <p:sldLayoutId id="2147483649" r:id="rId5"/>
    <p:sldLayoutId id="2147483654" r:id="rId6"/>
    <p:sldLayoutId id="2147483656" r:id="rId7"/>
    <p:sldLayoutId id="2147483684" r:id="rId8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MATLAB Basics: The Computing Environment </a:t>
            </a:r>
            <a:br>
              <a:rPr lang="en-US" dirty="0">
                <a:solidFill>
                  <a:schemeClr val="tx1"/>
                </a:solidFill>
              </a:rPr>
            </a:b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D6D11-8D2E-DA4D-98A2-908011AD7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b="1" dirty="0"/>
              <a:t>What is MATLAB?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AF736A4-4005-541A-EAA7-B4C4FC0ED240}"/>
              </a:ext>
            </a:extLst>
          </p:cNvPr>
          <p:cNvSpPr txBox="1">
            <a:spLocks/>
          </p:cNvSpPr>
          <p:nvPr/>
        </p:nvSpPr>
        <p:spPr>
          <a:xfrm>
            <a:off x="391277" y="2585432"/>
            <a:ext cx="11150690" cy="3246201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GB" sz="2600" dirty="0"/>
              <a:t>It is a scientific research and engineering development environment.</a:t>
            </a:r>
          </a:p>
          <a:p>
            <a:pPr>
              <a:spcBef>
                <a:spcPts val="1200"/>
              </a:spcBef>
            </a:pPr>
            <a:r>
              <a:rPr lang="en-GB" sz="2600" dirty="0"/>
              <a:t>MATLAB is popular in industry as well as academia (more than 5 million users).</a:t>
            </a:r>
          </a:p>
          <a:p>
            <a:pPr>
              <a:spcBef>
                <a:spcPts val="1200"/>
              </a:spcBef>
            </a:pPr>
            <a:r>
              <a:rPr lang="en-GB" sz="2600" dirty="0"/>
              <a:t>MATLAB is used by most automotive, aerospace &amp; telecom companies &amp; by the top 10 medical device companies.</a:t>
            </a:r>
          </a:p>
          <a:p>
            <a:pPr>
              <a:spcBef>
                <a:spcPts val="1200"/>
              </a:spcBef>
            </a:pPr>
            <a:r>
              <a:rPr lang="en-GB" sz="2600" dirty="0"/>
              <a:t>MATLAB has powerful toolboxes for engineering applications.</a:t>
            </a:r>
          </a:p>
          <a:p>
            <a:pPr lvl="1">
              <a:spcBef>
                <a:spcPts val="1200"/>
              </a:spcBef>
            </a:pPr>
            <a:r>
              <a:rPr lang="en-GB" sz="2600" dirty="0"/>
              <a:t>Complex mathematics and implementations become built-in functions. </a:t>
            </a:r>
          </a:p>
          <a:p>
            <a:pPr lvl="1">
              <a:spcBef>
                <a:spcPts val="1200"/>
              </a:spcBef>
            </a:pPr>
            <a:r>
              <a:rPr lang="en-GB" sz="2600" dirty="0"/>
              <a:t>Thoroughly tested.</a:t>
            </a:r>
          </a:p>
          <a:p>
            <a:pPr lvl="1">
              <a:spcBef>
                <a:spcPts val="1200"/>
              </a:spcBef>
            </a:pPr>
            <a:r>
              <a:rPr lang="en-GB" sz="2600" dirty="0"/>
              <a:t>Well documented</a:t>
            </a:r>
            <a:r>
              <a:rPr lang="en-GB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B534A-407A-CB28-697F-BD072BEF4F79}"/>
              </a:ext>
            </a:extLst>
          </p:cNvPr>
          <p:cNvSpPr txBox="1">
            <a:spLocks/>
          </p:cNvSpPr>
          <p:nvPr/>
        </p:nvSpPr>
        <p:spPr>
          <a:xfrm>
            <a:off x="391277" y="1776783"/>
            <a:ext cx="9210963" cy="70041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GB" dirty="0"/>
              <a:t>MATLAB is an interpreted scripting language designed for scientists and engineers to improve their productivity.</a:t>
            </a:r>
          </a:p>
        </p:txBody>
      </p:sp>
    </p:spTree>
    <p:extLst>
      <p:ext uri="{BB962C8B-B14F-4D97-AF65-F5344CB8AC3E}">
        <p14:creationId xmlns:p14="http://schemas.microsoft.com/office/powerpoint/2010/main" val="109724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69E69F5-D76E-509B-0653-DF8E70A11305}"/>
              </a:ext>
            </a:extLst>
          </p:cNvPr>
          <p:cNvGrpSpPr/>
          <p:nvPr/>
        </p:nvGrpSpPr>
        <p:grpSpPr>
          <a:xfrm>
            <a:off x="728544" y="1562091"/>
            <a:ext cx="8499625" cy="4335601"/>
            <a:chOff x="132514" y="982339"/>
            <a:chExt cx="6157913" cy="33658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9051C9F-7F0E-3E55-0CA5-9918169256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" r="42868" b="2847"/>
            <a:stretch/>
          </p:blipFill>
          <p:spPr>
            <a:xfrm>
              <a:off x="132514" y="982339"/>
              <a:ext cx="6157913" cy="336582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8BBF690-4E46-D0CF-D2C9-33ADA756D8EC}"/>
                </a:ext>
              </a:extLst>
            </p:cNvPr>
            <p:cNvSpPr/>
            <p:nvPr/>
          </p:nvSpPr>
          <p:spPr>
            <a:xfrm>
              <a:off x="132514" y="1036525"/>
              <a:ext cx="6157913" cy="282688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39A568A-7F7C-FD6F-BC99-21E4AFC5950C}"/>
              </a:ext>
            </a:extLst>
          </p:cNvPr>
          <p:cNvSpPr txBox="1"/>
          <p:nvPr/>
        </p:nvSpPr>
        <p:spPr>
          <a:xfrm>
            <a:off x="602027" y="6045077"/>
            <a:ext cx="237443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Font typeface="+mj-lt"/>
              <a:buAutoNum type="arabicPeriod"/>
            </a:pPr>
            <a:r>
              <a:rPr lang="en-US" sz="14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Toolstrip</a:t>
            </a:r>
          </a:p>
          <a:p>
            <a:pPr marL="342900" indent="-342900" algn="l">
              <a:spcAft>
                <a:spcPts val="600"/>
              </a:spcAft>
              <a:buFont typeface="+mj-lt"/>
              <a:buAutoNum type="arabicPeriod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Current Folder Toolbar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6377CE-C09B-CBB3-5F83-74F93AE8D6DD}"/>
              </a:ext>
            </a:extLst>
          </p:cNvPr>
          <p:cNvSpPr txBox="1"/>
          <p:nvPr/>
        </p:nvSpPr>
        <p:spPr>
          <a:xfrm>
            <a:off x="3088432" y="6045077"/>
            <a:ext cx="245380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Current Folder Browser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Workspace Browser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3935D4-3B8B-3EF6-215F-33BC0CB6A283}"/>
              </a:ext>
            </a:extLst>
          </p:cNvPr>
          <p:cNvSpPr txBox="1"/>
          <p:nvPr/>
        </p:nvSpPr>
        <p:spPr>
          <a:xfrm>
            <a:off x="5709112" y="6052772"/>
            <a:ext cx="237443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Command Window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Editor Window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84C803-DCB9-9101-EBE5-F05DEB712C2F}"/>
              </a:ext>
            </a:extLst>
          </p:cNvPr>
          <p:cNvSpPr txBox="1"/>
          <p:nvPr/>
        </p:nvSpPr>
        <p:spPr>
          <a:xfrm>
            <a:off x="8140159" y="6054408"/>
            <a:ext cx="23744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7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Command History List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73EF6EB-ED29-25B5-BD4C-C356C5670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MATLAB layout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9843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69E69F5-D76E-509B-0653-DF8E70A11305}"/>
              </a:ext>
            </a:extLst>
          </p:cNvPr>
          <p:cNvGrpSpPr/>
          <p:nvPr/>
        </p:nvGrpSpPr>
        <p:grpSpPr>
          <a:xfrm>
            <a:off x="728544" y="1562091"/>
            <a:ext cx="8499625" cy="4335601"/>
            <a:chOff x="132514" y="982339"/>
            <a:chExt cx="6157913" cy="33658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9051C9F-7F0E-3E55-0CA5-9918169256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" r="42868" b="2847"/>
            <a:stretch/>
          </p:blipFill>
          <p:spPr>
            <a:xfrm>
              <a:off x="132514" y="982339"/>
              <a:ext cx="6157913" cy="336582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8BBF690-4E46-D0CF-D2C9-33ADA756D8EC}"/>
                </a:ext>
              </a:extLst>
            </p:cNvPr>
            <p:cNvSpPr/>
            <p:nvPr/>
          </p:nvSpPr>
          <p:spPr>
            <a:xfrm>
              <a:off x="132514" y="1319775"/>
              <a:ext cx="6157913" cy="64632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39A568A-7F7C-FD6F-BC99-21E4AFC5950C}"/>
              </a:ext>
            </a:extLst>
          </p:cNvPr>
          <p:cNvSpPr txBox="1"/>
          <p:nvPr/>
        </p:nvSpPr>
        <p:spPr>
          <a:xfrm>
            <a:off x="602027" y="6045077"/>
            <a:ext cx="237443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Font typeface="+mj-lt"/>
              <a:buAutoNum type="arabicPeriod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Toolstrip</a:t>
            </a:r>
          </a:p>
          <a:p>
            <a:pPr marL="342900" indent="-342900" algn="l">
              <a:spcAft>
                <a:spcPts val="600"/>
              </a:spcAft>
              <a:buFont typeface="+mj-lt"/>
              <a:buAutoNum type="arabicPeriod"/>
            </a:pPr>
            <a:r>
              <a:rPr lang="en-US" sz="14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Current Folder Toolbar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6377CE-C09B-CBB3-5F83-74F93AE8D6DD}"/>
              </a:ext>
            </a:extLst>
          </p:cNvPr>
          <p:cNvSpPr txBox="1"/>
          <p:nvPr/>
        </p:nvSpPr>
        <p:spPr>
          <a:xfrm>
            <a:off x="3088432" y="6045077"/>
            <a:ext cx="245380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Current Folder Browser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Workspace Browser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3935D4-3B8B-3EF6-215F-33BC0CB6A283}"/>
              </a:ext>
            </a:extLst>
          </p:cNvPr>
          <p:cNvSpPr txBox="1"/>
          <p:nvPr/>
        </p:nvSpPr>
        <p:spPr>
          <a:xfrm>
            <a:off x="5709112" y="6052772"/>
            <a:ext cx="237443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Command Window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Editor Window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73EF6EB-ED29-25B5-BD4C-C356C5670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MATLAB layout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81DFE5-D782-9AD1-BFC4-07E4D995C7CC}"/>
              </a:ext>
            </a:extLst>
          </p:cNvPr>
          <p:cNvSpPr txBox="1"/>
          <p:nvPr/>
        </p:nvSpPr>
        <p:spPr>
          <a:xfrm>
            <a:off x="8140159" y="6054408"/>
            <a:ext cx="23744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7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Command History List</a:t>
            </a:r>
          </a:p>
        </p:txBody>
      </p:sp>
    </p:spTree>
    <p:extLst>
      <p:ext uri="{BB962C8B-B14F-4D97-AF65-F5344CB8AC3E}">
        <p14:creationId xmlns:p14="http://schemas.microsoft.com/office/powerpoint/2010/main" val="4116479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69E69F5-D76E-509B-0653-DF8E70A11305}"/>
              </a:ext>
            </a:extLst>
          </p:cNvPr>
          <p:cNvGrpSpPr/>
          <p:nvPr/>
        </p:nvGrpSpPr>
        <p:grpSpPr>
          <a:xfrm>
            <a:off x="728544" y="1562091"/>
            <a:ext cx="8499625" cy="4335601"/>
            <a:chOff x="132514" y="982339"/>
            <a:chExt cx="6157913" cy="33658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9051C9F-7F0E-3E55-0CA5-9918169256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" r="42868" b="2847"/>
            <a:stretch/>
          </p:blipFill>
          <p:spPr>
            <a:xfrm>
              <a:off x="132514" y="982339"/>
              <a:ext cx="6157913" cy="336582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8BBF690-4E46-D0CF-D2C9-33ADA756D8EC}"/>
                </a:ext>
              </a:extLst>
            </p:cNvPr>
            <p:cNvSpPr/>
            <p:nvPr/>
          </p:nvSpPr>
          <p:spPr>
            <a:xfrm>
              <a:off x="132515" y="1384968"/>
              <a:ext cx="844447" cy="2441081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39A568A-7F7C-FD6F-BC99-21E4AFC5950C}"/>
              </a:ext>
            </a:extLst>
          </p:cNvPr>
          <p:cNvSpPr txBox="1"/>
          <p:nvPr/>
        </p:nvSpPr>
        <p:spPr>
          <a:xfrm>
            <a:off x="602027" y="6045077"/>
            <a:ext cx="237443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Font typeface="+mj-lt"/>
              <a:buAutoNum type="arabicPeriod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Toolstrip</a:t>
            </a:r>
          </a:p>
          <a:p>
            <a:pPr marL="342900" indent="-342900" algn="l">
              <a:spcAft>
                <a:spcPts val="600"/>
              </a:spcAft>
              <a:buFont typeface="+mj-lt"/>
              <a:buAutoNum type="arabicPeriod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Current Folder Toolbar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6377CE-C09B-CBB3-5F83-74F93AE8D6DD}"/>
              </a:ext>
            </a:extLst>
          </p:cNvPr>
          <p:cNvSpPr txBox="1"/>
          <p:nvPr/>
        </p:nvSpPr>
        <p:spPr>
          <a:xfrm>
            <a:off x="3088432" y="6045077"/>
            <a:ext cx="245380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4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Current Folder Browser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Workspace Browser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3935D4-3B8B-3EF6-215F-33BC0CB6A283}"/>
              </a:ext>
            </a:extLst>
          </p:cNvPr>
          <p:cNvSpPr txBox="1"/>
          <p:nvPr/>
        </p:nvSpPr>
        <p:spPr>
          <a:xfrm>
            <a:off x="5709112" y="6052772"/>
            <a:ext cx="237443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Command Window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Editor Window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73EF6EB-ED29-25B5-BD4C-C356C5670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MATLAB layout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8D6B64-80E5-CDCA-65E1-F7D4B4FCB54C}"/>
              </a:ext>
            </a:extLst>
          </p:cNvPr>
          <p:cNvSpPr txBox="1"/>
          <p:nvPr/>
        </p:nvSpPr>
        <p:spPr>
          <a:xfrm>
            <a:off x="8140159" y="6054408"/>
            <a:ext cx="23744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7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Command History List</a:t>
            </a:r>
          </a:p>
        </p:txBody>
      </p:sp>
    </p:spTree>
    <p:extLst>
      <p:ext uri="{BB962C8B-B14F-4D97-AF65-F5344CB8AC3E}">
        <p14:creationId xmlns:p14="http://schemas.microsoft.com/office/powerpoint/2010/main" val="1677545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69E69F5-D76E-509B-0653-DF8E70A11305}"/>
              </a:ext>
            </a:extLst>
          </p:cNvPr>
          <p:cNvGrpSpPr/>
          <p:nvPr/>
        </p:nvGrpSpPr>
        <p:grpSpPr>
          <a:xfrm>
            <a:off x="728544" y="1562091"/>
            <a:ext cx="8499625" cy="4335601"/>
            <a:chOff x="132514" y="982339"/>
            <a:chExt cx="6157913" cy="33658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9051C9F-7F0E-3E55-0CA5-9918169256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" r="42868" b="2847"/>
            <a:stretch/>
          </p:blipFill>
          <p:spPr>
            <a:xfrm>
              <a:off x="132514" y="982339"/>
              <a:ext cx="6157913" cy="336582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8BBF690-4E46-D0CF-D2C9-33ADA756D8EC}"/>
                </a:ext>
              </a:extLst>
            </p:cNvPr>
            <p:cNvSpPr/>
            <p:nvPr/>
          </p:nvSpPr>
          <p:spPr>
            <a:xfrm>
              <a:off x="5032935" y="1370479"/>
              <a:ext cx="1257492" cy="1332815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39A568A-7F7C-FD6F-BC99-21E4AFC5950C}"/>
              </a:ext>
            </a:extLst>
          </p:cNvPr>
          <p:cNvSpPr txBox="1"/>
          <p:nvPr/>
        </p:nvSpPr>
        <p:spPr>
          <a:xfrm>
            <a:off x="602027" y="6045077"/>
            <a:ext cx="237443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Font typeface="+mj-lt"/>
              <a:buAutoNum type="arabicPeriod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Toolstrip</a:t>
            </a:r>
          </a:p>
          <a:p>
            <a:pPr marL="342900" indent="-342900" algn="l">
              <a:spcAft>
                <a:spcPts val="600"/>
              </a:spcAft>
              <a:buFont typeface="+mj-lt"/>
              <a:buAutoNum type="arabicPeriod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Current Folder Toolbar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6377CE-C09B-CBB3-5F83-74F93AE8D6DD}"/>
              </a:ext>
            </a:extLst>
          </p:cNvPr>
          <p:cNvSpPr txBox="1"/>
          <p:nvPr/>
        </p:nvSpPr>
        <p:spPr>
          <a:xfrm>
            <a:off x="3088432" y="6045077"/>
            <a:ext cx="245380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Current Folder Browser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4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Workspace Browser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3935D4-3B8B-3EF6-215F-33BC0CB6A283}"/>
              </a:ext>
            </a:extLst>
          </p:cNvPr>
          <p:cNvSpPr txBox="1"/>
          <p:nvPr/>
        </p:nvSpPr>
        <p:spPr>
          <a:xfrm>
            <a:off x="5709112" y="6052772"/>
            <a:ext cx="237443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Command Window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Editor Window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73EF6EB-ED29-25B5-BD4C-C356C5670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MATLAB layout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008810-8274-4645-BB09-C7EBF0DBEF99}"/>
              </a:ext>
            </a:extLst>
          </p:cNvPr>
          <p:cNvSpPr txBox="1"/>
          <p:nvPr/>
        </p:nvSpPr>
        <p:spPr>
          <a:xfrm>
            <a:off x="8140159" y="6054408"/>
            <a:ext cx="23744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7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Command History List</a:t>
            </a:r>
          </a:p>
        </p:txBody>
      </p:sp>
    </p:spTree>
    <p:extLst>
      <p:ext uri="{BB962C8B-B14F-4D97-AF65-F5344CB8AC3E}">
        <p14:creationId xmlns:p14="http://schemas.microsoft.com/office/powerpoint/2010/main" val="1215072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69E69F5-D76E-509B-0653-DF8E70A11305}"/>
              </a:ext>
            </a:extLst>
          </p:cNvPr>
          <p:cNvGrpSpPr/>
          <p:nvPr/>
        </p:nvGrpSpPr>
        <p:grpSpPr>
          <a:xfrm>
            <a:off x="728544" y="1562091"/>
            <a:ext cx="8499625" cy="4335601"/>
            <a:chOff x="132514" y="982339"/>
            <a:chExt cx="6157913" cy="33658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9051C9F-7F0E-3E55-0CA5-9918169256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" r="42868" b="2847"/>
            <a:stretch/>
          </p:blipFill>
          <p:spPr>
            <a:xfrm>
              <a:off x="132514" y="982339"/>
              <a:ext cx="6157913" cy="336582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8BBF690-4E46-D0CF-D2C9-33ADA756D8EC}"/>
                </a:ext>
              </a:extLst>
            </p:cNvPr>
            <p:cNvSpPr/>
            <p:nvPr/>
          </p:nvSpPr>
          <p:spPr>
            <a:xfrm>
              <a:off x="970201" y="2768486"/>
              <a:ext cx="4069495" cy="1499417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973EF6EB-ED29-25B5-BD4C-C356C5670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MATLAB layout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5544DC-4149-F4A1-7C64-0F5885DDBA5D}"/>
              </a:ext>
            </a:extLst>
          </p:cNvPr>
          <p:cNvSpPr txBox="1"/>
          <p:nvPr/>
        </p:nvSpPr>
        <p:spPr>
          <a:xfrm>
            <a:off x="602027" y="6045077"/>
            <a:ext cx="237443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Font typeface="+mj-lt"/>
              <a:buAutoNum type="arabicPeriod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Toolstrip</a:t>
            </a:r>
          </a:p>
          <a:p>
            <a:pPr marL="342900" indent="-342900" algn="l">
              <a:spcAft>
                <a:spcPts val="600"/>
              </a:spcAft>
              <a:buFont typeface="+mj-lt"/>
              <a:buAutoNum type="arabicPeriod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Current Folder Toolbar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3FFD43-8FBC-405A-5242-6F4DE9A2B903}"/>
              </a:ext>
            </a:extLst>
          </p:cNvPr>
          <p:cNvSpPr txBox="1"/>
          <p:nvPr/>
        </p:nvSpPr>
        <p:spPr>
          <a:xfrm>
            <a:off x="3088432" y="6045077"/>
            <a:ext cx="245380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Current Folder Browser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Workspace Browser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ABADAA-B801-F987-7B75-858B36D8B175}"/>
              </a:ext>
            </a:extLst>
          </p:cNvPr>
          <p:cNvSpPr txBox="1"/>
          <p:nvPr/>
        </p:nvSpPr>
        <p:spPr>
          <a:xfrm>
            <a:off x="5709112" y="6052772"/>
            <a:ext cx="237443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14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Command Window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Editor Window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75C929-28E6-B936-3920-A015F44862C5}"/>
              </a:ext>
            </a:extLst>
          </p:cNvPr>
          <p:cNvSpPr txBox="1"/>
          <p:nvPr/>
        </p:nvSpPr>
        <p:spPr>
          <a:xfrm>
            <a:off x="8140159" y="6054408"/>
            <a:ext cx="23744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7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Command History List</a:t>
            </a:r>
          </a:p>
        </p:txBody>
      </p:sp>
    </p:spTree>
    <p:extLst>
      <p:ext uri="{BB962C8B-B14F-4D97-AF65-F5344CB8AC3E}">
        <p14:creationId xmlns:p14="http://schemas.microsoft.com/office/powerpoint/2010/main" val="3191643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69E69F5-D76E-509B-0653-DF8E70A11305}"/>
              </a:ext>
            </a:extLst>
          </p:cNvPr>
          <p:cNvGrpSpPr/>
          <p:nvPr/>
        </p:nvGrpSpPr>
        <p:grpSpPr>
          <a:xfrm>
            <a:off x="728544" y="1562091"/>
            <a:ext cx="8499625" cy="4335601"/>
            <a:chOff x="132514" y="982339"/>
            <a:chExt cx="6157913" cy="33658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9051C9F-7F0E-3E55-0CA5-9918169256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" r="42868" b="2847"/>
            <a:stretch/>
          </p:blipFill>
          <p:spPr>
            <a:xfrm>
              <a:off x="132514" y="982339"/>
              <a:ext cx="6157913" cy="336582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8BBF690-4E46-D0CF-D2C9-33ADA756D8EC}"/>
                </a:ext>
              </a:extLst>
            </p:cNvPr>
            <p:cNvSpPr/>
            <p:nvPr/>
          </p:nvSpPr>
          <p:spPr>
            <a:xfrm>
              <a:off x="976961" y="1370484"/>
              <a:ext cx="4076253" cy="1412491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973EF6EB-ED29-25B5-BD4C-C356C5670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MATLAB layout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5544DC-4149-F4A1-7C64-0F5885DDBA5D}"/>
              </a:ext>
            </a:extLst>
          </p:cNvPr>
          <p:cNvSpPr txBox="1"/>
          <p:nvPr/>
        </p:nvSpPr>
        <p:spPr>
          <a:xfrm>
            <a:off x="602027" y="6045077"/>
            <a:ext cx="237443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Font typeface="+mj-lt"/>
              <a:buAutoNum type="arabicPeriod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Toolstrip</a:t>
            </a:r>
          </a:p>
          <a:p>
            <a:pPr marL="342900" indent="-342900" algn="l">
              <a:spcAft>
                <a:spcPts val="600"/>
              </a:spcAft>
              <a:buFont typeface="+mj-lt"/>
              <a:buAutoNum type="arabicPeriod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Current Folder Toolbar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3FFD43-8FBC-405A-5242-6F4DE9A2B903}"/>
              </a:ext>
            </a:extLst>
          </p:cNvPr>
          <p:cNvSpPr txBox="1"/>
          <p:nvPr/>
        </p:nvSpPr>
        <p:spPr>
          <a:xfrm>
            <a:off x="3088432" y="6045077"/>
            <a:ext cx="245380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Current Folder Browser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Workspace Browser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ABADAA-B801-F987-7B75-858B36D8B175}"/>
              </a:ext>
            </a:extLst>
          </p:cNvPr>
          <p:cNvSpPr txBox="1"/>
          <p:nvPr/>
        </p:nvSpPr>
        <p:spPr>
          <a:xfrm>
            <a:off x="5709112" y="6052772"/>
            <a:ext cx="237443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Command Window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14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Editor Window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75C929-28E6-B936-3920-A015F44862C5}"/>
              </a:ext>
            </a:extLst>
          </p:cNvPr>
          <p:cNvSpPr txBox="1"/>
          <p:nvPr/>
        </p:nvSpPr>
        <p:spPr>
          <a:xfrm>
            <a:off x="8140159" y="6054408"/>
            <a:ext cx="23744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7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Command History List</a:t>
            </a:r>
          </a:p>
        </p:txBody>
      </p:sp>
    </p:spTree>
    <p:extLst>
      <p:ext uri="{BB962C8B-B14F-4D97-AF65-F5344CB8AC3E}">
        <p14:creationId xmlns:p14="http://schemas.microsoft.com/office/powerpoint/2010/main" val="3045768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69E69F5-D76E-509B-0653-DF8E70A11305}"/>
              </a:ext>
            </a:extLst>
          </p:cNvPr>
          <p:cNvGrpSpPr/>
          <p:nvPr/>
        </p:nvGrpSpPr>
        <p:grpSpPr>
          <a:xfrm>
            <a:off x="728544" y="1562091"/>
            <a:ext cx="8499625" cy="4335601"/>
            <a:chOff x="132514" y="982339"/>
            <a:chExt cx="6157913" cy="33658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9051C9F-7F0E-3E55-0CA5-9918169256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" r="42868" b="2847"/>
            <a:stretch/>
          </p:blipFill>
          <p:spPr>
            <a:xfrm>
              <a:off x="132514" y="982339"/>
              <a:ext cx="6157913" cy="336582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8BBF690-4E46-D0CF-D2C9-33ADA756D8EC}"/>
                </a:ext>
              </a:extLst>
            </p:cNvPr>
            <p:cNvSpPr/>
            <p:nvPr/>
          </p:nvSpPr>
          <p:spPr>
            <a:xfrm>
              <a:off x="5026175" y="2710538"/>
              <a:ext cx="1264252" cy="1579096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973EF6EB-ED29-25B5-BD4C-C356C5670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MATLAB layout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5544DC-4149-F4A1-7C64-0F5885DDBA5D}"/>
              </a:ext>
            </a:extLst>
          </p:cNvPr>
          <p:cNvSpPr txBox="1"/>
          <p:nvPr/>
        </p:nvSpPr>
        <p:spPr>
          <a:xfrm>
            <a:off x="602027" y="6045077"/>
            <a:ext cx="237443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Font typeface="+mj-lt"/>
              <a:buAutoNum type="arabicPeriod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Toolstrip</a:t>
            </a:r>
          </a:p>
          <a:p>
            <a:pPr marL="342900" indent="-342900" algn="l">
              <a:spcAft>
                <a:spcPts val="600"/>
              </a:spcAft>
              <a:buFont typeface="+mj-lt"/>
              <a:buAutoNum type="arabicPeriod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Current Folder Toolbar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3FFD43-8FBC-405A-5242-6F4DE9A2B903}"/>
              </a:ext>
            </a:extLst>
          </p:cNvPr>
          <p:cNvSpPr txBox="1"/>
          <p:nvPr/>
        </p:nvSpPr>
        <p:spPr>
          <a:xfrm>
            <a:off x="3088432" y="6045077"/>
            <a:ext cx="245380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Current Folder Browser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Workspace Browser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ABADAA-B801-F987-7B75-858B36D8B175}"/>
              </a:ext>
            </a:extLst>
          </p:cNvPr>
          <p:cNvSpPr txBox="1"/>
          <p:nvPr/>
        </p:nvSpPr>
        <p:spPr>
          <a:xfrm>
            <a:off x="5709112" y="6052772"/>
            <a:ext cx="237443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Command Window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Editor Window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75C929-28E6-B936-3920-A015F44862C5}"/>
              </a:ext>
            </a:extLst>
          </p:cNvPr>
          <p:cNvSpPr txBox="1"/>
          <p:nvPr/>
        </p:nvSpPr>
        <p:spPr>
          <a:xfrm>
            <a:off x="8140159" y="6054408"/>
            <a:ext cx="23744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7"/>
            </a:pPr>
            <a:r>
              <a:rPr lang="en-US" sz="14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Command History List</a:t>
            </a:r>
          </a:p>
        </p:txBody>
      </p:sp>
    </p:spTree>
    <p:extLst>
      <p:ext uri="{BB962C8B-B14F-4D97-AF65-F5344CB8AC3E}">
        <p14:creationId xmlns:p14="http://schemas.microsoft.com/office/powerpoint/2010/main" val="3919608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7547495-D59D-A149-B657-228A07825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Basic expressions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D4D377B3-064A-3FD7-8816-1BB1D7BE81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3388305"/>
              </p:ext>
            </p:extLst>
          </p:nvPr>
        </p:nvGraphicFramePr>
        <p:xfrm>
          <a:off x="619318" y="1863059"/>
          <a:ext cx="9140502" cy="2255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6834">
                  <a:extLst>
                    <a:ext uri="{9D8B030D-6E8A-4147-A177-3AD203B41FA5}">
                      <a16:colId xmlns:a16="http://schemas.microsoft.com/office/drawing/2014/main" val="1120946659"/>
                    </a:ext>
                  </a:extLst>
                </a:gridCol>
                <a:gridCol w="3046834">
                  <a:extLst>
                    <a:ext uri="{9D8B030D-6E8A-4147-A177-3AD203B41FA5}">
                      <a16:colId xmlns:a16="http://schemas.microsoft.com/office/drawing/2014/main" val="1783415027"/>
                    </a:ext>
                  </a:extLst>
                </a:gridCol>
                <a:gridCol w="3046834">
                  <a:extLst>
                    <a:ext uri="{9D8B030D-6E8A-4147-A177-3AD203B41FA5}">
                      <a16:colId xmlns:a16="http://schemas.microsoft.com/office/drawing/2014/main" val="18731795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Operator</a:t>
                      </a:r>
                    </a:p>
                  </a:txBody>
                  <a:tcPr>
                    <a:solidFill>
                      <a:srgbClr val="0035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Description</a:t>
                      </a:r>
                    </a:p>
                  </a:txBody>
                  <a:tcPr>
                    <a:solidFill>
                      <a:srgbClr val="0035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Example</a:t>
                      </a:r>
                    </a:p>
                  </a:txBody>
                  <a:tcPr>
                    <a:solidFill>
                      <a:srgbClr val="003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429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Consolas" panose="020B0609020204030204" pitchFamily="49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GB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5+2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723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Consolas" panose="020B0609020204030204" pitchFamily="49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Subtract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GB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3+7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949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Consolas" panose="020B0609020204030204" pitchFamily="49" charset="0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Multiply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GB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8*3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627838"/>
                  </a:ext>
                </a:extLst>
              </a:tr>
              <a:tr h="40122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Consolas" panose="020B0609020204030204" pitchFamily="49" charset="0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Divide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GB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8/3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65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Consolas" panose="020B0609020204030204" pitchFamily="49" charset="0"/>
                        </a:rPr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Power 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GB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3^2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823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9221F78-F96D-7D9F-7D31-54B9B9404B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7404028"/>
              </p:ext>
            </p:extLst>
          </p:nvPr>
        </p:nvGraphicFramePr>
        <p:xfrm>
          <a:off x="619318" y="4740348"/>
          <a:ext cx="914050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0251">
                  <a:extLst>
                    <a:ext uri="{9D8B030D-6E8A-4147-A177-3AD203B41FA5}">
                      <a16:colId xmlns:a16="http://schemas.microsoft.com/office/drawing/2014/main" val="1120946659"/>
                    </a:ext>
                  </a:extLst>
                </a:gridCol>
                <a:gridCol w="4570251">
                  <a:extLst>
                    <a:ext uri="{9D8B030D-6E8A-4147-A177-3AD203B41FA5}">
                      <a16:colId xmlns:a16="http://schemas.microsoft.com/office/drawing/2014/main" val="1783415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Function</a:t>
                      </a:r>
                    </a:p>
                  </a:txBody>
                  <a:tcPr>
                    <a:solidFill>
                      <a:srgbClr val="0035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Description</a:t>
                      </a:r>
                    </a:p>
                  </a:txBody>
                  <a:tcPr>
                    <a:solidFill>
                      <a:srgbClr val="003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429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GB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sin(5)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Calculate sine of 5 radians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723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GB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sind(5)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Calculate sine of 5 degrees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949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GB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sqrt(25)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Calculate the square root of 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627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5235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2B08F-DE64-3548-B9F9-7C9165E2F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Variables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00459-85BB-C4E6-81DB-D7F875C7BDDD}"/>
              </a:ext>
            </a:extLst>
          </p:cNvPr>
          <p:cNvSpPr txBox="1">
            <a:spLocks/>
          </p:cNvSpPr>
          <p:nvPr/>
        </p:nvSpPr>
        <p:spPr>
          <a:xfrm>
            <a:off x="367392" y="1698171"/>
            <a:ext cx="11131549" cy="48323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GB" dirty="0"/>
              <a:t>The result of an expression can be saved into a variable for later use</a:t>
            </a:r>
          </a:p>
          <a:p>
            <a:pPr lvl="1">
              <a:spcBef>
                <a:spcPts val="600"/>
              </a:spcBef>
            </a:pPr>
            <a:r>
              <a:rPr lang="en-GB" dirty="0"/>
              <a:t>e.g., </a:t>
            </a:r>
            <a:r>
              <a:rPr lang="en-GB" dirty="0">
                <a:latin typeface="Consolas" panose="020B0609020204030204" pitchFamily="49" charset="0"/>
              </a:rPr>
              <a:t>a=5+2</a:t>
            </a:r>
            <a:endParaRPr lang="en-GB" dirty="0"/>
          </a:p>
          <a:p>
            <a:pPr>
              <a:spcBef>
                <a:spcPts val="1800"/>
              </a:spcBef>
            </a:pPr>
            <a:r>
              <a:rPr lang="en-GB" dirty="0"/>
              <a:t>Legal names for variables:</a:t>
            </a:r>
          </a:p>
          <a:p>
            <a:pPr lvl="1">
              <a:spcBef>
                <a:spcPts val="600"/>
              </a:spcBef>
            </a:pPr>
            <a:r>
              <a:rPr lang="en-GB" dirty="0"/>
              <a:t>Begin with an upper- or lower-case standard letter a-Z.</a:t>
            </a:r>
          </a:p>
          <a:p>
            <a:pPr lvl="1">
              <a:spcBef>
                <a:spcPts val="600"/>
              </a:spcBef>
            </a:pPr>
            <a:r>
              <a:rPr lang="en-GB" dirty="0"/>
              <a:t>Contain characters a-Z, 0-9, or _.</a:t>
            </a:r>
          </a:p>
          <a:p>
            <a:pPr lvl="1">
              <a:spcBef>
                <a:spcPts val="600"/>
              </a:spcBef>
            </a:pPr>
            <a:r>
              <a:rPr lang="en-GB" dirty="0"/>
              <a:t>Maximum length of 63 characters.</a:t>
            </a:r>
          </a:p>
          <a:p>
            <a:pPr lvl="1">
              <a:spcBef>
                <a:spcPts val="600"/>
              </a:spcBef>
            </a:pPr>
            <a:r>
              <a:rPr lang="en-GB" dirty="0"/>
              <a:t>Variables are case sensitive. </a:t>
            </a:r>
          </a:p>
          <a:p>
            <a:pPr>
              <a:spcBef>
                <a:spcPts val="1800"/>
              </a:spcBef>
            </a:pPr>
            <a:r>
              <a:rPr lang="en-GB" dirty="0"/>
              <a:t>Using the names of built-in variables and functions should be avoided</a:t>
            </a:r>
          </a:p>
          <a:p>
            <a:pPr lvl="1">
              <a:spcBef>
                <a:spcPts val="600"/>
              </a:spcBef>
            </a:pPr>
            <a:r>
              <a:rPr lang="en-GB" dirty="0"/>
              <a:t>e.g., a  variable should not be called “sin” or “sqrt” or “pi”.</a:t>
            </a:r>
          </a:p>
        </p:txBody>
      </p:sp>
      <p:sp>
        <p:nvSpPr>
          <p:cNvPr id="4" name="矩形 8">
            <a:extLst>
              <a:ext uri="{FF2B5EF4-FFF2-40B4-BE49-F238E27FC236}">
                <a16:creationId xmlns:a16="http://schemas.microsoft.com/office/drawing/2014/main" id="{EB5F07AD-B8DF-496F-BFB9-771929AF8CBD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3057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2B08F-DE64-3548-B9F9-7C9165E2F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Saving and loading a workspace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9B87401-D8B0-4F87-5B8D-625F67238D9B}"/>
              </a:ext>
            </a:extLst>
          </p:cNvPr>
          <p:cNvSpPr txBox="1">
            <a:spLocks/>
          </p:cNvSpPr>
          <p:nvPr/>
        </p:nvSpPr>
        <p:spPr>
          <a:xfrm>
            <a:off x="365904" y="1697671"/>
            <a:ext cx="11306694" cy="54299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00"/>
              </a:spcBef>
            </a:pPr>
            <a:r>
              <a:rPr lang="en-GB" dirty="0"/>
              <a:t>The workspace shows MATLAB’s memory i.e., allocated variables.</a:t>
            </a:r>
          </a:p>
          <a:p>
            <a:pPr>
              <a:spcBef>
                <a:spcPts val="1800"/>
              </a:spcBef>
            </a:pPr>
            <a:r>
              <a:rPr lang="en-GB" dirty="0"/>
              <a:t>The entire contents of the workspace can be saved to a file using:</a:t>
            </a:r>
          </a:p>
          <a:p>
            <a:pPr lvl="1"/>
            <a:r>
              <a:rPr lang="en-GB" dirty="0">
                <a:latin typeface="Consolas" panose="020B0609020204030204" pitchFamily="49" charset="0"/>
              </a:rPr>
              <a:t>save </a:t>
            </a:r>
            <a:r>
              <a:rPr lang="en-GB" dirty="0" err="1">
                <a:solidFill>
                  <a:srgbClr val="A709F5"/>
                </a:solidFill>
                <a:latin typeface="Consolas" panose="020B0609020204030204" pitchFamily="49" charset="0"/>
              </a:rPr>
              <a:t>file_name</a:t>
            </a:r>
            <a:r>
              <a:rPr lang="en-GB" dirty="0">
                <a:solidFill>
                  <a:srgbClr val="A709F5"/>
                </a:solidFill>
                <a:latin typeface="Consolas" panose="020B0609020204030204" pitchFamily="49" charset="0"/>
              </a:rPr>
              <a:t>  </a:t>
            </a:r>
          </a:p>
          <a:p>
            <a:pPr marL="342900" lvl="1" indent="0">
              <a:buFont typeface="Arial" panose="020B0604020202020204" pitchFamily="34" charset="0"/>
              <a:buNone/>
            </a:pPr>
            <a:r>
              <a:rPr lang="en-GB" dirty="0"/>
              <a:t>- </a:t>
            </a:r>
            <a:r>
              <a:rPr lang="en-GB" dirty="0" err="1">
                <a:latin typeface="Consolas" panose="020B0609020204030204" pitchFamily="49" charset="0"/>
              </a:rPr>
              <a:t>file_name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/>
              <a:t>is the name under which to save the data.</a:t>
            </a:r>
          </a:p>
          <a:p>
            <a:pPr>
              <a:spcBef>
                <a:spcPts val="1800"/>
              </a:spcBef>
            </a:pPr>
            <a:r>
              <a:rPr lang="en-GB" dirty="0"/>
              <a:t>Specific variables of the workspace can be saved to a file using:</a:t>
            </a:r>
          </a:p>
          <a:p>
            <a:pPr lvl="1"/>
            <a:r>
              <a:rPr lang="en-GB" dirty="0">
                <a:latin typeface="Consolas" panose="020B0609020204030204" pitchFamily="49" charset="0"/>
              </a:rPr>
              <a:t>save </a:t>
            </a:r>
            <a:r>
              <a:rPr lang="en-GB" dirty="0" err="1">
                <a:solidFill>
                  <a:srgbClr val="A709F5"/>
                </a:solidFill>
                <a:latin typeface="Consolas" panose="020B0609020204030204" pitchFamily="49" charset="0"/>
              </a:rPr>
              <a:t>file_name</a:t>
            </a:r>
            <a:r>
              <a:rPr lang="en-GB" dirty="0">
                <a:solidFill>
                  <a:srgbClr val="A709F5"/>
                </a:solidFill>
                <a:latin typeface="Consolas" panose="020B0609020204030204" pitchFamily="49" charset="0"/>
              </a:rPr>
              <a:t> var1 var2 </a:t>
            </a:r>
          </a:p>
          <a:p>
            <a:pPr lvl="1"/>
            <a:r>
              <a:rPr lang="en-GB" dirty="0"/>
              <a:t>- </a:t>
            </a:r>
            <a:r>
              <a:rPr lang="en-GB" dirty="0">
                <a:latin typeface="Consolas" panose="020B0609020204030204" pitchFamily="49" charset="0"/>
              </a:rPr>
              <a:t>var1</a:t>
            </a:r>
            <a:r>
              <a:rPr lang="en-GB" i="1" dirty="0"/>
              <a:t> </a:t>
            </a:r>
            <a:r>
              <a:rPr lang="en-GB" dirty="0"/>
              <a:t>and</a:t>
            </a:r>
            <a:r>
              <a:rPr lang="en-GB" i="1" dirty="0"/>
              <a:t> </a:t>
            </a:r>
            <a:r>
              <a:rPr lang="en-GB" dirty="0">
                <a:latin typeface="Consolas" panose="020B0609020204030204" pitchFamily="49" charset="0"/>
              </a:rPr>
              <a:t>var2</a:t>
            </a:r>
            <a:r>
              <a:rPr lang="en-GB" dirty="0"/>
              <a:t> are variables to be saved.</a:t>
            </a:r>
            <a:endParaRPr lang="en-GB" i="1" dirty="0"/>
          </a:p>
          <a:p>
            <a:pPr>
              <a:spcBef>
                <a:spcPts val="1800"/>
              </a:spcBef>
            </a:pPr>
            <a:r>
              <a:rPr lang="en-GB" dirty="0"/>
              <a:t>Load workspace variables from a file using:</a:t>
            </a:r>
          </a:p>
          <a:p>
            <a:pPr lvl="1"/>
            <a:r>
              <a:rPr lang="en-GB" dirty="0">
                <a:latin typeface="Consolas" panose="020B0609020204030204" pitchFamily="49" charset="0"/>
              </a:rPr>
              <a:t>load </a:t>
            </a:r>
            <a:r>
              <a:rPr lang="en-GB" dirty="0" err="1">
                <a:solidFill>
                  <a:srgbClr val="A709F5"/>
                </a:solidFill>
                <a:latin typeface="Consolas" panose="020B0609020204030204" pitchFamily="49" charset="0"/>
              </a:rPr>
              <a:t>file_name</a:t>
            </a:r>
            <a:endParaRPr lang="en-GB" dirty="0">
              <a:solidFill>
                <a:srgbClr val="A709F5"/>
              </a:solidFill>
              <a:latin typeface="Consolas" panose="020B0609020204030204" pitchFamily="49" charset="0"/>
            </a:endParaRPr>
          </a:p>
          <a:p>
            <a:pPr lvl="1"/>
            <a:r>
              <a:rPr lang="en-GB" dirty="0">
                <a:latin typeface="Consolas" panose="020B0609020204030204" pitchFamily="49" charset="0"/>
              </a:rPr>
              <a:t>load </a:t>
            </a:r>
            <a:r>
              <a:rPr lang="en-GB" dirty="0" err="1">
                <a:solidFill>
                  <a:srgbClr val="A709F5"/>
                </a:solidFill>
                <a:latin typeface="Consolas" panose="020B0609020204030204" pitchFamily="49" charset="0"/>
              </a:rPr>
              <a:t>file_name</a:t>
            </a:r>
            <a:r>
              <a:rPr lang="en-GB" dirty="0">
                <a:solidFill>
                  <a:srgbClr val="A709F5"/>
                </a:solidFill>
                <a:latin typeface="Consolas" panose="020B0609020204030204" pitchFamily="49" charset="0"/>
              </a:rPr>
              <a:t> var1 var2</a:t>
            </a:r>
            <a:endParaRPr lang="en-GB" dirty="0"/>
          </a:p>
          <a:p>
            <a:pPr>
              <a:spcBef>
                <a:spcPts val="1800"/>
              </a:spcBef>
            </a:pPr>
            <a:r>
              <a:rPr lang="en-GB" u="sng" dirty="0"/>
              <a:t>Alternatively</a:t>
            </a:r>
            <a:r>
              <a:rPr lang="en-GB" dirty="0"/>
              <a:t>, load and save workspace variables using the GUI.</a:t>
            </a:r>
          </a:p>
          <a:p>
            <a:endParaRPr lang="en-GB" dirty="0"/>
          </a:p>
        </p:txBody>
      </p:sp>
      <p:sp>
        <p:nvSpPr>
          <p:cNvPr id="3" name="矩形 8">
            <a:extLst>
              <a:ext uri="{FF2B5EF4-FFF2-40B4-BE49-F238E27FC236}">
                <a16:creationId xmlns:a16="http://schemas.microsoft.com/office/drawing/2014/main" id="{ADBC78D3-D8A1-C8D5-7167-52D45A346560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9070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2B08F-DE64-3548-B9F9-7C9165E2F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 videos later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9B87401-D8B0-4F87-5B8D-625F67238D9B}"/>
              </a:ext>
            </a:extLst>
          </p:cNvPr>
          <p:cNvSpPr txBox="1">
            <a:spLocks/>
          </p:cNvSpPr>
          <p:nvPr/>
        </p:nvSpPr>
        <p:spPr>
          <a:xfrm>
            <a:off x="356573" y="3358521"/>
            <a:ext cx="10877484" cy="16426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You will see a demo video showing you what is MATLAB live script and how to use it. 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9E80D18-D350-2F9E-43AB-B534462D5B45}"/>
              </a:ext>
            </a:extLst>
          </p:cNvPr>
          <p:cNvSpPr txBox="1">
            <a:spLocks/>
          </p:cNvSpPr>
          <p:nvPr/>
        </p:nvSpPr>
        <p:spPr>
          <a:xfrm>
            <a:off x="356573" y="1786313"/>
            <a:ext cx="9916431" cy="13757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After this session, you will see a demo video showing you how to define variables using the command window mode, save the workspace, and load the workspace.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461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Example saving and loading variables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912CDB-B395-FF07-0F5B-12375AEC7DB0}"/>
              </a:ext>
            </a:extLst>
          </p:cNvPr>
          <p:cNvSpPr txBox="1">
            <a:spLocks/>
          </p:cNvSpPr>
          <p:nvPr/>
        </p:nvSpPr>
        <p:spPr>
          <a:xfrm>
            <a:off x="362336" y="1699043"/>
            <a:ext cx="9227377" cy="50656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Saving a specific variable as a .mat file in the current working directory:</a:t>
            </a:r>
          </a:p>
          <a:p>
            <a:pPr>
              <a:spcBef>
                <a:spcPts val="13200"/>
              </a:spcBef>
            </a:pPr>
            <a:r>
              <a:rPr lang="en-GB" dirty="0"/>
              <a:t>Saving the entire workspace: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CFA632-49A1-A8B3-17E2-AA1327E32461}"/>
              </a:ext>
            </a:extLst>
          </p:cNvPr>
          <p:cNvSpPr/>
          <p:nvPr/>
        </p:nvSpPr>
        <p:spPr>
          <a:xfrm>
            <a:off x="789992" y="2479737"/>
            <a:ext cx="7886700" cy="1460284"/>
          </a:xfrm>
          <a:prstGeom prst="roundRect">
            <a:avLst>
              <a:gd name="adj" fmla="val 9492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</a:rPr>
              <a:t>b = 5 			</a:t>
            </a:r>
            <a:r>
              <a:rPr lang="en-GB" sz="1600" dirty="0">
                <a:solidFill>
                  <a:srgbClr val="008013"/>
                </a:solidFill>
                <a:latin typeface="Consolas"/>
                <a:ea typeface="+mn-lt"/>
                <a:cs typeface="+mn-lt"/>
              </a:rPr>
              <a:t>% set b to be equal to 5</a:t>
            </a:r>
          </a:p>
          <a:p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</a:rPr>
              <a:t>save(</a:t>
            </a:r>
            <a:r>
              <a:rPr lang="en-GB" sz="1600" dirty="0">
                <a:solidFill>
                  <a:srgbClr val="A709F5"/>
                </a:solidFill>
                <a:latin typeface="Consolas" panose="020B0609020204030204" pitchFamily="49" charset="0"/>
              </a:rPr>
              <a:t>"var_b"</a:t>
            </a:r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GB" sz="1600" dirty="0">
                <a:solidFill>
                  <a:srgbClr val="A709F5"/>
                </a:solidFill>
                <a:latin typeface="Consolas" panose="020B0609020204030204" pitchFamily="49" charset="0"/>
              </a:rPr>
              <a:t>"b"</a:t>
            </a:r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</a:rPr>
              <a:t>) 	</a:t>
            </a:r>
            <a:r>
              <a:rPr lang="en-GB" sz="1600" dirty="0">
                <a:solidFill>
                  <a:srgbClr val="008013"/>
                </a:solidFill>
                <a:latin typeface="Consolas"/>
                <a:ea typeface="+mn-lt"/>
                <a:cs typeface="+mn-lt"/>
              </a:rPr>
              <a:t>% save variable b under file name var_b.mat</a:t>
            </a:r>
            <a:endParaRPr lang="en-GB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</a:rPr>
              <a:t>b = 10 			</a:t>
            </a:r>
            <a:r>
              <a:rPr lang="en-GB" sz="1600" dirty="0">
                <a:solidFill>
                  <a:srgbClr val="008013"/>
                </a:solidFill>
                <a:latin typeface="Consolas"/>
                <a:ea typeface="+mn-lt"/>
                <a:cs typeface="+mn-lt"/>
              </a:rPr>
              <a:t>% set b to be equal to 10</a:t>
            </a:r>
            <a:endParaRPr lang="en-GB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</a:rPr>
              <a:t>load(</a:t>
            </a:r>
            <a:r>
              <a:rPr lang="en-GB" sz="1600" dirty="0">
                <a:solidFill>
                  <a:srgbClr val="A709F5"/>
                </a:solidFill>
                <a:latin typeface="Consolas" panose="020B0609020204030204" pitchFamily="49" charset="0"/>
              </a:rPr>
              <a:t>"var_b.mat"</a:t>
            </a:r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</a:rPr>
              <a:t>) 	</a:t>
            </a:r>
            <a:r>
              <a:rPr lang="en-GB" sz="1600" dirty="0">
                <a:solidFill>
                  <a:srgbClr val="008013"/>
                </a:solidFill>
                <a:latin typeface="Consolas"/>
                <a:ea typeface="+mn-lt"/>
                <a:cs typeface="+mn-lt"/>
              </a:rPr>
              <a:t>% loads var_b.mat into workspace</a:t>
            </a:r>
          </a:p>
          <a:p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</a:rPr>
              <a:t>disp(b) 			</a:t>
            </a:r>
            <a:r>
              <a:rPr lang="en-GB" sz="1600" dirty="0">
                <a:solidFill>
                  <a:srgbClr val="008013"/>
                </a:solidFill>
                <a:latin typeface="Consolas"/>
                <a:ea typeface="+mn-lt"/>
                <a:cs typeface="+mn-lt"/>
              </a:rPr>
              <a:t>% prints out 5, the old value of 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2B95EFD-CCF2-A692-B302-6272FD518813}"/>
              </a:ext>
            </a:extLst>
          </p:cNvPr>
          <p:cNvSpPr/>
          <p:nvPr/>
        </p:nvSpPr>
        <p:spPr>
          <a:xfrm>
            <a:off x="789992" y="4567779"/>
            <a:ext cx="7886700" cy="933281"/>
          </a:xfrm>
          <a:prstGeom prst="roundRect">
            <a:avLst/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save</a:t>
            </a:r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A709F5"/>
                </a:solidFill>
                <a:latin typeface="Consolas" panose="020B0609020204030204" pitchFamily="49" charset="0"/>
              </a:rPr>
              <a:t>"</a:t>
            </a:r>
            <a:r>
              <a:rPr lang="en-GB" sz="1600" dirty="0" err="1">
                <a:solidFill>
                  <a:srgbClr val="A709F5"/>
                </a:solidFill>
                <a:latin typeface="Consolas" panose="020B0609020204030204" pitchFamily="49" charset="0"/>
              </a:rPr>
              <a:t>workspace.mat</a:t>
            </a:r>
            <a:r>
              <a:rPr lang="en-GB" sz="1600" dirty="0">
                <a:solidFill>
                  <a:srgbClr val="A709F5"/>
                </a:solidFill>
                <a:latin typeface="Consolas" panose="020B0609020204030204" pitchFamily="49" charset="0"/>
              </a:rPr>
              <a:t>"</a:t>
            </a:r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	</a:t>
            </a:r>
            <a:r>
              <a:rPr lang="en-GB" sz="1600" dirty="0">
                <a:solidFill>
                  <a:srgbClr val="008013"/>
                </a:solidFill>
                <a:latin typeface="Consolas"/>
                <a:ea typeface="+mn-lt"/>
                <a:cs typeface="+mn-lt"/>
              </a:rPr>
              <a:t>% saves the entire works as a .mat file</a:t>
            </a:r>
            <a:endParaRPr lang="en-GB" sz="1600" dirty="0">
              <a:solidFill>
                <a:srgbClr val="212121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clear </a:t>
            </a:r>
            <a:r>
              <a:rPr lang="en-GB" sz="1600" dirty="0">
                <a:solidFill>
                  <a:srgbClr val="A709F5"/>
                </a:solidFill>
                <a:latin typeface="Consolas" panose="020B0609020204030204" pitchFamily="49" charset="0"/>
              </a:rPr>
              <a:t>all 		</a:t>
            </a:r>
            <a:r>
              <a:rPr lang="en-GB" sz="1600" dirty="0">
                <a:solidFill>
                  <a:srgbClr val="008013"/>
                </a:solidFill>
                <a:latin typeface="Consolas" panose="020B0609020204030204" pitchFamily="49" charset="0"/>
              </a:rPr>
              <a:t>% deletes all stored variables</a:t>
            </a:r>
            <a:endParaRPr lang="en-GB" sz="1600" dirty="0">
              <a:solidFill>
                <a:srgbClr val="212121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load(</a:t>
            </a:r>
            <a:r>
              <a:rPr lang="en-GB" sz="1600" dirty="0">
                <a:solidFill>
                  <a:srgbClr val="A709F5"/>
                </a:solidFill>
                <a:latin typeface="Consolas" panose="020B0609020204030204" pitchFamily="49" charset="0"/>
              </a:rPr>
              <a:t>"</a:t>
            </a:r>
            <a:r>
              <a:rPr lang="en-GB" sz="1600" dirty="0" err="1">
                <a:solidFill>
                  <a:srgbClr val="A709F5"/>
                </a:solidFill>
                <a:latin typeface="Consolas" panose="020B0609020204030204" pitchFamily="49" charset="0"/>
              </a:rPr>
              <a:t>workspace.mat</a:t>
            </a:r>
            <a:r>
              <a:rPr lang="en-GB" sz="1600" dirty="0">
                <a:solidFill>
                  <a:srgbClr val="A709F5"/>
                </a:solidFill>
                <a:latin typeface="Consolas" panose="020B0609020204030204" pitchFamily="49" charset="0"/>
              </a:rPr>
              <a:t>"</a:t>
            </a:r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)  </a:t>
            </a:r>
            <a:r>
              <a:rPr lang="en-GB" sz="1600" dirty="0">
                <a:solidFill>
                  <a:srgbClr val="008013"/>
                </a:solidFill>
                <a:latin typeface="Consolas" panose="020B0609020204030204" pitchFamily="49" charset="0"/>
              </a:rPr>
              <a:t>% loads all variables from "</a:t>
            </a:r>
            <a:r>
              <a:rPr lang="en-GB" sz="1600" dirty="0" err="1">
                <a:solidFill>
                  <a:srgbClr val="008013"/>
                </a:solidFill>
                <a:latin typeface="Consolas" panose="020B0609020204030204" pitchFamily="49" charset="0"/>
              </a:rPr>
              <a:t>workspace.mat</a:t>
            </a:r>
            <a:r>
              <a:rPr lang="en-GB" sz="1600" dirty="0">
                <a:solidFill>
                  <a:srgbClr val="008013"/>
                </a:solidFill>
                <a:latin typeface="Consolas" panose="020B0609020204030204" pitchFamily="49" charset="0"/>
              </a:rPr>
              <a:t>"</a:t>
            </a:r>
          </a:p>
        </p:txBody>
      </p:sp>
      <p:sp>
        <p:nvSpPr>
          <p:cNvPr id="2" name="矩形 8">
            <a:extLst>
              <a:ext uri="{FF2B5EF4-FFF2-40B4-BE49-F238E27FC236}">
                <a16:creationId xmlns:a16="http://schemas.microsoft.com/office/drawing/2014/main" id="{94D3B09C-D127-3C5B-CF13-844775EE9763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 dirty="0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Built-in variables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CFA632-49A1-A8B3-17E2-AA1327E32461}"/>
              </a:ext>
            </a:extLst>
          </p:cNvPr>
          <p:cNvSpPr/>
          <p:nvPr/>
        </p:nvSpPr>
        <p:spPr>
          <a:xfrm>
            <a:off x="817984" y="2024476"/>
            <a:ext cx="7886700" cy="1460284"/>
          </a:xfrm>
          <a:prstGeom prst="roundRect">
            <a:avLst>
              <a:gd name="adj" fmla="val 9492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</a:rPr>
              <a:t>b = 5 			</a:t>
            </a:r>
            <a:r>
              <a:rPr lang="en-GB" sz="1600" dirty="0">
                <a:solidFill>
                  <a:srgbClr val="008013"/>
                </a:solidFill>
                <a:latin typeface="Consolas"/>
                <a:ea typeface="+mn-lt"/>
                <a:cs typeface="+mn-lt"/>
              </a:rPr>
              <a:t>% set b to be equal to 5</a:t>
            </a:r>
          </a:p>
          <a:p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</a:rPr>
              <a:t>save(</a:t>
            </a:r>
            <a:r>
              <a:rPr lang="en-GB" sz="1600" dirty="0">
                <a:solidFill>
                  <a:srgbClr val="A709F5"/>
                </a:solidFill>
                <a:latin typeface="Consolas" panose="020B0609020204030204" pitchFamily="49" charset="0"/>
              </a:rPr>
              <a:t>"var_b"</a:t>
            </a:r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GB" sz="1600" dirty="0">
                <a:solidFill>
                  <a:srgbClr val="A709F5"/>
                </a:solidFill>
                <a:latin typeface="Consolas" panose="020B0609020204030204" pitchFamily="49" charset="0"/>
              </a:rPr>
              <a:t>"b"</a:t>
            </a:r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</a:rPr>
              <a:t>) 	</a:t>
            </a:r>
            <a:r>
              <a:rPr lang="en-GB" sz="1600" dirty="0">
                <a:solidFill>
                  <a:srgbClr val="008013"/>
                </a:solidFill>
                <a:latin typeface="Consolas"/>
                <a:ea typeface="+mn-lt"/>
                <a:cs typeface="+mn-lt"/>
              </a:rPr>
              <a:t>% save variable b under file name var_b.mat</a:t>
            </a:r>
            <a:endParaRPr lang="en-GB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</a:rPr>
              <a:t>b = 10 			</a:t>
            </a:r>
            <a:r>
              <a:rPr lang="en-GB" sz="1600" dirty="0">
                <a:solidFill>
                  <a:srgbClr val="008013"/>
                </a:solidFill>
                <a:latin typeface="Consolas"/>
                <a:ea typeface="+mn-lt"/>
                <a:cs typeface="+mn-lt"/>
              </a:rPr>
              <a:t>% set b to be equal to 10</a:t>
            </a:r>
            <a:endParaRPr lang="en-GB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</a:rPr>
              <a:t>load(</a:t>
            </a:r>
            <a:r>
              <a:rPr lang="en-GB" sz="1600" dirty="0">
                <a:solidFill>
                  <a:srgbClr val="A709F5"/>
                </a:solidFill>
                <a:latin typeface="Consolas" panose="020B0609020204030204" pitchFamily="49" charset="0"/>
              </a:rPr>
              <a:t>"var_b.mat"</a:t>
            </a:r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</a:rPr>
              <a:t>) 	</a:t>
            </a:r>
            <a:r>
              <a:rPr lang="en-GB" sz="1600" dirty="0">
                <a:solidFill>
                  <a:srgbClr val="008013"/>
                </a:solidFill>
                <a:latin typeface="Consolas"/>
                <a:ea typeface="+mn-lt"/>
                <a:cs typeface="+mn-lt"/>
              </a:rPr>
              <a:t>% loads var_b.mat into workspace</a:t>
            </a:r>
          </a:p>
          <a:p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</a:rPr>
              <a:t>disp(b) 			</a:t>
            </a:r>
            <a:r>
              <a:rPr lang="en-GB" sz="1600" dirty="0">
                <a:solidFill>
                  <a:srgbClr val="008013"/>
                </a:solidFill>
                <a:latin typeface="Consolas"/>
                <a:ea typeface="+mn-lt"/>
                <a:cs typeface="+mn-lt"/>
              </a:rPr>
              <a:t>% prints out 5, the old value of 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2B95EFD-CCF2-A692-B302-6272FD518813}"/>
              </a:ext>
            </a:extLst>
          </p:cNvPr>
          <p:cNvSpPr/>
          <p:nvPr/>
        </p:nvSpPr>
        <p:spPr>
          <a:xfrm>
            <a:off x="817984" y="4453914"/>
            <a:ext cx="7886700" cy="933281"/>
          </a:xfrm>
          <a:prstGeom prst="roundRect">
            <a:avLst/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save</a:t>
            </a:r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A709F5"/>
                </a:solidFill>
                <a:latin typeface="Consolas" panose="020B0609020204030204" pitchFamily="49" charset="0"/>
              </a:rPr>
              <a:t>"</a:t>
            </a:r>
            <a:r>
              <a:rPr lang="en-GB" sz="1600" dirty="0" err="1">
                <a:solidFill>
                  <a:srgbClr val="A709F5"/>
                </a:solidFill>
                <a:latin typeface="Consolas" panose="020B0609020204030204" pitchFamily="49" charset="0"/>
              </a:rPr>
              <a:t>workspace.mat</a:t>
            </a:r>
            <a:r>
              <a:rPr lang="en-GB" sz="1600" dirty="0">
                <a:solidFill>
                  <a:srgbClr val="A709F5"/>
                </a:solidFill>
                <a:latin typeface="Consolas" panose="020B0609020204030204" pitchFamily="49" charset="0"/>
              </a:rPr>
              <a:t>"</a:t>
            </a:r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	</a:t>
            </a:r>
            <a:r>
              <a:rPr lang="en-GB" sz="1600" dirty="0">
                <a:solidFill>
                  <a:srgbClr val="008013"/>
                </a:solidFill>
                <a:latin typeface="Consolas"/>
                <a:ea typeface="+mn-lt"/>
                <a:cs typeface="+mn-lt"/>
              </a:rPr>
              <a:t>% saves the entire works as a .mat file</a:t>
            </a:r>
            <a:endParaRPr lang="en-GB" sz="1600" dirty="0">
              <a:solidFill>
                <a:srgbClr val="212121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clear </a:t>
            </a:r>
            <a:r>
              <a:rPr lang="en-GB" sz="1600" dirty="0">
                <a:solidFill>
                  <a:srgbClr val="A709F5"/>
                </a:solidFill>
                <a:latin typeface="Consolas" panose="020B0609020204030204" pitchFamily="49" charset="0"/>
              </a:rPr>
              <a:t>all 		</a:t>
            </a:r>
            <a:r>
              <a:rPr lang="en-GB" sz="1600" dirty="0">
                <a:solidFill>
                  <a:srgbClr val="008013"/>
                </a:solidFill>
                <a:latin typeface="Consolas" panose="020B0609020204030204" pitchFamily="49" charset="0"/>
              </a:rPr>
              <a:t>% deletes all stored variables</a:t>
            </a:r>
            <a:endParaRPr lang="en-GB" sz="1600" dirty="0">
              <a:solidFill>
                <a:srgbClr val="212121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load(</a:t>
            </a:r>
            <a:r>
              <a:rPr lang="en-GB" sz="1600" dirty="0">
                <a:solidFill>
                  <a:srgbClr val="A709F5"/>
                </a:solidFill>
                <a:latin typeface="Consolas" panose="020B0609020204030204" pitchFamily="49" charset="0"/>
              </a:rPr>
              <a:t>"</a:t>
            </a:r>
            <a:r>
              <a:rPr lang="en-GB" sz="1600" dirty="0" err="1">
                <a:solidFill>
                  <a:srgbClr val="A709F5"/>
                </a:solidFill>
                <a:latin typeface="Consolas" panose="020B0609020204030204" pitchFamily="49" charset="0"/>
              </a:rPr>
              <a:t>workspace.mat</a:t>
            </a:r>
            <a:r>
              <a:rPr lang="en-GB" sz="1600" dirty="0">
                <a:solidFill>
                  <a:srgbClr val="A709F5"/>
                </a:solidFill>
                <a:latin typeface="Consolas" panose="020B0609020204030204" pitchFamily="49" charset="0"/>
              </a:rPr>
              <a:t>"</a:t>
            </a:r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)  </a:t>
            </a:r>
            <a:r>
              <a:rPr lang="en-GB" sz="1600" dirty="0">
                <a:solidFill>
                  <a:srgbClr val="008013"/>
                </a:solidFill>
                <a:latin typeface="Consolas" panose="020B0609020204030204" pitchFamily="49" charset="0"/>
              </a:rPr>
              <a:t>% loads all variables from "</a:t>
            </a:r>
            <a:r>
              <a:rPr lang="en-GB" sz="1600" dirty="0" err="1">
                <a:solidFill>
                  <a:srgbClr val="008013"/>
                </a:solidFill>
                <a:latin typeface="Consolas" panose="020B0609020204030204" pitchFamily="49" charset="0"/>
              </a:rPr>
              <a:t>workspace.mat</a:t>
            </a:r>
            <a:r>
              <a:rPr lang="en-GB" sz="1600" dirty="0">
                <a:solidFill>
                  <a:srgbClr val="008013"/>
                </a:solidFill>
                <a:latin typeface="Consolas" panose="020B0609020204030204" pitchFamily="49" charset="0"/>
              </a:rPr>
              <a:t>"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4D44C0-EB09-E441-5D0E-26753F70E3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6416739"/>
              </p:ext>
            </p:extLst>
          </p:nvPr>
        </p:nvGraphicFramePr>
        <p:xfrm>
          <a:off x="107078" y="1591490"/>
          <a:ext cx="11845437" cy="51140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8479">
                  <a:extLst>
                    <a:ext uri="{9D8B030D-6E8A-4147-A177-3AD203B41FA5}">
                      <a16:colId xmlns:a16="http://schemas.microsoft.com/office/drawing/2014/main" val="1120946659"/>
                    </a:ext>
                  </a:extLst>
                </a:gridCol>
                <a:gridCol w="3948479">
                  <a:extLst>
                    <a:ext uri="{9D8B030D-6E8A-4147-A177-3AD203B41FA5}">
                      <a16:colId xmlns:a16="http://schemas.microsoft.com/office/drawing/2014/main" val="2834476758"/>
                    </a:ext>
                  </a:extLst>
                </a:gridCol>
                <a:gridCol w="3948479">
                  <a:extLst>
                    <a:ext uri="{9D8B030D-6E8A-4147-A177-3AD203B41FA5}">
                      <a16:colId xmlns:a16="http://schemas.microsoft.com/office/drawing/2014/main" val="1783415027"/>
                    </a:ext>
                  </a:extLst>
                </a:gridCol>
              </a:tblGrid>
              <a:tr h="45967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Variable name</a:t>
                      </a:r>
                    </a:p>
                  </a:txBody>
                  <a:tcPr>
                    <a:solidFill>
                      <a:srgbClr val="0035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Description</a:t>
                      </a:r>
                    </a:p>
                  </a:txBody>
                  <a:tcPr>
                    <a:solidFill>
                      <a:srgbClr val="0035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Value</a:t>
                      </a:r>
                    </a:p>
                  </a:txBody>
                  <a:tcPr>
                    <a:solidFill>
                      <a:srgbClr val="003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429303"/>
                  </a:ext>
                </a:extLst>
              </a:tr>
              <a:tr h="623397"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ans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Value of the last expression that was not assigned to a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723596"/>
                  </a:ext>
                </a:extLst>
              </a:tr>
              <a:tr h="45967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3.141492…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949816"/>
                  </a:ext>
                </a:extLst>
              </a:tr>
              <a:tr h="45967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Floating point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2.2204e-16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627838"/>
                  </a:ext>
                </a:extLst>
              </a:tr>
              <a:tr h="623397"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realmax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Largest positive floating point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1.7977e+308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517941"/>
                  </a:ext>
                </a:extLst>
              </a:tr>
              <a:tr h="623397"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realmin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Smallest positive floating point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2.2251e-308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7941864"/>
                  </a:ext>
                </a:extLst>
              </a:tr>
              <a:tr h="45967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∞, Infinity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Result of evaluating 1/0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612115"/>
                  </a:ext>
                </a:extLst>
              </a:tr>
              <a:tr h="1388477"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NaN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Not a Number, represents anything that is not a real or complex number. Generally means an operation fails to produce a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Can occur in a variety of ways including evaluating 0/0, or when a cell cannot be imported from a csv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636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4338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C02BD7E7-68E6-4ECA-8B93-A2CBBF7D9C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0949123-8B3D-4F74-B2E2-78E80977CC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269B3B-A574-4710-90C0-9FE0E5581790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1965</TotalTime>
  <Words>936</Words>
  <Application>Microsoft Office PowerPoint</Application>
  <PresentationFormat>Widescreen</PresentationFormat>
  <Paragraphs>184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Times New Roman</vt:lpstr>
      <vt:lpstr>Office Theme</vt:lpstr>
      <vt:lpstr>MATLAB Basics: The Computing Environment  </vt:lpstr>
      <vt:lpstr>What is MATLAB?</vt:lpstr>
      <vt:lpstr>MATLAB layout</vt:lpstr>
      <vt:lpstr>MATLAB layout</vt:lpstr>
      <vt:lpstr>MATLAB layout</vt:lpstr>
      <vt:lpstr>MATLAB layout</vt:lpstr>
      <vt:lpstr>MATLAB layout</vt:lpstr>
      <vt:lpstr>MATLAB layout</vt:lpstr>
      <vt:lpstr>MATLAB layout</vt:lpstr>
      <vt:lpstr>Basic expressions</vt:lpstr>
      <vt:lpstr>Variables</vt:lpstr>
      <vt:lpstr>Saving and loading a workspace</vt:lpstr>
      <vt:lpstr>Demo videos later </vt:lpstr>
      <vt:lpstr>Example saving and loading variables</vt:lpstr>
      <vt:lpstr>Thanks!</vt:lpstr>
      <vt:lpstr>Built-in variables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73</cp:revision>
  <dcterms:created xsi:type="dcterms:W3CDTF">2021-01-06T14:22:07Z</dcterms:created>
  <dcterms:modified xsi:type="dcterms:W3CDTF">2024-08-19T16:01:31Z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