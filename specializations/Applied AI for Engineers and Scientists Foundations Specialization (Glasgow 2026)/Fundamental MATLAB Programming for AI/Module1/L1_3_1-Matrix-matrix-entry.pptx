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501" r:id="rId12"/>
    <p:sldId id="273" r:id="rId13"/>
    <p:sldId id="49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60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91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64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180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04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6483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72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39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24/06/2024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uk.mathworks.com/help/matlab/ref/zeros.html" TargetMode="External"/><Relationship Id="rId7" Type="http://schemas.openxmlformats.org/officeDocument/2006/relationships/hyperlink" Target="https://uk.mathworks.com/help/matlab/ref/linspace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uk.mathworks.com/help/matlab/ref/rand.html" TargetMode="External"/><Relationship Id="rId5" Type="http://schemas.openxmlformats.org/officeDocument/2006/relationships/hyperlink" Target="https://uk.mathworks.com/help/matlab/ref/eye.html" TargetMode="External"/><Relationship Id="rId4" Type="http://schemas.openxmlformats.org/officeDocument/2006/relationships/hyperlink" Target="https://uk.mathworks.com/help/matlab/ref/one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MATLAB Matrices: Enter a Matrix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</a:t>
            </a:r>
            <a:br>
              <a:rPr lang="en-US" dirty="0">
                <a:solidFill>
                  <a:schemeClr val="tx1"/>
                </a:solidFill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Matrices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675043B-CAAF-A3C9-0A9E-8F251869C5AE}"/>
              </a:ext>
            </a:extLst>
          </p:cNvPr>
          <p:cNvSpPr txBox="1">
            <a:spLocks/>
          </p:cNvSpPr>
          <p:nvPr/>
        </p:nvSpPr>
        <p:spPr>
          <a:xfrm>
            <a:off x="396217" y="1627094"/>
            <a:ext cx="9484901" cy="42384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Matrices are used to store multiple values together as a single variable.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dirty="0"/>
              <a:t>Matrices can be: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one dimensional e.g., arrays (or vector).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two dimensional e.g., matrices.</a:t>
            </a:r>
          </a:p>
          <a:p>
            <a:pPr lvl="1">
              <a:lnSpc>
                <a:spcPct val="100000"/>
              </a:lnSpc>
            </a:pPr>
            <a:r>
              <a:rPr lang="en-GB" i="1" dirty="0"/>
              <a:t>n</a:t>
            </a:r>
            <a:r>
              <a:rPr lang="en-GB" dirty="0"/>
              <a:t> dimensional e.g., tensors.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dirty="0"/>
              <a:t>Matrices can be created via: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Manual entry.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Using built-in functions.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Loaded from external files.</a:t>
            </a: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Matrices: manual entry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A1827-8262-1479-F2AC-9B3F081C0E93}"/>
              </a:ext>
            </a:extLst>
          </p:cNvPr>
          <p:cNvSpPr txBox="1">
            <a:spLocks/>
          </p:cNvSpPr>
          <p:nvPr/>
        </p:nvSpPr>
        <p:spPr>
          <a:xfrm>
            <a:off x="626859" y="1663168"/>
            <a:ext cx="10002806" cy="46518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Matrices are created using </a:t>
            </a:r>
            <a:r>
              <a:rPr lang="en-GB" u="sng" dirty="0"/>
              <a:t>square brackets</a:t>
            </a:r>
          </a:p>
          <a:p>
            <a:pPr lvl="1"/>
            <a:r>
              <a:rPr lang="en-GB" dirty="0"/>
              <a:t>Elements in the same row are separated with a </a:t>
            </a:r>
            <a:r>
              <a:rPr lang="en-GB" u="sng" dirty="0"/>
              <a:t>comma</a:t>
            </a:r>
          </a:p>
          <a:p>
            <a:pPr lvl="1"/>
            <a:r>
              <a:rPr lang="en-GB" dirty="0"/>
              <a:t>A </a:t>
            </a:r>
            <a:r>
              <a:rPr lang="en-GB" u="sng" dirty="0"/>
              <a:t>semicolon</a:t>
            </a:r>
            <a:r>
              <a:rPr lang="en-GB" dirty="0"/>
              <a:t> tells MATLAB to start a new row.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Entering a matrix manually.</a:t>
            </a:r>
          </a:p>
          <a:p>
            <a:pPr lvl="1"/>
            <a:r>
              <a:rPr lang="pt-BR" dirty="0"/>
              <a:t>e.g., </a:t>
            </a:r>
            <a:r>
              <a:rPr lang="pt-BR" dirty="0">
                <a:latin typeface="Consolas" panose="020B0609020204030204" pitchFamily="49" charset="0"/>
              </a:rPr>
              <a:t>[1, 2, 3; 7, 8, 9]</a:t>
            </a:r>
            <a:r>
              <a:rPr lang="pt-BR" dirty="0">
                <a:latin typeface="+mj-lt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DAC42E-367E-3396-3276-A1E4B35DAF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49"/>
          <a:stretch/>
        </p:blipFill>
        <p:spPr>
          <a:xfrm>
            <a:off x="1898238" y="3998442"/>
            <a:ext cx="3264412" cy="20329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矩形 8">
            <a:extLst>
              <a:ext uri="{FF2B5EF4-FFF2-40B4-BE49-F238E27FC236}">
                <a16:creationId xmlns:a16="http://schemas.microsoft.com/office/drawing/2014/main" id="{EA23454F-F449-A24F-D338-EA4BF64EF007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0197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Matrices: from zeros function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矩形 8">
            <a:extLst>
              <a:ext uri="{FF2B5EF4-FFF2-40B4-BE49-F238E27FC236}">
                <a16:creationId xmlns:a16="http://schemas.microsoft.com/office/drawing/2014/main" id="{EA23454F-F449-A24F-D338-EA4BF64EF007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B9C1DE-5B74-D462-52B1-AB64A6DDD6D1}"/>
              </a:ext>
            </a:extLst>
          </p:cNvPr>
          <p:cNvSpPr txBox="1">
            <a:spLocks/>
          </p:cNvSpPr>
          <p:nvPr/>
        </p:nvSpPr>
        <p:spPr>
          <a:xfrm>
            <a:off x="630086" y="1673779"/>
            <a:ext cx="9353667" cy="4418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Create a matrix of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rows and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columns with all elements as 0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rPr>
              <a:t>zeros(m, n).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</a:endParaRP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Example: m = 3, n = 5 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FB65FC-AC6A-344A-2C29-3BA5C6519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271" y="3540967"/>
            <a:ext cx="4079538" cy="20932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67964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Matrices: from ones function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矩形 8">
            <a:extLst>
              <a:ext uri="{FF2B5EF4-FFF2-40B4-BE49-F238E27FC236}">
                <a16:creationId xmlns:a16="http://schemas.microsoft.com/office/drawing/2014/main" id="{EA23454F-F449-A24F-D338-EA4BF64EF007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ED6F915-029A-9697-506F-C3B5147CE62F}"/>
              </a:ext>
            </a:extLst>
          </p:cNvPr>
          <p:cNvSpPr txBox="1">
            <a:spLocks/>
          </p:cNvSpPr>
          <p:nvPr/>
        </p:nvSpPr>
        <p:spPr>
          <a:xfrm>
            <a:off x="625496" y="1672397"/>
            <a:ext cx="9764216" cy="433781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Create a matrix of </a:t>
            </a:r>
            <a:r>
              <a:rPr lang="en-GB" i="1" dirty="0"/>
              <a:t>m</a:t>
            </a:r>
            <a:r>
              <a:rPr lang="en-GB" dirty="0"/>
              <a:t> rows and </a:t>
            </a:r>
            <a:r>
              <a:rPr lang="en-GB" i="1" dirty="0"/>
              <a:t>n</a:t>
            </a:r>
            <a:r>
              <a:rPr lang="en-GB" dirty="0"/>
              <a:t> columns with all elements as 1</a:t>
            </a:r>
          </a:p>
          <a:p>
            <a:pPr lvl="1"/>
            <a:r>
              <a:rPr lang="en-GB" dirty="0">
                <a:latin typeface="Consolas" panose="020B0609020204030204" pitchFamily="49" charset="0"/>
              </a:rPr>
              <a:t>ones(</a:t>
            </a:r>
            <a:r>
              <a:rPr lang="en-GB" i="1" dirty="0">
                <a:latin typeface="Consolas" panose="020B0609020204030204" pitchFamily="49" charset="0"/>
              </a:rPr>
              <a:t>m</a:t>
            </a:r>
            <a:r>
              <a:rPr lang="en-GB" dirty="0">
                <a:latin typeface="Consolas" panose="020B0609020204030204" pitchFamily="49" charset="0"/>
              </a:rPr>
              <a:t>, </a:t>
            </a:r>
            <a:r>
              <a:rPr lang="en-GB" i="1" dirty="0">
                <a:latin typeface="Consolas" panose="020B0609020204030204" pitchFamily="49" charset="0"/>
              </a:rPr>
              <a:t>n</a:t>
            </a:r>
            <a:r>
              <a:rPr lang="en-GB" dirty="0">
                <a:latin typeface="Consolas" panose="020B0609020204030204" pitchFamily="49" charset="0"/>
              </a:rPr>
              <a:t>).</a:t>
            </a:r>
          </a:p>
          <a:p>
            <a:pPr lvl="1"/>
            <a:endParaRPr lang="en-GB" sz="2100" dirty="0">
              <a:latin typeface="Consolas" panose="020B0609020204030204" pitchFamily="49" charset="0"/>
            </a:endParaRPr>
          </a:p>
          <a:p>
            <a:pPr lvl="1"/>
            <a:r>
              <a:rPr lang="en-GB" dirty="0"/>
              <a:t>Example: m = 2, n = 7</a:t>
            </a:r>
            <a:r>
              <a:rPr lang="en-GB" sz="2100" dirty="0">
                <a:latin typeface="+mj-lt"/>
              </a:rPr>
              <a:t>  </a:t>
            </a:r>
          </a:p>
          <a:p>
            <a:pPr lvl="1"/>
            <a:endParaRPr lang="en-GB" sz="2100" dirty="0">
              <a:latin typeface="Consolas" panose="020B060902020403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BC55F0-804B-2405-5BE9-D204D42C8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375" y="3707432"/>
            <a:ext cx="5417644" cy="17762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0972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Matrices: from rand function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FCA3FF3-BBF1-42B1-26DA-203B539501D3}"/>
              </a:ext>
            </a:extLst>
          </p:cNvPr>
          <p:cNvSpPr txBox="1">
            <a:spLocks/>
          </p:cNvSpPr>
          <p:nvPr/>
        </p:nvSpPr>
        <p:spPr>
          <a:xfrm>
            <a:off x="617713" y="1663567"/>
            <a:ext cx="10879193" cy="5529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Create a matrix of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rows and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columns with all elements uniformly distributed random floating-point numbers between 0 and 1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cs typeface="Arial" panose="020B0604020202020204" pitchFamily="34" charset="0"/>
              </a:rPr>
              <a:t>rand(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cs typeface="Arial" panose="020B0604020202020204" pitchFamily="34" charset="0"/>
              </a:rPr>
              <a:t>m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cs typeface="Arial" panose="020B0604020202020204" pitchFamily="34" charset="0"/>
              </a:rPr>
              <a:t>n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cs typeface="Arial" panose="020B0604020202020204" pitchFamily="34" charset="0"/>
              </a:rPr>
              <a:t>).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Example: m = 3, n = 6 </a:t>
            </a:r>
          </a:p>
          <a:p>
            <a:pPr marL="342900" marR="0" lvl="1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A7D4B4-7D92-9DC7-551D-4EEF0609CE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642"/>
          <a:stretch/>
        </p:blipFill>
        <p:spPr>
          <a:xfrm>
            <a:off x="1391825" y="3865243"/>
            <a:ext cx="6191914" cy="16235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矩形 8">
            <a:extLst>
              <a:ext uri="{FF2B5EF4-FFF2-40B4-BE49-F238E27FC236}">
                <a16:creationId xmlns:a16="http://schemas.microsoft.com/office/drawing/2014/main" id="{015E6A1A-7995-B940-7A97-81275ECB88FC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6324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Matrices: from eye function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矩形 8">
            <a:extLst>
              <a:ext uri="{FF2B5EF4-FFF2-40B4-BE49-F238E27FC236}">
                <a16:creationId xmlns:a16="http://schemas.microsoft.com/office/drawing/2014/main" id="{015E6A1A-7995-B940-7A97-81275ECB88FC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63DB280-0AE9-B33E-86C3-EB06FE311D65}"/>
              </a:ext>
            </a:extLst>
          </p:cNvPr>
          <p:cNvSpPr txBox="1">
            <a:spLocks/>
          </p:cNvSpPr>
          <p:nvPr/>
        </p:nvSpPr>
        <p:spPr>
          <a:xfrm>
            <a:off x="628866" y="1655313"/>
            <a:ext cx="7886700" cy="5529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Creates a square identity matrix of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rows and columns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eye(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marR="0" lvl="1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Example, m = 4 </a:t>
            </a:r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5DC79B-0019-BD24-31EA-E0398EA82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443" y="3610611"/>
            <a:ext cx="3545825" cy="23902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2271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Matrices: </a:t>
            </a:r>
            <a:r>
              <a:rPr lang="en-GB" dirty="0" err="1"/>
              <a:t>linspace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73BAAA-55BD-CD55-5381-ED8BFBC2F4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341"/>
          <a:stretch/>
        </p:blipFill>
        <p:spPr>
          <a:xfrm>
            <a:off x="1366066" y="5448757"/>
            <a:ext cx="7409944" cy="8426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C94737E-E045-97CC-749D-DA87B3B9E0F4}"/>
              </a:ext>
            </a:extLst>
          </p:cNvPr>
          <p:cNvSpPr txBox="1">
            <a:spLocks/>
          </p:cNvSpPr>
          <p:nvPr/>
        </p:nvSpPr>
        <p:spPr>
          <a:xfrm>
            <a:off x="606350" y="1576476"/>
            <a:ext cx="9526696" cy="37232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Create a 1-dimensional linearly spaced matrix of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elements between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x1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x2</a:t>
            </a:r>
          </a:p>
          <a:p>
            <a:pPr marL="514350" marR="0" lvl="1" indent="-17145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cs typeface="Arial" panose="020B0604020202020204" pitchFamily="34" charset="0"/>
              </a:rPr>
              <a:t>linspace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cs typeface="Arial" panose="020B0604020202020204" pitchFamily="34" charset="0"/>
              </a:rPr>
              <a:t>(x1, x2,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cs typeface="Arial" panose="020B0604020202020204" pitchFamily="34" charset="0"/>
              </a:rPr>
              <a:t>n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cs typeface="Arial" panose="020B0604020202020204" pitchFamily="34" charset="0"/>
              </a:rPr>
              <a:t>).</a:t>
            </a:r>
          </a:p>
          <a:p>
            <a:pPr marL="514350" marR="0" lvl="1" indent="-17145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x1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= 0,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x2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= 2,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 11</a:t>
            </a:r>
          </a:p>
          <a:p>
            <a:pPr marL="514350" marR="0" lvl="1" indent="-17145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1" indent="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This can also be achieved using the colon operator to indicate the start, increment and end.</a:t>
            </a:r>
          </a:p>
          <a:p>
            <a:pPr marL="514350" marR="0" lvl="1" indent="-17145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Example 0:0.2:2</a:t>
            </a:r>
          </a:p>
          <a:p>
            <a:pPr marL="342900" marR="0" lvl="1" indent="0" algn="l" defTabSz="6858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9A3B18-C93B-08E0-EC68-B4750C06A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066" y="3171007"/>
            <a:ext cx="7409944" cy="8242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矩形 8">
            <a:extLst>
              <a:ext uri="{FF2B5EF4-FFF2-40B4-BE49-F238E27FC236}">
                <a16:creationId xmlns:a16="http://schemas.microsoft.com/office/drawing/2014/main" id="{55AF9F27-36A8-A5C4-4E90-1ACE48FB0172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26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Matrices: from built-in functions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矩形 8">
            <a:extLst>
              <a:ext uri="{FF2B5EF4-FFF2-40B4-BE49-F238E27FC236}">
                <a16:creationId xmlns:a16="http://schemas.microsoft.com/office/drawing/2014/main" id="{E808F4FD-E34B-BF28-7BB8-ACCC6533242C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92AD7B-DB89-CC2E-6FF4-614AF0C7FF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6473603"/>
              </p:ext>
            </p:extLst>
          </p:nvPr>
        </p:nvGraphicFramePr>
        <p:xfrm>
          <a:off x="522393" y="1936890"/>
          <a:ext cx="10551859" cy="2432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738">
                  <a:extLst>
                    <a:ext uri="{9D8B030D-6E8A-4147-A177-3AD203B41FA5}">
                      <a16:colId xmlns:a16="http://schemas.microsoft.com/office/drawing/2014/main" val="1120946659"/>
                    </a:ext>
                  </a:extLst>
                </a:gridCol>
                <a:gridCol w="6880121">
                  <a:extLst>
                    <a:ext uri="{9D8B030D-6E8A-4147-A177-3AD203B41FA5}">
                      <a16:colId xmlns:a16="http://schemas.microsoft.com/office/drawing/2014/main" val="1783415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Function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Description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429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GB" sz="1600" i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  <a:hlinkClick r:id="rId3"/>
                        </a:rPr>
                        <a:t>zeros</a:t>
                      </a:r>
                      <a:r>
                        <a:rPr lang="en-GB" sz="1600" i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GB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</a:t>
                      </a:r>
                      <a:r>
                        <a:rPr lang="en-GB" sz="1600" i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GB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600" i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Creates a matrix of </a:t>
                      </a:r>
                      <a:r>
                        <a:rPr lang="en-GB" sz="1600" i="1" dirty="0"/>
                        <a:t>m</a:t>
                      </a:r>
                      <a:r>
                        <a:rPr lang="en-GB" sz="1600" i="0" dirty="0"/>
                        <a:t> rows and </a:t>
                      </a:r>
                      <a:r>
                        <a:rPr lang="en-GB" sz="1600" i="1" dirty="0"/>
                        <a:t>n</a:t>
                      </a:r>
                      <a:r>
                        <a:rPr lang="en-GB" sz="1600" i="0" dirty="0"/>
                        <a:t> columns where each element is 0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723596"/>
                  </a:ext>
                </a:extLst>
              </a:tr>
              <a:tr h="369562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GB" sz="1600" i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  <a:hlinkClick r:id="rId4"/>
                        </a:rPr>
                        <a:t>ones</a:t>
                      </a:r>
                      <a:r>
                        <a:rPr lang="en-GB" sz="1600" i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GB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</a:t>
                      </a:r>
                      <a:r>
                        <a:rPr lang="en-GB" sz="1600" i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GB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600" i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Creates a matrix of </a:t>
                      </a:r>
                      <a:r>
                        <a:rPr lang="en-GB" sz="1600" i="1" dirty="0"/>
                        <a:t>m</a:t>
                      </a:r>
                      <a:r>
                        <a:rPr lang="en-GB" sz="1600" i="0" dirty="0"/>
                        <a:t> rows and </a:t>
                      </a:r>
                      <a:r>
                        <a:rPr lang="en-GB" sz="1600" i="1" dirty="0"/>
                        <a:t>n</a:t>
                      </a:r>
                      <a:r>
                        <a:rPr lang="en-GB" sz="1600" i="0" dirty="0"/>
                        <a:t> columns where each element is 1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49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GB" sz="1600" i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  <a:hlinkClick r:id="rId5"/>
                        </a:rPr>
                        <a:t>eye</a:t>
                      </a:r>
                      <a:r>
                        <a:rPr lang="en-GB" sz="1600" i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GB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</a:t>
                      </a:r>
                      <a:r>
                        <a:rPr lang="en-GB" sz="1600" i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Creates the square identity matrix with </a:t>
                      </a:r>
                      <a:r>
                        <a:rPr lang="en-GB" sz="1600" i="1" dirty="0"/>
                        <a:t>m</a:t>
                      </a:r>
                      <a:r>
                        <a:rPr lang="en-GB" sz="1600" i="0" dirty="0"/>
                        <a:t> columns and rows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627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GB" sz="1600" i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  <a:hlinkClick r:id="rId6"/>
                        </a:rPr>
                        <a:t>rand</a:t>
                      </a:r>
                      <a:r>
                        <a:rPr lang="en-GB" sz="1600" i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GB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</a:t>
                      </a:r>
                      <a:r>
                        <a:rPr lang="en-GB" sz="1600" i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GB" sz="1600" i="1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600" i="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Creates a matrix of </a:t>
                      </a:r>
                      <a:r>
                        <a:rPr lang="en-GB" sz="1600" i="1" dirty="0"/>
                        <a:t>m</a:t>
                      </a:r>
                      <a:r>
                        <a:rPr lang="en-GB" sz="1600" i="0" dirty="0"/>
                        <a:t> rows and </a:t>
                      </a:r>
                      <a:r>
                        <a:rPr lang="en-GB" sz="1600" i="1" dirty="0"/>
                        <a:t>n</a:t>
                      </a:r>
                      <a:r>
                        <a:rPr lang="en-GB" sz="1600" i="0" dirty="0"/>
                        <a:t> columns where each element is a uniformly randomly distributed floating point number between 0 and 1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42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i="0" dirty="0">
                          <a:latin typeface="Consolas" panose="020B0609020204030204" pitchFamily="49" charset="0"/>
                          <a:hlinkClick r:id="rId7"/>
                        </a:rPr>
                        <a:t>linspace</a:t>
                      </a:r>
                      <a:r>
                        <a:rPr lang="en-GB" sz="1600" i="1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GB" sz="1600" i="0" dirty="0">
                          <a:latin typeface="Consolas" panose="020B0609020204030204" pitchFamily="49" charset="0"/>
                        </a:rPr>
                        <a:t>x1, </a:t>
                      </a:r>
                      <a:r>
                        <a:rPr lang="en-GB" sz="1600" i="1" dirty="0">
                          <a:latin typeface="Consolas" panose="020B0609020204030204" pitchFamily="49" charset="0"/>
                        </a:rPr>
                        <a:t>x2</a:t>
                      </a:r>
                      <a:r>
                        <a:rPr lang="en-GB" sz="1600" i="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GB" sz="1600" i="1" dirty="0">
                          <a:latin typeface="Consolas" panose="020B0609020204030204" pitchFamily="49" charset="0"/>
                        </a:rPr>
                        <a:t>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Creates a row vector of </a:t>
                      </a:r>
                      <a:r>
                        <a:rPr lang="en-GB" sz="1600" i="1" dirty="0"/>
                        <a:t>n</a:t>
                      </a:r>
                      <a:r>
                        <a:rPr lang="en-GB" sz="1600" i="0" dirty="0"/>
                        <a:t> linearly spaced elements between </a:t>
                      </a:r>
                      <a:r>
                        <a:rPr lang="en-GB" sz="1600" i="1" dirty="0"/>
                        <a:t>x1</a:t>
                      </a:r>
                      <a:r>
                        <a:rPr lang="en-GB" sz="1600" i="0" dirty="0"/>
                        <a:t> and </a:t>
                      </a:r>
                      <a:r>
                        <a:rPr lang="en-GB" sz="1600" i="1" dirty="0"/>
                        <a:t>x2</a:t>
                      </a:r>
                      <a:r>
                        <a:rPr lang="en-GB" sz="16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238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998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FE0DDF-E3FB-4789-B414-84F8E7F8BF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C434EE-6801-4873-837B-728F28F2037C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AA5DB2BD-607B-4DF9-AC41-75A60238527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1923</TotalTime>
  <Words>471</Words>
  <Application>Microsoft Office PowerPoint</Application>
  <PresentationFormat>Widescreen</PresentationFormat>
  <Paragraphs>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Times New Roman</vt:lpstr>
      <vt:lpstr>Office Theme</vt:lpstr>
      <vt:lpstr>MATLAB Matrices: Enter a Matrix   </vt:lpstr>
      <vt:lpstr>Matrices</vt:lpstr>
      <vt:lpstr>Matrices: manual entry</vt:lpstr>
      <vt:lpstr>Matrices: from zeros function</vt:lpstr>
      <vt:lpstr>Matrices: from ones function</vt:lpstr>
      <vt:lpstr>Matrices: from rand function</vt:lpstr>
      <vt:lpstr>Matrices: from eye function</vt:lpstr>
      <vt:lpstr>Matrices: linspace</vt:lpstr>
      <vt:lpstr>Thanks!</vt:lpstr>
      <vt:lpstr>Matrices: from built-in functions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68</cp:revision>
  <dcterms:created xsi:type="dcterms:W3CDTF">2021-01-06T14:22:07Z</dcterms:created>
  <dcterms:modified xsi:type="dcterms:W3CDTF">2024-06-24T09:58:03Z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