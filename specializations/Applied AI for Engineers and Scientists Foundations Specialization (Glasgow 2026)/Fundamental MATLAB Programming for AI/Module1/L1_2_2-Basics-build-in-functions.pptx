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4" r:id="rId6"/>
    <p:sldId id="496" r:id="rId7"/>
    <p:sldId id="497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492426-56F4-4369-BBFF-663445A158FC}" v="14" dt="2024-06-09T03:34:51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hi Liu (PGR)" userId="S::2109741l@student.gla.ac.uk::0738f1d2-bd1d-4f8b-945a-b877be0bfefb" providerId="AD" clId="Web-{BA492426-56F4-4369-BBFF-663445A158FC}"/>
    <pc:docChg chg="modSld">
      <pc:chgData name="Yushi Liu (PGR)" userId="S::2109741l@student.gla.ac.uk::0738f1d2-bd1d-4f8b-945a-b877be0bfefb" providerId="AD" clId="Web-{BA492426-56F4-4369-BBFF-663445A158FC}" dt="2024-06-09T03:34:51.032" v="13" actId="20577"/>
      <pc:docMkLst>
        <pc:docMk/>
      </pc:docMkLst>
      <pc:sldChg chg="modSp">
        <pc:chgData name="Yushi Liu (PGR)" userId="S::2109741l@student.gla.ac.uk::0738f1d2-bd1d-4f8b-945a-b877be0bfefb" providerId="AD" clId="Web-{BA492426-56F4-4369-BBFF-663445A158FC}" dt="2024-06-09T03:34:42.719" v="12" actId="20577"/>
        <pc:sldMkLst>
          <pc:docMk/>
          <pc:sldMk cId="676015318" sldId="494"/>
        </pc:sldMkLst>
        <pc:spChg chg="mod">
          <ac:chgData name="Yushi Liu (PGR)" userId="S::2109741l@student.gla.ac.uk::0738f1d2-bd1d-4f8b-945a-b877be0bfefb" providerId="AD" clId="Web-{BA492426-56F4-4369-BBFF-663445A158FC}" dt="2024-06-09T03:34:42.719" v="12" actId="20577"/>
          <ac:spMkLst>
            <pc:docMk/>
            <pc:sldMk cId="676015318" sldId="494"/>
            <ac:spMk id="12" creationId="{98BC75BE-580E-671C-711C-E9B0C3737A7A}"/>
          </ac:spMkLst>
        </pc:spChg>
      </pc:sldChg>
      <pc:sldChg chg="modSp">
        <pc:chgData name="Yushi Liu (PGR)" userId="S::2109741l@student.gla.ac.uk::0738f1d2-bd1d-4f8b-945a-b877be0bfefb" providerId="AD" clId="Web-{BA492426-56F4-4369-BBFF-663445A158FC}" dt="2024-06-09T03:34:51.032" v="13" actId="20577"/>
        <pc:sldMkLst>
          <pc:docMk/>
          <pc:sldMk cId="2808959076" sldId="496"/>
        </pc:sldMkLst>
        <pc:spChg chg="mod">
          <ac:chgData name="Yushi Liu (PGR)" userId="S::2109741l@student.gla.ac.uk::0738f1d2-bd1d-4f8b-945a-b877be0bfefb" providerId="AD" clId="Web-{BA492426-56F4-4369-BBFF-663445A158FC}" dt="2024-06-09T03:34:51.032" v="13" actId="20577"/>
          <ac:spMkLst>
            <pc:docMk/>
            <pc:sldMk cId="2808959076" sldId="496"/>
            <ac:spMk id="7" creationId="{4E708EAA-30C4-85DF-5282-F8262AFF84F7}"/>
          </ac:spMkLst>
        </pc:spChg>
      </pc:sldChg>
      <pc:sldChg chg="modSp">
        <pc:chgData name="Yushi Liu (PGR)" userId="S::2109741l@student.gla.ac.uk::0738f1d2-bd1d-4f8b-945a-b877be0bfefb" providerId="AD" clId="Web-{BA492426-56F4-4369-BBFF-663445A158FC}" dt="2024-06-09T03:34:06.202" v="6" actId="20577"/>
        <pc:sldMkLst>
          <pc:docMk/>
          <pc:sldMk cId="2669362664" sldId="497"/>
        </pc:sldMkLst>
        <pc:spChg chg="mod">
          <ac:chgData name="Yushi Liu (PGR)" userId="S::2109741l@student.gla.ac.uk::0738f1d2-bd1d-4f8b-945a-b877be0bfefb" providerId="AD" clId="Web-{BA492426-56F4-4369-BBFF-663445A158FC}" dt="2024-06-09T03:34:06.202" v="6" actId="20577"/>
          <ac:spMkLst>
            <pc:docMk/>
            <pc:sldMk cId="2669362664" sldId="497"/>
            <ac:spMk id="4" creationId="{642932CE-FC53-FC81-0A97-481405D98E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43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53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Basics: Using Built-in Functions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Built-in functions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8BC75BE-580E-671C-711C-E9B0C3737A7A}"/>
              </a:ext>
            </a:extLst>
          </p:cNvPr>
          <p:cNvSpPr txBox="1">
            <a:spLocks/>
          </p:cNvSpPr>
          <p:nvPr/>
        </p:nvSpPr>
        <p:spPr>
          <a:xfrm>
            <a:off x="252832" y="1652481"/>
            <a:ext cx="11507367" cy="48136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MATLAB has many built-in functions.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To call a mathematical function, enter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"/>
                <a:cs typeface="Arial"/>
              </a:rPr>
              <a:t>the function name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, then the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/>
                <a:cs typeface="Arial"/>
              </a:rPr>
              <a:t>input/argument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in parentheses.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For example,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"/>
                <a:cs typeface="Arial"/>
              </a:rPr>
              <a:t>sin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/>
                <a:cs typeface="Arial"/>
              </a:rPr>
              <a:t>π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/>
                <a:cs typeface="Arial"/>
              </a:rPr>
              <a:t>/2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: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B29605-C61C-944B-1C45-52926D126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059" y="3528049"/>
            <a:ext cx="3239686" cy="670845"/>
          </a:xfrm>
          <a:prstGeom prst="rect">
            <a:avLst/>
          </a:prstGeom>
        </p:spPr>
      </p:pic>
      <p:sp>
        <p:nvSpPr>
          <p:cNvPr id="14" name="Left Brace 13">
            <a:extLst>
              <a:ext uri="{FF2B5EF4-FFF2-40B4-BE49-F238E27FC236}">
                <a16:creationId xmlns:a16="http://schemas.microsoft.com/office/drawing/2014/main" id="{4214B7E4-989B-C5A1-931D-CAE8C0242D80}"/>
              </a:ext>
            </a:extLst>
          </p:cNvPr>
          <p:cNvSpPr/>
          <p:nvPr/>
        </p:nvSpPr>
        <p:spPr>
          <a:xfrm rot="16200000">
            <a:off x="3214313" y="3284590"/>
            <a:ext cx="253608" cy="1582680"/>
          </a:xfrm>
          <a:prstGeom prst="leftBrace">
            <a:avLst/>
          </a:prstGeom>
          <a:noFill/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/>
        </p:spPr>
        <p:txBody>
          <a:bodyPr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72753-28E3-3DCC-21D1-C96ACE1EE60A}"/>
              </a:ext>
            </a:extLst>
          </p:cNvPr>
          <p:cNvSpPr txBox="1"/>
          <p:nvPr/>
        </p:nvSpPr>
        <p:spPr>
          <a:xfrm>
            <a:off x="0" y="4139733"/>
            <a:ext cx="6276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70AD47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name of the function to be called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032B04AC-708A-FF76-D77E-8F39E52BBEAF}"/>
              </a:ext>
            </a:extLst>
          </p:cNvPr>
          <p:cNvSpPr/>
          <p:nvPr/>
        </p:nvSpPr>
        <p:spPr>
          <a:xfrm rot="5400000">
            <a:off x="4644960" y="2801408"/>
            <a:ext cx="324067" cy="1248122"/>
          </a:xfrm>
          <a:prstGeom prst="leftBrace">
            <a:avLst/>
          </a:prstGeom>
          <a:noFill/>
          <a:ln w="25400" cap="flat" cmpd="sng" algn="ctr">
            <a:solidFill>
              <a:srgbClr val="ED7D31">
                <a:lumMod val="75000"/>
              </a:srgbClr>
            </a:solidFill>
            <a:prstDash val="solid"/>
            <a:miter lim="800000"/>
          </a:ln>
          <a:effectLst/>
        </p:spPr>
        <p:txBody>
          <a:bodyPr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FF02ED-6811-0EE3-1AE0-F8753C8F2716}"/>
              </a:ext>
            </a:extLst>
          </p:cNvPr>
          <p:cNvSpPr txBox="1"/>
          <p:nvPr/>
        </p:nvSpPr>
        <p:spPr>
          <a:xfrm>
            <a:off x="2549777" y="2881353"/>
            <a:ext cx="4275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ED7D31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input to the function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49A3E1-ECA4-1109-15CE-61CAEAFCD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603" y="5409343"/>
            <a:ext cx="1332508" cy="11830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矩形 8">
            <a:extLst>
              <a:ext uri="{FF2B5EF4-FFF2-40B4-BE49-F238E27FC236}">
                <a16:creationId xmlns:a16="http://schemas.microsoft.com/office/drawing/2014/main" id="{B652C83E-EBD9-4554-8CF7-9807F6E46639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Built-in functions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B4405CD4-25C8-3D79-3969-D2CA51391443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708EAA-30C4-85DF-5282-F8262AFF84F7}"/>
              </a:ext>
            </a:extLst>
          </p:cNvPr>
          <p:cNvSpPr txBox="1">
            <a:spLocks/>
          </p:cNvSpPr>
          <p:nvPr/>
        </p:nvSpPr>
        <p:spPr>
          <a:xfrm>
            <a:off x="255425" y="1652131"/>
            <a:ext cx="7886700" cy="5046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MATLAB has many built-in mathematical functions.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MATLAB has many </a:t>
            </a:r>
            <a:r>
              <a:rPr lang="en-GB" sz="2400" dirty="0">
                <a:latin typeface="Arial"/>
                <a:cs typeface="Arial"/>
              </a:rPr>
              <a:t>built-in non-arithmetic functions. 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DD5EAF5-2986-8A8B-3F32-BF45E44A82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9718591"/>
              </p:ext>
            </p:extLst>
          </p:nvPr>
        </p:nvGraphicFramePr>
        <p:xfrm>
          <a:off x="535344" y="2144436"/>
          <a:ext cx="9336444" cy="3657600"/>
        </p:xfrm>
        <a:graphic>
          <a:graphicData uri="http://schemas.openxmlformats.org/drawingml/2006/table">
            <a:tbl>
              <a:tblPr firstRow="1" bandRow="1"/>
              <a:tblGrid>
                <a:gridCol w="4668222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4668222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GB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Sine of 5 radians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2359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GB" sz="24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cos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GB" sz="24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Cosine of 5 radians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69107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GB" sz="24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sind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GB" sz="24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Sine of 5 degrees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94981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GB" sz="24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sqrt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GB" sz="24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Square root of 25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62783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GB" sz="24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log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GB" sz="24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256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 logarithm of 256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20447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GB" sz="24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log10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GB" sz="24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base 10 of 100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8794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GB" sz="24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abs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GB" sz="24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-5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Absolute value of -5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06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95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Help and documentation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B4405CD4-25C8-3D79-3969-D2CA51391443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2932CE-FC53-FC81-0A97-481405D98EBE}"/>
              </a:ext>
            </a:extLst>
          </p:cNvPr>
          <p:cNvSpPr txBox="1">
            <a:spLocks/>
          </p:cNvSpPr>
          <p:nvPr/>
        </p:nvSpPr>
        <p:spPr>
          <a:xfrm>
            <a:off x="816623" y="1484176"/>
            <a:ext cx="10558754" cy="52739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Enter “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/>
                <a:cs typeface="Arial"/>
              </a:rPr>
              <a:t>help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” followed by a function for inline documentation.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e.g.,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/>
                <a:cs typeface="Arial"/>
              </a:rPr>
              <a:t>help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cs typeface="Arial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/>
                <a:cs typeface="Arial"/>
              </a:rPr>
              <a:t>sqrt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– inline documentation for the “sqrt” function.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Use “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/>
                <a:cs typeface="Arial"/>
              </a:rPr>
              <a:t>helpwin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” to open a separate window of the help browser.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e.g.,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/>
                <a:cs typeface="Arial"/>
              </a:rPr>
              <a:t>helpwin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cs typeface="Arial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/>
                <a:cs typeface="Arial"/>
              </a:rPr>
              <a:t>sqrt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solidFill>
                <a:srgbClr val="A709F5"/>
              </a:solidFill>
              <a:effectLst/>
              <a:uLnTx/>
              <a:uFillTx/>
              <a:latin typeface="Consolas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Use “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/>
                <a:cs typeface="Arial"/>
              </a:rPr>
              <a:t>doc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” to pull up the online MATLAB documentation.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e.g.,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/>
                <a:cs typeface="Arial"/>
              </a:rPr>
              <a:t>doc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/>
                <a:cs typeface="Arial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/>
                <a:cs typeface="Arial"/>
              </a:rPr>
              <a:t>sqrt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solidFill>
                <a:srgbClr val="A709F5"/>
              </a:solidFill>
              <a:effectLst/>
              <a:uLnTx/>
              <a:uFillTx/>
              <a:latin typeface="Consolas"/>
              <a:cs typeface="Arial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This is the recommended way to look for help.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Documentation page contains the description and examples.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Arial"/>
              <a:cs typeface="Arial"/>
            </a:endParaRPr>
          </a:p>
          <a:p>
            <a:pPr>
              <a:spcBef>
                <a:spcPts val="375"/>
              </a:spcBef>
              <a:defRPr/>
            </a:pPr>
            <a:r>
              <a:rPr lang="en-GB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Google</a:t>
            </a:r>
            <a:r>
              <a:rPr lang="en-GB" sz="27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>
              <a:defRPr/>
            </a:pPr>
            <a:r>
              <a:rPr lang="en-GB" sz="2400" baseline="0" dirty="0">
                <a:latin typeface="Arial"/>
                <a:cs typeface="Arial"/>
              </a:rPr>
              <a:t>If</a:t>
            </a:r>
            <a:r>
              <a:rPr lang="en-GB" sz="2400" dirty="0">
                <a:latin typeface="Arial"/>
                <a:cs typeface="Arial"/>
              </a:rPr>
              <a:t> you are unsure of the function name.  </a:t>
            </a:r>
            <a:endParaRPr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36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8623D16B-EAA3-47F5-A760-1BFD92250A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62568D-F2BF-4222-9E9D-5F650B8D38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4805B0-44C1-4A2B-9478-3899AA8BD0E6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1854</TotalTime>
  <Words>256</Words>
  <Application>Microsoft Office PowerPoint</Application>
  <PresentationFormat>Widescreen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Times New Roman</vt:lpstr>
      <vt:lpstr>Office Theme</vt:lpstr>
      <vt:lpstr>MATLAB Basics: Using Built-in Functions   </vt:lpstr>
      <vt:lpstr>Built-in functions</vt:lpstr>
      <vt:lpstr>Built-in functions</vt:lpstr>
      <vt:lpstr>Help and documentation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78</cp:revision>
  <dcterms:created xsi:type="dcterms:W3CDTF">2021-01-06T14:22:07Z</dcterms:created>
  <dcterms:modified xsi:type="dcterms:W3CDTF">2024-08-19T16:03:59Z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