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3"/>
  </p:notesMasterIdLst>
  <p:sldIdLst>
    <p:sldId id="256" r:id="rId5"/>
    <p:sldId id="494" r:id="rId6"/>
    <p:sldId id="496" r:id="rId7"/>
    <p:sldId id="497" r:id="rId8"/>
    <p:sldId id="498" r:id="rId9"/>
    <p:sldId id="499" r:id="rId10"/>
    <p:sldId id="500" r:id="rId11"/>
    <p:sldId id="27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3359" autoAdjust="0"/>
    <p:restoredTop sz="96327"/>
  </p:normalViewPr>
  <p:slideViewPr>
    <p:cSldViewPr snapToGrid="0">
      <p:cViewPr varScale="1">
        <p:scale>
          <a:sx n="153" d="100"/>
          <a:sy n="153" d="100"/>
        </p:scale>
        <p:origin x="92" y="156"/>
      </p:cViewPr>
      <p:guideLst/>
    </p:cSldViewPr>
  </p:slideViewPr>
  <p:outlineViewPr>
    <p:cViewPr>
      <p:scale>
        <a:sx n="30" d="100"/>
        <a:sy n="30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295AE2-43AC-144B-AE88-DCB376799F11}" type="datetimeFigureOut">
              <a:rPr lang="en-US" smtClean="0"/>
              <a:t>6/24/2024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24E5BB-E6B0-B84A-ABCD-9A3E9C2D7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742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9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2024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2093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0046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6349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5446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9254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4946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83BB4406-02B4-284F-84C5-A21F22E6B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5FEA054A-F191-E34B-8C26-BA11F3F0C0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5750" y="1627188"/>
            <a:ext cx="11474450" cy="46069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2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EE31514-F8EA-5D4E-B45D-65DD78DBE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2524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91D55F9-A3F2-1242-A5F3-5AAACC9DB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49408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6629400" cy="789709"/>
          </a:xfrm>
        </p:spPr>
        <p:txBody>
          <a:bodyPr anchor="t">
            <a:normAutofit/>
          </a:bodyPr>
          <a:lstStyle>
            <a:lvl1pPr algn="l">
              <a:defRPr sz="28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0418" y="3015529"/>
            <a:ext cx="5680364" cy="623598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4273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97420DD-2415-454D-AA0F-DBDA719CB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1283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1680" y="2123676"/>
            <a:ext cx="4027169" cy="1600200"/>
          </a:xfrm>
        </p:spPr>
        <p:txBody>
          <a:bodyPr anchor="t">
            <a:normAutofit/>
          </a:bodyPr>
          <a:lstStyle>
            <a:lvl1pPr algn="l">
              <a:defRPr sz="2800"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1680" y="3934224"/>
            <a:ext cx="4030345" cy="1934763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8039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A65B24-645B-1746-9651-55C209C5E25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810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11800" y="681037"/>
            <a:ext cx="5842000" cy="10096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624FB1-CB24-4B4C-BFD4-AD276D9A4059}" type="datetimeFigureOut">
              <a:rPr lang="en-GB" smtClean="0"/>
              <a:t>24/06/2024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19F3F6-C255-4AC5-91C2-3F61B6509B36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262A0F-9E49-6B4D-94F3-647B33A25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69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52" r:id="rId2"/>
    <p:sldLayoutId id="2147483653" r:id="rId3"/>
    <p:sldLayoutId id="2147483649" r:id="rId4"/>
    <p:sldLayoutId id="2147483654" r:id="rId5"/>
    <p:sldLayoutId id="2147483656" r:id="rId6"/>
    <p:sldLayoutId id="2147483684" r:id="rId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he Gilbert Scott Building">
            <a:extLst>
              <a:ext uri="{FF2B5EF4-FFF2-40B4-BE49-F238E27FC236}">
                <a16:creationId xmlns:a16="http://schemas.microsoft.com/office/drawing/2014/main" id="{BAB3C4BD-A67A-4D47-6D5C-637F167E7C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8210986" cy="789709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/>
                </a:solidFill>
              </a:rPr>
              <a:t>MATLAB Matrices: Manipulate Matrices</a:t>
            </a:r>
            <a:br>
              <a:rPr lang="en-US" dirty="0">
                <a:solidFill>
                  <a:schemeClr val="tx1"/>
                </a:solidFill>
              </a:rPr>
            </a:b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FC54586-8882-6804-A250-091EB79369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0418" y="2576945"/>
            <a:ext cx="5680364" cy="1062182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Professor Bo Liu</a:t>
            </a:r>
          </a:p>
          <a:p>
            <a:r>
              <a:rPr lang="en-GB" dirty="0">
                <a:solidFill>
                  <a:schemeClr val="tx1"/>
                </a:solidFill>
              </a:rPr>
              <a:t>James Watt School of Engineering</a:t>
            </a:r>
          </a:p>
        </p:txBody>
      </p:sp>
    </p:spTree>
    <p:extLst>
      <p:ext uri="{BB962C8B-B14F-4D97-AF65-F5344CB8AC3E}">
        <p14:creationId xmlns:p14="http://schemas.microsoft.com/office/powerpoint/2010/main" val="4244171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MATLAB size function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426C486-0DE9-8C98-CDE1-2D048D888D84}"/>
              </a:ext>
            </a:extLst>
          </p:cNvPr>
          <p:cNvSpPr txBox="1">
            <a:spLocks/>
          </p:cNvSpPr>
          <p:nvPr/>
        </p:nvSpPr>
        <p:spPr>
          <a:xfrm>
            <a:off x="531554" y="1668406"/>
            <a:ext cx="9592160" cy="246972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GB" dirty="0"/>
              <a:t>The MATLAB size function provides the number of dimensions and the size of each dimension of the input matrix.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194DE79-D6D7-A8AB-B7EE-528E89F136E3}"/>
              </a:ext>
            </a:extLst>
          </p:cNvPr>
          <p:cNvGrpSpPr/>
          <p:nvPr/>
        </p:nvGrpSpPr>
        <p:grpSpPr>
          <a:xfrm>
            <a:off x="1099555" y="2800958"/>
            <a:ext cx="7486650" cy="3264440"/>
            <a:chOff x="628650" y="2209888"/>
            <a:chExt cx="7486650" cy="326444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E6325F1F-A1E2-56F8-E524-2B9B77152C6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8650" y="2210858"/>
              <a:ext cx="3550485" cy="1336205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887CF10D-5F91-1862-4057-24754552C59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45719" y="4138123"/>
              <a:ext cx="1823362" cy="1336205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B02E5C4-8F40-9E74-4245-C8BA4F15F32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1830"/>
            <a:stretch/>
          </p:blipFill>
          <p:spPr>
            <a:xfrm>
              <a:off x="4733278" y="2209888"/>
              <a:ext cx="3382022" cy="949925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B4150922-1B25-9BC5-5A69-7EBBC9AB7CB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517604" y="4138123"/>
              <a:ext cx="1825706" cy="1336205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</p:grpSp>
      <p:sp>
        <p:nvSpPr>
          <p:cNvPr id="9" name="矩形 8">
            <a:extLst>
              <a:ext uri="{FF2B5EF4-FFF2-40B4-BE49-F238E27FC236}">
                <a16:creationId xmlns:a16="http://schemas.microsoft.com/office/drawing/2014/main" id="{F1076F9F-DCD9-6022-F862-7D0566C54840}"/>
              </a:ext>
            </a:extLst>
          </p:cNvPr>
          <p:cNvSpPr/>
          <p:nvPr/>
        </p:nvSpPr>
        <p:spPr>
          <a:xfrm>
            <a:off x="9589713" y="6000877"/>
            <a:ext cx="1544012" cy="369332"/>
          </a:xfrm>
          <a:prstGeom prst="rect">
            <a:avLst/>
          </a:prstGeom>
          <a:solidFill>
            <a:srgbClr val="E7E6E6"/>
          </a:solidFill>
          <a:ln w="1905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See live script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760153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Matrix operators</a:t>
            </a:r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AE5D6CD-3C2D-9BC1-4303-4992F38AB32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43090682"/>
              </p:ext>
            </p:extLst>
          </p:nvPr>
        </p:nvGraphicFramePr>
        <p:xfrm>
          <a:off x="499682" y="1670413"/>
          <a:ext cx="9418760" cy="417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8518">
                  <a:extLst>
                    <a:ext uri="{9D8B030D-6E8A-4147-A177-3AD203B41FA5}">
                      <a16:colId xmlns:a16="http://schemas.microsoft.com/office/drawing/2014/main" val="1120946659"/>
                    </a:ext>
                  </a:extLst>
                </a:gridCol>
                <a:gridCol w="7980242">
                  <a:extLst>
                    <a:ext uri="{9D8B030D-6E8A-4147-A177-3AD203B41FA5}">
                      <a16:colId xmlns:a16="http://schemas.microsoft.com/office/drawing/2014/main" val="17834150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Operator</a:t>
                      </a:r>
                    </a:p>
                  </a:txBody>
                  <a:tcPr>
                    <a:solidFill>
                      <a:srgbClr val="0035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Description</a:t>
                      </a:r>
                    </a:p>
                  </a:txBody>
                  <a:tcPr>
                    <a:solidFill>
                      <a:srgbClr val="0035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94293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Adds the corresponding elements in two matrices, only works on matrices of the same size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27235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000" dirty="0"/>
                        <a:t>Subtracts the corresponding elements in two matrices, only works on matrices of the same size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31482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Multiplies one matrix by another using </a:t>
                      </a:r>
                      <a:r>
                        <a:rPr lang="en-GB" sz="2000" u="sng" dirty="0"/>
                        <a:t>standard matrix multiplication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58205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Divides one matrix by another using </a:t>
                      </a:r>
                      <a:r>
                        <a:rPr lang="en-GB" sz="2000" u="sng" dirty="0"/>
                        <a:t>standard matrix inverse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9057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^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Raise the proceeding matrix to the power (</a:t>
                      </a:r>
                      <a:r>
                        <a:rPr lang="en-GB" sz="2000" u="sng" dirty="0"/>
                        <a:t>multiple matrix multiplication</a:t>
                      </a:r>
                      <a:r>
                        <a:rPr lang="en-GB" sz="2000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94671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Generates the transpose of the preceding matrix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86165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[</a:t>
                      </a:r>
                      <a:r>
                        <a:rPr lang="en-GB" sz="2000" i="1" dirty="0"/>
                        <a:t>A</a:t>
                      </a:r>
                      <a:r>
                        <a:rPr lang="en-GB" sz="2000" dirty="0"/>
                        <a:t>, </a:t>
                      </a:r>
                      <a:r>
                        <a:rPr lang="en-GB" sz="2000" i="1" dirty="0"/>
                        <a:t>B</a:t>
                      </a:r>
                      <a:r>
                        <a:rPr lang="en-GB" sz="2000" dirty="0"/>
                        <a:t>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Generates a new matrix (matrices </a:t>
                      </a:r>
                      <a:r>
                        <a:rPr lang="en-GB" sz="2000" i="1" dirty="0"/>
                        <a:t>A</a:t>
                      </a:r>
                      <a:r>
                        <a:rPr lang="en-GB" sz="2000" dirty="0"/>
                        <a:t> and </a:t>
                      </a:r>
                      <a:r>
                        <a:rPr lang="en-GB" sz="2000" i="1" dirty="0"/>
                        <a:t>B</a:t>
                      </a:r>
                      <a:r>
                        <a:rPr lang="en-GB" sz="2000" dirty="0"/>
                        <a:t> joint horizontally)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73004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000" dirty="0"/>
                        <a:t>[</a:t>
                      </a:r>
                      <a:r>
                        <a:rPr lang="en-GB" sz="2000" i="1" dirty="0"/>
                        <a:t>A;</a:t>
                      </a:r>
                      <a:r>
                        <a:rPr lang="en-GB" sz="2000" dirty="0"/>
                        <a:t> </a:t>
                      </a:r>
                      <a:r>
                        <a:rPr lang="en-GB" sz="2000" i="1" dirty="0"/>
                        <a:t>B</a:t>
                      </a:r>
                      <a:r>
                        <a:rPr lang="en-GB" sz="2000" dirty="0"/>
                        <a:t>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000" dirty="0"/>
                        <a:t>Generates a new matrix (matrices </a:t>
                      </a:r>
                      <a:r>
                        <a:rPr lang="en-GB" sz="2000" i="1" dirty="0"/>
                        <a:t>A</a:t>
                      </a:r>
                      <a:r>
                        <a:rPr lang="en-GB" sz="2000" dirty="0"/>
                        <a:t> and </a:t>
                      </a:r>
                      <a:r>
                        <a:rPr lang="en-GB" sz="2000" i="1" dirty="0"/>
                        <a:t>B</a:t>
                      </a:r>
                      <a:r>
                        <a:rPr lang="en-GB" sz="2000" dirty="0"/>
                        <a:t> joint vertically)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482930"/>
                  </a:ext>
                </a:extLst>
              </a:tr>
            </a:tbl>
          </a:graphicData>
        </a:graphic>
      </p:graphicFrame>
      <p:sp>
        <p:nvSpPr>
          <p:cNvPr id="10" name="矩形 8">
            <a:extLst>
              <a:ext uri="{FF2B5EF4-FFF2-40B4-BE49-F238E27FC236}">
                <a16:creationId xmlns:a16="http://schemas.microsoft.com/office/drawing/2014/main" id="{D2E4B2F6-A223-F9FE-CE80-9FBF83CBC071}"/>
              </a:ext>
            </a:extLst>
          </p:cNvPr>
          <p:cNvSpPr/>
          <p:nvPr/>
        </p:nvSpPr>
        <p:spPr>
          <a:xfrm>
            <a:off x="9589713" y="6000877"/>
            <a:ext cx="1544012" cy="369332"/>
          </a:xfrm>
          <a:prstGeom prst="rect">
            <a:avLst/>
          </a:prstGeom>
          <a:solidFill>
            <a:srgbClr val="E7E6E6"/>
          </a:solidFill>
          <a:ln w="1905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See live script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82110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Matrix element operators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矩形 8">
            <a:extLst>
              <a:ext uri="{FF2B5EF4-FFF2-40B4-BE49-F238E27FC236}">
                <a16:creationId xmlns:a16="http://schemas.microsoft.com/office/drawing/2014/main" id="{D2E4B2F6-A223-F9FE-CE80-9FBF83CBC071}"/>
              </a:ext>
            </a:extLst>
          </p:cNvPr>
          <p:cNvSpPr/>
          <p:nvPr/>
        </p:nvSpPr>
        <p:spPr>
          <a:xfrm>
            <a:off x="9589713" y="6000877"/>
            <a:ext cx="1544012" cy="369332"/>
          </a:xfrm>
          <a:prstGeom prst="rect">
            <a:avLst/>
          </a:prstGeom>
          <a:solidFill>
            <a:srgbClr val="E7E6E6"/>
          </a:solidFill>
          <a:ln w="1905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See live script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645203B-E6CB-5E2F-2A25-5CED65AD9C92}"/>
              </a:ext>
            </a:extLst>
          </p:cNvPr>
          <p:cNvSpPr txBox="1">
            <a:spLocks/>
          </p:cNvSpPr>
          <p:nvPr/>
        </p:nvSpPr>
        <p:spPr>
          <a:xfrm>
            <a:off x="356254" y="1688626"/>
            <a:ext cx="9562188" cy="271542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3000"/>
              </a:spcBef>
              <a:buFont typeface="Arial" panose="020B0604020202020204" pitchFamily="34" charset="0"/>
              <a:buNone/>
            </a:pPr>
            <a:r>
              <a:rPr lang="en-GB" dirty="0"/>
              <a:t>Element by element operations operate on the elements of a matrix instead of the matrix as a whole.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F1DA943-EF3D-B075-DFEF-7568FEC52C6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17308645"/>
              </p:ext>
            </p:extLst>
          </p:nvPr>
        </p:nvGraphicFramePr>
        <p:xfrm>
          <a:off x="542863" y="2777701"/>
          <a:ext cx="10131355" cy="2913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3742">
                  <a:extLst>
                    <a:ext uri="{9D8B030D-6E8A-4147-A177-3AD203B41FA5}">
                      <a16:colId xmlns:a16="http://schemas.microsoft.com/office/drawing/2014/main" val="1120946659"/>
                    </a:ext>
                  </a:extLst>
                </a:gridCol>
                <a:gridCol w="8757613">
                  <a:extLst>
                    <a:ext uri="{9D8B030D-6E8A-4147-A177-3AD203B41FA5}">
                      <a16:colId xmlns:a16="http://schemas.microsoft.com/office/drawing/2014/main" val="1783415027"/>
                    </a:ext>
                  </a:extLst>
                </a:gridCol>
              </a:tblGrid>
              <a:tr h="512464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Function</a:t>
                      </a:r>
                    </a:p>
                  </a:txBody>
                  <a:tcPr>
                    <a:solidFill>
                      <a:srgbClr val="0035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Description</a:t>
                      </a:r>
                    </a:p>
                  </a:txBody>
                  <a:tcPr>
                    <a:solidFill>
                      <a:srgbClr val="0035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9429303"/>
                  </a:ext>
                </a:extLst>
              </a:tr>
              <a:tr h="800286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.*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Multiply the elements of one matrix by those of another in an element wise fashion, only works on matrices of the same size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5820523"/>
                  </a:ext>
                </a:extLst>
              </a:tr>
              <a:tr h="800286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./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Divide the elements of one matrix by those of another in an element wise fashion, only works on matrices of the same size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9057624"/>
                  </a:ext>
                </a:extLst>
              </a:tr>
              <a:tr h="800286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.^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Raise the elements of the proceeding matrix to the power of the operand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86165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80718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Matrix element operators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矩形 8">
            <a:extLst>
              <a:ext uri="{FF2B5EF4-FFF2-40B4-BE49-F238E27FC236}">
                <a16:creationId xmlns:a16="http://schemas.microsoft.com/office/drawing/2014/main" id="{D2E4B2F6-A223-F9FE-CE80-9FBF83CBC071}"/>
              </a:ext>
            </a:extLst>
          </p:cNvPr>
          <p:cNvSpPr/>
          <p:nvPr/>
        </p:nvSpPr>
        <p:spPr>
          <a:xfrm>
            <a:off x="9589713" y="6000877"/>
            <a:ext cx="1544012" cy="369332"/>
          </a:xfrm>
          <a:prstGeom prst="rect">
            <a:avLst/>
          </a:prstGeom>
          <a:solidFill>
            <a:srgbClr val="E7E6E6"/>
          </a:solidFill>
          <a:ln w="1905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See live script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0F6604-EFC7-0965-E54D-07ED2B3DA08E}"/>
              </a:ext>
            </a:extLst>
          </p:cNvPr>
          <p:cNvSpPr txBox="1">
            <a:spLocks/>
          </p:cNvSpPr>
          <p:nvPr/>
        </p:nvSpPr>
        <p:spPr>
          <a:xfrm>
            <a:off x="353168" y="1725048"/>
            <a:ext cx="9775028" cy="394796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0"/>
              </a:spcBef>
              <a:buFont typeface="Arial" panose="020B0604020202020204" pitchFamily="34" charset="0"/>
              <a:buNone/>
            </a:pPr>
            <a:r>
              <a:rPr lang="en-GB" dirty="0"/>
              <a:t>Element by element operations operate on the elements of a matrix instead of the matrix as a whole.</a:t>
            </a:r>
          </a:p>
          <a:p>
            <a:pPr marL="0" indent="0">
              <a:spcBef>
                <a:spcPts val="3000"/>
              </a:spcBef>
              <a:buFont typeface="Arial" panose="020B0604020202020204" pitchFamily="34" charset="0"/>
              <a:buNone/>
            </a:pPr>
            <a:r>
              <a:rPr lang="en-GB" dirty="0"/>
              <a:t>Example:</a:t>
            </a:r>
          </a:p>
        </p:txBody>
      </p:sp>
      <p:graphicFrame>
        <p:nvGraphicFramePr>
          <p:cNvPr id="5" name="Table 9">
            <a:extLst>
              <a:ext uri="{FF2B5EF4-FFF2-40B4-BE49-F238E27FC236}">
                <a16:creationId xmlns:a16="http://schemas.microsoft.com/office/drawing/2014/main" id="{EBE9035E-CBF8-BF4E-D5DF-1C3ACA6415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383619"/>
              </p:ext>
            </p:extLst>
          </p:nvPr>
        </p:nvGraphicFramePr>
        <p:xfrm>
          <a:off x="371830" y="4288307"/>
          <a:ext cx="10490714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36072">
                  <a:extLst>
                    <a:ext uri="{9D8B030D-6E8A-4147-A177-3AD203B41FA5}">
                      <a16:colId xmlns:a16="http://schemas.microsoft.com/office/drawing/2014/main" val="3697289924"/>
                    </a:ext>
                  </a:extLst>
                </a:gridCol>
                <a:gridCol w="5954642">
                  <a:extLst>
                    <a:ext uri="{9D8B030D-6E8A-4147-A177-3AD203B41FA5}">
                      <a16:colId xmlns:a16="http://schemas.microsoft.com/office/drawing/2014/main" val="1438166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Standard matrix multiplication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Element by element matrix multiplication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8939492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70A84513-1EBC-8643-823D-FD2E3364D2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2227" y="2899360"/>
            <a:ext cx="2135648" cy="105928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E7F90744-C146-592E-C58B-3462E0AA16DC}"/>
              </a:ext>
            </a:extLst>
          </p:cNvPr>
          <p:cNvGrpSpPr/>
          <p:nvPr/>
        </p:nvGrpSpPr>
        <p:grpSpPr>
          <a:xfrm>
            <a:off x="2045142" y="4971342"/>
            <a:ext cx="6507658" cy="1493910"/>
            <a:chOff x="2154056" y="3616419"/>
            <a:chExt cx="6507658" cy="1493910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C66DF898-E75E-9F06-CF47-6A0C6C844C8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-1630"/>
            <a:stretch/>
          </p:blipFill>
          <p:spPr>
            <a:xfrm>
              <a:off x="2154056" y="3616419"/>
              <a:ext cx="1625756" cy="1493910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7A7B81E6-6991-E430-B8D1-27803A23F654}"/>
                </a:ext>
              </a:extLst>
            </p:cNvPr>
            <p:cNvGrpSpPr/>
            <p:nvPr/>
          </p:nvGrpSpPr>
          <p:grpSpPr>
            <a:xfrm>
              <a:off x="7130930" y="3616419"/>
              <a:ext cx="1530784" cy="1470185"/>
              <a:chOff x="7130930" y="3616419"/>
              <a:chExt cx="1530784" cy="1470185"/>
            </a:xfrm>
          </p:grpSpPr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C30126AD-D552-90E0-C4BC-8FAD4DC6044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30931" y="4097691"/>
                <a:ext cx="1530783" cy="988913"/>
              </a:xfrm>
              <a:prstGeom prst="rect">
                <a:avLst/>
              </a:prstGeom>
              <a:solidFill>
                <a:srgbClr val="FFFFFF">
                  <a:shade val="85000"/>
                </a:srgbClr>
              </a:solidFill>
              <a:ln w="88900" cap="sq">
                <a:solidFill>
                  <a:srgbClr val="FFFFFF"/>
                </a:solidFill>
                <a:miter lim="800000"/>
              </a:ln>
              <a:effectLst>
                <a:outerShdw blurRad="55000" dist="18000" dir="5400000" algn="tl" rotWithShape="0">
                  <a:srgbClr val="000000">
                    <a:alpha val="40000"/>
                  </a:srgbClr>
                </a:outerShdw>
              </a:effectLst>
              <a:scene3d>
                <a:camera prst="orthographicFront"/>
                <a:lightRig rig="twoPt" dir="t">
                  <a:rot lat="0" lon="0" rev="7200000"/>
                </a:lightRig>
              </a:scene3d>
              <a:sp3d>
                <a:bevelT w="25400" h="19050"/>
                <a:contourClr>
                  <a:srgbClr val="FFFFFF"/>
                </a:contourClr>
              </a:sp3d>
            </p:spPr>
          </p:pic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AD473CC3-3809-04AA-B7D5-DC59B72FD91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130930" y="3616419"/>
                <a:ext cx="1530783" cy="326233"/>
              </a:xfrm>
              <a:prstGeom prst="rect">
                <a:avLst/>
              </a:prstGeom>
              <a:solidFill>
                <a:srgbClr val="FFFFFF">
                  <a:shade val="85000"/>
                </a:srgbClr>
              </a:solidFill>
              <a:ln w="88900" cap="sq">
                <a:solidFill>
                  <a:srgbClr val="FFFFFF"/>
                </a:solidFill>
                <a:miter lim="800000"/>
              </a:ln>
              <a:effectLst>
                <a:outerShdw blurRad="55000" dist="18000" dir="5400000" algn="tl" rotWithShape="0">
                  <a:srgbClr val="000000">
                    <a:alpha val="40000"/>
                  </a:srgbClr>
                </a:outerShdw>
              </a:effectLst>
              <a:scene3d>
                <a:camera prst="orthographicFront"/>
                <a:lightRig rig="twoPt" dir="t">
                  <a:rot lat="0" lon="0" rev="7200000"/>
                </a:lightRig>
              </a:scene3d>
              <a:sp3d>
                <a:bevelT w="25400" h="19050"/>
                <a:contourClr>
                  <a:srgbClr val="FFFFFF"/>
                </a:contourClr>
              </a:sp3d>
            </p:spPr>
          </p:pic>
        </p:grpSp>
      </p:grpSp>
    </p:spTree>
    <p:extLst>
      <p:ext uri="{BB962C8B-B14F-4D97-AF65-F5344CB8AC3E}">
        <p14:creationId xmlns:p14="http://schemas.microsoft.com/office/powerpoint/2010/main" val="1727457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>
                <a:cs typeface="Times New Roman"/>
              </a:rPr>
              <a:t>Element by element operations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矩形 8">
            <a:extLst>
              <a:ext uri="{FF2B5EF4-FFF2-40B4-BE49-F238E27FC236}">
                <a16:creationId xmlns:a16="http://schemas.microsoft.com/office/drawing/2014/main" id="{D2E4B2F6-A223-F9FE-CE80-9FBF83CBC071}"/>
              </a:ext>
            </a:extLst>
          </p:cNvPr>
          <p:cNvSpPr/>
          <p:nvPr/>
        </p:nvSpPr>
        <p:spPr>
          <a:xfrm>
            <a:off x="9589713" y="6000877"/>
            <a:ext cx="1544012" cy="369332"/>
          </a:xfrm>
          <a:prstGeom prst="rect">
            <a:avLst/>
          </a:prstGeom>
          <a:solidFill>
            <a:srgbClr val="E7E6E6"/>
          </a:solidFill>
          <a:ln w="1905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See live script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</a:endParaRPr>
          </a:p>
        </p:txBody>
      </p:sp>
      <p:sp>
        <p:nvSpPr>
          <p:cNvPr id="2" name="Content Placeholder 15">
            <a:extLst>
              <a:ext uri="{FF2B5EF4-FFF2-40B4-BE49-F238E27FC236}">
                <a16:creationId xmlns:a16="http://schemas.microsoft.com/office/drawing/2014/main" id="{ADB3E2E2-6CFF-AEE5-5C1A-491AD21208D5}"/>
              </a:ext>
            </a:extLst>
          </p:cNvPr>
          <p:cNvSpPr txBox="1">
            <a:spLocks/>
          </p:cNvSpPr>
          <p:nvPr/>
        </p:nvSpPr>
        <p:spPr>
          <a:xfrm>
            <a:off x="358059" y="1719397"/>
            <a:ext cx="7886700" cy="430947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u="sng" dirty="0">
                <a:cs typeface="Times New Roman"/>
              </a:rPr>
              <a:t>Standard</a:t>
            </a:r>
            <a:r>
              <a:rPr lang="en-GB" dirty="0">
                <a:cs typeface="Times New Roman"/>
              </a:rPr>
              <a:t> matrix multiplication:</a:t>
            </a:r>
          </a:p>
          <a:p>
            <a:endParaRPr lang="en-GB" dirty="0">
              <a:cs typeface="Times New Roman"/>
            </a:endParaRPr>
          </a:p>
          <a:p>
            <a:endParaRPr lang="en-GB" dirty="0">
              <a:cs typeface="Times New Roman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GB" dirty="0">
                <a:cs typeface="Times New Roman"/>
              </a:rPr>
              <a:t>Element by element multiplication:</a:t>
            </a:r>
          </a:p>
          <a:p>
            <a:endParaRPr lang="en-GB" dirty="0">
              <a:cs typeface="Times New Roman"/>
            </a:endParaRPr>
          </a:p>
          <a:p>
            <a:endParaRPr lang="en-GB" dirty="0">
              <a:cs typeface="Times New Roman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GB" dirty="0">
                <a:cs typeface="Times New Roman"/>
              </a:rPr>
              <a:t>Element by element power:</a:t>
            </a:r>
          </a:p>
          <a:p>
            <a:endParaRPr lang="en-GB" dirty="0">
              <a:cs typeface="Times New Roman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38A9032-81BD-E870-ACC5-986EFB80EB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7691" y="4916155"/>
            <a:ext cx="5201376" cy="88594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9BAD805-09A0-7F59-E6C7-E1C64FB1F4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9773" y="3530197"/>
            <a:ext cx="5163271" cy="86689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BDC25AD-08B5-470F-F4A0-11E9692687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19773" y="2144239"/>
            <a:ext cx="7078063" cy="86689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4A006E9-5204-D20A-3CFE-512D6ED1E4AC}"/>
              </a:ext>
            </a:extLst>
          </p:cNvPr>
          <p:cNvSpPr/>
          <p:nvPr/>
        </p:nvSpPr>
        <p:spPr>
          <a:xfrm>
            <a:off x="2614353" y="2576945"/>
            <a:ext cx="87283" cy="914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20637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Reshaping matrices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矩形 8">
            <a:extLst>
              <a:ext uri="{FF2B5EF4-FFF2-40B4-BE49-F238E27FC236}">
                <a16:creationId xmlns:a16="http://schemas.microsoft.com/office/drawing/2014/main" id="{D2E4B2F6-A223-F9FE-CE80-9FBF83CBC071}"/>
              </a:ext>
            </a:extLst>
          </p:cNvPr>
          <p:cNvSpPr/>
          <p:nvPr/>
        </p:nvSpPr>
        <p:spPr>
          <a:xfrm>
            <a:off x="9589713" y="6000877"/>
            <a:ext cx="1544012" cy="369332"/>
          </a:xfrm>
          <a:prstGeom prst="rect">
            <a:avLst/>
          </a:prstGeom>
          <a:solidFill>
            <a:srgbClr val="E7E6E6"/>
          </a:solidFill>
          <a:ln w="1905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See live script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956C96-9BEB-1025-8B5A-3A7915BB158F}"/>
              </a:ext>
            </a:extLst>
          </p:cNvPr>
          <p:cNvSpPr txBox="1">
            <a:spLocks/>
          </p:cNvSpPr>
          <p:nvPr/>
        </p:nvSpPr>
        <p:spPr>
          <a:xfrm>
            <a:off x="535344" y="1626088"/>
            <a:ext cx="7886700" cy="552954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Reshaping means to reorder dimensions.</a:t>
            </a:r>
          </a:p>
          <a:p>
            <a:pPr marL="0" indent="0">
              <a:spcBef>
                <a:spcPts val="1800"/>
              </a:spcBef>
              <a:buFont typeface="Arial" panose="020B0604020202020204" pitchFamily="34" charset="0"/>
              <a:buNone/>
            </a:pPr>
            <a:r>
              <a:rPr lang="en-GB" dirty="0"/>
              <a:t>MATLAB provides the function “</a:t>
            </a:r>
            <a:r>
              <a:rPr lang="en-GB" dirty="0">
                <a:latin typeface="Consolas" panose="020B0609020204030204" pitchFamily="49" charset="0"/>
              </a:rPr>
              <a:t>reshape(mat, </a:t>
            </a:r>
            <a:r>
              <a:rPr lang="en-GB" dirty="0" err="1">
                <a:latin typeface="Consolas" panose="020B0609020204030204" pitchFamily="49" charset="0"/>
              </a:rPr>
              <a:t>sz</a:t>
            </a:r>
            <a:r>
              <a:rPr lang="en-GB" dirty="0">
                <a:latin typeface="Consolas" panose="020B0609020204030204" pitchFamily="49" charset="0"/>
              </a:rPr>
              <a:t>)</a:t>
            </a:r>
            <a:r>
              <a:rPr lang="en-GB" dirty="0"/>
              <a:t>”</a:t>
            </a:r>
          </a:p>
          <a:p>
            <a:pPr lvl="1"/>
            <a:r>
              <a:rPr lang="en-GB" i="1" dirty="0"/>
              <a:t>mat</a:t>
            </a:r>
            <a:r>
              <a:rPr lang="en-GB" dirty="0"/>
              <a:t> is the matrix to be reshaped</a:t>
            </a:r>
          </a:p>
          <a:p>
            <a:pPr lvl="1"/>
            <a:r>
              <a:rPr lang="en-GB" i="1" dirty="0" err="1"/>
              <a:t>sz</a:t>
            </a:r>
            <a:r>
              <a:rPr lang="en-GB" i="1" dirty="0"/>
              <a:t> </a:t>
            </a:r>
            <a:r>
              <a:rPr lang="en-GB" dirty="0"/>
              <a:t>is an array of the desired dimensions.</a:t>
            </a:r>
          </a:p>
          <a:p>
            <a:pPr marL="0" indent="0">
              <a:spcBef>
                <a:spcPts val="1800"/>
              </a:spcBef>
              <a:buFont typeface="Arial" panose="020B0604020202020204" pitchFamily="34" charset="0"/>
              <a:buNone/>
            </a:pPr>
            <a:r>
              <a:rPr lang="en-GB" dirty="0"/>
              <a:t>Reshaping in MATLAB maintains column wise order.</a:t>
            </a:r>
          </a:p>
          <a:p>
            <a:endParaRPr lang="en-GB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8489F95B-9132-BDE2-A15D-C1DE3FD30726}"/>
              </a:ext>
            </a:extLst>
          </p:cNvPr>
          <p:cNvSpPr/>
          <p:nvPr/>
        </p:nvSpPr>
        <p:spPr>
          <a:xfrm>
            <a:off x="3747386" y="4892930"/>
            <a:ext cx="2717410" cy="248237"/>
          </a:xfrm>
          <a:prstGeom prst="rightArrow">
            <a:avLst>
              <a:gd name="adj1" fmla="val 18854"/>
              <a:gd name="adj2" fmla="val 21035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4345D8-A673-2960-C665-F5BFC73DAE77}"/>
              </a:ext>
            </a:extLst>
          </p:cNvPr>
          <p:cNvSpPr txBox="1"/>
          <p:nvPr/>
        </p:nvSpPr>
        <p:spPr>
          <a:xfrm>
            <a:off x="3747385" y="4504576"/>
            <a:ext cx="27174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onsolas" panose="020B0609020204030204" pitchFamily="49" charset="0"/>
              </a:rPr>
              <a:t>reshape(mat, [1, 6])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E2C4331-B0C3-D1FB-8675-1428D86320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694" y="4287219"/>
            <a:ext cx="2539542" cy="134984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90EFB9C-B200-859C-9EDD-6D098DF199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1814" y="4637065"/>
            <a:ext cx="3300460" cy="69879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634039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University at sunset">
            <a:extLst>
              <a:ext uri="{FF2B5EF4-FFF2-40B4-BE49-F238E27FC236}">
                <a16:creationId xmlns:a16="http://schemas.microsoft.com/office/drawing/2014/main" id="{11FDCD37-95D4-D94F-8143-5384ADC6A6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75F20C-468E-F742-9149-B8A5FEBC291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5886" y="1889351"/>
            <a:ext cx="5842000" cy="1931535"/>
          </a:xfrm>
        </p:spPr>
        <p:txBody>
          <a:bodyPr>
            <a:noAutofit/>
          </a:bodyPr>
          <a:lstStyle/>
          <a:p>
            <a:pPr algn="l"/>
            <a:r>
              <a:rPr lang="en-GB">
                <a:solidFill>
                  <a:schemeClr val="bg1"/>
                </a:solidFill>
              </a:rPr>
              <a:t>Thanks!</a:t>
            </a:r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22ED6EA-1EF6-E99C-8D46-A77E8079F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385228" y="5699322"/>
            <a:ext cx="3413095" cy="854153"/>
            <a:chOff x="8385228" y="5699322"/>
            <a:chExt cx="3413095" cy="854153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44E80E0-21D5-A09C-9C43-3B822C05837D}"/>
                </a:ext>
              </a:extLst>
            </p:cNvPr>
            <p:cNvSpPr txBox="1"/>
            <p:nvPr/>
          </p:nvSpPr>
          <p:spPr>
            <a:xfrm>
              <a:off x="8385228" y="5699322"/>
              <a:ext cx="3413095" cy="461665"/>
            </a:xfrm>
            <a:prstGeom prst="rect">
              <a:avLst/>
            </a:prstGeom>
            <a:noFill/>
            <a:effectLst>
              <a:outerShdw blurRad="1270000" dist="50800" dir="5400000" sx="200000" sy="200000" algn="ctr" rotWithShape="0">
                <a:schemeClr val="tx1"/>
              </a:outerShdw>
            </a:effectLst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#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UofGWorldChangers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92BBCD2-E264-1B57-0E93-92E9DB639953}"/>
                </a:ext>
              </a:extLst>
            </p:cNvPr>
            <p:cNvSpPr txBox="1"/>
            <p:nvPr/>
          </p:nvSpPr>
          <p:spPr>
            <a:xfrm>
              <a:off x="9098531" y="6091810"/>
              <a:ext cx="26997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@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UofGlasgow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endParaRP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4EA5A01-D67E-B5A8-4983-B4E38F735C71}"/>
                </a:ext>
              </a:extLst>
            </p:cNvPr>
            <p:cNvGrpSpPr/>
            <p:nvPr/>
          </p:nvGrpSpPr>
          <p:grpSpPr>
            <a:xfrm>
              <a:off x="8516481" y="6162367"/>
              <a:ext cx="841333" cy="347112"/>
              <a:chOff x="8601252" y="6162367"/>
              <a:chExt cx="841333" cy="347112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8049EAA7-B259-E0CF-6188-D83E4A7650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778761" y="6162367"/>
                <a:ext cx="475023" cy="347112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C9EF044C-8E77-0253-404C-AEACFCC1AE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9194185" y="6223334"/>
                <a:ext cx="248400" cy="248399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1EFBA2B9-08B7-B52F-FE3B-91DCAC58DC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8601252" y="6221141"/>
                <a:ext cx="239105" cy="239106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006378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ofG colours">
      <a:dk1>
        <a:srgbClr val="003865"/>
      </a:dk1>
      <a:lt1>
        <a:srgbClr val="FFFFFE"/>
      </a:lt1>
      <a:dk2>
        <a:srgbClr val="000000"/>
      </a:dk2>
      <a:lt2>
        <a:srgbClr val="7D2238"/>
      </a:lt2>
      <a:accent1>
        <a:srgbClr val="0075B0"/>
      </a:accent1>
      <a:accent2>
        <a:srgbClr val="5B4D93"/>
      </a:accent2>
      <a:accent3>
        <a:srgbClr val="CF1C20"/>
      </a:accent3>
      <a:accent4>
        <a:srgbClr val="00833C"/>
      </a:accent4>
      <a:accent5>
        <a:srgbClr val="BE4D00"/>
      </a:accent5>
      <a:accent6>
        <a:srgbClr val="951271"/>
      </a:accent6>
      <a:hlink>
        <a:srgbClr val="584B3D"/>
      </a:hlink>
      <a:folHlink>
        <a:srgbClr val="0068A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A61AF5F2-503D-2641-86A1-09AD8919EA9C}" vid="{A816E7D6-9491-074F-A4D5-6596497DAC1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C3DDD16490E0A48848881CB6EECDF92" ma:contentTypeVersion="14" ma:contentTypeDescription="Create a new document." ma:contentTypeScope="" ma:versionID="7257862a4d6c3825659cc59ecdb78f01">
  <xsd:schema xmlns:xsd="http://www.w3.org/2001/XMLSchema" xmlns:xs="http://www.w3.org/2001/XMLSchema" xmlns:p="http://schemas.microsoft.com/office/2006/metadata/properties" xmlns:ns2="1cc9bed8-8410-44eb-bf25-ca1ea4636418" xmlns:ns3="dfc159fb-6789-415c-9027-b0bc58ba83c2" targetNamespace="http://schemas.microsoft.com/office/2006/metadata/properties" ma:root="true" ma:fieldsID="e75013956d80933023b8c9f213f858d3" ns2:_="" ns3:_="">
    <xsd:import namespace="1cc9bed8-8410-44eb-bf25-ca1ea4636418"/>
    <xsd:import namespace="dfc159fb-6789-415c-9027-b0bc58ba83c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c9bed8-8410-44eb-bf25-ca1ea46364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7306b285-ac2c-4225-b56d-e54690cf9c9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c159fb-6789-415c-9027-b0bc58ba83c2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79eadc21-23c5-47b9-90bf-40474c6df852}" ma:internalName="TaxCatchAll" ma:showField="CatchAllData" ma:web="dfc159fb-6789-415c-9027-b0bc58ba83c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cc9bed8-8410-44eb-bf25-ca1ea4636418">
      <Terms xmlns="http://schemas.microsoft.com/office/infopath/2007/PartnerControls"/>
    </lcf76f155ced4ddcb4097134ff3c332f>
    <TaxCatchAll xmlns="dfc159fb-6789-415c-9027-b0bc58ba83c2" xsi:nil="true"/>
  </documentManagement>
</p:properties>
</file>

<file path=customXml/itemProps1.xml><?xml version="1.0" encoding="utf-8"?>
<ds:datastoreItem xmlns:ds="http://schemas.openxmlformats.org/officeDocument/2006/customXml" ds:itemID="{FE6B3716-FBEF-47DB-9720-E54B5BEE0FD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cc9bed8-8410-44eb-bf25-ca1ea4636418"/>
    <ds:schemaRef ds:uri="dfc159fb-6789-415c-9027-b0bc58ba83c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413289E-D428-4A76-A3CF-AA62EE01859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44F7A00-710F-46AE-B5A5-F61B8ADADAD7}">
  <ds:schemaRefs>
    <ds:schemaRef ds:uri="http://purl.org/dc/dcmitype/"/>
    <ds:schemaRef ds:uri="http://schemas.microsoft.com/office/2006/metadata/properties"/>
    <ds:schemaRef ds:uri="http://purl.org/dc/terms/"/>
    <ds:schemaRef ds:uri="dfc159fb-6789-415c-9027-b0bc58ba83c2"/>
    <ds:schemaRef ds:uri="http://www.w3.org/XML/1998/namespace"/>
    <ds:schemaRef ds:uri="http://purl.org/dc/elements/1.1/"/>
    <ds:schemaRef ds:uri="http://schemas.microsoft.com/office/2006/documentManagement/types"/>
    <ds:schemaRef ds:uri="1cc9bed8-8410-44eb-bf25-ca1ea4636418"/>
    <ds:schemaRef ds:uri="http://schemas.microsoft.com/office/infopath/2007/PartnerControl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1880</TotalTime>
  <Words>372</Words>
  <Application>Microsoft Office PowerPoint</Application>
  <PresentationFormat>Widescreen</PresentationFormat>
  <Paragraphs>71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Consolas</vt:lpstr>
      <vt:lpstr>Times New Roman</vt:lpstr>
      <vt:lpstr>Office Theme</vt:lpstr>
      <vt:lpstr>MATLAB Matrices: Manipulate Matrices </vt:lpstr>
      <vt:lpstr>MATLAB size function</vt:lpstr>
      <vt:lpstr>Matrix operators</vt:lpstr>
      <vt:lpstr>Matrix element operators</vt:lpstr>
      <vt:lpstr>Matrix element operators</vt:lpstr>
      <vt:lpstr>Element by element operations</vt:lpstr>
      <vt:lpstr>Reshaping matrices</vt:lpstr>
      <vt:lpstr>Thanks!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Luca Löttgen (PGR)</dc:creator>
  <cp:keywords/>
  <dc:description/>
  <cp:lastModifiedBy>Bo Liu</cp:lastModifiedBy>
  <cp:revision>68</cp:revision>
  <dcterms:created xsi:type="dcterms:W3CDTF">2021-01-06T14:22:07Z</dcterms:created>
  <dcterms:modified xsi:type="dcterms:W3CDTF">2024-06-24T10:51:54Z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0x0101009C3DDD16490E0A48848881CB6EECDF92</vt:lpwstr>
  </property>
  <property fmtid="{D5CDD505-2E9C-101B-9397-08002B2CF9AE}" pid="3" name="MediaServiceImageTags">
    <vt:lpwstr/>
  </property>
</Properties>
</file>