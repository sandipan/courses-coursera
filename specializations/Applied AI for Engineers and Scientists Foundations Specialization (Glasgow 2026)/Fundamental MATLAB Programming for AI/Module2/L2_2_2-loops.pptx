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5" r:id="rId7"/>
    <p:sldId id="496" r:id="rId8"/>
    <p:sldId id="497" r:id="rId9"/>
    <p:sldId id="498" r:id="rId10"/>
    <p:sldId id="499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5556A-A195-593F-AA02-C9AF3EDDE5A3}" v="8" dt="2024-10-16T02:11:46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Liu" userId="S::bo.liu@glasgow.ac.uk::9f3cef8d-a62c-47d5-a5f2-d612cd92c880" providerId="AD" clId="Web-{2D25556A-A195-593F-AA02-C9AF3EDDE5A3}"/>
    <pc:docChg chg="modSld">
      <pc:chgData name="Bo Liu" userId="S::bo.liu@glasgow.ac.uk::9f3cef8d-a62c-47d5-a5f2-d612cd92c880" providerId="AD" clId="Web-{2D25556A-A195-593F-AA02-C9AF3EDDE5A3}" dt="2024-10-16T02:11:46.198" v="3" actId="20577"/>
      <pc:docMkLst>
        <pc:docMk/>
      </pc:docMkLst>
      <pc:sldChg chg="modSp">
        <pc:chgData name="Bo Liu" userId="S::bo.liu@glasgow.ac.uk::9f3cef8d-a62c-47d5-a5f2-d612cd92c880" providerId="AD" clId="Web-{2D25556A-A195-593F-AA02-C9AF3EDDE5A3}" dt="2024-10-16T02:11:46.198" v="3" actId="20577"/>
        <pc:sldMkLst>
          <pc:docMk/>
          <pc:sldMk cId="2698937357" sldId="499"/>
        </pc:sldMkLst>
        <pc:spChg chg="mod">
          <ac:chgData name="Bo Liu" userId="S::bo.liu@glasgow.ac.uk::9f3cef8d-a62c-47d5-a5f2-d612cd92c880" providerId="AD" clId="Web-{2D25556A-A195-593F-AA02-C9AF3EDDE5A3}" dt="2024-10-16T02:11:46.198" v="3" actId="20577"/>
          <ac:spMkLst>
            <pc:docMk/>
            <pc:sldMk cId="2698937357" sldId="499"/>
            <ac:spMk id="27" creationId="{D8214AF0-8A89-A9A2-4E2B-BCF7A84CC464}"/>
          </ac:spMkLst>
        </pc:spChg>
      </pc:sldChg>
    </pc:docChg>
  </pc:docChgLst>
  <pc:docChgLst>
    <pc:chgData name="Yushi Liu (PGR)" userId="S::2109741l@student.gla.ac.uk::0738f1d2-bd1d-4f8b-945a-b877be0bfefb" providerId="AD" clId="Web-{2154D652-D446-474A-BD78-4302D17C5FF5}"/>
    <pc:docChg chg="modSld">
      <pc:chgData name="Yushi Liu (PGR)" userId="S::2109741l@student.gla.ac.uk::0738f1d2-bd1d-4f8b-945a-b877be0bfefb" providerId="AD" clId="Web-{2154D652-D446-474A-BD78-4302D17C5FF5}" dt="2024-06-14T18:41:23.059" v="7"/>
      <pc:docMkLst>
        <pc:docMk/>
      </pc:docMkLst>
      <pc:sldChg chg="addSp delSp">
        <pc:chgData name="Yushi Liu (PGR)" userId="S::2109741l@student.gla.ac.uk::0738f1d2-bd1d-4f8b-945a-b877be0bfefb" providerId="AD" clId="Web-{2154D652-D446-474A-BD78-4302D17C5FF5}" dt="2024-06-14T18:41:13.996" v="1"/>
        <pc:sldMkLst>
          <pc:docMk/>
          <pc:sldMk cId="188406168" sldId="496"/>
        </pc:sldMkLst>
        <pc:spChg chg="add">
          <ac:chgData name="Yushi Liu (PGR)" userId="S::2109741l@student.gla.ac.uk::0738f1d2-bd1d-4f8b-945a-b877be0bfefb" providerId="AD" clId="Web-{2154D652-D446-474A-BD78-4302D17C5FF5}" dt="2024-06-14T18:41:13.996" v="1"/>
          <ac:spMkLst>
            <pc:docMk/>
            <pc:sldMk cId="188406168" sldId="496"/>
            <ac:spMk id="5" creationId="{C8713AD0-569B-3338-47A3-BB15576F65BB}"/>
          </ac:spMkLst>
        </pc:spChg>
        <pc:spChg chg="del">
          <ac:chgData name="Yushi Liu (PGR)" userId="S::2109741l@student.gla.ac.uk::0738f1d2-bd1d-4f8b-945a-b877be0bfefb" providerId="AD" clId="Web-{2154D652-D446-474A-BD78-4302D17C5FF5}" dt="2024-06-14T18:41:13.808" v="0"/>
          <ac:spMkLst>
            <pc:docMk/>
            <pc:sldMk cId="188406168" sldId="496"/>
            <ac:spMk id="10" creationId="{C0C0E10A-110B-E6C2-9513-F17E718D337E}"/>
          </ac:spMkLst>
        </pc:spChg>
      </pc:sldChg>
      <pc:sldChg chg="addSp delSp">
        <pc:chgData name="Yushi Liu (PGR)" userId="S::2109741l@student.gla.ac.uk::0738f1d2-bd1d-4f8b-945a-b877be0bfefb" providerId="AD" clId="Web-{2154D652-D446-474A-BD78-4302D17C5FF5}" dt="2024-06-14T18:41:16.855" v="3"/>
        <pc:sldMkLst>
          <pc:docMk/>
          <pc:sldMk cId="97988490" sldId="497"/>
        </pc:sldMkLst>
        <pc:spChg chg="add">
          <ac:chgData name="Yushi Liu (PGR)" userId="S::2109741l@student.gla.ac.uk::0738f1d2-bd1d-4f8b-945a-b877be0bfefb" providerId="AD" clId="Web-{2154D652-D446-474A-BD78-4302D17C5FF5}" dt="2024-06-14T18:41:16.855" v="3"/>
          <ac:spMkLst>
            <pc:docMk/>
            <pc:sldMk cId="97988490" sldId="497"/>
            <ac:spMk id="6" creationId="{59284608-62CE-58D5-4D82-C49508252E77}"/>
          </ac:spMkLst>
        </pc:spChg>
        <pc:spChg chg="del">
          <ac:chgData name="Yushi Liu (PGR)" userId="S::2109741l@student.gla.ac.uk::0738f1d2-bd1d-4f8b-945a-b877be0bfefb" providerId="AD" clId="Web-{2154D652-D446-474A-BD78-4302D17C5FF5}" dt="2024-06-14T18:41:16.652" v="2"/>
          <ac:spMkLst>
            <pc:docMk/>
            <pc:sldMk cId="97988490" sldId="497"/>
            <ac:spMk id="8" creationId="{E8ABF232-1EA8-80E6-46BB-DE8CB1C223A6}"/>
          </ac:spMkLst>
        </pc:spChg>
      </pc:sldChg>
      <pc:sldChg chg="addSp delSp">
        <pc:chgData name="Yushi Liu (PGR)" userId="S::2109741l@student.gla.ac.uk::0738f1d2-bd1d-4f8b-945a-b877be0bfefb" providerId="AD" clId="Web-{2154D652-D446-474A-BD78-4302D17C5FF5}" dt="2024-06-14T18:41:19.637" v="5"/>
        <pc:sldMkLst>
          <pc:docMk/>
          <pc:sldMk cId="4042707899" sldId="498"/>
        </pc:sldMkLst>
        <pc:spChg chg="add">
          <ac:chgData name="Yushi Liu (PGR)" userId="S::2109741l@student.gla.ac.uk::0738f1d2-bd1d-4f8b-945a-b877be0bfefb" providerId="AD" clId="Web-{2154D652-D446-474A-BD78-4302D17C5FF5}" dt="2024-06-14T18:41:19.637" v="5"/>
          <ac:spMkLst>
            <pc:docMk/>
            <pc:sldMk cId="4042707899" sldId="498"/>
            <ac:spMk id="5" creationId="{5061EB59-475F-5DA7-B11D-27F05C3B7272}"/>
          </ac:spMkLst>
        </pc:spChg>
        <pc:spChg chg="del">
          <ac:chgData name="Yushi Liu (PGR)" userId="S::2109741l@student.gla.ac.uk::0738f1d2-bd1d-4f8b-945a-b877be0bfefb" providerId="AD" clId="Web-{2154D652-D446-474A-BD78-4302D17C5FF5}" dt="2024-06-14T18:41:19.465" v="4"/>
          <ac:spMkLst>
            <pc:docMk/>
            <pc:sldMk cId="4042707899" sldId="498"/>
            <ac:spMk id="15" creationId="{77ED249A-A5C1-80B1-7AB0-17681419B35D}"/>
          </ac:spMkLst>
        </pc:spChg>
      </pc:sldChg>
      <pc:sldChg chg="addSp delSp">
        <pc:chgData name="Yushi Liu (PGR)" userId="S::2109741l@student.gla.ac.uk::0738f1d2-bd1d-4f8b-945a-b877be0bfefb" providerId="AD" clId="Web-{2154D652-D446-474A-BD78-4302D17C5FF5}" dt="2024-06-14T18:41:23.059" v="7"/>
        <pc:sldMkLst>
          <pc:docMk/>
          <pc:sldMk cId="2698937357" sldId="499"/>
        </pc:sldMkLst>
        <pc:spChg chg="add">
          <ac:chgData name="Yushi Liu (PGR)" userId="S::2109741l@student.gla.ac.uk::0738f1d2-bd1d-4f8b-945a-b877be0bfefb" providerId="AD" clId="Web-{2154D652-D446-474A-BD78-4302D17C5FF5}" dt="2024-06-14T18:41:23.059" v="7"/>
          <ac:spMkLst>
            <pc:docMk/>
            <pc:sldMk cId="2698937357" sldId="499"/>
            <ac:spMk id="5" creationId="{C829D1FC-DBD1-E283-1C9D-7F9A3477FED8}"/>
          </ac:spMkLst>
        </pc:spChg>
        <pc:spChg chg="del">
          <ac:chgData name="Yushi Liu (PGR)" userId="S::2109741l@student.gla.ac.uk::0738f1d2-bd1d-4f8b-945a-b877be0bfefb" providerId="AD" clId="Web-{2154D652-D446-474A-BD78-4302D17C5FF5}" dt="2024-06-14T18:41:22.871" v="6"/>
          <ac:spMkLst>
            <pc:docMk/>
            <pc:sldMk cId="2698937357" sldId="499"/>
            <ac:spMk id="29" creationId="{37234CAF-22AE-C28E-D5F0-608330069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Loop in MATLAB Programming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Repeating sections of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554716-D576-5894-20EC-4414F0B22BB8}"/>
              </a:ext>
            </a:extLst>
          </p:cNvPr>
          <p:cNvSpPr txBox="1">
            <a:spLocks/>
          </p:cNvSpPr>
          <p:nvPr/>
        </p:nvSpPr>
        <p:spPr>
          <a:xfrm>
            <a:off x="584488" y="1636685"/>
            <a:ext cx="11023023" cy="52213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It is often desirable to let the program repeat specified lines of code.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For example, when: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Applying specific operations to elements of a matrix.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A task requires repeating the same instructions indefinitely: such as a control system.</a:t>
            </a:r>
          </a:p>
          <a:p>
            <a:pPr lvl="1"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Loops are used to repeat lines of MATLAB code.</a:t>
            </a:r>
          </a:p>
          <a:p>
            <a:pPr lvl="1">
              <a:spcBef>
                <a:spcPts val="1200"/>
              </a:spcBef>
              <a:buClr>
                <a:schemeClr val="tx1"/>
              </a:buClr>
            </a:pPr>
            <a:r>
              <a:rPr lang="en-GB" dirty="0">
                <a:solidFill>
                  <a:srgbClr val="0E00FF"/>
                </a:solidFill>
                <a:latin typeface="Consolas" panose="020B0609020204030204" pitchFamily="49" charset="0"/>
              </a:rPr>
              <a:t>while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loops repeat until their assigned condition evaluates as false.</a:t>
            </a:r>
          </a:p>
          <a:p>
            <a:pPr lvl="1">
              <a:spcBef>
                <a:spcPts val="1200"/>
              </a:spcBef>
              <a:buClr>
                <a:schemeClr val="tx1"/>
              </a:buClr>
            </a:pPr>
            <a:r>
              <a:rPr lang="en-GB" dirty="0">
                <a:solidFill>
                  <a:srgbClr val="0E00FF"/>
                </a:solidFill>
                <a:latin typeface="Consolas" panose="020B0609020204030204" pitchFamily="49" charset="0"/>
              </a:rPr>
              <a:t>for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loops repeat a specified number of times and then terminate.</a:t>
            </a:r>
          </a:p>
          <a:p>
            <a:pPr lvl="1">
              <a:spcBef>
                <a:spcPts val="1200"/>
              </a:spcBef>
            </a:pPr>
            <a:endParaRPr lang="en-GB" sz="2100" dirty="0"/>
          </a:p>
          <a:p>
            <a:pPr>
              <a:spcBef>
                <a:spcPts val="1200"/>
              </a:spcBef>
            </a:pPr>
            <a:endParaRPr lang="en-GB" dirty="0"/>
          </a:p>
          <a:p>
            <a:pPr lvl="2">
              <a:spcBef>
                <a:spcPts val="1200"/>
              </a:spcBef>
            </a:pP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8E04-B479-9F55-4309-7C06A242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1222A-AED8-5D5B-9445-70F4ABD8EFFD}"/>
              </a:ext>
            </a:extLst>
          </p:cNvPr>
          <p:cNvSpPr txBox="1">
            <a:spLocks/>
          </p:cNvSpPr>
          <p:nvPr/>
        </p:nvSpPr>
        <p:spPr>
          <a:xfrm>
            <a:off x="304800" y="1472403"/>
            <a:ext cx="9837576" cy="28010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While loops are useful when you do not know how many times do you want to repeat the specified lines of code.</a:t>
            </a:r>
          </a:p>
          <a:p>
            <a:r>
              <a:rPr lang="en-GB" dirty="0">
                <a:solidFill>
                  <a:schemeClr val="tx1"/>
                </a:solidFill>
              </a:rPr>
              <a:t>While loops take the form:</a:t>
            </a:r>
          </a:p>
          <a:p>
            <a:pPr marL="342900" lvl="1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342900" lvl="1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	</a:t>
            </a:r>
          </a:p>
          <a:p>
            <a:pPr marL="342900" lvl="1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342900" lvl="1" indent="0"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0829C-2FD0-721F-CC9B-63713BAD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69" y="2834588"/>
            <a:ext cx="4127350" cy="1188823"/>
          </a:xfrm>
          <a:prstGeom prst="rect">
            <a:avLst/>
          </a:prstGeom>
        </p:spPr>
      </p:pic>
      <p:sp>
        <p:nvSpPr>
          <p:cNvPr id="8" name="矩形 8">
            <a:extLst>
              <a:ext uri="{FF2B5EF4-FFF2-40B4-BE49-F238E27FC236}">
                <a16:creationId xmlns:a16="http://schemas.microsoft.com/office/drawing/2014/main" id="{403F307C-4C63-F0C2-52FF-E49239F7C653}"/>
              </a:ext>
            </a:extLst>
          </p:cNvPr>
          <p:cNvSpPr/>
          <p:nvPr/>
        </p:nvSpPr>
        <p:spPr>
          <a:xfrm>
            <a:off x="10343188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4ADA91-377E-6783-E94D-EAA4999A2775}"/>
              </a:ext>
            </a:extLst>
          </p:cNvPr>
          <p:cNvSpPr txBox="1">
            <a:spLocks/>
          </p:cNvSpPr>
          <p:nvPr/>
        </p:nvSpPr>
        <p:spPr>
          <a:xfrm>
            <a:off x="304800" y="4219269"/>
            <a:ext cx="11410950" cy="52213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i="1" dirty="0">
                <a:solidFill>
                  <a:schemeClr val="tx1"/>
                </a:solidFill>
              </a:rPr>
              <a:t>condition </a:t>
            </a:r>
            <a:r>
              <a:rPr lang="en-GB" dirty="0">
                <a:solidFill>
                  <a:schemeClr val="tx1"/>
                </a:solidFill>
              </a:rPr>
              <a:t>is checked before loop of the lines of code between the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solidFill>
                  <a:schemeClr val="tx1"/>
                </a:solidFill>
              </a:rPr>
              <a:t> statement and the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</a:t>
            </a:r>
            <a:r>
              <a:rPr lang="en-GB" dirty="0">
                <a:solidFill>
                  <a:schemeClr val="tx1"/>
                </a:solidFill>
              </a:rPr>
              <a:t> statement.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If the condition evaluates as True, then the code repeats again.</a:t>
            </a:r>
          </a:p>
          <a:p>
            <a:pPr>
              <a:spcBef>
                <a:spcPts val="2400"/>
              </a:spcBef>
            </a:pPr>
            <a:r>
              <a:rPr lang="en-GB" dirty="0">
                <a:solidFill>
                  <a:schemeClr val="tx1"/>
                </a:solidFill>
              </a:rPr>
              <a:t>If a mistake is made in writing the condition, then the loop can repeat forever, or until the user stops the execution of the code using the “Stop” button.</a:t>
            </a:r>
          </a:p>
          <a:p>
            <a:endParaRPr lang="en-GB" i="1" dirty="0">
              <a:solidFill>
                <a:schemeClr val="tx1"/>
              </a:solidFill>
            </a:endParaRPr>
          </a:p>
          <a:p>
            <a:pPr lvl="2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50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47C9-6EA9-D767-8019-E49A6FD2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Example While loops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39FC0EF-750B-F02B-C8DB-9C03FB51FB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161" y="1674622"/>
                <a:ext cx="10905678" cy="552954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For what value of </a:t>
                </a:r>
                <a:r>
                  <a:rPr lang="en-GB" i="1" dirty="0">
                    <a:solidFill>
                      <a:schemeClr val="tx1"/>
                    </a:solidFill>
                  </a:rPr>
                  <a:t>n</a:t>
                </a:r>
                <a:r>
                  <a:rPr lang="en-GB" dirty="0">
                    <a:solidFill>
                      <a:schemeClr val="tx1"/>
                    </a:solidFill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&gt;1000 ?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After running this code, one can check the Workspace window and see that the variable n is now equal to 10.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GB" dirty="0">
                    <a:solidFill>
                      <a:schemeClr val="tx1"/>
                    </a:solidFill>
                  </a:rPr>
                  <a:t>Because 2^10 is equal to 1024, which is greater than 1000.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39FC0EF-750B-F02B-C8DB-9C03FB51F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61" y="1674622"/>
                <a:ext cx="10905678" cy="5529545"/>
              </a:xfrm>
              <a:prstGeom prst="rect">
                <a:avLst/>
              </a:prstGeom>
              <a:blipFill>
                <a:blip r:embed="rId2"/>
                <a:stretch>
                  <a:fillRect l="-895" t="-1433" r="-1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25B7A0-4408-164F-33E8-4D769BD01B58}"/>
              </a:ext>
            </a:extLst>
          </p:cNvPr>
          <p:cNvSpPr txBox="1"/>
          <p:nvPr/>
        </p:nvSpPr>
        <p:spPr>
          <a:xfrm>
            <a:off x="6483927" y="2735282"/>
            <a:ext cx="4044151" cy="1387435"/>
          </a:xfrm>
          <a:prstGeom prst="roundRect">
            <a:avLst>
              <a:gd name="adj" fmla="val 9073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n = 0;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0E00FF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while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2^n &lt;= 1000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n = n + 1;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D1B289-0F1F-4E30-8CEA-EC1A36930F9C}"/>
              </a:ext>
            </a:extLst>
          </p:cNvPr>
          <p:cNvCxnSpPr>
            <a:cxnSpLocks/>
          </p:cNvCxnSpPr>
          <p:nvPr/>
        </p:nvCxnSpPr>
        <p:spPr>
          <a:xfrm>
            <a:off x="5696667" y="3447194"/>
            <a:ext cx="6136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98C8E7-5FA2-63B4-C13F-05FBA967FDFD}"/>
              </a:ext>
            </a:extLst>
          </p:cNvPr>
          <p:cNvSpPr txBox="1"/>
          <p:nvPr/>
        </p:nvSpPr>
        <p:spPr>
          <a:xfrm>
            <a:off x="1090926" y="3013500"/>
            <a:ext cx="4617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condition is true so long as 2 to the power of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is less than 1000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C8713AD0-569B-3338-47A3-BB15576F65BB}"/>
              </a:ext>
            </a:extLst>
          </p:cNvPr>
          <p:cNvSpPr/>
          <p:nvPr/>
        </p:nvSpPr>
        <p:spPr>
          <a:xfrm>
            <a:off x="10343188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0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6A4D-0C4B-C3C2-D729-9E27CCE9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0299-3742-23BF-FA9F-6B87077C5770}"/>
              </a:ext>
            </a:extLst>
          </p:cNvPr>
          <p:cNvSpPr txBox="1">
            <a:spLocks/>
          </p:cNvSpPr>
          <p:nvPr/>
        </p:nvSpPr>
        <p:spPr>
          <a:xfrm>
            <a:off x="523141" y="1636685"/>
            <a:ext cx="9460614" cy="24407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For loops are useful when you want to repeat a loop a known number of times.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For loops take the form: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0371EA-4E88-AF6B-A697-3D0252F68E32}"/>
              </a:ext>
            </a:extLst>
          </p:cNvPr>
          <p:cNvSpPr/>
          <p:nvPr/>
        </p:nvSpPr>
        <p:spPr>
          <a:xfrm>
            <a:off x="1434603" y="3429000"/>
            <a:ext cx="4789093" cy="941080"/>
          </a:xfrm>
          <a:prstGeom prst="roundRect">
            <a:avLst>
              <a:gd name="adj" fmla="val 1386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 =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iterable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usually 1D matrix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Some code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59284608-62CE-58D5-4D82-C49508252E77}"/>
              </a:ext>
            </a:extLst>
          </p:cNvPr>
          <p:cNvSpPr/>
          <p:nvPr/>
        </p:nvSpPr>
        <p:spPr>
          <a:xfrm>
            <a:off x="10343188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E4526F9-6F51-340E-5681-7C173EE91383}"/>
              </a:ext>
            </a:extLst>
          </p:cNvPr>
          <p:cNvSpPr txBox="1">
            <a:spLocks/>
          </p:cNvSpPr>
          <p:nvPr/>
        </p:nvSpPr>
        <p:spPr>
          <a:xfrm>
            <a:off x="523141" y="4460798"/>
            <a:ext cx="11237058" cy="143825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Here the variable </a:t>
            </a:r>
            <a:r>
              <a:rPr lang="en-GB" i="1" dirty="0" err="1">
                <a:solidFill>
                  <a:schemeClr val="tx1"/>
                </a:solidFill>
              </a:rPr>
              <a:t>i</a:t>
            </a:r>
            <a:r>
              <a:rPr lang="en-GB" i="1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will be equal to a different element of the </a:t>
            </a:r>
            <a:r>
              <a:rPr lang="en-GB" dirty="0" err="1">
                <a:solidFill>
                  <a:schemeClr val="tx1"/>
                </a:solidFill>
              </a:rPr>
              <a:t>iterable</a:t>
            </a:r>
            <a:r>
              <a:rPr lang="en-GB" dirty="0">
                <a:solidFill>
                  <a:schemeClr val="tx1"/>
                </a:solidFill>
              </a:rPr>
              <a:t> object on every repeat of the loop</a:t>
            </a:r>
          </a:p>
        </p:txBody>
      </p:sp>
    </p:spTree>
    <p:extLst>
      <p:ext uri="{BB962C8B-B14F-4D97-AF65-F5344CB8AC3E}">
        <p14:creationId xmlns:p14="http://schemas.microsoft.com/office/powerpoint/2010/main" val="9798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049D-9465-BF31-ABCD-D40070D1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Example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7B7E0-E163-D679-4AB5-67A387091547}"/>
              </a:ext>
            </a:extLst>
          </p:cNvPr>
          <p:cNvSpPr txBox="1">
            <a:spLocks/>
          </p:cNvSpPr>
          <p:nvPr/>
        </p:nvSpPr>
        <p:spPr>
          <a:xfrm>
            <a:off x="579153" y="1551709"/>
            <a:ext cx="9441925" cy="158084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Given a one-dimensional matrix “</a:t>
            </a:r>
            <a:r>
              <a:rPr lang="en-GB" i="1" dirty="0">
                <a:solidFill>
                  <a:schemeClr val="tx1"/>
                </a:solidFill>
              </a:rPr>
              <a:t>mat</a:t>
            </a:r>
            <a:r>
              <a:rPr lang="en-GB" dirty="0">
                <a:solidFill>
                  <a:schemeClr val="tx1"/>
                </a:solidFill>
              </a:rPr>
              <a:t>”</a:t>
            </a:r>
            <a:r>
              <a:rPr lang="en-GB" i="1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with 1000 numeric elements, find the number of elements that equal to 5.</a:t>
            </a:r>
          </a:p>
          <a:p>
            <a:pPr>
              <a:spcBef>
                <a:spcPts val="1200"/>
              </a:spcBef>
            </a:pPr>
            <a:endParaRPr lang="en-GB" i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E0D3E-AC15-762F-4BE5-7958E61E2856}"/>
              </a:ext>
            </a:extLst>
          </p:cNvPr>
          <p:cNvSpPr txBox="1"/>
          <p:nvPr/>
        </p:nvSpPr>
        <p:spPr>
          <a:xfrm>
            <a:off x="5957452" y="2485935"/>
            <a:ext cx="4364049" cy="1886129"/>
          </a:xfrm>
          <a:prstGeom prst="roundRect">
            <a:avLst>
              <a:gd name="adj" fmla="val 6601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count = 0;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0E00FF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for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i = linspace(1, 1000, 1000)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mat(i) ==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	count = count +1;	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A53777-CECB-C4C7-1EB6-EE06ACBB9E0C}"/>
              </a:ext>
            </a:extLst>
          </p:cNvPr>
          <p:cNvCxnSpPr>
            <a:cxnSpLocks/>
          </p:cNvCxnSpPr>
          <p:nvPr/>
        </p:nvCxnSpPr>
        <p:spPr>
          <a:xfrm>
            <a:off x="5337626" y="3013145"/>
            <a:ext cx="690166" cy="119406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43BC5B-223A-2AA0-5902-230B32EDF6D4}"/>
              </a:ext>
            </a:extLst>
          </p:cNvPr>
          <p:cNvSpPr txBox="1"/>
          <p:nvPr/>
        </p:nvSpPr>
        <p:spPr>
          <a:xfrm>
            <a:off x="1043917" y="2828479"/>
            <a:ext cx="441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will take the values 1, 2, 3, …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60D44-917D-644E-D28F-B14283E99EEE}"/>
              </a:ext>
            </a:extLst>
          </p:cNvPr>
          <p:cNvSpPr txBox="1"/>
          <p:nvPr/>
        </p:nvSpPr>
        <p:spPr>
          <a:xfrm>
            <a:off x="1233453" y="3540784"/>
            <a:ext cx="441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to index into the given matrix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303040-8D76-13E7-8FD0-F4F3621A9E54}"/>
              </a:ext>
            </a:extLst>
          </p:cNvPr>
          <p:cNvCxnSpPr>
            <a:cxnSpLocks/>
          </p:cNvCxnSpPr>
          <p:nvPr/>
        </p:nvCxnSpPr>
        <p:spPr>
          <a:xfrm flipV="1">
            <a:off x="5337626" y="3415014"/>
            <a:ext cx="1595774" cy="29068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矩形 8">
            <a:extLst>
              <a:ext uri="{FF2B5EF4-FFF2-40B4-BE49-F238E27FC236}">
                <a16:creationId xmlns:a16="http://schemas.microsoft.com/office/drawing/2014/main" id="{5061EB59-475F-5DA7-B11D-27F05C3B7272}"/>
              </a:ext>
            </a:extLst>
          </p:cNvPr>
          <p:cNvSpPr/>
          <p:nvPr/>
        </p:nvSpPr>
        <p:spPr>
          <a:xfrm>
            <a:off x="10343188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E8CEAA-5924-134E-8EC8-7D36347A9748}"/>
              </a:ext>
            </a:extLst>
          </p:cNvPr>
          <p:cNvSpPr txBox="1">
            <a:spLocks/>
          </p:cNvSpPr>
          <p:nvPr/>
        </p:nvSpPr>
        <p:spPr>
          <a:xfrm>
            <a:off x="579153" y="4505359"/>
            <a:ext cx="11112720" cy="21000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Instead of using </a:t>
            </a:r>
            <a:r>
              <a:rPr lang="en-GB" dirty="0" err="1">
                <a:solidFill>
                  <a:schemeClr val="tx1"/>
                </a:solidFill>
              </a:rPr>
              <a:t>linspace</a:t>
            </a:r>
            <a:r>
              <a:rPr lang="en-GB" dirty="0">
                <a:solidFill>
                  <a:schemeClr val="tx1"/>
                </a:solidFill>
              </a:rPr>
              <a:t> to generate the </a:t>
            </a:r>
            <a:r>
              <a:rPr lang="en-GB" dirty="0" err="1">
                <a:solidFill>
                  <a:schemeClr val="tx1"/>
                </a:solidFill>
              </a:rPr>
              <a:t>iterable</a:t>
            </a:r>
            <a:r>
              <a:rPr lang="en-GB" dirty="0">
                <a:solidFill>
                  <a:schemeClr val="tx1"/>
                </a:solidFill>
              </a:rPr>
              <a:t> array it is common to use the colon operator e.g.,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= 1:1:1000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endParaRPr lang="en-GB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70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1870-55D6-07CD-E854-D9501969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Continue, and break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B281C-A73E-1BBB-8D37-EC06F91D8E08}"/>
              </a:ext>
            </a:extLst>
          </p:cNvPr>
          <p:cNvSpPr txBox="1">
            <a:spLocks/>
          </p:cNvSpPr>
          <p:nvPr/>
        </p:nvSpPr>
        <p:spPr>
          <a:xfrm>
            <a:off x="290945" y="1660449"/>
            <a:ext cx="10052243" cy="49933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The “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break</a:t>
            </a:r>
            <a:r>
              <a:rPr lang="en-GB" dirty="0">
                <a:solidFill>
                  <a:schemeClr val="tx1"/>
                </a:solidFill>
              </a:rPr>
              <a:t>”  keyword causes the program to exit out of the current loop.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The “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continue</a:t>
            </a:r>
            <a:r>
              <a:rPr lang="en-GB" dirty="0">
                <a:solidFill>
                  <a:schemeClr val="tx1"/>
                </a:solidFill>
              </a:rPr>
              <a:t>” keyword causes the program to skip the current iteration of the loop.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AFA83D-ED81-9AD0-3B72-415A947B77BF}"/>
              </a:ext>
            </a:extLst>
          </p:cNvPr>
          <p:cNvSpPr txBox="1"/>
          <p:nvPr/>
        </p:nvSpPr>
        <p:spPr>
          <a:xfrm>
            <a:off x="5449827" y="3161922"/>
            <a:ext cx="4343735" cy="2375297"/>
          </a:xfrm>
          <a:prstGeom prst="roundRect">
            <a:avLst>
              <a:gd name="adj" fmla="val 599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for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i = 1:1:10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if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i == 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	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continue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	elseif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i ==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	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break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	i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190933-C146-8C34-1E23-0A4A3A082B7D}"/>
              </a:ext>
            </a:extLst>
          </p:cNvPr>
          <p:cNvCxnSpPr>
            <a:cxnSpLocks/>
          </p:cNvCxnSpPr>
          <p:nvPr/>
        </p:nvCxnSpPr>
        <p:spPr>
          <a:xfrm>
            <a:off x="5203999" y="3943275"/>
            <a:ext cx="2060033" cy="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3534674-2709-ED3F-9688-D299EBD1234C}"/>
              </a:ext>
            </a:extLst>
          </p:cNvPr>
          <p:cNvSpPr txBox="1"/>
          <p:nvPr/>
        </p:nvSpPr>
        <p:spPr>
          <a:xfrm>
            <a:off x="1134959" y="3692717"/>
            <a:ext cx="4185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Will skip the iteration when “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” is 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3B0EDA-3C73-0391-A411-02E601D17D8A}"/>
              </a:ext>
            </a:extLst>
          </p:cNvPr>
          <p:cNvCxnSpPr>
            <a:cxnSpLocks/>
          </p:cNvCxnSpPr>
          <p:nvPr/>
        </p:nvCxnSpPr>
        <p:spPr>
          <a:xfrm>
            <a:off x="4811236" y="4431201"/>
            <a:ext cx="2452796" cy="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B35D64-E84A-3025-6346-387BD49CBE1E}"/>
              </a:ext>
            </a:extLst>
          </p:cNvPr>
          <p:cNvSpPr txBox="1"/>
          <p:nvPr/>
        </p:nvSpPr>
        <p:spPr>
          <a:xfrm>
            <a:off x="1332436" y="4207754"/>
            <a:ext cx="363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Will end the loop when “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” is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7F066F-905C-B40B-4038-FA435F1EA5B0}"/>
              </a:ext>
            </a:extLst>
          </p:cNvPr>
          <p:cNvSpPr txBox="1"/>
          <p:nvPr/>
        </p:nvSpPr>
        <p:spPr>
          <a:xfrm>
            <a:off x="1134959" y="4770103"/>
            <a:ext cx="4343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Will print out current value of “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1C77AF-BAD7-C8F3-1CDD-7B3A32612B12}"/>
              </a:ext>
            </a:extLst>
          </p:cNvPr>
          <p:cNvCxnSpPr>
            <a:cxnSpLocks/>
          </p:cNvCxnSpPr>
          <p:nvPr/>
        </p:nvCxnSpPr>
        <p:spPr>
          <a:xfrm>
            <a:off x="4811236" y="5000910"/>
            <a:ext cx="1591896" cy="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214AF0-8A89-A9A2-4E2B-BCF7A84CC464}"/>
              </a:ext>
            </a:extLst>
          </p:cNvPr>
          <p:cNvSpPr txBox="1"/>
          <p:nvPr/>
        </p:nvSpPr>
        <p:spPr>
          <a:xfrm>
            <a:off x="5203999" y="5654912"/>
            <a:ext cx="538002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>
                <a:latin typeface="Arial"/>
                <a:cs typeface="Arial"/>
              </a:rPr>
              <a:t>This code will print out “1”, “2”, and “4”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C829D1FC-DBD1-E283-1C9D-7F9A3477FED8}"/>
              </a:ext>
            </a:extLst>
          </p:cNvPr>
          <p:cNvSpPr/>
          <p:nvPr/>
        </p:nvSpPr>
        <p:spPr>
          <a:xfrm>
            <a:off x="10343188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9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24" grpId="0"/>
      <p:bldP spid="25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BDEC5F80-B770-4724-8D4B-5978BB5CB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576</Words>
  <Application>Microsoft Office PowerPoint</Application>
  <PresentationFormat>Widescreen</PresentationFormat>
  <Paragraphs>86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Loop in MATLAB Programming</vt:lpstr>
      <vt:lpstr>Repeating sections of code</vt:lpstr>
      <vt:lpstr>While loops</vt:lpstr>
      <vt:lpstr>Example While loops</vt:lpstr>
      <vt:lpstr>For loops</vt:lpstr>
      <vt:lpstr>Example For loops</vt:lpstr>
      <vt:lpstr>Continue, and break statements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74</cp:revision>
  <dcterms:created xsi:type="dcterms:W3CDTF">2021-01-06T14:22:07Z</dcterms:created>
  <dcterms:modified xsi:type="dcterms:W3CDTF">2024-10-16T02:11:50Z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