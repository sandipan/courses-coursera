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494" r:id="rId6"/>
    <p:sldId id="496" r:id="rId7"/>
    <p:sldId id="497" r:id="rId8"/>
    <p:sldId id="500" r:id="rId9"/>
    <p:sldId id="501" r:id="rId10"/>
    <p:sldId id="502" r:id="rId11"/>
    <p:sldId id="504" r:id="rId12"/>
    <p:sldId id="505" r:id="rId13"/>
    <p:sldId id="506" r:id="rId14"/>
    <p:sldId id="498" r:id="rId15"/>
    <p:sldId id="499" r:id="rId16"/>
    <p:sldId id="507" r:id="rId17"/>
    <p:sldId id="508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ED1A38-BB90-4D29-89A5-32427D2A0965}" v="4" dt="2024-06-14T18:58:37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6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hi Liu (PGR)" userId="S::2109741l@student.gla.ac.uk::0738f1d2-bd1d-4f8b-945a-b877be0bfefb" providerId="AD" clId="Web-{FCED1A38-BB90-4D29-89A5-32427D2A0965}"/>
    <pc:docChg chg="modSld">
      <pc:chgData name="Yushi Liu (PGR)" userId="S::2109741l@student.gla.ac.uk::0738f1d2-bd1d-4f8b-945a-b877be0bfefb" providerId="AD" clId="Web-{FCED1A38-BB90-4D29-89A5-32427D2A0965}" dt="2024-06-14T18:58:37.728" v="3"/>
      <pc:docMkLst>
        <pc:docMk/>
      </pc:docMkLst>
      <pc:sldChg chg="addSp delSp">
        <pc:chgData name="Yushi Liu (PGR)" userId="S::2109741l@student.gla.ac.uk::0738f1d2-bd1d-4f8b-945a-b877be0bfefb" providerId="AD" clId="Web-{FCED1A38-BB90-4D29-89A5-32427D2A0965}" dt="2024-06-14T18:58:32.369" v="1"/>
        <pc:sldMkLst>
          <pc:docMk/>
          <pc:sldMk cId="750187741" sldId="499"/>
        </pc:sldMkLst>
        <pc:spChg chg="del">
          <ac:chgData name="Yushi Liu (PGR)" userId="S::2109741l@student.gla.ac.uk::0738f1d2-bd1d-4f8b-945a-b877be0bfefb" providerId="AD" clId="Web-{FCED1A38-BB90-4D29-89A5-32427D2A0965}" dt="2024-06-14T18:58:32.197" v="0"/>
          <ac:spMkLst>
            <pc:docMk/>
            <pc:sldMk cId="750187741" sldId="499"/>
            <ac:spMk id="8" creationId="{436697F1-F3D0-2E39-63EB-E36F0B2F7B29}"/>
          </ac:spMkLst>
        </pc:spChg>
        <pc:spChg chg="add">
          <ac:chgData name="Yushi Liu (PGR)" userId="S::2109741l@student.gla.ac.uk::0738f1d2-bd1d-4f8b-945a-b877be0bfefb" providerId="AD" clId="Web-{FCED1A38-BB90-4D29-89A5-32427D2A0965}" dt="2024-06-14T18:58:32.369" v="1"/>
          <ac:spMkLst>
            <pc:docMk/>
            <pc:sldMk cId="750187741" sldId="499"/>
            <ac:spMk id="9" creationId="{D6CF742D-6483-0382-F769-52F6FA4D430B}"/>
          </ac:spMkLst>
        </pc:spChg>
      </pc:sldChg>
      <pc:sldChg chg="addSp delSp">
        <pc:chgData name="Yushi Liu (PGR)" userId="S::2109741l@student.gla.ac.uk::0738f1d2-bd1d-4f8b-945a-b877be0bfefb" providerId="AD" clId="Web-{FCED1A38-BB90-4D29-89A5-32427D2A0965}" dt="2024-06-14T18:58:37.728" v="3"/>
        <pc:sldMkLst>
          <pc:docMk/>
          <pc:sldMk cId="2689640677" sldId="508"/>
        </pc:sldMkLst>
        <pc:spChg chg="del">
          <ac:chgData name="Yushi Liu (PGR)" userId="S::2109741l@student.gla.ac.uk::0738f1d2-bd1d-4f8b-945a-b877be0bfefb" providerId="AD" clId="Web-{FCED1A38-BB90-4D29-89A5-32427D2A0965}" dt="2024-06-14T18:58:37.478" v="2"/>
          <ac:spMkLst>
            <pc:docMk/>
            <pc:sldMk cId="2689640677" sldId="508"/>
            <ac:spMk id="5" creationId="{44EA5DEB-81B2-3D33-6324-48BBA9336C3C}"/>
          </ac:spMkLst>
        </pc:spChg>
        <pc:spChg chg="add">
          <ac:chgData name="Yushi Liu (PGR)" userId="S::2109741l@student.gla.ac.uk::0738f1d2-bd1d-4f8b-945a-b877be0bfefb" providerId="AD" clId="Web-{FCED1A38-BB90-4D29-89A5-32427D2A0965}" dt="2024-06-14T18:58:37.728" v="3"/>
          <ac:spMkLst>
            <pc:docMk/>
            <pc:sldMk cId="2689640677" sldId="508"/>
            <ac:spMk id="6" creationId="{66126E53-1495-245C-DF89-FE967949823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24/06/2024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Custom MATLAB Functions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Built-in functions reminder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94E5F5-B9D7-A566-E274-2B63E652977B}"/>
              </a:ext>
            </a:extLst>
          </p:cNvPr>
          <p:cNvSpPr txBox="1">
            <a:spLocks/>
          </p:cNvSpPr>
          <p:nvPr/>
        </p:nvSpPr>
        <p:spPr>
          <a:xfrm>
            <a:off x="618178" y="1674138"/>
            <a:ext cx="10392722" cy="552954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GB" dirty="0">
                <a:solidFill>
                  <a:schemeClr val="tx1"/>
                </a:solidFill>
              </a:rPr>
              <a:t>MATLAB has many built-in functions.</a:t>
            </a:r>
          </a:p>
          <a:p>
            <a:pPr>
              <a:spcBef>
                <a:spcPts val="1800"/>
              </a:spcBef>
            </a:pPr>
            <a:r>
              <a:rPr lang="en-GB" dirty="0">
                <a:solidFill>
                  <a:schemeClr val="tx1"/>
                </a:solidFill>
              </a:rPr>
              <a:t>To call a mathematical function, enter </a:t>
            </a:r>
            <a:r>
              <a:rPr lang="en-GB" u="sng" dirty="0">
                <a:solidFill>
                  <a:schemeClr val="accent6">
                    <a:lumMod val="75000"/>
                  </a:schemeClr>
                </a:solidFill>
              </a:rPr>
              <a:t>the function name</a:t>
            </a:r>
            <a:r>
              <a:rPr lang="en-GB" dirty="0">
                <a:solidFill>
                  <a:schemeClr val="tx1"/>
                </a:solidFill>
              </a:rPr>
              <a:t>, then the </a:t>
            </a:r>
            <a:r>
              <a:rPr lang="en-GB" u="sng" dirty="0">
                <a:solidFill>
                  <a:schemeClr val="accent2">
                    <a:lumMod val="75000"/>
                  </a:schemeClr>
                </a:solidFill>
              </a:rPr>
              <a:t>input/argument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in parentheses.</a:t>
            </a:r>
          </a:p>
          <a:p>
            <a:pPr>
              <a:spcBef>
                <a:spcPts val="1800"/>
              </a:spcBef>
            </a:pPr>
            <a:endParaRPr lang="en-GB" dirty="0"/>
          </a:p>
          <a:p>
            <a:pPr>
              <a:spcBef>
                <a:spcPts val="1800"/>
              </a:spcBef>
            </a:pPr>
            <a:endParaRPr lang="en-GB" dirty="0"/>
          </a:p>
          <a:p>
            <a:pPr>
              <a:spcBef>
                <a:spcPts val="1800"/>
              </a:spcBef>
            </a:pPr>
            <a:endParaRPr lang="en-GB" dirty="0"/>
          </a:p>
          <a:p>
            <a:pPr marL="0" indent="0">
              <a:spcBef>
                <a:spcPts val="1800"/>
              </a:spcBef>
              <a:buFont typeface="Arial" panose="020B0604020202020204" pitchFamily="34" charset="0"/>
              <a:buNone/>
            </a:pPr>
            <a:endParaRPr lang="en-GB" dirty="0"/>
          </a:p>
          <a:p>
            <a:pPr>
              <a:spcBef>
                <a:spcPts val="1800"/>
              </a:spcBef>
            </a:pPr>
            <a:r>
              <a:rPr lang="en-GB" dirty="0">
                <a:solidFill>
                  <a:schemeClr val="tx1"/>
                </a:solidFill>
              </a:rPr>
              <a:t>For example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sin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of</a:t>
            </a:r>
            <a:r>
              <a:rPr lang="en-GB" dirty="0"/>
              <a:t> </a:t>
            </a:r>
            <a:r>
              <a:rPr lang="el-GR" dirty="0">
                <a:solidFill>
                  <a:schemeClr val="accent2">
                    <a:lumMod val="75000"/>
                  </a:schemeClr>
                </a:solidFill>
              </a:rPr>
              <a:t>π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/2</a:t>
            </a:r>
            <a:r>
              <a:rPr lang="en-GB" dirty="0"/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54D679-95FA-CFC5-F5F3-81C754DF7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655" y="3891030"/>
            <a:ext cx="3239686" cy="670845"/>
          </a:xfrm>
          <a:prstGeom prst="rect">
            <a:avLst/>
          </a:prstGeom>
        </p:spPr>
      </p:pic>
      <p:sp>
        <p:nvSpPr>
          <p:cNvPr id="12" name="Left Brace 11">
            <a:extLst>
              <a:ext uri="{FF2B5EF4-FFF2-40B4-BE49-F238E27FC236}">
                <a16:creationId xmlns:a16="http://schemas.microsoft.com/office/drawing/2014/main" id="{4A67E73C-5C5A-2307-99EC-9930C87E8F93}"/>
              </a:ext>
            </a:extLst>
          </p:cNvPr>
          <p:cNvSpPr/>
          <p:nvPr/>
        </p:nvSpPr>
        <p:spPr>
          <a:xfrm rot="16200000">
            <a:off x="3592909" y="3647571"/>
            <a:ext cx="253608" cy="1582680"/>
          </a:xfrm>
          <a:prstGeom prst="leftBrac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288000" rtlCol="0" anchor="ctr"/>
          <a:lstStyle/>
          <a:p>
            <a:pPr algn="ctr"/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8DA8A6-D347-4394-2E90-EF9D3A5ED0A4}"/>
              </a:ext>
            </a:extLst>
          </p:cNvPr>
          <p:cNvSpPr txBox="1"/>
          <p:nvPr/>
        </p:nvSpPr>
        <p:spPr>
          <a:xfrm>
            <a:off x="1873695" y="4502714"/>
            <a:ext cx="398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name of the function to be called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007C957-BA8C-50EF-0985-A3BFE93A88EE}"/>
              </a:ext>
            </a:extLst>
          </p:cNvPr>
          <p:cNvSpPr/>
          <p:nvPr/>
        </p:nvSpPr>
        <p:spPr>
          <a:xfrm rot="5400000">
            <a:off x="5023556" y="3164389"/>
            <a:ext cx="324067" cy="1248122"/>
          </a:xfrm>
          <a:prstGeom prst="leftBrac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288000" rtlCol="0" anchor="ctr"/>
          <a:lstStyle/>
          <a:p>
            <a:pPr algn="ctr"/>
            <a:endParaRPr lang="en-GB" dirty="0">
              <a:solidFill>
                <a:schemeClr val="accent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10375B-53DC-3F2A-681B-86FEC848BC2E}"/>
              </a:ext>
            </a:extLst>
          </p:cNvPr>
          <p:cNvSpPr txBox="1"/>
          <p:nvPr/>
        </p:nvSpPr>
        <p:spPr>
          <a:xfrm>
            <a:off x="3946872" y="3244334"/>
            <a:ext cx="265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input to the function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638EE3C-164B-835B-165A-DBB42FF21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1498" y="5388373"/>
            <a:ext cx="1655264" cy="1469627"/>
          </a:xfrm>
          <a:prstGeom prst="rect">
            <a:avLst/>
          </a:prstGeom>
        </p:spPr>
      </p:pic>
      <p:sp>
        <p:nvSpPr>
          <p:cNvPr id="22" name="矩形 8">
            <a:extLst>
              <a:ext uri="{FF2B5EF4-FFF2-40B4-BE49-F238E27FC236}">
                <a16:creationId xmlns:a16="http://schemas.microsoft.com/office/drawing/2014/main" id="{C2ECAD15-2469-C54B-B408-46A18C5FD0C8}"/>
              </a:ext>
            </a:extLst>
          </p:cNvPr>
          <p:cNvSpPr/>
          <p:nvPr/>
        </p:nvSpPr>
        <p:spPr>
          <a:xfrm>
            <a:off x="10216187" y="6139720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D8A6C-5695-3394-889E-B20F32069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MATLAB functions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683D8F-FEF8-0374-FDF0-02068CB7759C}"/>
              </a:ext>
            </a:extLst>
          </p:cNvPr>
          <p:cNvSpPr txBox="1">
            <a:spLocks/>
          </p:cNvSpPr>
          <p:nvPr/>
        </p:nvSpPr>
        <p:spPr>
          <a:xfrm>
            <a:off x="934715" y="1686774"/>
            <a:ext cx="10322569" cy="552954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You can write your own custom functions.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Modular,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Reusable,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Easier to debug.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The custom function is written inside a separate .m file, or at the bottom of a script.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Inside a function you can write MATLAB code as usual.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Inside a function, the only available variables are the </a:t>
            </a:r>
            <a:r>
              <a:rPr lang="en-GB" u="sng" dirty="0">
                <a:solidFill>
                  <a:schemeClr val="tx1"/>
                </a:solidFill>
              </a:rPr>
              <a:t>inputs</a:t>
            </a:r>
            <a:r>
              <a:rPr lang="en-GB" dirty="0">
                <a:solidFill>
                  <a:schemeClr val="tx1"/>
                </a:solidFill>
              </a:rPr>
              <a:t> (arguments) and variables defined inside the function.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Effectively the function has its own separate workspace.</a:t>
            </a:r>
          </a:p>
          <a:p>
            <a:pPr>
              <a:spcBef>
                <a:spcPts val="1200"/>
              </a:spcBef>
            </a:pP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41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1FFB-7EE9-04F8-4825-522F712D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MATLAB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C6E15B-4FAA-7248-BB89-9193BE7D94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5"/>
          <a:stretch/>
        </p:blipFill>
        <p:spPr>
          <a:xfrm>
            <a:off x="350915" y="1550425"/>
            <a:ext cx="11508575" cy="23884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48B3C4C-7AB3-6D96-E9C7-C0ACAA2D17EF}"/>
              </a:ext>
            </a:extLst>
          </p:cNvPr>
          <p:cNvSpPr/>
          <p:nvPr/>
        </p:nvSpPr>
        <p:spPr>
          <a:xfrm>
            <a:off x="350915" y="4300862"/>
            <a:ext cx="11508575" cy="1426837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4C6D2A-C6F5-7D63-1797-6FD01CA9FD9E}"/>
              </a:ext>
            </a:extLst>
          </p:cNvPr>
          <p:cNvSpPr txBox="1"/>
          <p:nvPr/>
        </p:nvSpPr>
        <p:spPr>
          <a:xfrm>
            <a:off x="459234" y="4530305"/>
            <a:ext cx="335998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declarator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Variable to return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4DE94-74AE-97CD-843E-71C050A1DB43}"/>
              </a:ext>
            </a:extLst>
          </p:cNvPr>
          <p:cNvSpPr txBox="1"/>
          <p:nvPr/>
        </p:nvSpPr>
        <p:spPr>
          <a:xfrm>
            <a:off x="3523429" y="4530305"/>
            <a:ext cx="294873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Input arguments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322771-8D0D-D3FF-F38B-25791A994F5B}"/>
              </a:ext>
            </a:extLst>
          </p:cNvPr>
          <p:cNvSpPr txBox="1"/>
          <p:nvPr/>
        </p:nvSpPr>
        <p:spPr>
          <a:xfrm>
            <a:off x="6565216" y="4530305"/>
            <a:ext cx="28533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body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end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565886-F35C-3C0D-9269-33B4369E7FB9}"/>
              </a:ext>
            </a:extLst>
          </p:cNvPr>
          <p:cNvSpPr txBox="1"/>
          <p:nvPr/>
        </p:nvSpPr>
        <p:spPr>
          <a:xfrm>
            <a:off x="9774396" y="4722665"/>
            <a:ext cx="2853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Separate file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B326F0-88E1-5B49-AF09-66A0B81DD51E}"/>
              </a:ext>
            </a:extLst>
          </p:cNvPr>
          <p:cNvSpPr txBox="1"/>
          <p:nvPr/>
        </p:nvSpPr>
        <p:spPr>
          <a:xfrm>
            <a:off x="350915" y="5860717"/>
            <a:ext cx="8886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GB" sz="2400" b="0" i="0" dirty="0">
                <a:solidFill>
                  <a:srgbClr val="0E00FF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function</a:t>
            </a:r>
            <a:r>
              <a:rPr lang="en-GB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” is used to indicate that this is a function definition.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D568FA-66F9-24CB-0F08-EC3E8D4F8C81}"/>
              </a:ext>
            </a:extLst>
          </p:cNvPr>
          <p:cNvSpPr/>
          <p:nvPr/>
        </p:nvSpPr>
        <p:spPr>
          <a:xfrm flipH="1" flipV="1">
            <a:off x="1427018" y="2016174"/>
            <a:ext cx="1288472" cy="339098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99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1FFB-7EE9-04F8-4825-522F712D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MATLAB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C6E15B-4FAA-7248-BB89-9193BE7D94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5"/>
          <a:stretch/>
        </p:blipFill>
        <p:spPr>
          <a:xfrm>
            <a:off x="350915" y="1550425"/>
            <a:ext cx="11508575" cy="23884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48B3C4C-7AB3-6D96-E9C7-C0ACAA2D17EF}"/>
              </a:ext>
            </a:extLst>
          </p:cNvPr>
          <p:cNvSpPr/>
          <p:nvPr/>
        </p:nvSpPr>
        <p:spPr>
          <a:xfrm>
            <a:off x="350915" y="4300863"/>
            <a:ext cx="11508575" cy="1213246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4C6D2A-C6F5-7D63-1797-6FD01CA9FD9E}"/>
              </a:ext>
            </a:extLst>
          </p:cNvPr>
          <p:cNvSpPr txBox="1"/>
          <p:nvPr/>
        </p:nvSpPr>
        <p:spPr>
          <a:xfrm>
            <a:off x="577017" y="4530305"/>
            <a:ext cx="28533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declarator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to return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4DE94-74AE-97CD-843E-71C050A1DB43}"/>
              </a:ext>
            </a:extLst>
          </p:cNvPr>
          <p:cNvSpPr txBox="1"/>
          <p:nvPr/>
        </p:nvSpPr>
        <p:spPr>
          <a:xfrm>
            <a:off x="3523429" y="4530305"/>
            <a:ext cx="294873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Input arguments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322771-8D0D-D3FF-F38B-25791A994F5B}"/>
              </a:ext>
            </a:extLst>
          </p:cNvPr>
          <p:cNvSpPr txBox="1"/>
          <p:nvPr/>
        </p:nvSpPr>
        <p:spPr>
          <a:xfrm>
            <a:off x="6565216" y="4530305"/>
            <a:ext cx="28533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body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end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565886-F35C-3C0D-9269-33B4369E7FB9}"/>
              </a:ext>
            </a:extLst>
          </p:cNvPr>
          <p:cNvSpPr txBox="1"/>
          <p:nvPr/>
        </p:nvSpPr>
        <p:spPr>
          <a:xfrm>
            <a:off x="9202896" y="4516319"/>
            <a:ext cx="2853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Separate file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D568FA-66F9-24CB-0F08-EC3E8D4F8C81}"/>
              </a:ext>
            </a:extLst>
          </p:cNvPr>
          <p:cNvSpPr/>
          <p:nvPr/>
        </p:nvSpPr>
        <p:spPr>
          <a:xfrm flipH="1" flipV="1">
            <a:off x="2660073" y="2022764"/>
            <a:ext cx="863356" cy="304798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D2E8C-676F-F39D-E53F-57BEB374D0BF}"/>
              </a:ext>
            </a:extLst>
          </p:cNvPr>
          <p:cNvSpPr txBox="1"/>
          <p:nvPr/>
        </p:nvSpPr>
        <p:spPr>
          <a:xfrm>
            <a:off x="350915" y="5876094"/>
            <a:ext cx="8886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variable that will be returned to the calling code.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B3BF1E-05C0-91A3-5C44-494188C50F6A}"/>
              </a:ext>
            </a:extLst>
          </p:cNvPr>
          <p:cNvSpPr/>
          <p:nvPr/>
        </p:nvSpPr>
        <p:spPr>
          <a:xfrm>
            <a:off x="350915" y="4300862"/>
            <a:ext cx="11508575" cy="1426837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557DCA-B700-7D0F-9480-DF271FC2BE42}"/>
              </a:ext>
            </a:extLst>
          </p:cNvPr>
          <p:cNvSpPr txBox="1"/>
          <p:nvPr/>
        </p:nvSpPr>
        <p:spPr>
          <a:xfrm>
            <a:off x="459234" y="4530305"/>
            <a:ext cx="335998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declarator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to return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F9AC5B-1E9E-F073-5B6E-453E3AA305D6}"/>
              </a:ext>
            </a:extLst>
          </p:cNvPr>
          <p:cNvSpPr txBox="1"/>
          <p:nvPr/>
        </p:nvSpPr>
        <p:spPr>
          <a:xfrm>
            <a:off x="3523429" y="4530305"/>
            <a:ext cx="294873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Input arguments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88F9D3-96B1-78F4-E6D4-5C20D73DE100}"/>
              </a:ext>
            </a:extLst>
          </p:cNvPr>
          <p:cNvSpPr txBox="1"/>
          <p:nvPr/>
        </p:nvSpPr>
        <p:spPr>
          <a:xfrm>
            <a:off x="6565216" y="4530305"/>
            <a:ext cx="28533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body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D39E6-C040-8D22-120C-9184F7CE717A}"/>
              </a:ext>
            </a:extLst>
          </p:cNvPr>
          <p:cNvSpPr txBox="1"/>
          <p:nvPr/>
        </p:nvSpPr>
        <p:spPr>
          <a:xfrm>
            <a:off x="9774396" y="4722665"/>
            <a:ext cx="2853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Separate file</a:t>
            </a:r>
          </a:p>
        </p:txBody>
      </p:sp>
    </p:spTree>
    <p:extLst>
      <p:ext uri="{BB962C8B-B14F-4D97-AF65-F5344CB8AC3E}">
        <p14:creationId xmlns:p14="http://schemas.microsoft.com/office/powerpoint/2010/main" val="1630570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1FFB-7EE9-04F8-4825-522F712D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MATLAB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C6E15B-4FAA-7248-BB89-9193BE7D94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5"/>
          <a:stretch/>
        </p:blipFill>
        <p:spPr>
          <a:xfrm>
            <a:off x="350915" y="1550425"/>
            <a:ext cx="11508575" cy="23884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48B3C4C-7AB3-6D96-E9C7-C0ACAA2D17EF}"/>
              </a:ext>
            </a:extLst>
          </p:cNvPr>
          <p:cNvSpPr/>
          <p:nvPr/>
        </p:nvSpPr>
        <p:spPr>
          <a:xfrm>
            <a:off x="350915" y="4300863"/>
            <a:ext cx="11508575" cy="1213246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4C6D2A-C6F5-7D63-1797-6FD01CA9FD9E}"/>
              </a:ext>
            </a:extLst>
          </p:cNvPr>
          <p:cNvSpPr txBox="1"/>
          <p:nvPr/>
        </p:nvSpPr>
        <p:spPr>
          <a:xfrm>
            <a:off x="577017" y="4530305"/>
            <a:ext cx="28533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declarator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Variable to return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4DE94-74AE-97CD-843E-71C050A1DB43}"/>
              </a:ext>
            </a:extLst>
          </p:cNvPr>
          <p:cNvSpPr txBox="1"/>
          <p:nvPr/>
        </p:nvSpPr>
        <p:spPr>
          <a:xfrm>
            <a:off x="3523429" y="4530305"/>
            <a:ext cx="294873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Input arguments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322771-8D0D-D3FF-F38B-25791A994F5B}"/>
              </a:ext>
            </a:extLst>
          </p:cNvPr>
          <p:cNvSpPr txBox="1"/>
          <p:nvPr/>
        </p:nvSpPr>
        <p:spPr>
          <a:xfrm>
            <a:off x="6565216" y="4530305"/>
            <a:ext cx="28533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body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end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565886-F35C-3C0D-9269-33B4369E7FB9}"/>
              </a:ext>
            </a:extLst>
          </p:cNvPr>
          <p:cNvSpPr txBox="1"/>
          <p:nvPr/>
        </p:nvSpPr>
        <p:spPr>
          <a:xfrm>
            <a:off x="9202896" y="4516319"/>
            <a:ext cx="2853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Separate file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D568FA-66F9-24CB-0F08-EC3E8D4F8C81}"/>
              </a:ext>
            </a:extLst>
          </p:cNvPr>
          <p:cNvSpPr/>
          <p:nvPr/>
        </p:nvSpPr>
        <p:spPr>
          <a:xfrm flipH="1" flipV="1">
            <a:off x="3796144" y="2008908"/>
            <a:ext cx="1745674" cy="332509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D2E8C-676F-F39D-E53F-57BEB374D0BF}"/>
              </a:ext>
            </a:extLst>
          </p:cNvPr>
          <p:cNvSpPr txBox="1"/>
          <p:nvPr/>
        </p:nvSpPr>
        <p:spPr>
          <a:xfrm>
            <a:off x="350915" y="5876094"/>
            <a:ext cx="8886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name under which the function can be called.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DFE260-638A-3202-A4A9-B226FB5B2A2A}"/>
              </a:ext>
            </a:extLst>
          </p:cNvPr>
          <p:cNvSpPr/>
          <p:nvPr/>
        </p:nvSpPr>
        <p:spPr>
          <a:xfrm>
            <a:off x="350915" y="4300862"/>
            <a:ext cx="11508575" cy="1426837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A5B33E-D099-AE04-DD58-CAB7A320FF45}"/>
              </a:ext>
            </a:extLst>
          </p:cNvPr>
          <p:cNvSpPr txBox="1"/>
          <p:nvPr/>
        </p:nvSpPr>
        <p:spPr>
          <a:xfrm>
            <a:off x="459234" y="4530305"/>
            <a:ext cx="335998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declarator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Variable to return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15F59-707F-FC6A-D130-F88CEDA5250C}"/>
              </a:ext>
            </a:extLst>
          </p:cNvPr>
          <p:cNvSpPr txBox="1"/>
          <p:nvPr/>
        </p:nvSpPr>
        <p:spPr>
          <a:xfrm>
            <a:off x="3523429" y="4530305"/>
            <a:ext cx="294873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Input arguments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3F670-83FC-FDE9-2F76-12850CB14033}"/>
              </a:ext>
            </a:extLst>
          </p:cNvPr>
          <p:cNvSpPr txBox="1"/>
          <p:nvPr/>
        </p:nvSpPr>
        <p:spPr>
          <a:xfrm>
            <a:off x="6565216" y="4530305"/>
            <a:ext cx="28533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body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2F06B2-0414-72F3-3441-6AC1A8648A50}"/>
              </a:ext>
            </a:extLst>
          </p:cNvPr>
          <p:cNvSpPr txBox="1"/>
          <p:nvPr/>
        </p:nvSpPr>
        <p:spPr>
          <a:xfrm>
            <a:off x="9774396" y="4722665"/>
            <a:ext cx="2853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Separate file</a:t>
            </a:r>
          </a:p>
        </p:txBody>
      </p:sp>
    </p:spTree>
    <p:extLst>
      <p:ext uri="{BB962C8B-B14F-4D97-AF65-F5344CB8AC3E}">
        <p14:creationId xmlns:p14="http://schemas.microsoft.com/office/powerpoint/2010/main" val="74929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1FFB-7EE9-04F8-4825-522F712D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MATLAB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C6E15B-4FAA-7248-BB89-9193BE7D94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5"/>
          <a:stretch/>
        </p:blipFill>
        <p:spPr>
          <a:xfrm>
            <a:off x="350915" y="1550425"/>
            <a:ext cx="11508575" cy="23884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DD568FA-66F9-24CB-0F08-EC3E8D4F8C81}"/>
              </a:ext>
            </a:extLst>
          </p:cNvPr>
          <p:cNvSpPr/>
          <p:nvPr/>
        </p:nvSpPr>
        <p:spPr>
          <a:xfrm flipH="1" flipV="1">
            <a:off x="5514108" y="1995055"/>
            <a:ext cx="1648691" cy="387926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D2E8C-676F-F39D-E53F-57BEB374D0BF}"/>
              </a:ext>
            </a:extLst>
          </p:cNvPr>
          <p:cNvSpPr txBox="1"/>
          <p:nvPr/>
        </p:nvSpPr>
        <p:spPr>
          <a:xfrm>
            <a:off x="350915" y="5773027"/>
            <a:ext cx="107604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Inputs to function,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Function is not be able to access any other variables from the calling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9D3E0C-B09A-B07A-3AC7-E97479534D7C}"/>
              </a:ext>
            </a:extLst>
          </p:cNvPr>
          <p:cNvSpPr/>
          <p:nvPr/>
        </p:nvSpPr>
        <p:spPr>
          <a:xfrm>
            <a:off x="350915" y="4300862"/>
            <a:ext cx="11508575" cy="1426837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9256D-7D99-5E96-2FF5-4662602DAED5}"/>
              </a:ext>
            </a:extLst>
          </p:cNvPr>
          <p:cNvSpPr txBox="1"/>
          <p:nvPr/>
        </p:nvSpPr>
        <p:spPr>
          <a:xfrm>
            <a:off x="459234" y="4530305"/>
            <a:ext cx="335998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declarator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Variable to return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168813-161F-2798-C007-A703616296FC}"/>
              </a:ext>
            </a:extLst>
          </p:cNvPr>
          <p:cNvSpPr txBox="1"/>
          <p:nvPr/>
        </p:nvSpPr>
        <p:spPr>
          <a:xfrm>
            <a:off x="3523429" y="4530305"/>
            <a:ext cx="294873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arguments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2EACB9-C7F4-27EE-320E-BE7CDDA789DD}"/>
              </a:ext>
            </a:extLst>
          </p:cNvPr>
          <p:cNvSpPr txBox="1"/>
          <p:nvPr/>
        </p:nvSpPr>
        <p:spPr>
          <a:xfrm>
            <a:off x="6565216" y="4530305"/>
            <a:ext cx="28533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body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68E285-9BE9-DDC3-7CF5-FE8A618E5454}"/>
              </a:ext>
            </a:extLst>
          </p:cNvPr>
          <p:cNvSpPr txBox="1"/>
          <p:nvPr/>
        </p:nvSpPr>
        <p:spPr>
          <a:xfrm>
            <a:off x="9774396" y="4722665"/>
            <a:ext cx="2853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Separate file</a:t>
            </a:r>
          </a:p>
        </p:txBody>
      </p:sp>
    </p:spTree>
    <p:extLst>
      <p:ext uri="{BB962C8B-B14F-4D97-AF65-F5344CB8AC3E}">
        <p14:creationId xmlns:p14="http://schemas.microsoft.com/office/powerpoint/2010/main" val="4027127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1FFB-7EE9-04F8-4825-522F712D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MATLAB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C6E15B-4FAA-7248-BB89-9193BE7D94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5"/>
          <a:stretch/>
        </p:blipFill>
        <p:spPr>
          <a:xfrm>
            <a:off x="350915" y="1550425"/>
            <a:ext cx="11508575" cy="23884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48B3C4C-7AB3-6D96-E9C7-C0ACAA2D17EF}"/>
              </a:ext>
            </a:extLst>
          </p:cNvPr>
          <p:cNvSpPr/>
          <p:nvPr/>
        </p:nvSpPr>
        <p:spPr>
          <a:xfrm>
            <a:off x="350915" y="4300863"/>
            <a:ext cx="11508575" cy="1213246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4C6D2A-C6F5-7D63-1797-6FD01CA9FD9E}"/>
              </a:ext>
            </a:extLst>
          </p:cNvPr>
          <p:cNvSpPr txBox="1"/>
          <p:nvPr/>
        </p:nvSpPr>
        <p:spPr>
          <a:xfrm>
            <a:off x="577017" y="4530305"/>
            <a:ext cx="28533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declarator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Variable to return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4DE94-74AE-97CD-843E-71C050A1DB43}"/>
              </a:ext>
            </a:extLst>
          </p:cNvPr>
          <p:cNvSpPr txBox="1"/>
          <p:nvPr/>
        </p:nvSpPr>
        <p:spPr>
          <a:xfrm>
            <a:off x="3523429" y="4530305"/>
            <a:ext cx="294873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Input arguments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322771-8D0D-D3FF-F38B-25791A994F5B}"/>
              </a:ext>
            </a:extLst>
          </p:cNvPr>
          <p:cNvSpPr txBox="1"/>
          <p:nvPr/>
        </p:nvSpPr>
        <p:spPr>
          <a:xfrm>
            <a:off x="6565216" y="4530305"/>
            <a:ext cx="28533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6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body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end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565886-F35C-3C0D-9269-33B4369E7FB9}"/>
              </a:ext>
            </a:extLst>
          </p:cNvPr>
          <p:cNvSpPr txBox="1"/>
          <p:nvPr/>
        </p:nvSpPr>
        <p:spPr>
          <a:xfrm>
            <a:off x="9202896" y="4516319"/>
            <a:ext cx="2853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Separate file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D568FA-66F9-24CB-0F08-EC3E8D4F8C81}"/>
              </a:ext>
            </a:extLst>
          </p:cNvPr>
          <p:cNvSpPr/>
          <p:nvPr/>
        </p:nvSpPr>
        <p:spPr>
          <a:xfrm flipH="1" flipV="1">
            <a:off x="1874737" y="2356724"/>
            <a:ext cx="9485989" cy="954511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D2E8C-676F-F39D-E53F-57BEB374D0BF}"/>
              </a:ext>
            </a:extLst>
          </p:cNvPr>
          <p:cNvSpPr txBox="1"/>
          <p:nvPr/>
        </p:nvSpPr>
        <p:spPr>
          <a:xfrm>
            <a:off x="350915" y="5773027"/>
            <a:ext cx="107604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Where the MATLAB code goes.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return variable needs to be assigned 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E82802-FB2C-8608-BF73-B0031FC25610}"/>
              </a:ext>
            </a:extLst>
          </p:cNvPr>
          <p:cNvSpPr/>
          <p:nvPr/>
        </p:nvSpPr>
        <p:spPr>
          <a:xfrm>
            <a:off x="350915" y="4300862"/>
            <a:ext cx="11508575" cy="1426837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4B6B3-0085-F3C3-A554-B7A6EFCFC596}"/>
              </a:ext>
            </a:extLst>
          </p:cNvPr>
          <p:cNvSpPr txBox="1"/>
          <p:nvPr/>
        </p:nvSpPr>
        <p:spPr>
          <a:xfrm>
            <a:off x="459234" y="4530305"/>
            <a:ext cx="335998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declarator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Variable to return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E38EA-BFC0-372D-6881-21E2C6F44460}"/>
              </a:ext>
            </a:extLst>
          </p:cNvPr>
          <p:cNvSpPr txBox="1"/>
          <p:nvPr/>
        </p:nvSpPr>
        <p:spPr>
          <a:xfrm>
            <a:off x="3523429" y="4530305"/>
            <a:ext cx="294873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Input arguments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04231-6A2A-4C79-0BA2-A3B1B37C1CDA}"/>
              </a:ext>
            </a:extLst>
          </p:cNvPr>
          <p:cNvSpPr txBox="1"/>
          <p:nvPr/>
        </p:nvSpPr>
        <p:spPr>
          <a:xfrm>
            <a:off x="6565216" y="4530305"/>
            <a:ext cx="28533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body</a:t>
            </a:r>
          </a:p>
          <a:p>
            <a:pPr>
              <a:spcAft>
                <a:spcPts val="600"/>
              </a:spcAf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Functi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 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A4CFC7-5A2D-7DD0-F5D0-D10DB410AD37}"/>
              </a:ext>
            </a:extLst>
          </p:cNvPr>
          <p:cNvSpPr txBox="1"/>
          <p:nvPr/>
        </p:nvSpPr>
        <p:spPr>
          <a:xfrm>
            <a:off x="9774396" y="4722665"/>
            <a:ext cx="2853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Separate file</a:t>
            </a:r>
          </a:p>
        </p:txBody>
      </p:sp>
    </p:spTree>
    <p:extLst>
      <p:ext uri="{BB962C8B-B14F-4D97-AF65-F5344CB8AC3E}">
        <p14:creationId xmlns:p14="http://schemas.microsoft.com/office/powerpoint/2010/main" val="4241338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1FFB-7EE9-04F8-4825-522F712D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MATLAB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C6E15B-4FAA-7248-BB89-9193BE7D94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5"/>
          <a:stretch/>
        </p:blipFill>
        <p:spPr>
          <a:xfrm>
            <a:off x="350915" y="1550425"/>
            <a:ext cx="11508575" cy="23884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DD568FA-66F9-24CB-0F08-EC3E8D4F8C81}"/>
              </a:ext>
            </a:extLst>
          </p:cNvPr>
          <p:cNvSpPr/>
          <p:nvPr/>
        </p:nvSpPr>
        <p:spPr>
          <a:xfrm flipH="1" flipV="1">
            <a:off x="1454726" y="3255817"/>
            <a:ext cx="623456" cy="484908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D2E8C-676F-F39D-E53F-57BEB374D0BF}"/>
              </a:ext>
            </a:extLst>
          </p:cNvPr>
          <p:cNvSpPr txBox="1"/>
          <p:nvPr/>
        </p:nvSpPr>
        <p:spPr>
          <a:xfrm>
            <a:off x="350915" y="5849734"/>
            <a:ext cx="10760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Indicate end of function.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E7B25-2BB5-DE20-99ED-86E08EE52C86}"/>
              </a:ext>
            </a:extLst>
          </p:cNvPr>
          <p:cNvSpPr/>
          <p:nvPr/>
        </p:nvSpPr>
        <p:spPr>
          <a:xfrm>
            <a:off x="350915" y="4300863"/>
            <a:ext cx="11508575" cy="1213246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07CA1-546B-EDCF-BBDF-6E27907F045B}"/>
              </a:ext>
            </a:extLst>
          </p:cNvPr>
          <p:cNvSpPr txBox="1"/>
          <p:nvPr/>
        </p:nvSpPr>
        <p:spPr>
          <a:xfrm>
            <a:off x="577017" y="4530305"/>
            <a:ext cx="28533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declarator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Variable to return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6FDC3E-9EE4-BC6C-5BC4-89A81778E4E2}"/>
              </a:ext>
            </a:extLst>
          </p:cNvPr>
          <p:cNvSpPr txBox="1"/>
          <p:nvPr/>
        </p:nvSpPr>
        <p:spPr>
          <a:xfrm>
            <a:off x="3523429" y="4530305"/>
            <a:ext cx="294873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Input arguments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C67A1A-843E-ADC6-80C1-3BB55A0FB484}"/>
              </a:ext>
            </a:extLst>
          </p:cNvPr>
          <p:cNvSpPr txBox="1"/>
          <p:nvPr/>
        </p:nvSpPr>
        <p:spPr>
          <a:xfrm>
            <a:off x="6565216" y="4530305"/>
            <a:ext cx="28533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6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body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A596B9-8AE3-9B0D-0228-B166355BC3D2}"/>
              </a:ext>
            </a:extLst>
          </p:cNvPr>
          <p:cNvSpPr txBox="1"/>
          <p:nvPr/>
        </p:nvSpPr>
        <p:spPr>
          <a:xfrm>
            <a:off x="9202896" y="4516319"/>
            <a:ext cx="2853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Separate 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61ECE8-10CA-509C-68DB-EDCB42050CB1}"/>
              </a:ext>
            </a:extLst>
          </p:cNvPr>
          <p:cNvSpPr/>
          <p:nvPr/>
        </p:nvSpPr>
        <p:spPr>
          <a:xfrm>
            <a:off x="350915" y="4300863"/>
            <a:ext cx="11508575" cy="1426837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039E69-97F8-E8D4-3AB7-5744C85A736B}"/>
              </a:ext>
            </a:extLst>
          </p:cNvPr>
          <p:cNvSpPr txBox="1"/>
          <p:nvPr/>
        </p:nvSpPr>
        <p:spPr>
          <a:xfrm>
            <a:off x="459234" y="4530305"/>
            <a:ext cx="335998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declarator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Variable to return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69A887-F351-C629-5DBC-B127FD978049}"/>
              </a:ext>
            </a:extLst>
          </p:cNvPr>
          <p:cNvSpPr txBox="1"/>
          <p:nvPr/>
        </p:nvSpPr>
        <p:spPr>
          <a:xfrm>
            <a:off x="3523429" y="4530305"/>
            <a:ext cx="294873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Input arguments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889543-09A8-E042-07F0-6732D46D2888}"/>
              </a:ext>
            </a:extLst>
          </p:cNvPr>
          <p:cNvSpPr txBox="1"/>
          <p:nvPr/>
        </p:nvSpPr>
        <p:spPr>
          <a:xfrm>
            <a:off x="6565216" y="4530305"/>
            <a:ext cx="28533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body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end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93B49D-3B48-FF38-618B-CC0119D861F5}"/>
              </a:ext>
            </a:extLst>
          </p:cNvPr>
          <p:cNvSpPr txBox="1"/>
          <p:nvPr/>
        </p:nvSpPr>
        <p:spPr>
          <a:xfrm>
            <a:off x="9774396" y="4722665"/>
            <a:ext cx="2853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Separate file</a:t>
            </a:r>
          </a:p>
        </p:txBody>
      </p:sp>
    </p:spTree>
    <p:extLst>
      <p:ext uri="{BB962C8B-B14F-4D97-AF65-F5344CB8AC3E}">
        <p14:creationId xmlns:p14="http://schemas.microsoft.com/office/powerpoint/2010/main" val="2108696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1FFB-7EE9-04F8-4825-522F712D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MATLAB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C6E15B-4FAA-7248-BB89-9193BE7D94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5"/>
          <a:stretch/>
        </p:blipFill>
        <p:spPr>
          <a:xfrm>
            <a:off x="350915" y="1550425"/>
            <a:ext cx="11508575" cy="23884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48B3C4C-7AB3-6D96-E9C7-C0ACAA2D17EF}"/>
              </a:ext>
            </a:extLst>
          </p:cNvPr>
          <p:cNvSpPr/>
          <p:nvPr/>
        </p:nvSpPr>
        <p:spPr>
          <a:xfrm>
            <a:off x="350915" y="4287683"/>
            <a:ext cx="11508575" cy="1213246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4C6D2A-C6F5-7D63-1797-6FD01CA9FD9E}"/>
              </a:ext>
            </a:extLst>
          </p:cNvPr>
          <p:cNvSpPr txBox="1"/>
          <p:nvPr/>
        </p:nvSpPr>
        <p:spPr>
          <a:xfrm>
            <a:off x="577017" y="4530305"/>
            <a:ext cx="28533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declarator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Variable to return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4DE94-74AE-97CD-843E-71C050A1DB43}"/>
              </a:ext>
            </a:extLst>
          </p:cNvPr>
          <p:cNvSpPr txBox="1"/>
          <p:nvPr/>
        </p:nvSpPr>
        <p:spPr>
          <a:xfrm>
            <a:off x="3523429" y="4530305"/>
            <a:ext cx="294873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Input arguments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322771-8D0D-D3FF-F38B-25791A994F5B}"/>
              </a:ext>
            </a:extLst>
          </p:cNvPr>
          <p:cNvSpPr txBox="1"/>
          <p:nvPr/>
        </p:nvSpPr>
        <p:spPr>
          <a:xfrm>
            <a:off x="6565216" y="4530305"/>
            <a:ext cx="28533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body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end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565886-F35C-3C0D-9269-33B4369E7FB9}"/>
              </a:ext>
            </a:extLst>
          </p:cNvPr>
          <p:cNvSpPr txBox="1"/>
          <p:nvPr/>
        </p:nvSpPr>
        <p:spPr>
          <a:xfrm>
            <a:off x="9202896" y="4516319"/>
            <a:ext cx="2853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16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Separate file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D568FA-66F9-24CB-0F08-EC3E8D4F8C81}"/>
              </a:ext>
            </a:extLst>
          </p:cNvPr>
          <p:cNvSpPr/>
          <p:nvPr/>
        </p:nvSpPr>
        <p:spPr>
          <a:xfrm flipH="1" flipV="1">
            <a:off x="706581" y="1665021"/>
            <a:ext cx="2521528" cy="330033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D2E8C-676F-F39D-E53F-57BEB374D0BF}"/>
              </a:ext>
            </a:extLst>
          </p:cNvPr>
          <p:cNvSpPr txBox="1"/>
          <p:nvPr/>
        </p:nvSpPr>
        <p:spPr>
          <a:xfrm>
            <a:off x="350915" y="5849734"/>
            <a:ext cx="10760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File should be saved as the name of the function followed by “.m”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22E7D5-BD5E-1203-28F6-F6D77E3DB380}"/>
              </a:ext>
            </a:extLst>
          </p:cNvPr>
          <p:cNvSpPr/>
          <p:nvPr/>
        </p:nvSpPr>
        <p:spPr>
          <a:xfrm>
            <a:off x="350915" y="4300863"/>
            <a:ext cx="11508575" cy="1213246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6AED04-C908-9A9E-6357-712FCC919A34}"/>
              </a:ext>
            </a:extLst>
          </p:cNvPr>
          <p:cNvSpPr txBox="1"/>
          <p:nvPr/>
        </p:nvSpPr>
        <p:spPr>
          <a:xfrm>
            <a:off x="577017" y="4530305"/>
            <a:ext cx="28533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declarator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Variable to return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3FBBA-9321-AA5C-DFEF-CFAA95777DB7}"/>
              </a:ext>
            </a:extLst>
          </p:cNvPr>
          <p:cNvSpPr txBox="1"/>
          <p:nvPr/>
        </p:nvSpPr>
        <p:spPr>
          <a:xfrm>
            <a:off x="3523429" y="4530305"/>
            <a:ext cx="294873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Input arguments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501BF2-654D-918D-318C-7CC8487B5BFA}"/>
              </a:ext>
            </a:extLst>
          </p:cNvPr>
          <p:cNvSpPr txBox="1"/>
          <p:nvPr/>
        </p:nvSpPr>
        <p:spPr>
          <a:xfrm>
            <a:off x="6565216" y="4530305"/>
            <a:ext cx="28533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6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body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C2B60-7C07-ACC2-74B7-DA9AB4816A53}"/>
              </a:ext>
            </a:extLst>
          </p:cNvPr>
          <p:cNvSpPr txBox="1"/>
          <p:nvPr/>
        </p:nvSpPr>
        <p:spPr>
          <a:xfrm>
            <a:off x="9202896" y="4516319"/>
            <a:ext cx="2853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Separate file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8BE81C-4631-1C2F-5E66-B7904B808BB9}"/>
              </a:ext>
            </a:extLst>
          </p:cNvPr>
          <p:cNvSpPr/>
          <p:nvPr/>
        </p:nvSpPr>
        <p:spPr>
          <a:xfrm>
            <a:off x="350915" y="4300862"/>
            <a:ext cx="11508575" cy="1426837"/>
          </a:xfrm>
          <a:prstGeom prst="rect">
            <a:avLst/>
          </a:prstGeom>
          <a:solidFill>
            <a:srgbClr val="E7E6E6">
              <a:lumMod val="9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31D28-C542-D324-1537-1495786D627F}"/>
              </a:ext>
            </a:extLst>
          </p:cNvPr>
          <p:cNvSpPr txBox="1"/>
          <p:nvPr/>
        </p:nvSpPr>
        <p:spPr>
          <a:xfrm>
            <a:off x="459234" y="4530305"/>
            <a:ext cx="335998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declarator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Variable to return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2F1FA6-E5D9-8149-830A-8470B5ED6A3C}"/>
              </a:ext>
            </a:extLst>
          </p:cNvPr>
          <p:cNvSpPr txBox="1"/>
          <p:nvPr/>
        </p:nvSpPr>
        <p:spPr>
          <a:xfrm>
            <a:off x="3523429" y="4530305"/>
            <a:ext cx="294873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Input arguments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47444-531A-0722-6B6D-43FA90569A56}"/>
              </a:ext>
            </a:extLst>
          </p:cNvPr>
          <p:cNvSpPr txBox="1"/>
          <p:nvPr/>
        </p:nvSpPr>
        <p:spPr>
          <a:xfrm>
            <a:off x="6565216" y="4530305"/>
            <a:ext cx="28533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body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Function end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E38113-B051-4CE6-006B-0869CB96528B}"/>
              </a:ext>
            </a:extLst>
          </p:cNvPr>
          <p:cNvSpPr txBox="1"/>
          <p:nvPr/>
        </p:nvSpPr>
        <p:spPr>
          <a:xfrm>
            <a:off x="9774396" y="4722665"/>
            <a:ext cx="2853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7"/>
            </a:pPr>
            <a:r>
              <a:rPr lang="en-US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Separate file</a:t>
            </a:r>
          </a:p>
        </p:txBody>
      </p:sp>
    </p:spTree>
    <p:extLst>
      <p:ext uri="{BB962C8B-B14F-4D97-AF65-F5344CB8AC3E}">
        <p14:creationId xmlns:p14="http://schemas.microsoft.com/office/powerpoint/2010/main" val="2214622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6">
            <a:extLst>
              <a:ext uri="{FF2B5EF4-FFF2-40B4-BE49-F238E27FC236}">
                <a16:creationId xmlns:a16="http://schemas.microsoft.com/office/drawing/2014/main" id="{3AC82A2D-43C6-61BE-E8B9-B109A2ED748E}"/>
              </a:ext>
            </a:extLst>
          </p:cNvPr>
          <p:cNvSpPr txBox="1">
            <a:spLocks/>
          </p:cNvSpPr>
          <p:nvPr/>
        </p:nvSpPr>
        <p:spPr>
          <a:xfrm>
            <a:off x="655464" y="1852475"/>
            <a:ext cx="10345328" cy="55295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You can now call the custom function exactly like any other MATLAB function.</a:t>
            </a:r>
          </a:p>
          <a:p>
            <a:r>
              <a:rPr lang="en-GB" dirty="0">
                <a:solidFill>
                  <a:schemeClr val="tx1"/>
                </a:solidFill>
              </a:rPr>
              <a:t>Enter the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function name</a:t>
            </a:r>
            <a:r>
              <a:rPr lang="en-GB" dirty="0">
                <a:solidFill>
                  <a:schemeClr val="tx1"/>
                </a:solidFill>
              </a:rPr>
              <a:t>, followed by the inputs in paratheses.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F017B0D-4758-353A-CD03-A6F0B33F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525" y="533400"/>
            <a:ext cx="9210675" cy="8890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Calling the custom function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FFEA382-2B70-FF7F-E7DE-8E6C9BB840B4}"/>
              </a:ext>
            </a:extLst>
          </p:cNvPr>
          <p:cNvGrpSpPr/>
          <p:nvPr/>
        </p:nvGrpSpPr>
        <p:grpSpPr>
          <a:xfrm>
            <a:off x="3843816" y="3716707"/>
            <a:ext cx="4597400" cy="2744516"/>
            <a:chOff x="2654001" y="2937768"/>
            <a:chExt cx="4597400" cy="2744516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E73A11B-023A-5500-BB77-02CDF195A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4001" y="2937768"/>
              <a:ext cx="4267796" cy="147658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37" name="Left Brace 36">
              <a:extLst>
                <a:ext uri="{FF2B5EF4-FFF2-40B4-BE49-F238E27FC236}">
                  <a16:creationId xmlns:a16="http://schemas.microsoft.com/office/drawing/2014/main" id="{0D8F7950-A303-C1C4-BFB9-32AFA0363FDE}"/>
                </a:ext>
              </a:extLst>
            </p:cNvPr>
            <p:cNvSpPr/>
            <p:nvPr/>
          </p:nvSpPr>
          <p:spPr>
            <a:xfrm rot="16200000">
              <a:off x="3891689" y="3661945"/>
              <a:ext cx="219860" cy="826610"/>
            </a:xfrm>
            <a:prstGeom prst="leftBrace">
              <a:avLst/>
            </a:prstGeom>
            <a:ln w="254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288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Left Brace 37">
              <a:extLst>
                <a:ext uri="{FF2B5EF4-FFF2-40B4-BE49-F238E27FC236}">
                  <a16:creationId xmlns:a16="http://schemas.microsoft.com/office/drawing/2014/main" id="{EDCFD8EF-1BC0-BA32-2E57-C131BD2816B2}"/>
                </a:ext>
              </a:extLst>
            </p:cNvPr>
            <p:cNvSpPr/>
            <p:nvPr/>
          </p:nvSpPr>
          <p:spPr>
            <a:xfrm rot="5400000">
              <a:off x="4762473" y="3386811"/>
              <a:ext cx="191264" cy="793137"/>
            </a:xfrm>
            <a:prstGeom prst="leftBrac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288000" rtlCol="0" anchor="ctr"/>
            <a:lstStyle/>
            <a:p>
              <a:pPr algn="ctr"/>
              <a:endParaRPr lang="en-GB" dirty="0">
                <a:solidFill>
                  <a:schemeClr val="accent2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8FA5218-1072-E935-2F47-9D4853057A21}"/>
                </a:ext>
              </a:extLst>
            </p:cNvPr>
            <p:cNvSpPr txBox="1"/>
            <p:nvPr/>
          </p:nvSpPr>
          <p:spPr>
            <a:xfrm>
              <a:off x="4346580" y="3310736"/>
              <a:ext cx="29048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inputs to the function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A96F73E-0728-CFC3-C590-70B7520FB982}"/>
                </a:ext>
              </a:extLst>
            </p:cNvPr>
            <p:cNvSpPr txBox="1"/>
            <p:nvPr/>
          </p:nvSpPr>
          <p:spPr>
            <a:xfrm>
              <a:off x="3432578" y="4075250"/>
              <a:ext cx="35445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name of the custom function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5EA5AE1-6DF7-09B1-5EF7-3BE3BD17E0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4728" t="18115"/>
            <a:stretch/>
          </p:blipFill>
          <p:spPr>
            <a:xfrm>
              <a:off x="4414924" y="4683804"/>
              <a:ext cx="901686" cy="99848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sp>
        <p:nvSpPr>
          <p:cNvPr id="43" name="矩形 8">
            <a:extLst>
              <a:ext uri="{FF2B5EF4-FFF2-40B4-BE49-F238E27FC236}">
                <a16:creationId xmlns:a16="http://schemas.microsoft.com/office/drawing/2014/main" id="{F09E007F-A278-9622-F7B5-0418C8859689}"/>
              </a:ext>
            </a:extLst>
          </p:cNvPr>
          <p:cNvSpPr/>
          <p:nvPr/>
        </p:nvSpPr>
        <p:spPr>
          <a:xfrm>
            <a:off x="9733170" y="6153050"/>
            <a:ext cx="2027030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MATLAB files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531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6D21F-82F4-6A2E-B982-0FE88A156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MATLAB function with multiple outputs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168C6-1BD4-BF94-90B0-B2A493CD8C94}"/>
              </a:ext>
            </a:extLst>
          </p:cNvPr>
          <p:cNvSpPr txBox="1"/>
          <p:nvPr/>
        </p:nvSpPr>
        <p:spPr>
          <a:xfrm>
            <a:off x="215900" y="1515694"/>
            <a:ext cx="11785600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1200"/>
              </a:spcBef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Sometimes it is desirable to return multiple values from a function</a:t>
            </a:r>
          </a:p>
          <a:p>
            <a:pPr>
              <a:spcBef>
                <a:spcPts val="1200"/>
              </a:spcBef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 second returned values could be very useful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Some MATLAB built-in functions have optional additional returned values.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For example, the </a:t>
            </a:r>
            <a:r>
              <a:rPr lang="en-GB" sz="2000" dirty="0">
                <a:latin typeface="Consolas" panose="020B0609020204030204" pitchFamily="49" charset="0"/>
                <a:cs typeface="Arial" panose="020B0604020202020204" pitchFamily="34" charset="0"/>
              </a:rPr>
              <a:t>max()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function returns the maximum value in the input and optionally also returns the index of the maximum value.</a:t>
            </a:r>
          </a:p>
          <a:p>
            <a:pPr>
              <a:spcBef>
                <a:spcPts val="1200"/>
              </a:spcBef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To return multiple values from a MATLAB function, enter both variables' names in </a:t>
            </a:r>
            <a:r>
              <a:rPr lang="en-GB" sz="2000" u="sng" dirty="0">
                <a:latin typeface="Arial" panose="020B0604020202020204" pitchFamily="34" charset="0"/>
                <a:cs typeface="Arial" panose="020B0604020202020204" pitchFamily="34" charset="0"/>
              </a:rPr>
              <a:t>square brackets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in the function declaration.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C5BCCD-66B3-A859-109B-52D5D4FFC237}"/>
              </a:ext>
            </a:extLst>
          </p:cNvPr>
          <p:cNvGrpSpPr/>
          <p:nvPr/>
        </p:nvGrpSpPr>
        <p:grpSpPr>
          <a:xfrm>
            <a:off x="508534" y="4543088"/>
            <a:ext cx="8783356" cy="1815004"/>
            <a:chOff x="106042" y="3621269"/>
            <a:chExt cx="8783356" cy="1815004"/>
          </a:xfrm>
        </p:grpSpPr>
        <p:pic>
          <p:nvPicPr>
            <p:cNvPr id="5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2C9F2A61-DCE1-379D-D2B8-D20BF86EFA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759" t="3226" r="12793" b="461"/>
            <a:stretch/>
          </p:blipFill>
          <p:spPr>
            <a:xfrm>
              <a:off x="106042" y="3621269"/>
              <a:ext cx="8783356" cy="1815004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F9DC0C-8244-5FA5-AF5D-761CD0578056}"/>
                </a:ext>
              </a:extLst>
            </p:cNvPr>
            <p:cNvSpPr/>
            <p:nvPr/>
          </p:nvSpPr>
          <p:spPr>
            <a:xfrm flipH="1" flipV="1">
              <a:off x="2056562" y="3917763"/>
              <a:ext cx="1538897" cy="329796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D6CF742D-6483-0382-F769-52F6FA4D430B}"/>
              </a:ext>
            </a:extLst>
          </p:cNvPr>
          <p:cNvSpPr/>
          <p:nvPr/>
        </p:nvSpPr>
        <p:spPr>
          <a:xfrm>
            <a:off x="9733170" y="6153050"/>
            <a:ext cx="2027030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MATLAB files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18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8031F-A551-9BA5-4FFE-9AF557B37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294560" cy="88878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  <a:cs typeface="Times New Roman"/>
              </a:rPr>
              <a:t>Calling MATLAB functions with multiple outputs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9D9A7-2015-D8A7-C518-A26CB510E6AB}"/>
              </a:ext>
            </a:extLst>
          </p:cNvPr>
          <p:cNvSpPr txBox="1"/>
          <p:nvPr/>
        </p:nvSpPr>
        <p:spPr>
          <a:xfrm>
            <a:off x="474003" y="1578374"/>
            <a:ext cx="9742184" cy="48628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If the result of a function that has multiple returned values is assigned to a variable, then only the first returned value is used.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To access the other returned values, deconstruct the output using </a:t>
            </a:r>
            <a:r>
              <a:rPr lang="en-GB" sz="2400" u="sng" dirty="0">
                <a:latin typeface="Arial" panose="020B0604020202020204" pitchFamily="34" charset="0"/>
                <a:cs typeface="Arial" panose="020B0604020202020204" pitchFamily="34" charset="0"/>
              </a:rPr>
              <a:t>square brackets.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GB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GB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endParaRPr lang="en-GB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endParaRPr lang="en-GB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endParaRPr lang="en-GB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highest number in the input array is 9 and it is found at index 5.</a:t>
            </a:r>
          </a:p>
        </p:txBody>
      </p:sp>
      <p:pic>
        <p:nvPicPr>
          <p:cNvPr id="4" name="Picture 3" descr="A white rectangular object with green text&#10;&#10;Description automatically generated">
            <a:extLst>
              <a:ext uri="{FF2B5EF4-FFF2-40B4-BE49-F238E27FC236}">
                <a16:creationId xmlns:a16="http://schemas.microsoft.com/office/drawing/2014/main" id="{819F3687-0D19-B7BF-CB22-3F1E0F339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100" y="3429000"/>
            <a:ext cx="8636000" cy="228093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矩形 8">
            <a:extLst>
              <a:ext uri="{FF2B5EF4-FFF2-40B4-BE49-F238E27FC236}">
                <a16:creationId xmlns:a16="http://schemas.microsoft.com/office/drawing/2014/main" id="{A57CBA12-D516-4BB2-7FDC-607E65649A2F}"/>
              </a:ext>
            </a:extLst>
          </p:cNvPr>
          <p:cNvSpPr/>
          <p:nvPr/>
        </p:nvSpPr>
        <p:spPr>
          <a:xfrm>
            <a:off x="10216187" y="6256578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77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A0B3-4B46-C5C0-95FF-7C2F88DDB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Common misunderstandings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D38C5-C736-66DD-C9D8-F64276324643}"/>
              </a:ext>
            </a:extLst>
          </p:cNvPr>
          <p:cNvSpPr txBox="1">
            <a:spLocks/>
          </p:cNvSpPr>
          <p:nvPr/>
        </p:nvSpPr>
        <p:spPr>
          <a:xfrm>
            <a:off x="530225" y="1700689"/>
            <a:ext cx="11131549" cy="53409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Most MATLAB variables are passed to the function by value.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A copy of the variable is made to pass to the function.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Changes made to the copy do not affect the original variable.</a:t>
            </a:r>
            <a:endParaRPr lang="en-GB" dirty="0">
              <a:solidFill>
                <a:schemeClr val="tx1"/>
              </a:solidFill>
              <a:cs typeface="Times New Roman"/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  <a:cs typeface="Times New Roman"/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A function cannot access variables that are not passed to it by function inputs.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  <a:cs typeface="Times New Roman"/>
              </a:rPr>
              <a:t>MATLAB functions have their own separate workspace (memory).</a:t>
            </a:r>
          </a:p>
          <a:p>
            <a:pPr>
              <a:spcBef>
                <a:spcPts val="12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The name of the variable passed to the function can be different from the name of the variable inside the function definition.</a:t>
            </a:r>
          </a:p>
        </p:txBody>
      </p:sp>
      <p:sp>
        <p:nvSpPr>
          <p:cNvPr id="6" name="矩形 8">
            <a:extLst>
              <a:ext uri="{FF2B5EF4-FFF2-40B4-BE49-F238E27FC236}">
                <a16:creationId xmlns:a16="http://schemas.microsoft.com/office/drawing/2014/main" id="{66126E53-1495-245C-DF89-FE9679498235}"/>
              </a:ext>
            </a:extLst>
          </p:cNvPr>
          <p:cNvSpPr/>
          <p:nvPr/>
        </p:nvSpPr>
        <p:spPr>
          <a:xfrm>
            <a:off x="10216187" y="6256578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964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EA0B66-0A62-4679-A055-2E5FA8D7743D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8C8F53E8-ADD5-47EE-80FA-75D7C8F26F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EC5F80-B770-4724-8D4B-5978BB5CBA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1898</TotalTime>
  <Words>734</Words>
  <Application>Microsoft Office PowerPoint</Application>
  <PresentationFormat>Widescreen</PresentationFormat>
  <Paragraphs>169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Times New Roman</vt:lpstr>
      <vt:lpstr>Office Theme</vt:lpstr>
      <vt:lpstr>Custom MATLAB Functions</vt:lpstr>
      <vt:lpstr>Built-in functions reminder</vt:lpstr>
      <vt:lpstr>MATLAB functions</vt:lpstr>
      <vt:lpstr>MATLAB functions</vt:lpstr>
      <vt:lpstr>MATLAB functions</vt:lpstr>
      <vt:lpstr>MATLAB functions</vt:lpstr>
      <vt:lpstr>MATLAB functions</vt:lpstr>
      <vt:lpstr>MATLAB functions</vt:lpstr>
      <vt:lpstr>MATLAB functions</vt:lpstr>
      <vt:lpstr>MATLAB functions</vt:lpstr>
      <vt:lpstr>Calling the custom function</vt:lpstr>
      <vt:lpstr>MATLAB function with multiple outputs</vt:lpstr>
      <vt:lpstr>Calling MATLAB functions with multiple outputs</vt:lpstr>
      <vt:lpstr>Common misunderstandings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73</cp:revision>
  <dcterms:created xsi:type="dcterms:W3CDTF">2021-01-06T14:22:07Z</dcterms:created>
  <dcterms:modified xsi:type="dcterms:W3CDTF">2024-06-24T16:38:26Z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