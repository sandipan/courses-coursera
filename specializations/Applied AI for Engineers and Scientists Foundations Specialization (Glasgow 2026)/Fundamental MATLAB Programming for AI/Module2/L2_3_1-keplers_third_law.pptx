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494" r:id="rId6"/>
    <p:sldId id="496" r:id="rId7"/>
    <p:sldId id="497" r:id="rId8"/>
    <p:sldId id="499" r:id="rId9"/>
    <p:sldId id="500" r:id="rId10"/>
    <p:sldId id="501" r:id="rId11"/>
    <p:sldId id="502" r:id="rId12"/>
    <p:sldId id="503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868069-247C-48A2-9D2F-43703AADB661}" v="12" dt="2024-06-14T18:38:19.608"/>
    <p1510:client id="{C09C2EA6-8463-4132-85CE-7AD602F40963}" v="8" dt="2024-06-14T18:36:55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03" d="100"/>
          <a:sy n="103" d="100"/>
        </p:scale>
        <p:origin x="114" y="204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shi Liu (PGR)" userId="S::2109741l@student.gla.ac.uk::0738f1d2-bd1d-4f8b-945a-b877be0bfefb" providerId="AD" clId="Web-{C09C2EA6-8463-4132-85CE-7AD602F40963}"/>
    <pc:docChg chg="modSld">
      <pc:chgData name="Yushi Liu (PGR)" userId="S::2109741l@student.gla.ac.uk::0738f1d2-bd1d-4f8b-945a-b877be0bfefb" providerId="AD" clId="Web-{C09C2EA6-8463-4132-85CE-7AD602F40963}" dt="2024-06-14T18:36:55.008" v="7"/>
      <pc:docMkLst>
        <pc:docMk/>
      </pc:docMkLst>
      <pc:sldChg chg="addSp delSp">
        <pc:chgData name="Yushi Liu (PGR)" userId="S::2109741l@student.gla.ac.uk::0738f1d2-bd1d-4f8b-945a-b877be0bfefb" providerId="AD" clId="Web-{C09C2EA6-8463-4132-85CE-7AD602F40963}" dt="2024-06-14T18:36:41.882" v="1"/>
        <pc:sldMkLst>
          <pc:docMk/>
          <pc:sldMk cId="2364555027" sldId="500"/>
        </pc:sldMkLst>
        <pc:spChg chg="add">
          <ac:chgData name="Yushi Liu (PGR)" userId="S::2109741l@student.gla.ac.uk::0738f1d2-bd1d-4f8b-945a-b877be0bfefb" providerId="AD" clId="Web-{C09C2EA6-8463-4132-85CE-7AD602F40963}" dt="2024-06-14T18:36:41.882" v="1"/>
          <ac:spMkLst>
            <pc:docMk/>
            <pc:sldMk cId="2364555027" sldId="500"/>
            <ac:spMk id="6" creationId="{14EDB9F7-9184-2C23-96D3-54CA569A5FB4}"/>
          </ac:spMkLst>
        </pc:spChg>
        <pc:spChg chg="del">
          <ac:chgData name="Yushi Liu (PGR)" userId="S::2109741l@student.gla.ac.uk::0738f1d2-bd1d-4f8b-945a-b877be0bfefb" providerId="AD" clId="Web-{C09C2EA6-8463-4132-85CE-7AD602F40963}" dt="2024-06-14T18:36:41.101" v="0"/>
          <ac:spMkLst>
            <pc:docMk/>
            <pc:sldMk cId="2364555027" sldId="500"/>
            <ac:spMk id="10" creationId="{9BA43868-FFA7-03C7-1C5B-37CBA1A53E37}"/>
          </ac:spMkLst>
        </pc:spChg>
      </pc:sldChg>
      <pc:sldChg chg="addSp delSp">
        <pc:chgData name="Yushi Liu (PGR)" userId="S::2109741l@student.gla.ac.uk::0738f1d2-bd1d-4f8b-945a-b877be0bfefb" providerId="AD" clId="Web-{C09C2EA6-8463-4132-85CE-7AD602F40963}" dt="2024-06-14T18:36:48.164" v="3"/>
        <pc:sldMkLst>
          <pc:docMk/>
          <pc:sldMk cId="1891233626" sldId="501"/>
        </pc:sldMkLst>
        <pc:spChg chg="add">
          <ac:chgData name="Yushi Liu (PGR)" userId="S::2109741l@student.gla.ac.uk::0738f1d2-bd1d-4f8b-945a-b877be0bfefb" providerId="AD" clId="Web-{C09C2EA6-8463-4132-85CE-7AD602F40963}" dt="2024-06-14T18:36:48.164" v="3"/>
          <ac:spMkLst>
            <pc:docMk/>
            <pc:sldMk cId="1891233626" sldId="501"/>
            <ac:spMk id="4" creationId="{AC5932F5-62D7-DB4F-DA26-ABDEAA8A4FDF}"/>
          </ac:spMkLst>
        </pc:spChg>
        <pc:spChg chg="del">
          <ac:chgData name="Yushi Liu (PGR)" userId="S::2109741l@student.gla.ac.uk::0738f1d2-bd1d-4f8b-945a-b877be0bfefb" providerId="AD" clId="Web-{C09C2EA6-8463-4132-85CE-7AD602F40963}" dt="2024-06-14T18:36:47.820" v="2"/>
          <ac:spMkLst>
            <pc:docMk/>
            <pc:sldMk cId="1891233626" sldId="501"/>
            <ac:spMk id="7" creationId="{7A5E6FDF-7EDD-FFE0-C9D4-430E2ED4E60D}"/>
          </ac:spMkLst>
        </pc:spChg>
      </pc:sldChg>
      <pc:sldChg chg="addSp delSp">
        <pc:chgData name="Yushi Liu (PGR)" userId="S::2109741l@student.gla.ac.uk::0738f1d2-bd1d-4f8b-945a-b877be0bfefb" providerId="AD" clId="Web-{C09C2EA6-8463-4132-85CE-7AD602F40963}" dt="2024-06-14T18:36:51.242" v="5"/>
        <pc:sldMkLst>
          <pc:docMk/>
          <pc:sldMk cId="3193498738" sldId="502"/>
        </pc:sldMkLst>
        <pc:spChg chg="add">
          <ac:chgData name="Yushi Liu (PGR)" userId="S::2109741l@student.gla.ac.uk::0738f1d2-bd1d-4f8b-945a-b877be0bfefb" providerId="AD" clId="Web-{C09C2EA6-8463-4132-85CE-7AD602F40963}" dt="2024-06-14T18:36:51.242" v="5"/>
          <ac:spMkLst>
            <pc:docMk/>
            <pc:sldMk cId="3193498738" sldId="502"/>
            <ac:spMk id="7" creationId="{35ED81EA-A291-696F-1D25-340C0FD58FB1}"/>
          </ac:spMkLst>
        </pc:spChg>
        <pc:spChg chg="del">
          <ac:chgData name="Yushi Liu (PGR)" userId="S::2109741l@student.gla.ac.uk::0738f1d2-bd1d-4f8b-945a-b877be0bfefb" providerId="AD" clId="Web-{C09C2EA6-8463-4132-85CE-7AD602F40963}" dt="2024-06-14T18:36:50.867" v="4"/>
          <ac:spMkLst>
            <pc:docMk/>
            <pc:sldMk cId="3193498738" sldId="502"/>
            <ac:spMk id="10" creationId="{6AB5C673-676D-146A-733A-830083ADED1B}"/>
          </ac:spMkLst>
        </pc:spChg>
      </pc:sldChg>
      <pc:sldChg chg="addSp delSp">
        <pc:chgData name="Yushi Liu (PGR)" userId="S::2109741l@student.gla.ac.uk::0738f1d2-bd1d-4f8b-945a-b877be0bfefb" providerId="AD" clId="Web-{C09C2EA6-8463-4132-85CE-7AD602F40963}" dt="2024-06-14T18:36:55.008" v="7"/>
        <pc:sldMkLst>
          <pc:docMk/>
          <pc:sldMk cId="461299767" sldId="503"/>
        </pc:sldMkLst>
        <pc:spChg chg="del">
          <ac:chgData name="Yushi Liu (PGR)" userId="S::2109741l@student.gla.ac.uk::0738f1d2-bd1d-4f8b-945a-b877be0bfefb" providerId="AD" clId="Web-{C09C2EA6-8463-4132-85CE-7AD602F40963}" dt="2024-06-14T18:36:54.679" v="6"/>
          <ac:spMkLst>
            <pc:docMk/>
            <pc:sldMk cId="461299767" sldId="503"/>
            <ac:spMk id="5" creationId="{034532CB-AD85-7D20-44D8-0ECBE53BDCF3}"/>
          </ac:spMkLst>
        </pc:spChg>
        <pc:spChg chg="add">
          <ac:chgData name="Yushi Liu (PGR)" userId="S::2109741l@student.gla.ac.uk::0738f1d2-bd1d-4f8b-945a-b877be0bfefb" providerId="AD" clId="Web-{C09C2EA6-8463-4132-85CE-7AD602F40963}" dt="2024-06-14T18:36:55.008" v="7"/>
          <ac:spMkLst>
            <pc:docMk/>
            <pc:sldMk cId="461299767" sldId="503"/>
            <ac:spMk id="6" creationId="{1AFD05E0-9DF3-C21D-ACC3-4AF07EF40638}"/>
          </ac:spMkLst>
        </pc:spChg>
      </pc:sldChg>
    </pc:docChg>
  </pc:docChgLst>
  <pc:docChgLst>
    <pc:chgData name="Yushi Liu (PGR)" userId="S::2109741l@student.gla.ac.uk::0738f1d2-bd1d-4f8b-945a-b877be0bfefb" providerId="AD" clId="Web-{66868069-247C-48A2-9D2F-43703AADB661}"/>
    <pc:docChg chg="modSld">
      <pc:chgData name="Yushi Liu (PGR)" userId="S::2109741l@student.gla.ac.uk::0738f1d2-bd1d-4f8b-945a-b877be0bfefb" providerId="AD" clId="Web-{66868069-247C-48A2-9D2F-43703AADB661}" dt="2024-06-14T18:38:19.608" v="11"/>
      <pc:docMkLst>
        <pc:docMk/>
      </pc:docMkLst>
      <pc:sldChg chg="addSp delSp">
        <pc:chgData name="Yushi Liu (PGR)" userId="S::2109741l@student.gla.ac.uk::0738f1d2-bd1d-4f8b-945a-b877be0bfefb" providerId="AD" clId="Web-{66868069-247C-48A2-9D2F-43703AADB661}" dt="2024-06-14T18:38:03.201" v="1"/>
        <pc:sldMkLst>
          <pc:docMk/>
          <pc:sldMk cId="3223826648" sldId="497"/>
        </pc:sldMkLst>
        <pc:spChg chg="add">
          <ac:chgData name="Yushi Liu (PGR)" userId="S::2109741l@student.gla.ac.uk::0738f1d2-bd1d-4f8b-945a-b877be0bfefb" providerId="AD" clId="Web-{66868069-247C-48A2-9D2F-43703AADB661}" dt="2024-06-14T18:38:03.201" v="1"/>
          <ac:spMkLst>
            <pc:docMk/>
            <pc:sldMk cId="3223826648" sldId="497"/>
            <ac:spMk id="5" creationId="{029EB420-2294-EEFB-69C9-2EA3BA9FEE59}"/>
          </ac:spMkLst>
        </pc:spChg>
        <pc:spChg chg="del">
          <ac:chgData name="Yushi Liu (PGR)" userId="S::2109741l@student.gla.ac.uk::0738f1d2-bd1d-4f8b-945a-b877be0bfefb" providerId="AD" clId="Web-{66868069-247C-48A2-9D2F-43703AADB661}" dt="2024-06-14T18:38:02.764" v="0"/>
          <ac:spMkLst>
            <pc:docMk/>
            <pc:sldMk cId="3223826648" sldId="497"/>
            <ac:spMk id="9" creationId="{F38C6AE0-42DB-F84E-52B5-3BBE4F82A819}"/>
          </ac:spMkLst>
        </pc:spChg>
      </pc:sldChg>
      <pc:sldChg chg="addSp delSp">
        <pc:chgData name="Yushi Liu (PGR)" userId="S::2109741l@student.gla.ac.uk::0738f1d2-bd1d-4f8b-945a-b877be0bfefb" providerId="AD" clId="Web-{66868069-247C-48A2-9D2F-43703AADB661}" dt="2024-06-14T18:38:06.357" v="3"/>
        <pc:sldMkLst>
          <pc:docMk/>
          <pc:sldMk cId="3887620899" sldId="499"/>
        </pc:sldMkLst>
        <pc:spChg chg="add">
          <ac:chgData name="Yushi Liu (PGR)" userId="S::2109741l@student.gla.ac.uk::0738f1d2-bd1d-4f8b-945a-b877be0bfefb" providerId="AD" clId="Web-{66868069-247C-48A2-9D2F-43703AADB661}" dt="2024-06-14T18:38:06.357" v="3"/>
          <ac:spMkLst>
            <pc:docMk/>
            <pc:sldMk cId="3887620899" sldId="499"/>
            <ac:spMk id="6" creationId="{2F9F4DC7-43F8-968F-A233-E60F98D6F4D0}"/>
          </ac:spMkLst>
        </pc:spChg>
        <pc:spChg chg="del">
          <ac:chgData name="Yushi Liu (PGR)" userId="S::2109741l@student.gla.ac.uk::0738f1d2-bd1d-4f8b-945a-b877be0bfefb" providerId="AD" clId="Web-{66868069-247C-48A2-9D2F-43703AADB661}" dt="2024-06-14T18:38:06.170" v="2"/>
          <ac:spMkLst>
            <pc:docMk/>
            <pc:sldMk cId="3887620899" sldId="499"/>
            <ac:spMk id="8" creationId="{30999A76-D457-42F0-380C-96F7F6C79089}"/>
          </ac:spMkLst>
        </pc:spChg>
      </pc:sldChg>
      <pc:sldChg chg="addSp delSp">
        <pc:chgData name="Yushi Liu (PGR)" userId="S::2109741l@student.gla.ac.uk::0738f1d2-bd1d-4f8b-945a-b877be0bfefb" providerId="AD" clId="Web-{66868069-247C-48A2-9D2F-43703AADB661}" dt="2024-06-14T18:38:10.405" v="5"/>
        <pc:sldMkLst>
          <pc:docMk/>
          <pc:sldMk cId="2364555027" sldId="500"/>
        </pc:sldMkLst>
        <pc:spChg chg="del">
          <ac:chgData name="Yushi Liu (PGR)" userId="S::2109741l@student.gla.ac.uk::0738f1d2-bd1d-4f8b-945a-b877be0bfefb" providerId="AD" clId="Web-{66868069-247C-48A2-9D2F-43703AADB661}" dt="2024-06-14T18:38:10.233" v="4"/>
          <ac:spMkLst>
            <pc:docMk/>
            <pc:sldMk cId="2364555027" sldId="500"/>
            <ac:spMk id="6" creationId="{14EDB9F7-9184-2C23-96D3-54CA569A5FB4}"/>
          </ac:spMkLst>
        </pc:spChg>
        <pc:spChg chg="add">
          <ac:chgData name="Yushi Liu (PGR)" userId="S::2109741l@student.gla.ac.uk::0738f1d2-bd1d-4f8b-945a-b877be0bfefb" providerId="AD" clId="Web-{66868069-247C-48A2-9D2F-43703AADB661}" dt="2024-06-14T18:38:10.405" v="5"/>
          <ac:spMkLst>
            <pc:docMk/>
            <pc:sldMk cId="2364555027" sldId="500"/>
            <ac:spMk id="7" creationId="{D79D63DE-89A1-1B92-F3F3-A4CB2CAD2820}"/>
          </ac:spMkLst>
        </pc:spChg>
      </pc:sldChg>
      <pc:sldChg chg="addSp delSp">
        <pc:chgData name="Yushi Liu (PGR)" userId="S::2109741l@student.gla.ac.uk::0738f1d2-bd1d-4f8b-945a-b877be0bfefb" providerId="AD" clId="Web-{66868069-247C-48A2-9D2F-43703AADB661}" dt="2024-06-14T18:38:13.264" v="7"/>
        <pc:sldMkLst>
          <pc:docMk/>
          <pc:sldMk cId="1891233626" sldId="501"/>
        </pc:sldMkLst>
        <pc:spChg chg="del">
          <ac:chgData name="Yushi Liu (PGR)" userId="S::2109741l@student.gla.ac.uk::0738f1d2-bd1d-4f8b-945a-b877be0bfefb" providerId="AD" clId="Web-{66868069-247C-48A2-9D2F-43703AADB661}" dt="2024-06-14T18:38:12.827" v="6"/>
          <ac:spMkLst>
            <pc:docMk/>
            <pc:sldMk cId="1891233626" sldId="501"/>
            <ac:spMk id="4" creationId="{AC5932F5-62D7-DB4F-DA26-ABDEAA8A4FDF}"/>
          </ac:spMkLst>
        </pc:spChg>
        <pc:spChg chg="add">
          <ac:chgData name="Yushi Liu (PGR)" userId="S::2109741l@student.gla.ac.uk::0738f1d2-bd1d-4f8b-945a-b877be0bfefb" providerId="AD" clId="Web-{66868069-247C-48A2-9D2F-43703AADB661}" dt="2024-06-14T18:38:13.264" v="7"/>
          <ac:spMkLst>
            <pc:docMk/>
            <pc:sldMk cId="1891233626" sldId="501"/>
            <ac:spMk id="6" creationId="{DA694B15-5494-A762-4373-FCE6EA0D07DB}"/>
          </ac:spMkLst>
        </pc:spChg>
      </pc:sldChg>
      <pc:sldChg chg="addSp delSp">
        <pc:chgData name="Yushi Liu (PGR)" userId="S::2109741l@student.gla.ac.uk::0738f1d2-bd1d-4f8b-945a-b877be0bfefb" providerId="AD" clId="Web-{66868069-247C-48A2-9D2F-43703AADB661}" dt="2024-06-14T18:38:15.764" v="9"/>
        <pc:sldMkLst>
          <pc:docMk/>
          <pc:sldMk cId="3193498738" sldId="502"/>
        </pc:sldMkLst>
        <pc:spChg chg="del">
          <ac:chgData name="Yushi Liu (PGR)" userId="S::2109741l@student.gla.ac.uk::0738f1d2-bd1d-4f8b-945a-b877be0bfefb" providerId="AD" clId="Web-{66868069-247C-48A2-9D2F-43703AADB661}" dt="2024-06-14T18:38:15.561" v="8"/>
          <ac:spMkLst>
            <pc:docMk/>
            <pc:sldMk cId="3193498738" sldId="502"/>
            <ac:spMk id="7" creationId="{35ED81EA-A291-696F-1D25-340C0FD58FB1}"/>
          </ac:spMkLst>
        </pc:spChg>
        <pc:spChg chg="add">
          <ac:chgData name="Yushi Liu (PGR)" userId="S::2109741l@student.gla.ac.uk::0738f1d2-bd1d-4f8b-945a-b877be0bfefb" providerId="AD" clId="Web-{66868069-247C-48A2-9D2F-43703AADB661}" dt="2024-06-14T18:38:15.764" v="9"/>
          <ac:spMkLst>
            <pc:docMk/>
            <pc:sldMk cId="3193498738" sldId="502"/>
            <ac:spMk id="8" creationId="{665ED279-784F-ED93-5656-B34CB77C276D}"/>
          </ac:spMkLst>
        </pc:spChg>
      </pc:sldChg>
      <pc:sldChg chg="addSp delSp">
        <pc:chgData name="Yushi Liu (PGR)" userId="S::2109741l@student.gla.ac.uk::0738f1d2-bd1d-4f8b-945a-b877be0bfefb" providerId="AD" clId="Web-{66868069-247C-48A2-9D2F-43703AADB661}" dt="2024-06-14T18:38:19.608" v="11"/>
        <pc:sldMkLst>
          <pc:docMk/>
          <pc:sldMk cId="461299767" sldId="503"/>
        </pc:sldMkLst>
        <pc:spChg chg="add">
          <ac:chgData name="Yushi Liu (PGR)" userId="S::2109741l@student.gla.ac.uk::0738f1d2-bd1d-4f8b-945a-b877be0bfefb" providerId="AD" clId="Web-{66868069-247C-48A2-9D2F-43703AADB661}" dt="2024-06-14T18:38:19.608" v="11"/>
          <ac:spMkLst>
            <pc:docMk/>
            <pc:sldMk cId="461299767" sldId="503"/>
            <ac:spMk id="5" creationId="{DFC02F9E-6F2C-3087-7E76-0144AD7CBFD4}"/>
          </ac:spMkLst>
        </pc:spChg>
        <pc:spChg chg="del">
          <ac:chgData name="Yushi Liu (PGR)" userId="S::2109741l@student.gla.ac.uk::0738f1d2-bd1d-4f8b-945a-b877be0bfefb" providerId="AD" clId="Web-{66868069-247C-48A2-9D2F-43703AADB661}" dt="2024-06-14T18:38:19.436" v="10"/>
          <ac:spMkLst>
            <pc:docMk/>
            <pc:sldMk cId="461299767" sldId="503"/>
            <ac:spMk id="6" creationId="{1AFD05E0-9DF3-C21D-ACC3-4AF07EF4063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2024-06-23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23/06/2024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uk.mathworks.com/help/matlab/ref/polyfit.html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Case Study: Kepler’s Third Law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Introduction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B8A1A4-0EAC-0F7A-7B4B-201C0CD82966}"/>
              </a:ext>
            </a:extLst>
          </p:cNvPr>
          <p:cNvSpPr>
            <a:spLocks noGrp="1"/>
          </p:cNvSpPr>
          <p:nvPr/>
        </p:nvSpPr>
        <p:spPr>
          <a:xfrm>
            <a:off x="614795" y="1606337"/>
            <a:ext cx="9499590" cy="11083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 1618, Johannes Kepler discovered that the orbital period of the planets in the solar system is proportional to the cubic of the mean orbital radius.</a:t>
            </a:r>
          </a:p>
        </p:txBody>
      </p:sp>
      <p:sp>
        <p:nvSpPr>
          <p:cNvPr id="4" name="矩形 8">
            <a:extLst>
              <a:ext uri="{FF2B5EF4-FFF2-40B4-BE49-F238E27FC236}">
                <a16:creationId xmlns:a16="http://schemas.microsoft.com/office/drawing/2014/main" id="{A62C05AF-4D79-CD30-4D5B-99ADDE01D97B}"/>
              </a:ext>
            </a:extLst>
          </p:cNvPr>
          <p:cNvSpPr/>
          <p:nvPr/>
        </p:nvSpPr>
        <p:spPr>
          <a:xfrm>
            <a:off x="10216187" y="6139720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5834BB-3EC0-82CF-28ED-A0F7A0EB22C0}"/>
              </a:ext>
            </a:extLst>
          </p:cNvPr>
          <p:cNvSpPr>
            <a:spLocks noGrp="1"/>
          </p:cNvSpPr>
          <p:nvPr/>
        </p:nvSpPr>
        <p:spPr>
          <a:xfrm>
            <a:off x="614795" y="2716460"/>
            <a:ext cx="11145405" cy="4229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 this case study we will: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Graphically show this relationship.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Compute the predicted orbital periods of Uranus and Neptune (undiscovered planets in 1618).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Compare the predicted orbital periods against the actual orbital periods.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You will learn about: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log – log plots in MATLAB.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How to calculate a line of best fit in MATLAB.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How to import data from a csv file in MATLAB.</a:t>
            </a: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3A4F9-C935-9883-C2D9-D027D3299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Kepler's planetary data from 1618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7">
                <a:extLst>
                  <a:ext uri="{FF2B5EF4-FFF2-40B4-BE49-F238E27FC236}">
                    <a16:creationId xmlns:a16="http://schemas.microsoft.com/office/drawing/2014/main" id="{62EDD24A-3871-A0CA-B7D7-3F2E6FD1CBC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47966214"/>
                  </p:ext>
                </p:extLst>
              </p:nvPr>
            </p:nvGraphicFramePr>
            <p:xfrm>
              <a:off x="2085670" y="1864647"/>
              <a:ext cx="8020659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32497">
                      <a:extLst>
                        <a:ext uri="{9D8B030D-6E8A-4147-A177-3AD203B41FA5}">
                          <a16:colId xmlns:a16="http://schemas.microsoft.com/office/drawing/2014/main" val="3064989344"/>
                        </a:ext>
                      </a:extLst>
                    </a:gridCol>
                    <a:gridCol w="1624614">
                      <a:extLst>
                        <a:ext uri="{9D8B030D-6E8A-4147-A177-3AD203B41FA5}">
                          <a16:colId xmlns:a16="http://schemas.microsoft.com/office/drawing/2014/main" val="2865956951"/>
                        </a:ext>
                      </a:extLst>
                    </a:gridCol>
                    <a:gridCol w="1981645">
                      <a:extLst>
                        <a:ext uri="{9D8B030D-6E8A-4147-A177-3AD203B41FA5}">
                          <a16:colId xmlns:a16="http://schemas.microsoft.com/office/drawing/2014/main" val="3653299441"/>
                        </a:ext>
                      </a:extLst>
                    </a:gridCol>
                    <a:gridCol w="2881903">
                      <a:extLst>
                        <a:ext uri="{9D8B030D-6E8A-4147-A177-3AD203B41FA5}">
                          <a16:colId xmlns:a16="http://schemas.microsoft.com/office/drawing/2014/main" val="51999189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Planet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Orbital Radius, r, [m]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Orbital Period, T [days]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GB" b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b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dirty="0"/>
                            <a:t>/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GB" b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dirty="0"/>
                            <a:t> </a:t>
                          </a:r>
                        </a:p>
                        <a:p>
                          <a:pPr algn="ctr"/>
                          <a:r>
                            <a:rPr lang="en-GB" dirty="0"/>
                            <a:t>[m^3/s^2]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2644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Mercury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>
                                    <a:latin typeface="Cambria Math" panose="02040503050406030204" pitchFamily="18" charset="0"/>
                                  </a:rPr>
                                  <m:t>5.82 ×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>
                                    <a:latin typeface="Cambria Math" panose="02040503050406030204" pitchFamily="18" charset="0"/>
                                  </a:rPr>
                                  <m:t>3.43 ×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66570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Venus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>
                                    <a:latin typeface="Cambria Math" panose="02040503050406030204" pitchFamily="18" charset="0"/>
                                  </a:rPr>
                                  <m:t>1.08 ×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>
                                    <a:latin typeface="Cambria Math" panose="02040503050406030204" pitchFamily="18" charset="0"/>
                                  </a:rPr>
                                  <m:t>3.37 ×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043814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Earth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>
                                    <a:latin typeface="Cambria Math" panose="02040503050406030204" pitchFamily="18" charset="0"/>
                                  </a:rPr>
                                  <m:t>1.05 ×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365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>
                                    <a:latin typeface="Cambria Math" panose="02040503050406030204" pitchFamily="18" charset="0"/>
                                  </a:rPr>
                                  <m:t>3.36 ×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01123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Mars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>
                                    <a:latin typeface="Cambria Math" panose="02040503050406030204" pitchFamily="18" charset="0"/>
                                  </a:rPr>
                                  <m:t>2.28 ×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687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>
                                    <a:latin typeface="Cambria Math" panose="02040503050406030204" pitchFamily="18" charset="0"/>
                                  </a:rPr>
                                  <m:t>3.36 ×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114867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Jupiter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>
                                    <a:latin typeface="Cambria Math" panose="02040503050406030204" pitchFamily="18" charset="0"/>
                                  </a:rPr>
                                  <m:t>7.78 ×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4333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>
                                    <a:latin typeface="Cambria Math" panose="02040503050406030204" pitchFamily="18" charset="0"/>
                                  </a:rPr>
                                  <m:t>3.36 ×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0460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Saturn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>
                                    <a:latin typeface="Cambria Math" panose="02040503050406030204" pitchFamily="18" charset="0"/>
                                  </a:rPr>
                                  <m:t>1.42 ×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10759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>
                                    <a:latin typeface="Cambria Math" panose="02040503050406030204" pitchFamily="18" charset="0"/>
                                  </a:rPr>
                                  <m:t>3.33 ×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b="0" smtClean="0"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2144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7">
                <a:extLst>
                  <a:ext uri="{FF2B5EF4-FFF2-40B4-BE49-F238E27FC236}">
                    <a16:creationId xmlns:a16="http://schemas.microsoft.com/office/drawing/2014/main" id="{62EDD24A-3871-A0CA-B7D7-3F2E6FD1CBC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47966214"/>
                  </p:ext>
                </p:extLst>
              </p:nvPr>
            </p:nvGraphicFramePr>
            <p:xfrm>
              <a:off x="2085670" y="1864647"/>
              <a:ext cx="8020659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32497">
                      <a:extLst>
                        <a:ext uri="{9D8B030D-6E8A-4147-A177-3AD203B41FA5}">
                          <a16:colId xmlns:a16="http://schemas.microsoft.com/office/drawing/2014/main" val="3064989344"/>
                        </a:ext>
                      </a:extLst>
                    </a:gridCol>
                    <a:gridCol w="1624614">
                      <a:extLst>
                        <a:ext uri="{9D8B030D-6E8A-4147-A177-3AD203B41FA5}">
                          <a16:colId xmlns:a16="http://schemas.microsoft.com/office/drawing/2014/main" val="2865956951"/>
                        </a:ext>
                      </a:extLst>
                    </a:gridCol>
                    <a:gridCol w="1981645">
                      <a:extLst>
                        <a:ext uri="{9D8B030D-6E8A-4147-A177-3AD203B41FA5}">
                          <a16:colId xmlns:a16="http://schemas.microsoft.com/office/drawing/2014/main" val="3653299441"/>
                        </a:ext>
                      </a:extLst>
                    </a:gridCol>
                    <a:gridCol w="2881903">
                      <a:extLst>
                        <a:ext uri="{9D8B030D-6E8A-4147-A177-3AD203B41FA5}">
                          <a16:colId xmlns:a16="http://schemas.microsoft.com/office/drawing/2014/main" val="51999189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Planet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Orbital Radius, r, [m]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Orbital Period, T [days]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436" t="-4762" r="-1057" b="-36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2644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Mercury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4382" t="-180328" r="-300749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436" t="-180328" r="-1057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6570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Venus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4382" t="-280328" r="-300749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436" t="-280328" r="-1057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3814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Earth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4382" t="-380328" r="-30074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365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436" t="-380328" r="-1057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01123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Mars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4382" t="-480328" r="-30074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687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436" t="-480328" r="-1057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14867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Jupiter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4382" t="-580328" r="-30074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4333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436" t="-580328" r="-1057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0460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Saturn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4382" t="-680328" r="-30074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10759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436" t="-680328" r="-1057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21441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9FF7EF-95DF-AD03-2690-1BCDE52F5C43}"/>
                  </a:ext>
                </a:extLst>
              </p:cNvPr>
              <p:cNvSpPr txBox="1"/>
              <p:nvPr/>
            </p:nvSpPr>
            <p:spPr>
              <a:xfrm>
                <a:off x="568251" y="4860064"/>
                <a:ext cx="10778622" cy="2169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Kepler noticed that the ratio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almost the same for all the known planets.</a:t>
                </a:r>
              </a:p>
              <a:p>
                <a:pPr marL="285750" indent="-285750"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suggest a proportional relationship: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9FF7EF-95DF-AD03-2690-1BCDE52F5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51" y="4860064"/>
                <a:ext cx="10778622" cy="2169825"/>
              </a:xfrm>
              <a:prstGeom prst="rect">
                <a:avLst/>
              </a:prstGeom>
              <a:blipFill>
                <a:blip r:embed="rId3"/>
                <a:stretch>
                  <a:fillRect l="-735" t="-19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8">
            <a:extLst>
              <a:ext uri="{FF2B5EF4-FFF2-40B4-BE49-F238E27FC236}">
                <a16:creationId xmlns:a16="http://schemas.microsoft.com/office/drawing/2014/main" id="{81543822-5BF6-81F6-D46D-3284A452C70A}"/>
              </a:ext>
            </a:extLst>
          </p:cNvPr>
          <p:cNvSpPr/>
          <p:nvPr/>
        </p:nvSpPr>
        <p:spPr>
          <a:xfrm>
            <a:off x="10216187" y="6139720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670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924CC-CED6-DC3D-2778-2342D14A7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Creating log - log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5991C-BDB0-9201-9E66-9B3717463E82}"/>
              </a:ext>
            </a:extLst>
          </p:cNvPr>
          <p:cNvSpPr txBox="1">
            <a:spLocks/>
          </p:cNvSpPr>
          <p:nvPr/>
        </p:nvSpPr>
        <p:spPr>
          <a:xfrm>
            <a:off x="399587" y="1648958"/>
            <a:ext cx="11155103" cy="52090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The first step is to load the data into MATLAB from a csv file: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Plotting this two arrays on a graph with logarithmic axes plot: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7109D7-A05B-9F83-EEAC-593EC2094E4D}"/>
              </a:ext>
            </a:extLst>
          </p:cNvPr>
          <p:cNvSpPr txBox="1"/>
          <p:nvPr/>
        </p:nvSpPr>
        <p:spPr>
          <a:xfrm>
            <a:off x="637310" y="2388371"/>
            <a:ext cx="8413750" cy="919401"/>
          </a:xfrm>
          <a:prstGeom prst="roundRect">
            <a:avLst>
              <a:gd name="adj" fmla="val 13352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keplers_data = readtable(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"Keplers_data.csv"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);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load csv file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radi =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keplers_data.radius 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access the “radius” column of table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periods =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keplers_data.period 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access the “period” column of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B7458E-3965-7FCB-6219-0A8D362BA3BB}"/>
              </a:ext>
            </a:extLst>
          </p:cNvPr>
          <p:cNvSpPr txBox="1"/>
          <p:nvPr/>
        </p:nvSpPr>
        <p:spPr>
          <a:xfrm>
            <a:off x="637310" y="4675489"/>
            <a:ext cx="8413750" cy="1464231"/>
          </a:xfrm>
          <a:prstGeom prst="roundRect">
            <a:avLst>
              <a:gd name="adj" fmla="val 12504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loglog(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periods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radi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'o'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)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‘o’ marker to use for data points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xlabel(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"Orbital Period [days]"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ylabel(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"Orbital Radius [m]"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title(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"Period and radius of Planets in the solar system"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grid()</a:t>
            </a: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029EB420-2294-EEFB-69C9-2EA3BA9FEE59}"/>
              </a:ext>
            </a:extLst>
          </p:cNvPr>
          <p:cNvSpPr/>
          <p:nvPr/>
        </p:nvSpPr>
        <p:spPr>
          <a:xfrm>
            <a:off x="10216187" y="6139720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3826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2461-6658-99F0-E398-1DEC8BF18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Planetary data on logarithmic axes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DE7BE2-0642-DF40-B694-F7C72ADEE1AB}"/>
              </a:ext>
            </a:extLst>
          </p:cNvPr>
          <p:cNvSpPr txBox="1"/>
          <p:nvPr/>
        </p:nvSpPr>
        <p:spPr>
          <a:xfrm>
            <a:off x="554181" y="1870365"/>
            <a:ext cx="112060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On a logarithmic plot, the data points give an almost straight 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7" descr="Chart, scatter chart&#10;&#10;Description automatically generated">
            <a:extLst>
              <a:ext uri="{FF2B5EF4-FFF2-40B4-BE49-F238E27FC236}">
                <a16:creationId xmlns:a16="http://schemas.microsoft.com/office/drawing/2014/main" id="{8EC76819-DD6B-7589-2668-3A7CC8987A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1180"/>
          <a:stretch/>
        </p:blipFill>
        <p:spPr>
          <a:xfrm>
            <a:off x="3624627" y="2566635"/>
            <a:ext cx="4942745" cy="37508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矩形 8">
            <a:extLst>
              <a:ext uri="{FF2B5EF4-FFF2-40B4-BE49-F238E27FC236}">
                <a16:creationId xmlns:a16="http://schemas.microsoft.com/office/drawing/2014/main" id="{2F9F4DC7-43F8-968F-A233-E60F98D6F4D0}"/>
              </a:ext>
            </a:extLst>
          </p:cNvPr>
          <p:cNvSpPr/>
          <p:nvPr/>
        </p:nvSpPr>
        <p:spPr>
          <a:xfrm>
            <a:off x="10216187" y="6139720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7620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34208-4BDF-E626-F654-629326B7A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Line of best fit via </a:t>
            </a:r>
            <a:r>
              <a:rPr lang="en-GB" dirty="0" err="1">
                <a:solidFill>
                  <a:schemeClr val="tx1"/>
                </a:solidFill>
              </a:rPr>
              <a:t>polyfit</a:t>
            </a:r>
            <a:r>
              <a:rPr lang="en-GB" dirty="0">
                <a:solidFill>
                  <a:schemeClr val="tx1"/>
                </a:solidFill>
              </a:rPr>
              <a:t>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6">
                <a:extLst>
                  <a:ext uri="{FF2B5EF4-FFF2-40B4-BE49-F238E27FC236}">
                    <a16:creationId xmlns:a16="http://schemas.microsoft.com/office/drawing/2014/main" id="{C3DCA25D-130D-65D4-2D12-282BBCA384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7144" y="1600714"/>
                <a:ext cx="9793435" cy="552954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>
                    <a:solidFill>
                      <a:schemeClr val="tx1"/>
                    </a:solidFill>
                  </a:rPr>
                  <a:t>The “</a:t>
                </a:r>
                <a:r>
                  <a:rPr lang="en-GB" dirty="0">
                    <a:latin typeface="Consolas" panose="020B0609020204030204" pitchFamily="49" charset="0"/>
                    <a:hlinkClick r:id="rId2"/>
                  </a:rPr>
                  <a:t>polyfit(</a:t>
                </a:r>
                <a:r>
                  <a:rPr lang="en-GB" dirty="0" err="1">
                    <a:latin typeface="Consolas" panose="020B0609020204030204" pitchFamily="49" charset="0"/>
                    <a:hlinkClick r:id="rId2"/>
                  </a:rPr>
                  <a:t>x,y,n</a:t>
                </a:r>
                <a:r>
                  <a:rPr lang="en-GB" dirty="0">
                    <a:latin typeface="Consolas" panose="020B0609020204030204" pitchFamily="49" charset="0"/>
                    <a:hlinkClick r:id="rId2"/>
                  </a:rPr>
                  <a:t>)</a:t>
                </a:r>
                <a:r>
                  <a:rPr lang="en-GB" dirty="0"/>
                  <a:t>”</a:t>
                </a:r>
                <a:r>
                  <a:rPr lang="en-GB" dirty="0">
                    <a:latin typeface="Consolas" panose="020B0609020204030204" pitchFamily="49" charset="0"/>
                  </a:rPr>
                  <a:t> </a:t>
                </a:r>
                <a:r>
                  <a:rPr lang="en-GB" dirty="0">
                    <a:solidFill>
                      <a:schemeClr val="tx1"/>
                    </a:solidFill>
                  </a:rPr>
                  <a:t>function fits a polynomial of order </a:t>
                </a:r>
                <a:r>
                  <a:rPr lang="en-GB" i="1" dirty="0">
                    <a:solidFill>
                      <a:schemeClr val="tx1"/>
                    </a:solidFill>
                  </a:rPr>
                  <a:t>n</a:t>
                </a:r>
                <a:r>
                  <a:rPr lang="en-GB" dirty="0">
                    <a:solidFill>
                      <a:schemeClr val="tx1"/>
                    </a:solidFill>
                  </a:rPr>
                  <a:t> to a series of </a:t>
                </a:r>
                <a:r>
                  <a:rPr lang="en-GB" i="1" dirty="0">
                    <a:solidFill>
                      <a:schemeClr val="tx1"/>
                    </a:solidFill>
                  </a:rPr>
                  <a:t>x</a:t>
                </a:r>
                <a:r>
                  <a:rPr lang="en-GB" dirty="0">
                    <a:solidFill>
                      <a:schemeClr val="tx1"/>
                    </a:solidFill>
                  </a:rPr>
                  <a:t> and </a:t>
                </a:r>
                <a:r>
                  <a:rPr lang="en-GB" i="1" dirty="0">
                    <a:solidFill>
                      <a:schemeClr val="tx1"/>
                    </a:solidFill>
                  </a:rPr>
                  <a:t>y</a:t>
                </a:r>
                <a:r>
                  <a:rPr lang="en-GB" dirty="0">
                    <a:solidFill>
                      <a:schemeClr val="tx1"/>
                    </a:solidFill>
                  </a:rPr>
                  <a:t> datapoints.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</a:rPr>
                  <a:t>By specifying </a:t>
                </a:r>
                <a:r>
                  <a:rPr lang="en-GB" i="1" dirty="0">
                    <a:solidFill>
                      <a:schemeClr val="tx1"/>
                    </a:solidFill>
                  </a:rPr>
                  <a:t>n</a:t>
                </a:r>
                <a:r>
                  <a:rPr lang="en-GB" dirty="0">
                    <a:solidFill>
                      <a:schemeClr val="tx1"/>
                    </a:solidFill>
                  </a:rPr>
                  <a:t>=1 we can obtain a line of best fit.</a:t>
                </a:r>
              </a:p>
              <a:p>
                <a:r>
                  <a:rPr lang="en-GB" dirty="0">
                    <a:solidFill>
                      <a:schemeClr val="tx1"/>
                    </a:solidFill>
                  </a:rPr>
                  <a:t>Calculate the line of best fit in the form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endParaRPr lang="en-GB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dirty="0"/>
              </a:p>
              <a:p>
                <a:pPr>
                  <a:spcBef>
                    <a:spcPts val="4200"/>
                  </a:spcBef>
                </a:pPr>
                <a:r>
                  <a:rPr lang="en-GB" dirty="0"/>
                  <a:t>Add to plot: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Content Placeholder 6">
                <a:extLst>
                  <a:ext uri="{FF2B5EF4-FFF2-40B4-BE49-F238E27FC236}">
                    <a16:creationId xmlns:a16="http://schemas.microsoft.com/office/drawing/2014/main" id="{C3DCA25D-130D-65D4-2D12-282BBCA38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44" y="1600714"/>
                <a:ext cx="9793435" cy="5529545"/>
              </a:xfrm>
              <a:prstGeom prst="rect">
                <a:avLst/>
              </a:prstGeom>
              <a:blipFill>
                <a:blip r:embed="rId3"/>
                <a:stretch>
                  <a:fillRect l="-809" t="-1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1A450BC-F5F4-3A96-D961-2F5E5B7FEA0C}"/>
              </a:ext>
            </a:extLst>
          </p:cNvPr>
          <p:cNvSpPr txBox="1"/>
          <p:nvPr/>
        </p:nvSpPr>
        <p:spPr>
          <a:xfrm>
            <a:off x="2031421" y="3343930"/>
            <a:ext cx="7886700" cy="1021556"/>
          </a:xfrm>
          <a:prstGeom prst="roundRect">
            <a:avLst>
              <a:gd name="adj" fmla="val 11694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p = 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polyfit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(log(periods), log(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radi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), 1)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line of best fit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m = p(1)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slope is stored as first element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c = p(2)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y-intercept is stored as second element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2D119E-E506-DD4A-0FEF-77CF3A463E15}"/>
              </a:ext>
            </a:extLst>
          </p:cNvPr>
          <p:cNvSpPr txBox="1"/>
          <p:nvPr/>
        </p:nvSpPr>
        <p:spPr>
          <a:xfrm>
            <a:off x="2152650" y="4930627"/>
            <a:ext cx="7886700" cy="1634490"/>
          </a:xfrm>
          <a:prstGeom prst="roundRect">
            <a:avLst>
              <a:gd name="adj" fmla="val 9208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x_pts = [min(periods), max(periods)]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range to plot a line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line_pts = m.*log(x_pts) + c;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evaluate the line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hold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on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add to existing plot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plot(x_pts, exp(line_pts))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legend(["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Kepler’s data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", “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Line of best fit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"])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D79D63DE-89A1-1B92-F3F3-A4CB2CAD2820}"/>
              </a:ext>
            </a:extLst>
          </p:cNvPr>
          <p:cNvSpPr/>
          <p:nvPr/>
        </p:nvSpPr>
        <p:spPr>
          <a:xfrm>
            <a:off x="10216187" y="6139720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4555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B9018-158E-3C7D-FC48-AEE111D3A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Line of best fit through Kepler’s data </a:t>
            </a:r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49008986-8D1B-A0AC-37CB-82CF5A440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798" y="1690583"/>
            <a:ext cx="6178404" cy="46338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矩形 8">
            <a:extLst>
              <a:ext uri="{FF2B5EF4-FFF2-40B4-BE49-F238E27FC236}">
                <a16:creationId xmlns:a16="http://schemas.microsoft.com/office/drawing/2014/main" id="{DA694B15-5494-A762-4373-FCE6EA0D07DB}"/>
              </a:ext>
            </a:extLst>
          </p:cNvPr>
          <p:cNvSpPr/>
          <p:nvPr/>
        </p:nvSpPr>
        <p:spPr>
          <a:xfrm>
            <a:off x="10216187" y="6139720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233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0041C-7BF6-2F98-2405-771C1253A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Uranus and Neptune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C590252-39D5-BD3D-AD61-DB810CB29D49}"/>
              </a:ext>
            </a:extLst>
          </p:cNvPr>
          <p:cNvSpPr txBox="1">
            <a:spLocks/>
          </p:cNvSpPr>
          <p:nvPr/>
        </p:nvSpPr>
        <p:spPr>
          <a:xfrm>
            <a:off x="251692" y="1422400"/>
            <a:ext cx="10531761" cy="503107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Uranus and Neptune were discovered later</a:t>
            </a:r>
          </a:p>
          <a:p>
            <a:pPr>
              <a:spcBef>
                <a:spcPts val="12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GB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Using the Line of best fit to predict radius of Uranus and Neptune: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This provides the predicted radius values in the table.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Extremely good predictions.</a:t>
            </a:r>
          </a:p>
          <a:p>
            <a:pPr>
              <a:spcBef>
                <a:spcPts val="12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7">
                <a:extLst>
                  <a:ext uri="{FF2B5EF4-FFF2-40B4-BE49-F238E27FC236}">
                    <a16:creationId xmlns:a16="http://schemas.microsoft.com/office/drawing/2014/main" id="{CACED9FD-1EBE-FFF4-C78D-019B7A4BC75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72835708"/>
                  </p:ext>
                </p:extLst>
              </p:nvPr>
            </p:nvGraphicFramePr>
            <p:xfrm>
              <a:off x="1408547" y="1865294"/>
              <a:ext cx="9148617" cy="14459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4368">
                      <a:extLst>
                        <a:ext uri="{9D8B030D-6E8A-4147-A177-3AD203B41FA5}">
                          <a16:colId xmlns:a16="http://schemas.microsoft.com/office/drawing/2014/main" val="3064989344"/>
                        </a:ext>
                      </a:extLst>
                    </a:gridCol>
                    <a:gridCol w="1989572">
                      <a:extLst>
                        <a:ext uri="{9D8B030D-6E8A-4147-A177-3AD203B41FA5}">
                          <a16:colId xmlns:a16="http://schemas.microsoft.com/office/drawing/2014/main" val="2865956951"/>
                        </a:ext>
                      </a:extLst>
                    </a:gridCol>
                    <a:gridCol w="2153236">
                      <a:extLst>
                        <a:ext uri="{9D8B030D-6E8A-4147-A177-3AD203B41FA5}">
                          <a16:colId xmlns:a16="http://schemas.microsoft.com/office/drawing/2014/main" val="3653299441"/>
                        </a:ext>
                      </a:extLst>
                    </a:gridCol>
                    <a:gridCol w="3201441">
                      <a:extLst>
                        <a:ext uri="{9D8B030D-6E8A-4147-A177-3AD203B41FA5}">
                          <a16:colId xmlns:a16="http://schemas.microsoft.com/office/drawing/2014/main" val="519991894"/>
                        </a:ext>
                      </a:extLst>
                    </a:gridCol>
                  </a:tblGrid>
                  <a:tr h="6698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Planet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Orbital Radius, r, [m]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Orbital Period, T [days]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u="sng" dirty="0"/>
                            <a:t>Predicted radius via line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2644639"/>
                      </a:ext>
                    </a:extLst>
                  </a:tr>
                  <a:tr h="388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Uranus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fontAlgn="b" latinLnBrk="0" hangingPunct="1"/>
                          <a:r>
                            <a:rPr lang="en-GB" sz="1350" kern="1200" dirty="0">
                              <a:solidFill>
                                <a:schemeClr val="dk1"/>
                              </a:solidFill>
                            </a:rPr>
                            <a:t>2.87</a:t>
                          </a:r>
                          <a14:m>
                            <m:oMath xmlns:m="http://schemas.openxmlformats.org/officeDocument/2006/math">
                              <m:r>
                                <a:rPr lang="en-GB" b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b="0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p>
                            </m:oMath>
                          </a14:m>
                          <a:endParaRPr lang="en-GB" sz="135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fontAlgn="b" latinLnBrk="0" hangingPunct="1"/>
                          <a:r>
                            <a:rPr lang="en-GB" sz="1350" kern="1200" dirty="0">
                              <a:solidFill>
                                <a:schemeClr val="dk1"/>
                              </a:solidFill>
                            </a:rPr>
                            <a:t>30687</a:t>
                          </a:r>
                          <a:endParaRPr lang="en-GB" sz="135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2.85</a:t>
                          </a:r>
                          <a14:m>
                            <m:oMath xmlns:m="http://schemas.openxmlformats.org/officeDocument/2006/math">
                              <m:r>
                                <a:rPr lang="en-GB" b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b="0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6657077"/>
                      </a:ext>
                    </a:extLst>
                  </a:tr>
                  <a:tr h="388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Neptune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fontAlgn="b" latinLnBrk="0" hangingPunct="1"/>
                          <a:r>
                            <a:rPr lang="en-GB" sz="1350" kern="1200" dirty="0">
                              <a:solidFill>
                                <a:schemeClr val="dk1"/>
                              </a:solidFill>
                            </a:rPr>
                            <a:t>4.50</a:t>
                          </a:r>
                          <a14:m>
                            <m:oMath xmlns:m="http://schemas.openxmlformats.org/officeDocument/2006/math">
                              <m:r>
                                <a:rPr lang="en-GB" b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b="0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p>
                            </m:oMath>
                          </a14:m>
                          <a:endParaRPr lang="en-GB" sz="135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fontAlgn="b" latinLnBrk="0" hangingPunct="1"/>
                          <a:r>
                            <a:rPr lang="en-GB" sz="1350" kern="1200" dirty="0">
                              <a:solidFill>
                                <a:schemeClr val="dk1"/>
                              </a:solidFill>
                            </a:rPr>
                            <a:t>60190</a:t>
                          </a:r>
                          <a:endParaRPr lang="en-GB" sz="135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4.47</a:t>
                          </a:r>
                          <a14:m>
                            <m:oMath xmlns:m="http://schemas.openxmlformats.org/officeDocument/2006/math">
                              <m:r>
                                <a:rPr lang="en-GB" b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GB" b="0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p>
                            </m:oMath>
                          </a14:m>
                          <a:endParaRPr lang="en-GB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043814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7">
                <a:extLst>
                  <a:ext uri="{FF2B5EF4-FFF2-40B4-BE49-F238E27FC236}">
                    <a16:creationId xmlns:a16="http://schemas.microsoft.com/office/drawing/2014/main" id="{CACED9FD-1EBE-FFF4-C78D-019B7A4BC75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72835708"/>
                  </p:ext>
                </p:extLst>
              </p:nvPr>
            </p:nvGraphicFramePr>
            <p:xfrm>
              <a:off x="1408547" y="1865294"/>
              <a:ext cx="9148617" cy="14459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4368">
                      <a:extLst>
                        <a:ext uri="{9D8B030D-6E8A-4147-A177-3AD203B41FA5}">
                          <a16:colId xmlns:a16="http://schemas.microsoft.com/office/drawing/2014/main" val="3064989344"/>
                        </a:ext>
                      </a:extLst>
                    </a:gridCol>
                    <a:gridCol w="1989572">
                      <a:extLst>
                        <a:ext uri="{9D8B030D-6E8A-4147-A177-3AD203B41FA5}">
                          <a16:colId xmlns:a16="http://schemas.microsoft.com/office/drawing/2014/main" val="2865956951"/>
                        </a:ext>
                      </a:extLst>
                    </a:gridCol>
                    <a:gridCol w="2153236">
                      <a:extLst>
                        <a:ext uri="{9D8B030D-6E8A-4147-A177-3AD203B41FA5}">
                          <a16:colId xmlns:a16="http://schemas.microsoft.com/office/drawing/2014/main" val="3653299441"/>
                        </a:ext>
                      </a:extLst>
                    </a:gridCol>
                    <a:gridCol w="3201441">
                      <a:extLst>
                        <a:ext uri="{9D8B030D-6E8A-4147-A177-3AD203B41FA5}">
                          <a16:colId xmlns:a16="http://schemas.microsoft.com/office/drawing/2014/main" val="519991894"/>
                        </a:ext>
                      </a:extLst>
                    </a:gridCol>
                  </a:tblGrid>
                  <a:tr h="6698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Planet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Orbital Radius, r, [m]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Orbital Period, T [days]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u="sng" dirty="0"/>
                            <a:t>Predicted radius via line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2644639"/>
                      </a:ext>
                    </a:extLst>
                  </a:tr>
                  <a:tr h="388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Uranus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blipFill>
                          <a:blip r:embed="rId2"/>
                          <a:stretch>
                            <a:fillRect l="-91104" t="-176563" r="-270859" b="-126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fontAlgn="b" latinLnBrk="0" hangingPunct="1"/>
                          <a:r>
                            <a:rPr lang="en-GB" sz="1350" kern="1200" dirty="0">
                              <a:solidFill>
                                <a:schemeClr val="dk1"/>
                              </a:solidFill>
                            </a:rPr>
                            <a:t>30687</a:t>
                          </a:r>
                          <a:endParaRPr lang="en-GB" sz="135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6095" t="-176563" r="-762" b="-1265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657077"/>
                      </a:ext>
                    </a:extLst>
                  </a:tr>
                  <a:tr h="388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Neptune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blipFill>
                          <a:blip r:embed="rId2"/>
                          <a:stretch>
                            <a:fillRect l="-91104" t="-276563" r="-270859" b="-26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fontAlgn="b" latinLnBrk="0" hangingPunct="1"/>
                          <a:r>
                            <a:rPr lang="en-GB" sz="1350" kern="1200" dirty="0">
                              <a:solidFill>
                                <a:schemeClr val="dk1"/>
                              </a:solidFill>
                            </a:rPr>
                            <a:t>60190</a:t>
                          </a:r>
                          <a:endParaRPr lang="en-GB" sz="135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6095" t="-276563" r="-762" b="-265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3814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D391584-9056-302C-D7CF-60F4F2FC462B}"/>
              </a:ext>
            </a:extLst>
          </p:cNvPr>
          <p:cNvSpPr txBox="1"/>
          <p:nvPr/>
        </p:nvSpPr>
        <p:spPr>
          <a:xfrm>
            <a:off x="1408547" y="3962951"/>
            <a:ext cx="9148617" cy="919401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x_pts2 = [30687, 60190]; 	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periods of Uranus and Neptune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line_pts2 = m.*log(x_pts2) + c; 	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lines prediction for log(R)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predicted_periods = exp(line_pts2)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predicted radius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65ED279-784F-ED93-5656-B34CB77C276D}"/>
              </a:ext>
            </a:extLst>
          </p:cNvPr>
          <p:cNvSpPr/>
          <p:nvPr/>
        </p:nvSpPr>
        <p:spPr>
          <a:xfrm>
            <a:off x="10216187" y="6139720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349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ADBC1-61BA-87D1-0D44-0CE161508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7369205" cy="888786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Plotting modern data for Uranus and Neptune</a:t>
            </a:r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18ADF95D-16F7-2204-A466-073B98F7C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236" y="1658346"/>
            <a:ext cx="6502059" cy="48765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矩形 8">
            <a:extLst>
              <a:ext uri="{FF2B5EF4-FFF2-40B4-BE49-F238E27FC236}">
                <a16:creationId xmlns:a16="http://schemas.microsoft.com/office/drawing/2014/main" id="{DFC02F9E-6F2C-3087-7E76-0144AD7CBFD4}"/>
              </a:ext>
            </a:extLst>
          </p:cNvPr>
          <p:cNvSpPr/>
          <p:nvPr/>
        </p:nvSpPr>
        <p:spPr>
          <a:xfrm>
            <a:off x="10216187" y="6139720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1299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EC5F80-B770-4724-8D4B-5978BB5CBA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EA0B66-0A62-4679-A055-2E5FA8D7743D}">
  <ds:schemaRefs>
    <ds:schemaRef ds:uri="http://purl.org/dc/dcmitype/"/>
    <ds:schemaRef ds:uri="dfc159fb-6789-415c-9027-b0bc58ba83c2"/>
    <ds:schemaRef ds:uri="http://schemas.microsoft.com/office/infopath/2007/PartnerControls"/>
    <ds:schemaRef ds:uri="http://purl.org/dc/elements/1.1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1cc9bed8-8410-44eb-bf25-ca1ea4636418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C8F53E8-ADD5-47EE-80FA-75D7C8F26FC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1850</TotalTime>
  <Words>725</Words>
  <Application>Microsoft Office PowerPoint</Application>
  <PresentationFormat>Widescreen</PresentationFormat>
  <Paragraphs>119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Consolas</vt:lpstr>
      <vt:lpstr>Times New Roman</vt:lpstr>
      <vt:lpstr>Office Theme</vt:lpstr>
      <vt:lpstr>Case Study: Kepler’s Third Law</vt:lpstr>
      <vt:lpstr>Introduction</vt:lpstr>
      <vt:lpstr>Kepler's planetary data from 1618</vt:lpstr>
      <vt:lpstr>Creating log - log plot</vt:lpstr>
      <vt:lpstr>Planetary data on logarithmic axes</vt:lpstr>
      <vt:lpstr>Line of best fit via polyfit function</vt:lpstr>
      <vt:lpstr>Line of best fit through Kepler’s data </vt:lpstr>
      <vt:lpstr>Uranus and Neptune</vt:lpstr>
      <vt:lpstr>Plotting modern data for Uranus and Neptune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Yushi Liu (PGR)</cp:lastModifiedBy>
  <cp:revision>78</cp:revision>
  <dcterms:created xsi:type="dcterms:W3CDTF">2021-01-06T14:22:07Z</dcterms:created>
  <dcterms:modified xsi:type="dcterms:W3CDTF">2024-06-23T01:50:51Z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