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A51D5-DE96-4FDE-A518-E95B865BE751}" v="7" dt="2024-06-14T18:32:46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FB9A51D5-DE96-4FDE-A518-E95B865BE751}"/>
    <pc:docChg chg="modSld">
      <pc:chgData name="Yushi Liu (PGR)" userId="S::2109741l@student.gla.ac.uk::0738f1d2-bd1d-4f8b-945a-b877be0bfefb" providerId="AD" clId="Web-{FB9A51D5-DE96-4FDE-A518-E95B865BE751}" dt="2024-06-14T18:32:46.386" v="6" actId="1076"/>
      <pc:docMkLst>
        <pc:docMk/>
      </pc:docMkLst>
      <pc:sldChg chg="modSp">
        <pc:chgData name="Yushi Liu (PGR)" userId="S::2109741l@student.gla.ac.uk::0738f1d2-bd1d-4f8b-945a-b877be0bfefb" providerId="AD" clId="Web-{FB9A51D5-DE96-4FDE-A518-E95B865BE751}" dt="2024-06-14T18:32:37.432" v="5" actId="1076"/>
        <pc:sldMkLst>
          <pc:docMk/>
          <pc:sldMk cId="2925224590" sldId="497"/>
        </pc:sldMkLst>
        <pc:spChg chg="mod">
          <ac:chgData name="Yushi Liu (PGR)" userId="S::2109741l@student.gla.ac.uk::0738f1d2-bd1d-4f8b-945a-b877be0bfefb" providerId="AD" clId="Web-{FB9A51D5-DE96-4FDE-A518-E95B865BE751}" dt="2024-06-14T18:32:37.432" v="5" actId="1076"/>
          <ac:spMkLst>
            <pc:docMk/>
            <pc:sldMk cId="2925224590" sldId="497"/>
            <ac:spMk id="6" creationId="{CD777C88-4E0B-6531-5DEF-4C829E4470B1}"/>
          </ac:spMkLst>
        </pc:spChg>
      </pc:sldChg>
      <pc:sldChg chg="modSp addAnim modAnim">
        <pc:chgData name="Yushi Liu (PGR)" userId="S::2109741l@student.gla.ac.uk::0738f1d2-bd1d-4f8b-945a-b877be0bfefb" providerId="AD" clId="Web-{FB9A51D5-DE96-4FDE-A518-E95B865BE751}" dt="2024-06-14T18:32:46.386" v="6" actId="1076"/>
        <pc:sldMkLst>
          <pc:docMk/>
          <pc:sldMk cId="2861270256" sldId="498"/>
        </pc:sldMkLst>
        <pc:spChg chg="mod">
          <ac:chgData name="Yushi Liu (PGR)" userId="S::2109741l@student.gla.ac.uk::0738f1d2-bd1d-4f8b-945a-b877be0bfefb" providerId="AD" clId="Web-{FB9A51D5-DE96-4FDE-A518-E95B865BE751}" dt="2024-06-14T18:32:46.386" v="6" actId="1076"/>
          <ac:spMkLst>
            <pc:docMk/>
            <pc:sldMk cId="2861270256" sldId="498"/>
            <ac:spMk id="11" creationId="{9397BA88-EBDF-BD57-A89D-453D143DA8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matlab/ref/surf.html" TargetMode="External"/><Relationship Id="rId2" Type="http://schemas.openxmlformats.org/officeDocument/2006/relationships/hyperlink" Target="https://uk.mathworks.com/help/matlab/ref/mesh.html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Anonymous Functions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Anonymous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E5945A-23F1-3B50-4D73-A9E6FB132EF8}"/>
              </a:ext>
            </a:extLst>
          </p:cNvPr>
          <p:cNvSpPr txBox="1">
            <a:spLocks/>
          </p:cNvSpPr>
          <p:nvPr/>
        </p:nvSpPr>
        <p:spPr>
          <a:xfrm>
            <a:off x="0" y="1758420"/>
            <a:ext cx="11291455" cy="49471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20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 Accept multiple input arguments and return one value.</a:t>
            </a:r>
          </a:p>
          <a:p>
            <a:pPr indent="0">
              <a:spcBef>
                <a:spcPts val="20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 Contain one expression, the result of which is returned as the output of the function (no output is explicitly defined).</a:t>
            </a:r>
          </a:p>
          <a:p>
            <a:pPr indent="0">
              <a:spcBef>
                <a:spcPts val="20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 Can be defined at any point in a script.</a:t>
            </a:r>
          </a:p>
          <a:p>
            <a:pPr indent="0">
              <a:spcBef>
                <a:spcPts val="20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 Anonymous functions are MATLAB functions that are defined "Inline" as opposed to in a separate file or at the bottom of a script.</a:t>
            </a:r>
          </a:p>
          <a:p>
            <a:pPr indent="0">
              <a:spcBef>
                <a:spcPts val="20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Can be used as function handles (function pointers).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D7C8-5D50-A17D-2EB0-37AE7A30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Anonymous functions</a:t>
            </a: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B2823-4A73-4E66-12FB-A10403D917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0233" y="1422400"/>
                <a:ext cx="12192000" cy="568194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342900"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Anonymous functions take the form:</a:t>
                </a:r>
              </a:p>
              <a:p>
                <a:pPr indent="0">
                  <a:spcBef>
                    <a:spcPts val="1200"/>
                  </a:spcBef>
                  <a:buNone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0">
                  <a:spcBef>
                    <a:spcPts val="1200"/>
                  </a:spcBef>
                  <a:buNone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0">
                  <a:spcBef>
                    <a:spcPts val="1200"/>
                  </a:spcBef>
                  <a:buNone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indent="0">
                  <a:spcBef>
                    <a:spcPts val="1200"/>
                  </a:spcBef>
                  <a:buNone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342900"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function takes two inputs and returns the result of: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+</m:t>
                        </m:r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342900"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input arguments are specified in </a:t>
                </a:r>
                <a:r>
                  <a:rPr lang="en-GB" sz="2400" u="sng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paratheses 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 "</a:t>
                </a:r>
                <a:r>
                  <a:rPr lang="en-GB" sz="2400" dirty="0">
                    <a:solidFill>
                      <a:schemeClr val="tx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@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" symbol.</a:t>
                </a:r>
              </a:p>
              <a:p>
                <a:pPr marL="514350" indent="-342900"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 the inputs comes the function body which is an expression whose result will be returned.</a:t>
                </a:r>
              </a:p>
              <a:p>
                <a:pPr marL="514350" indent="-342900"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equal sign and left-hand side are there to bind the anonymous function to a variable.</a:t>
                </a:r>
              </a:p>
              <a:p>
                <a:pPr lvl="2"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variable is a function handle.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B2823-4A73-4E66-12FB-A10403D91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33" y="1422400"/>
                <a:ext cx="12192000" cy="5681945"/>
              </a:xfrm>
              <a:prstGeom prst="rect">
                <a:avLst/>
              </a:prstGeom>
              <a:blipFill>
                <a:blip r:embed="rId2"/>
                <a:stretch>
                  <a:fillRect t="-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white rectangular sign with green text&#10;&#10;Description automatically generated">
            <a:extLst>
              <a:ext uri="{FF2B5EF4-FFF2-40B4-BE49-F238E27FC236}">
                <a16:creationId xmlns:a16="http://schemas.microsoft.com/office/drawing/2014/main" id="{FF1523E9-9DF1-C497-9DA1-12BD73B12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94" y="2045081"/>
            <a:ext cx="8514698" cy="1043734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B929A173-5169-841E-9051-D4FAEE3739B2}"/>
              </a:ext>
            </a:extLst>
          </p:cNvPr>
          <p:cNvSpPr/>
          <p:nvPr/>
        </p:nvSpPr>
        <p:spPr>
          <a:xfrm rot="16200000">
            <a:off x="2080328" y="2709960"/>
            <a:ext cx="323143" cy="583099"/>
          </a:xfrm>
          <a:prstGeom prst="leftBrace">
            <a:avLst/>
          </a:prstGeom>
          <a:noFill/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/>
        </p:spPr>
        <p:txBody>
          <a:bodyPr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2E367D-91D5-711D-B238-8E3389942B3B}"/>
              </a:ext>
            </a:extLst>
          </p:cNvPr>
          <p:cNvSpPr txBox="1"/>
          <p:nvPr/>
        </p:nvSpPr>
        <p:spPr>
          <a:xfrm>
            <a:off x="1373732" y="3213076"/>
            <a:ext cx="171072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rgbClr val="70AD47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CE725BAE-54EB-284A-5050-5E99DE7D86B4}"/>
              </a:ext>
            </a:extLst>
          </p:cNvPr>
          <p:cNvSpPr/>
          <p:nvPr/>
        </p:nvSpPr>
        <p:spPr>
          <a:xfrm rot="16200000">
            <a:off x="3524012" y="2100744"/>
            <a:ext cx="358835" cy="1839178"/>
          </a:xfrm>
          <a:prstGeom prst="leftBrace">
            <a:avLst/>
          </a:prstGeom>
          <a:noFill/>
          <a:ln w="25400" cap="flat" cmpd="sng" algn="ctr">
            <a:solidFill>
              <a:srgbClr val="ED7D31">
                <a:lumMod val="75000"/>
              </a:srgbClr>
            </a:solidFill>
            <a:prstDash val="solid"/>
            <a:miter lim="800000"/>
          </a:ln>
          <a:effectLst/>
        </p:spPr>
        <p:txBody>
          <a:bodyPr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52881-20DB-6D1C-9942-6E1F167FB6E3}"/>
              </a:ext>
            </a:extLst>
          </p:cNvPr>
          <p:cNvSpPr txBox="1"/>
          <p:nvPr/>
        </p:nvSpPr>
        <p:spPr>
          <a:xfrm>
            <a:off x="2934081" y="3206347"/>
            <a:ext cx="185178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rgbClr val="ED7D31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arguments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7A43019B-99FE-7962-751D-09F70A1253A5}"/>
              </a:ext>
            </a:extLst>
          </p:cNvPr>
          <p:cNvSpPr/>
          <p:nvPr/>
        </p:nvSpPr>
        <p:spPr>
          <a:xfrm rot="16200000">
            <a:off x="6083809" y="1496649"/>
            <a:ext cx="324067" cy="3029985"/>
          </a:xfrm>
          <a:prstGeom prst="leftBrace">
            <a:avLst/>
          </a:prstGeom>
          <a:noFill/>
          <a:ln w="2540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4AE03-BEEF-EF98-2623-C96F9DDC0A9A}"/>
              </a:ext>
            </a:extLst>
          </p:cNvPr>
          <p:cNvSpPr txBox="1"/>
          <p:nvPr/>
        </p:nvSpPr>
        <p:spPr>
          <a:xfrm>
            <a:off x="5448418" y="3214502"/>
            <a:ext cx="26703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rgbClr val="4472C4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body</a:t>
            </a:r>
          </a:p>
        </p:txBody>
      </p:sp>
      <p:sp>
        <p:nvSpPr>
          <p:cNvPr id="20" name="矩形 8">
            <a:extLst>
              <a:ext uri="{FF2B5EF4-FFF2-40B4-BE49-F238E27FC236}">
                <a16:creationId xmlns:a16="http://schemas.microsoft.com/office/drawing/2014/main" id="{DE85B879-BA4E-4061-29CE-41978A557A98}"/>
              </a:ext>
            </a:extLst>
          </p:cNvPr>
          <p:cNvSpPr/>
          <p:nvPr/>
        </p:nvSpPr>
        <p:spPr>
          <a:xfrm>
            <a:off x="10391163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77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27AF-54D8-838A-9936-5B23FA02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Calling anonymous functions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7E31-1ACF-C826-95E3-EA905646938B}"/>
              </a:ext>
            </a:extLst>
          </p:cNvPr>
          <p:cNvSpPr txBox="1">
            <a:spLocks/>
          </p:cNvSpPr>
          <p:nvPr/>
        </p:nvSpPr>
        <p:spPr>
          <a:xfrm>
            <a:off x="334050" y="1577170"/>
            <a:ext cx="9687029" cy="28058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After an anonymous function is bound to a variable, it can be called like any other MATLAB function:</a:t>
            </a:r>
          </a:p>
          <a:p>
            <a:pPr>
              <a:spcBef>
                <a:spcPts val="1200"/>
              </a:spcBef>
            </a:pPr>
            <a:endParaRPr lang="en-GB" dirty="0">
              <a:cs typeface="Times New Roman"/>
            </a:endParaRPr>
          </a:p>
        </p:txBody>
      </p:sp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FAF82CC-E6CE-C0B3-0E12-6AED0D591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8" y="2563421"/>
            <a:ext cx="10430494" cy="13571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CD777C88-4E0B-6531-5DEF-4C829E4470B1}"/>
              </a:ext>
            </a:extLst>
          </p:cNvPr>
          <p:cNvSpPr/>
          <p:nvPr/>
        </p:nvSpPr>
        <p:spPr>
          <a:xfrm>
            <a:off x="10395218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C10F9B-BBBB-630A-4B62-35C8EDD2A230}"/>
              </a:ext>
            </a:extLst>
          </p:cNvPr>
          <p:cNvSpPr txBox="1">
            <a:spLocks/>
          </p:cNvSpPr>
          <p:nvPr/>
        </p:nvSpPr>
        <p:spPr>
          <a:xfrm>
            <a:off x="334050" y="4317995"/>
            <a:ext cx="11291892" cy="28058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The anonymous is stored as a variable and can be found in the Workspace.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Since anonymous functions contain only one expression, they are best suited to simple mathematical functions.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Useful when a specific expression needs to be repeated over and over within the same script.</a:t>
            </a:r>
          </a:p>
          <a:p>
            <a:pPr>
              <a:spcBef>
                <a:spcPts val="1200"/>
              </a:spcBef>
            </a:pPr>
            <a:endParaRPr lang="en-GB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522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5CBC-8B78-A502-C292-78E66CDA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695776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Passing anonymous functions to other functions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1296-7367-16CE-83B0-1D6F8159F5ED}"/>
              </a:ext>
            </a:extLst>
          </p:cNvPr>
          <p:cNvSpPr txBox="1">
            <a:spLocks/>
          </p:cNvSpPr>
          <p:nvPr/>
        </p:nvSpPr>
        <p:spPr>
          <a:xfrm>
            <a:off x="338931" y="1681555"/>
            <a:ext cx="10053473" cy="2834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The function handle variable, can be passed into another function as an argument.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For example, a function that takes the input function ("</a:t>
            </a:r>
            <a:r>
              <a:rPr lang="en-GB" dirty="0" err="1">
                <a:solidFill>
                  <a:schemeClr val="tx1"/>
                </a:solidFill>
                <a:latin typeface="Consolas"/>
                <a:cs typeface="Times New Roman"/>
              </a:rPr>
              <a:t>func</a:t>
            </a:r>
            <a:r>
              <a:rPr lang="en-GB" dirty="0">
                <a:solidFill>
                  <a:schemeClr val="tx1"/>
                </a:solidFill>
                <a:cs typeface="Times New Roman"/>
              </a:rPr>
              <a:t>") and applies it to every element of the input 1 dimensional array ("</a:t>
            </a:r>
            <a:r>
              <a:rPr lang="en-GB" dirty="0" err="1">
                <a:solidFill>
                  <a:schemeClr val="tx1"/>
                </a:solidFill>
                <a:latin typeface="Consolas"/>
                <a:ea typeface="+mn-lt"/>
                <a:cs typeface="+mn-lt"/>
              </a:rPr>
              <a:t>vecIn</a:t>
            </a:r>
            <a:r>
              <a:rPr lang="en-GB" dirty="0">
                <a:solidFill>
                  <a:schemeClr val="tx1"/>
                </a:solidFill>
                <a:cs typeface="Times New Roman"/>
              </a:rPr>
              <a:t>"):</a:t>
            </a:r>
          </a:p>
          <a:p>
            <a:pPr marL="457200" lvl="1" indent="0">
              <a:spcBef>
                <a:spcPts val="1200"/>
              </a:spcBef>
              <a:buNone/>
            </a:pPr>
            <a:endParaRPr lang="en-GB" sz="2100" dirty="0">
              <a:cs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4E92A2-2C0F-7BEE-8B26-3697348ACBD9}"/>
              </a:ext>
            </a:extLst>
          </p:cNvPr>
          <p:cNvSpPr/>
          <p:nvPr/>
        </p:nvSpPr>
        <p:spPr>
          <a:xfrm>
            <a:off x="772019" y="3316104"/>
            <a:ext cx="9631695" cy="1591408"/>
          </a:xfrm>
          <a:prstGeom prst="roundRect">
            <a:avLst>
              <a:gd name="adj" fmla="val 10037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function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vecOut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applyToVec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func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   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vecOut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zeros(1,length(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));	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/>
                <a:ea typeface="+mn-lt"/>
                <a:cs typeface="Times New Roman"/>
              </a:rPr>
              <a:t>% initialise output vector 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    for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=1:1:length(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       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vecOut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func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vecIn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));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    end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E00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9397BA88-EBDF-BD57-A89D-453D143DA8BC}"/>
              </a:ext>
            </a:extLst>
          </p:cNvPr>
          <p:cNvSpPr/>
          <p:nvPr/>
        </p:nvSpPr>
        <p:spPr>
          <a:xfrm>
            <a:off x="10392404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452697-A0DE-E5FE-2B4E-3B9C651CB541}"/>
              </a:ext>
            </a:extLst>
          </p:cNvPr>
          <p:cNvSpPr txBox="1">
            <a:spLocks/>
          </p:cNvSpPr>
          <p:nvPr/>
        </p:nvSpPr>
        <p:spPr>
          <a:xfrm>
            <a:off x="338931" y="5082045"/>
            <a:ext cx="11607645" cy="5381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Here the </a:t>
            </a:r>
            <a:r>
              <a:rPr lang="en-GB" dirty="0" err="1">
                <a:solidFill>
                  <a:schemeClr val="tx1"/>
                </a:solidFill>
                <a:latin typeface="Consolas"/>
                <a:cs typeface="Times New Roman"/>
              </a:rPr>
              <a:t>func</a:t>
            </a:r>
            <a:r>
              <a:rPr lang="en-GB" i="1" dirty="0">
                <a:solidFill>
                  <a:schemeClr val="tx1"/>
                </a:solidFill>
                <a:latin typeface="Consolas"/>
                <a:cs typeface="Times New Roman"/>
              </a:rPr>
              <a:t> </a:t>
            </a:r>
            <a:r>
              <a:rPr lang="en-GB" dirty="0">
                <a:solidFill>
                  <a:schemeClr val="tx1"/>
                </a:solidFill>
              </a:rPr>
              <a:t>argument should be a function handle to a function that should be applied to every element of the input vector.</a:t>
            </a:r>
          </a:p>
        </p:txBody>
      </p:sp>
    </p:spTree>
    <p:extLst>
      <p:ext uri="{BB962C8B-B14F-4D97-AF65-F5344CB8AC3E}">
        <p14:creationId xmlns:p14="http://schemas.microsoft.com/office/powerpoint/2010/main" val="286127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B100-62C5-4388-BC75-B77BDD527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Exercise: Anonymous functions</a:t>
            </a: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8031C6-1A64-259B-05D0-5E2EB0E608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247" y="1661232"/>
                <a:ext cx="10951505" cy="519676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  <a:cs typeface="Times New Roman"/>
                  </a:rPr>
                  <a:t>To test your understanding of anonymous functions, try:</a:t>
                </a: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  <a:cs typeface="Times New Roman"/>
                  </a:rPr>
                  <a:t>Write an anonymous function that takes as input two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  <a:cs typeface="Times New Roman"/>
                  </a:rPr>
                  <a:t> and outputs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sSubSup>
                      <m:sSubSup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Sup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bSup>
                      <m:sSubSup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)∗</m:t>
                    </m:r>
                    <m:func>
                      <m:func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cos</m:t>
                        </m:r>
                      </m:fName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(2</m:t>
                        </m:r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</m:t>
                        </m:r>
                      </m:e>
                    </m:func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∗</m:t>
                    </m:r>
                    <m:func>
                      <m:func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si</m:t>
                        </m:r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fName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(2</m:t>
                        </m:r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  <a:cs typeface="Times New Roman"/>
                </a:endParaRP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</a:rPr>
                  <a:t>Apply the anonymous function to a matrix representing a grid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coordinates between (-2, -2) and (2, 2).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GB" dirty="0">
                    <a:solidFill>
                      <a:schemeClr val="tx1"/>
                    </a:solidFill>
                  </a:rPr>
                  <a:t>Use a resolution of 0.1 or less.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GB" dirty="0">
                    <a:solidFill>
                      <a:schemeClr val="tx1"/>
                    </a:solidFill>
                  </a:rPr>
                  <a:t>Tip to generate the grid use the </a:t>
                </a:r>
                <a:r>
                  <a:rPr lang="en-GB" dirty="0">
                    <a:hlinkClick r:id="rId2"/>
                  </a:rPr>
                  <a:t>meshgrid</a:t>
                </a:r>
                <a:r>
                  <a:rPr lang="en-GB" dirty="0"/>
                  <a:t> </a:t>
                </a:r>
                <a:r>
                  <a:rPr lang="en-GB" dirty="0">
                    <a:solidFill>
                      <a:schemeClr val="tx1"/>
                    </a:solidFill>
                  </a:rPr>
                  <a:t>function.</a:t>
                </a: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AutoNum type="arabicPeriod"/>
                </a:pPr>
                <a:r>
                  <a:rPr lang="en-GB" dirty="0">
                    <a:solidFill>
                      <a:schemeClr val="tx1"/>
                    </a:solidFill>
                  </a:rPr>
                  <a:t>Plot the value of the anonymous function as a 3-dimensional surface plot using the </a:t>
                </a:r>
                <a:r>
                  <a:rPr lang="en-GB" dirty="0">
                    <a:hlinkClick r:id="rId3"/>
                  </a:rPr>
                  <a:t>surf</a:t>
                </a:r>
                <a:r>
                  <a:rPr lang="en-GB" dirty="0"/>
                  <a:t> </a:t>
                </a:r>
                <a:r>
                  <a:rPr lang="en-GB" dirty="0">
                    <a:solidFill>
                      <a:schemeClr val="tx1"/>
                    </a:solidFill>
                  </a:rPr>
                  <a:t>function.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98031C6-1A64-259B-05D0-5E2EB0E60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7" y="1661232"/>
                <a:ext cx="10951505" cy="5196768"/>
              </a:xfrm>
              <a:prstGeom prst="rect">
                <a:avLst/>
              </a:prstGeom>
              <a:blipFill>
                <a:blip r:embed="rId4"/>
                <a:stretch>
                  <a:fillRect l="-891" t="-1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26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9582-93AF-0C8C-71E2-F97C87003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630462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cs typeface="Times New Roman"/>
              </a:rPr>
              <a:t>Exercise: Anonymous functions solution plot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61ED-B64D-9535-8A70-E893C1196EFC}"/>
              </a:ext>
            </a:extLst>
          </p:cNvPr>
          <p:cNvSpPr txBox="1">
            <a:spLocks/>
          </p:cNvSpPr>
          <p:nvPr/>
        </p:nvSpPr>
        <p:spPr>
          <a:xfrm>
            <a:off x="540727" y="1771195"/>
            <a:ext cx="7886700" cy="55295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  <a:cs typeface="Times New Roman"/>
              </a:rPr>
              <a:t>The plot resulting from this exercise should look like:</a:t>
            </a:r>
          </a:p>
          <a:p>
            <a:endParaRPr lang="en-GB" dirty="0">
              <a:cs typeface="Times New Roman"/>
            </a:endParaRPr>
          </a:p>
        </p:txBody>
      </p:sp>
      <p:pic>
        <p:nvPicPr>
          <p:cNvPr id="4" name="Picture 3" descr="A graph of a waveform&#10;&#10;Description automatically generated with medium confidence">
            <a:extLst>
              <a:ext uri="{FF2B5EF4-FFF2-40B4-BE49-F238E27FC236}">
                <a16:creationId xmlns:a16="http://schemas.microsoft.com/office/drawing/2014/main" id="{5F885140-CC38-F3FA-ED97-4325E5F79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870" y="2449575"/>
            <a:ext cx="5166414" cy="38748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917B1-791D-667D-6510-9A8095C4E059}"/>
              </a:ext>
            </a:extLst>
          </p:cNvPr>
          <p:cNvSpPr txBox="1"/>
          <p:nvPr/>
        </p:nvSpPr>
        <p:spPr>
          <a:xfrm>
            <a:off x="7971920" y="5439319"/>
            <a:ext cx="269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Answers in live scripts. </a:t>
            </a:r>
          </a:p>
        </p:txBody>
      </p:sp>
    </p:spTree>
    <p:extLst>
      <p:ext uri="{BB962C8B-B14F-4D97-AF65-F5344CB8AC3E}">
        <p14:creationId xmlns:p14="http://schemas.microsoft.com/office/powerpoint/2010/main" val="1714145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515</Words>
  <Application>Microsoft Office PowerPoint</Application>
  <PresentationFormat>Widescreen</PresentationFormat>
  <Paragraphs>57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Consolas</vt:lpstr>
      <vt:lpstr>Times New Roman</vt:lpstr>
      <vt:lpstr>Office Theme</vt:lpstr>
      <vt:lpstr>Anonymous Functions</vt:lpstr>
      <vt:lpstr>Anonymous functions</vt:lpstr>
      <vt:lpstr>Anonymous functions</vt:lpstr>
      <vt:lpstr>Calling anonymous functions</vt:lpstr>
      <vt:lpstr>Passing anonymous functions to other functions</vt:lpstr>
      <vt:lpstr>Exercise: Anonymous functions</vt:lpstr>
      <vt:lpstr>Exercise: Anonymous functions solution plot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76</cp:revision>
  <dcterms:created xsi:type="dcterms:W3CDTF">2021-01-06T14:22:07Z</dcterms:created>
  <dcterms:modified xsi:type="dcterms:W3CDTF">2024-06-25T09:17:20Z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