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6E2F2-8171-4235-8138-3F5E56C21736}" v="10" dt="2024-06-14T18:42:17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04" y="1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5866E2F2-8171-4235-8138-3F5E56C21736}"/>
    <pc:docChg chg="modSld">
      <pc:chgData name="Yushi Liu (PGR)" userId="S::2109741l@student.gla.ac.uk::0738f1d2-bd1d-4f8b-945a-b877be0bfefb" providerId="AD" clId="Web-{5866E2F2-8171-4235-8138-3F5E56C21736}" dt="2024-06-14T18:42:17.890" v="9"/>
      <pc:docMkLst>
        <pc:docMk/>
      </pc:docMkLst>
      <pc:sldChg chg="addSp delSp">
        <pc:chgData name="Yushi Liu (PGR)" userId="S::2109741l@student.gla.ac.uk::0738f1d2-bd1d-4f8b-945a-b877be0bfefb" providerId="AD" clId="Web-{5866E2F2-8171-4235-8138-3F5E56C21736}" dt="2024-06-14T18:42:05.655" v="1"/>
        <pc:sldMkLst>
          <pc:docMk/>
          <pc:sldMk cId="1617827724" sldId="497"/>
        </pc:sldMkLst>
        <pc:spChg chg="add">
          <ac:chgData name="Yushi Liu (PGR)" userId="S::2109741l@student.gla.ac.uk::0738f1d2-bd1d-4f8b-945a-b877be0bfefb" providerId="AD" clId="Web-{5866E2F2-8171-4235-8138-3F5E56C21736}" dt="2024-06-14T18:42:05.655" v="1"/>
          <ac:spMkLst>
            <pc:docMk/>
            <pc:sldMk cId="1617827724" sldId="497"/>
            <ac:spMk id="7" creationId="{AC7EF01A-E5E7-6710-C776-19E468885CDF}"/>
          </ac:spMkLst>
        </pc:spChg>
        <pc:spChg chg="del">
          <ac:chgData name="Yushi Liu (PGR)" userId="S::2109741l@student.gla.ac.uk::0738f1d2-bd1d-4f8b-945a-b877be0bfefb" providerId="AD" clId="Web-{5866E2F2-8171-4235-8138-3F5E56C21736}" dt="2024-06-14T18:42:05.467" v="0"/>
          <ac:spMkLst>
            <pc:docMk/>
            <pc:sldMk cId="1617827724" sldId="497"/>
            <ac:spMk id="15" creationId="{FE75867E-7892-D5BE-66BE-17134ACCE610}"/>
          </ac:spMkLst>
        </pc:spChg>
      </pc:sldChg>
      <pc:sldChg chg="addSp delSp">
        <pc:chgData name="Yushi Liu (PGR)" userId="S::2109741l@student.gla.ac.uk::0738f1d2-bd1d-4f8b-945a-b877be0bfefb" providerId="AD" clId="Web-{5866E2F2-8171-4235-8138-3F5E56C21736}" dt="2024-06-14T18:42:08.436" v="3"/>
        <pc:sldMkLst>
          <pc:docMk/>
          <pc:sldMk cId="3509253060" sldId="498"/>
        </pc:sldMkLst>
        <pc:spChg chg="add">
          <ac:chgData name="Yushi Liu (PGR)" userId="S::2109741l@student.gla.ac.uk::0738f1d2-bd1d-4f8b-945a-b877be0bfefb" providerId="AD" clId="Web-{5866E2F2-8171-4235-8138-3F5E56C21736}" dt="2024-06-14T18:42:08.436" v="3"/>
          <ac:spMkLst>
            <pc:docMk/>
            <pc:sldMk cId="3509253060" sldId="498"/>
            <ac:spMk id="5" creationId="{A93E332A-E4AD-6ED2-0416-95733A3DB5FE}"/>
          </ac:spMkLst>
        </pc:spChg>
        <pc:spChg chg="del">
          <ac:chgData name="Yushi Liu (PGR)" userId="S::2109741l@student.gla.ac.uk::0738f1d2-bd1d-4f8b-945a-b877be0bfefb" providerId="AD" clId="Web-{5866E2F2-8171-4235-8138-3F5E56C21736}" dt="2024-06-14T18:42:08.249" v="2"/>
          <ac:spMkLst>
            <pc:docMk/>
            <pc:sldMk cId="3509253060" sldId="498"/>
            <ac:spMk id="42" creationId="{0170F4C8-F880-03FA-E555-3B09BBF8A831}"/>
          </ac:spMkLst>
        </pc:spChg>
      </pc:sldChg>
      <pc:sldChg chg="addSp delSp">
        <pc:chgData name="Yushi Liu (PGR)" userId="S::2109741l@student.gla.ac.uk::0738f1d2-bd1d-4f8b-945a-b877be0bfefb" providerId="AD" clId="Web-{5866E2F2-8171-4235-8138-3F5E56C21736}" dt="2024-06-14T18:42:11.749" v="5"/>
        <pc:sldMkLst>
          <pc:docMk/>
          <pc:sldMk cId="4260883340" sldId="499"/>
        </pc:sldMkLst>
        <pc:spChg chg="add">
          <ac:chgData name="Yushi Liu (PGR)" userId="S::2109741l@student.gla.ac.uk::0738f1d2-bd1d-4f8b-945a-b877be0bfefb" providerId="AD" clId="Web-{5866E2F2-8171-4235-8138-3F5E56C21736}" dt="2024-06-14T18:42:11.749" v="5"/>
          <ac:spMkLst>
            <pc:docMk/>
            <pc:sldMk cId="4260883340" sldId="499"/>
            <ac:spMk id="5" creationId="{ADEC0D3F-9000-41F8-6B18-4580304962F1}"/>
          </ac:spMkLst>
        </pc:spChg>
        <pc:spChg chg="del">
          <ac:chgData name="Yushi Liu (PGR)" userId="S::2109741l@student.gla.ac.uk::0738f1d2-bd1d-4f8b-945a-b877be0bfefb" providerId="AD" clId="Web-{5866E2F2-8171-4235-8138-3F5E56C21736}" dt="2024-06-14T18:42:11.592" v="4"/>
          <ac:spMkLst>
            <pc:docMk/>
            <pc:sldMk cId="4260883340" sldId="499"/>
            <ac:spMk id="14" creationId="{9EC4F603-0E91-E76C-0B1E-947C4682F11A}"/>
          </ac:spMkLst>
        </pc:spChg>
      </pc:sldChg>
      <pc:sldChg chg="addSp delSp">
        <pc:chgData name="Yushi Liu (PGR)" userId="S::2109741l@student.gla.ac.uk::0738f1d2-bd1d-4f8b-945a-b877be0bfefb" providerId="AD" clId="Web-{5866E2F2-8171-4235-8138-3F5E56C21736}" dt="2024-06-14T18:42:15.233" v="7"/>
        <pc:sldMkLst>
          <pc:docMk/>
          <pc:sldMk cId="3908054038" sldId="500"/>
        </pc:sldMkLst>
        <pc:spChg chg="add">
          <ac:chgData name="Yushi Liu (PGR)" userId="S::2109741l@student.gla.ac.uk::0738f1d2-bd1d-4f8b-945a-b877be0bfefb" providerId="AD" clId="Web-{5866E2F2-8171-4235-8138-3F5E56C21736}" dt="2024-06-14T18:42:15.233" v="7"/>
          <ac:spMkLst>
            <pc:docMk/>
            <pc:sldMk cId="3908054038" sldId="500"/>
            <ac:spMk id="5" creationId="{811812E6-A3FB-644A-220E-F1DB5450E368}"/>
          </ac:spMkLst>
        </pc:spChg>
        <pc:spChg chg="del">
          <ac:chgData name="Yushi Liu (PGR)" userId="S::2109741l@student.gla.ac.uk::0738f1d2-bd1d-4f8b-945a-b877be0bfefb" providerId="AD" clId="Web-{5866E2F2-8171-4235-8138-3F5E56C21736}" dt="2024-06-14T18:42:15.030" v="6"/>
          <ac:spMkLst>
            <pc:docMk/>
            <pc:sldMk cId="3908054038" sldId="500"/>
            <ac:spMk id="13" creationId="{E0E90A8B-EC3B-C745-6DD7-3D7DA5B0F339}"/>
          </ac:spMkLst>
        </pc:spChg>
      </pc:sldChg>
      <pc:sldChg chg="addSp delSp">
        <pc:chgData name="Yushi Liu (PGR)" userId="S::2109741l@student.gla.ac.uk::0738f1d2-bd1d-4f8b-945a-b877be0bfefb" providerId="AD" clId="Web-{5866E2F2-8171-4235-8138-3F5E56C21736}" dt="2024-06-14T18:42:17.890" v="9"/>
        <pc:sldMkLst>
          <pc:docMk/>
          <pc:sldMk cId="1046392960" sldId="501"/>
        </pc:sldMkLst>
        <pc:spChg chg="add">
          <ac:chgData name="Yushi Liu (PGR)" userId="S::2109741l@student.gla.ac.uk::0738f1d2-bd1d-4f8b-945a-b877be0bfefb" providerId="AD" clId="Web-{5866E2F2-8171-4235-8138-3F5E56C21736}" dt="2024-06-14T18:42:17.890" v="9"/>
          <ac:spMkLst>
            <pc:docMk/>
            <pc:sldMk cId="1046392960" sldId="501"/>
            <ac:spMk id="6" creationId="{E67A289F-8D21-4CEF-2162-348385B819BB}"/>
          </ac:spMkLst>
        </pc:spChg>
        <pc:spChg chg="del">
          <ac:chgData name="Yushi Liu (PGR)" userId="S::2109741l@student.gla.ac.uk::0738f1d2-bd1d-4f8b-945a-b877be0bfefb" providerId="AD" clId="Web-{5866E2F2-8171-4235-8138-3F5E56C21736}" dt="2024-06-14T18:42:17.686" v="8"/>
          <ac:spMkLst>
            <pc:docMk/>
            <pc:sldMk cId="1046392960" sldId="501"/>
            <ac:spMk id="13" creationId="{7D947700-519D-2C66-6A1B-8CA9C05489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9658927" cy="752765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chemeClr val="tx1"/>
                </a:solidFill>
              </a:rPr>
              <a:t>Conditionals and Program Control in MATLAB Programming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Professor Bo Liu</a:t>
            </a:r>
          </a:p>
          <a:p>
            <a:r>
              <a:rPr lang="en-GB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/>
              <a:t>Conditional execution	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F841392-F01E-F13F-33D3-B311FD587F05}"/>
              </a:ext>
            </a:extLst>
          </p:cNvPr>
          <p:cNvSpPr txBox="1">
            <a:spLocks/>
          </p:cNvSpPr>
          <p:nvPr/>
        </p:nvSpPr>
        <p:spPr>
          <a:xfrm>
            <a:off x="431801" y="1507809"/>
            <a:ext cx="9699027" cy="25571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600" dirty="0">
                <a:solidFill>
                  <a:schemeClr val="tx1"/>
                </a:solidFill>
              </a:rPr>
              <a:t>If statements allows conditions that if met (true), execute specific lines of code.</a:t>
            </a:r>
          </a:p>
          <a:p>
            <a:pPr>
              <a:spcBef>
                <a:spcPts val="1200"/>
              </a:spcBef>
            </a:pPr>
            <a:r>
              <a:rPr lang="en-GB" sz="2600" dirty="0">
                <a:solidFill>
                  <a:schemeClr val="tx1"/>
                </a:solidFill>
              </a:rPr>
              <a:t>If statements take the form:</a:t>
            </a:r>
            <a:endParaRPr lang="en-GB" dirty="0">
              <a:solidFill>
                <a:schemeClr val="tx1"/>
              </a:solidFill>
              <a:latin typeface="Menlo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52709-2E91-70E3-BAA9-51A441526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54" y="3089619"/>
            <a:ext cx="3779848" cy="1060796"/>
          </a:xfrm>
          <a:prstGeom prst="rect">
            <a:avLst/>
          </a:prstGeom>
        </p:spPr>
      </p:pic>
      <p:sp>
        <p:nvSpPr>
          <p:cNvPr id="7" name="矩形 8">
            <a:extLst>
              <a:ext uri="{FF2B5EF4-FFF2-40B4-BE49-F238E27FC236}">
                <a16:creationId xmlns:a16="http://schemas.microsoft.com/office/drawing/2014/main" id="{CC822B8E-D7F4-E2FB-8FC2-8E2ED3DDFA7B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686B02-8473-A666-6CE4-BCF56A09B475}"/>
              </a:ext>
            </a:extLst>
          </p:cNvPr>
          <p:cNvSpPr txBox="1">
            <a:spLocks/>
          </p:cNvSpPr>
          <p:nvPr/>
        </p:nvSpPr>
        <p:spPr>
          <a:xfrm>
            <a:off x="431801" y="4693120"/>
            <a:ext cx="11328398" cy="53501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600" dirty="0">
                <a:solidFill>
                  <a:schemeClr val="tx1"/>
                </a:solidFill>
              </a:rPr>
              <a:t>Here “</a:t>
            </a:r>
            <a:r>
              <a:rPr lang="en-GB" sz="2600" dirty="0">
                <a:solidFill>
                  <a:schemeClr val="tx1"/>
                </a:solidFill>
                <a:latin typeface="Consolas" panose="020B0609020204030204" pitchFamily="49" charset="0"/>
              </a:rPr>
              <a:t>condition</a:t>
            </a:r>
            <a:r>
              <a:rPr lang="en-GB" sz="2600" dirty="0">
                <a:solidFill>
                  <a:schemeClr val="tx1"/>
                </a:solidFill>
              </a:rPr>
              <a:t>”</a:t>
            </a:r>
            <a:r>
              <a:rPr lang="en-GB" i="1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is a variable whose value should be either true or false.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Any numeric datatype can be evaluated as true or false.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The number 0 evaluates as false and everything else evaluates as true.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Menlo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5956-8ACD-15CE-28B5-C64C5FF6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of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16C8-7322-199B-58A1-0ABC11DFF78A}"/>
              </a:ext>
            </a:extLst>
          </p:cNvPr>
          <p:cNvSpPr txBox="1">
            <a:spLocks/>
          </p:cNvSpPr>
          <p:nvPr/>
        </p:nvSpPr>
        <p:spPr>
          <a:xfrm>
            <a:off x="415636" y="1671844"/>
            <a:ext cx="11344563" cy="54852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After running the following code, what will the value of “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a</a:t>
            </a:r>
            <a:r>
              <a:rPr lang="en-GB" dirty="0">
                <a:solidFill>
                  <a:schemeClr val="tx1"/>
                </a:solidFill>
              </a:rPr>
              <a:t>” be?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pPr marL="342900" lvl="1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The final value “</a:t>
            </a:r>
            <a:r>
              <a:rPr lang="en-GB" i="1" dirty="0">
                <a:solidFill>
                  <a:schemeClr val="tx1"/>
                </a:solidFill>
              </a:rPr>
              <a:t>a</a:t>
            </a:r>
            <a:r>
              <a:rPr lang="en-GB" dirty="0">
                <a:solidFill>
                  <a:schemeClr val="tx1"/>
                </a:solidFill>
              </a:rPr>
              <a:t>” is false as the second if statement is never executed.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D6AC55-890F-5FB4-6EEB-9931A541AEE1}"/>
              </a:ext>
            </a:extLst>
          </p:cNvPr>
          <p:cNvSpPr txBox="1"/>
          <p:nvPr/>
        </p:nvSpPr>
        <p:spPr>
          <a:xfrm>
            <a:off x="3847857" y="2261167"/>
            <a:ext cx="4150278" cy="3230404"/>
          </a:xfrm>
          <a:prstGeom prst="roundRect">
            <a:avLst>
              <a:gd name="adj" fmla="val 5269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 true;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a = false;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a = true;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8C125CD-2D9C-627E-2FF4-242D2E41DF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514" t="224"/>
          <a:stretch/>
        </p:blipFill>
        <p:spPr>
          <a:xfrm>
            <a:off x="5852941" y="2338442"/>
            <a:ext cx="2001992" cy="2471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560224-DFD7-4560-1E14-174C3225996C}"/>
              </a:ext>
            </a:extLst>
          </p:cNvPr>
          <p:cNvCxnSpPr>
            <a:cxnSpLocks/>
          </p:cNvCxnSpPr>
          <p:nvPr/>
        </p:nvCxnSpPr>
        <p:spPr>
          <a:xfrm>
            <a:off x="3525912" y="4633057"/>
            <a:ext cx="280027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138C06B-2C3F-E9E2-37FB-F7827A2DA7F7}"/>
              </a:ext>
            </a:extLst>
          </p:cNvPr>
          <p:cNvSpPr txBox="1"/>
          <p:nvPr/>
        </p:nvSpPr>
        <p:spPr>
          <a:xfrm>
            <a:off x="1281147" y="4362435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This is not true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9770A6-A988-6DA1-E589-52D08D0E6C20}"/>
              </a:ext>
            </a:extLst>
          </p:cNvPr>
          <p:cNvCxnSpPr>
            <a:cxnSpLocks/>
          </p:cNvCxnSpPr>
          <p:nvPr/>
        </p:nvCxnSpPr>
        <p:spPr>
          <a:xfrm>
            <a:off x="3443861" y="4948822"/>
            <a:ext cx="1335119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7ADFA5E-8209-6206-80E9-680022C53796}"/>
              </a:ext>
            </a:extLst>
          </p:cNvPr>
          <p:cNvSpPr txBox="1"/>
          <p:nvPr/>
        </p:nvSpPr>
        <p:spPr>
          <a:xfrm>
            <a:off x="1540814" y="4744078"/>
            <a:ext cx="2016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This is never executed</a:t>
            </a:r>
          </a:p>
        </p:txBody>
      </p:sp>
      <p:sp>
        <p:nvSpPr>
          <p:cNvPr id="41" name="矩形 8">
            <a:extLst>
              <a:ext uri="{FF2B5EF4-FFF2-40B4-BE49-F238E27FC236}">
                <a16:creationId xmlns:a16="http://schemas.microsoft.com/office/drawing/2014/main" id="{7CD18B00-9290-FFA5-91A5-80A05147032F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28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E733-3535-A3DE-8024-F268F4C0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Inline condition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2A7B-2D10-B3D8-6824-B07FF328B13A}"/>
              </a:ext>
            </a:extLst>
          </p:cNvPr>
          <p:cNvSpPr txBox="1">
            <a:spLocks/>
          </p:cNvSpPr>
          <p:nvPr/>
        </p:nvSpPr>
        <p:spPr>
          <a:xfrm>
            <a:off x="642331" y="1766894"/>
            <a:ext cx="10773814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It is common to evaluate the condition inline in the if statement.</a:t>
            </a:r>
          </a:p>
          <a:p>
            <a:r>
              <a:rPr lang="en-GB" dirty="0">
                <a:solidFill>
                  <a:schemeClr val="tx1"/>
                </a:solidFill>
              </a:rPr>
              <a:t>An expression can be evaluated as true or false using the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==</a:t>
            </a:r>
            <a:r>
              <a:rPr lang="en-GB" dirty="0">
                <a:solidFill>
                  <a:schemeClr val="tx1"/>
                </a:solidFill>
              </a:rPr>
              <a:t> operator.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More commonly variables will be used to evaluate the condition.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486E8-0834-F561-EBDA-9C7974E99FBC}"/>
              </a:ext>
            </a:extLst>
          </p:cNvPr>
          <p:cNvSpPr txBox="1"/>
          <p:nvPr/>
        </p:nvSpPr>
        <p:spPr>
          <a:xfrm>
            <a:off x="6467728" y="2918222"/>
            <a:ext cx="4108354" cy="1021556"/>
          </a:xfrm>
          <a:prstGeom prst="roundRect">
            <a:avLst>
              <a:gd name="adj" fmla="val 13224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10 == 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someFunction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89955A-48D6-52AA-767E-9EE0DC63F454}"/>
              </a:ext>
            </a:extLst>
          </p:cNvPr>
          <p:cNvCxnSpPr>
            <a:cxnSpLocks/>
          </p:cNvCxnSpPr>
          <p:nvPr/>
        </p:nvCxnSpPr>
        <p:spPr>
          <a:xfrm flipV="1">
            <a:off x="5815973" y="3157914"/>
            <a:ext cx="560054" cy="6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A13EE4-1833-42B9-5CF1-8D729A368A21}"/>
              </a:ext>
            </a:extLst>
          </p:cNvPr>
          <p:cNvSpPr txBox="1"/>
          <p:nvPr/>
        </p:nvSpPr>
        <p:spPr>
          <a:xfrm>
            <a:off x="3103419" y="2918222"/>
            <a:ext cx="2992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This is always true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99FF83-D781-6FF7-33FA-2704BDEA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28" y="5087710"/>
            <a:ext cx="4121253" cy="106079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8CF176-8E81-5164-58A7-0C47F435E7DB}"/>
              </a:ext>
            </a:extLst>
          </p:cNvPr>
          <p:cNvCxnSpPr>
            <a:cxnSpLocks/>
          </p:cNvCxnSpPr>
          <p:nvPr/>
        </p:nvCxnSpPr>
        <p:spPr>
          <a:xfrm flipV="1">
            <a:off x="5754918" y="5328540"/>
            <a:ext cx="560054" cy="6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7EE58A-CCE0-E707-8B37-10387BA235B1}"/>
              </a:ext>
            </a:extLst>
          </p:cNvPr>
          <p:cNvSpPr txBox="1"/>
          <p:nvPr/>
        </p:nvSpPr>
        <p:spPr>
          <a:xfrm>
            <a:off x="1603019" y="5164978"/>
            <a:ext cx="4075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n-GB" dirty="0"/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true if “a” is equal to “b”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AC7EF01A-E5E7-6710-C776-19E468885CDF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2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2005-1ABE-81FE-DF4C-3901F2A8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elseif statements</a:t>
            </a:r>
            <a:br>
              <a:rPr lang="en-GB" dirty="0"/>
            </a:b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E9BE81-BD7B-F273-5678-CEE81587D1DB}"/>
              </a:ext>
            </a:extLst>
          </p:cNvPr>
          <p:cNvSpPr txBox="1">
            <a:spLocks/>
          </p:cNvSpPr>
          <p:nvPr/>
        </p:nvSpPr>
        <p:spPr>
          <a:xfrm>
            <a:off x="692858" y="1542935"/>
            <a:ext cx="9881590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It is possible to chain if statements together such that if the first condition is false, then and only then will a second if statement be evaluated.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FDFB84-7900-59B6-9FFE-2313DFA65DEF}"/>
              </a:ext>
            </a:extLst>
          </p:cNvPr>
          <p:cNvCxnSpPr>
            <a:cxnSpLocks/>
          </p:cNvCxnSpPr>
          <p:nvPr/>
        </p:nvCxnSpPr>
        <p:spPr>
          <a:xfrm>
            <a:off x="5317607" y="3155923"/>
            <a:ext cx="5758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982DFE-C797-7798-EC0F-FD39CE2166EB}"/>
              </a:ext>
            </a:extLst>
          </p:cNvPr>
          <p:cNvSpPr txBox="1"/>
          <p:nvPr/>
        </p:nvSpPr>
        <p:spPr>
          <a:xfrm>
            <a:off x="692858" y="3005911"/>
            <a:ext cx="4624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Only evaluated if “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” is not equal to “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EDC45-D479-ECB4-06C0-DBE3EAAD6BE6}"/>
              </a:ext>
            </a:extLst>
          </p:cNvPr>
          <p:cNvSpPr txBox="1"/>
          <p:nvPr/>
        </p:nvSpPr>
        <p:spPr>
          <a:xfrm>
            <a:off x="692858" y="5209774"/>
            <a:ext cx="467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MATLAB will only check the second condition if the first is not true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AEB6B4-A166-C582-05AD-5997745F041C}"/>
              </a:ext>
            </a:extLst>
          </p:cNvPr>
          <p:cNvCxnSpPr>
            <a:cxnSpLocks/>
          </p:cNvCxnSpPr>
          <p:nvPr/>
        </p:nvCxnSpPr>
        <p:spPr>
          <a:xfrm>
            <a:off x="5317607" y="5561128"/>
            <a:ext cx="575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B849BBF-D884-0138-3B0E-276C66924114}"/>
              </a:ext>
            </a:extLst>
          </p:cNvPr>
          <p:cNvSpPr txBox="1"/>
          <p:nvPr/>
        </p:nvSpPr>
        <p:spPr>
          <a:xfrm>
            <a:off x="6096000" y="2380242"/>
            <a:ext cx="4053123" cy="1634490"/>
          </a:xfrm>
          <a:prstGeom prst="roundRect">
            <a:avLst>
              <a:gd name="adj" fmla="val 10750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someFunction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elseif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a == 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otherFunction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93D773-35CA-970C-9149-EDBE88081890}"/>
              </a:ext>
            </a:extLst>
          </p:cNvPr>
          <p:cNvSpPr txBox="1"/>
          <p:nvPr/>
        </p:nvSpPr>
        <p:spPr>
          <a:xfrm>
            <a:off x="6096001" y="4465958"/>
            <a:ext cx="4053123" cy="1940957"/>
          </a:xfrm>
          <a:prstGeom prst="roundRect">
            <a:avLst>
              <a:gd name="adj" fmla="val 1032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 5;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	"a is 7"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	"a is 5"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A93E332A-E4AD-6ED2-0416-95733A3DB5FE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25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4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B52C-7399-971C-A657-12F627AD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D91AE-61CE-A696-1521-23E14DF2D2FF}"/>
              </a:ext>
            </a:extLst>
          </p:cNvPr>
          <p:cNvSpPr txBox="1">
            <a:spLocks/>
          </p:cNvSpPr>
          <p:nvPr/>
        </p:nvSpPr>
        <p:spPr>
          <a:xfrm>
            <a:off x="530460" y="1634836"/>
            <a:ext cx="9685728" cy="49821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MATLAB has an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else </a:t>
            </a:r>
            <a:r>
              <a:rPr lang="en-GB" dirty="0">
                <a:solidFill>
                  <a:schemeClr val="tx1"/>
                </a:solidFill>
              </a:rPr>
              <a:t>that executes if none of the associated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and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elseif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statements are true.</a:t>
            </a:r>
          </a:p>
          <a:p>
            <a:endParaRPr lang="en-GB" dirty="0">
              <a:solidFill>
                <a:schemeClr val="tx1"/>
              </a:solidFill>
              <a:latin typeface="+mj-lt"/>
            </a:endParaRPr>
          </a:p>
          <a:p>
            <a:endParaRPr lang="en-GB" dirty="0">
              <a:solidFill>
                <a:schemeClr val="tx1"/>
              </a:solidFill>
              <a:latin typeface="+mj-lt"/>
            </a:endParaRPr>
          </a:p>
          <a:p>
            <a:endParaRPr lang="en-GB" dirty="0">
              <a:solidFill>
                <a:schemeClr val="tx1"/>
              </a:solidFill>
              <a:latin typeface="+mj-lt"/>
            </a:endParaRPr>
          </a:p>
          <a:p>
            <a:endParaRPr lang="en-GB" dirty="0">
              <a:solidFill>
                <a:schemeClr val="tx1"/>
              </a:solidFill>
              <a:latin typeface="+mj-lt"/>
            </a:endParaRPr>
          </a:p>
          <a:p>
            <a:endParaRPr lang="en-GB" dirty="0">
              <a:solidFill>
                <a:schemeClr val="tx1"/>
              </a:solidFill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+mj-lt"/>
            </a:endParaRPr>
          </a:p>
          <a:p>
            <a:r>
              <a:rPr lang="en-GB" dirty="0">
                <a:solidFill>
                  <a:schemeClr val="tx1"/>
                </a:solidFill>
              </a:rPr>
              <a:t>An if statement can have one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statement, as many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elseif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statements as you like, and one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statement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8910B-C074-8E74-3CDC-EFEBFC3D0D14}"/>
              </a:ext>
            </a:extLst>
          </p:cNvPr>
          <p:cNvSpPr txBox="1"/>
          <p:nvPr/>
        </p:nvSpPr>
        <p:spPr>
          <a:xfrm>
            <a:off x="6539345" y="2533961"/>
            <a:ext cx="3965331" cy="2109907"/>
          </a:xfrm>
          <a:prstGeom prst="roundRect">
            <a:avLst>
              <a:gd name="adj" fmla="val 7669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someFunction();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elseif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a == 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otherFunction();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otherOtherFunction();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9E3BD1-3BDF-7222-AD94-C2B7839F0DDA}"/>
              </a:ext>
            </a:extLst>
          </p:cNvPr>
          <p:cNvCxnSpPr>
            <a:cxnSpLocks/>
          </p:cNvCxnSpPr>
          <p:nvPr/>
        </p:nvCxnSpPr>
        <p:spPr>
          <a:xfrm>
            <a:off x="6342964" y="4120162"/>
            <a:ext cx="1049413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49B3AF-5CFD-9E69-090D-3CB09A5BB77E}"/>
              </a:ext>
            </a:extLst>
          </p:cNvPr>
          <p:cNvSpPr txBox="1"/>
          <p:nvPr/>
        </p:nvSpPr>
        <p:spPr>
          <a:xfrm>
            <a:off x="849114" y="3889329"/>
            <a:ext cx="581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Executes if a is not equal to “</a:t>
            </a:r>
            <a:r>
              <a:rPr lang="en-GB" sz="24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” or to “</a:t>
            </a:r>
            <a:r>
              <a:rPr lang="en-GB" sz="24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ADEC0D3F-9000-41F8-6B18-4580304962F1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88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B1E7-8791-8C4C-ACC0-FEE483F2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Multiple inline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6AA4-43B2-7E34-9BBD-B9831966C539}"/>
              </a:ext>
            </a:extLst>
          </p:cNvPr>
          <p:cNvSpPr txBox="1">
            <a:spLocks/>
          </p:cNvSpPr>
          <p:nvPr/>
        </p:nvSpPr>
        <p:spPr>
          <a:xfrm>
            <a:off x="681103" y="1709680"/>
            <a:ext cx="10829794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MATLAB allows “and” and “or” logic when evaluating expressions.</a:t>
            </a:r>
          </a:p>
          <a:p>
            <a:r>
              <a:rPr lang="en-GB" dirty="0">
                <a:solidFill>
                  <a:schemeClr val="tx1"/>
                </a:solidFill>
              </a:rPr>
              <a:t>Separating two expressions with an ampersand (&amp;) means that the condition will only be true if both expressions are true.</a:t>
            </a:r>
          </a:p>
          <a:p>
            <a:r>
              <a:rPr lang="en-GB" dirty="0">
                <a:solidFill>
                  <a:schemeClr val="tx1"/>
                </a:solidFill>
              </a:rPr>
              <a:t>Separating two expressions with a vertical bar (|) means that the condition will evaluate as true if either expression is true.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E2C93-ED16-4054-EC26-FC4511792C1F}"/>
              </a:ext>
            </a:extLst>
          </p:cNvPr>
          <p:cNvSpPr txBox="1"/>
          <p:nvPr/>
        </p:nvSpPr>
        <p:spPr>
          <a:xfrm>
            <a:off x="6082146" y="3963675"/>
            <a:ext cx="3943349" cy="1021556"/>
          </a:xfrm>
          <a:prstGeom prst="roundRect">
            <a:avLst>
              <a:gd name="adj" fmla="val 14085"/>
            </a:avLst>
          </a:prstGeom>
          <a:solidFill>
            <a:sysClr val="window" lastClr="FFFFFF">
              <a:lumMod val="95000"/>
            </a:sysClr>
          </a:solidFill>
          <a:ln>
            <a:solidFill>
              <a:srgbClr val="44546A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b | c == 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someFunction();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96E34-54BD-0C4B-D2AB-7C9D5CBB7AD0}"/>
              </a:ext>
            </a:extLst>
          </p:cNvPr>
          <p:cNvSpPr txBox="1"/>
          <p:nvPr/>
        </p:nvSpPr>
        <p:spPr>
          <a:xfrm>
            <a:off x="2138798" y="3963675"/>
            <a:ext cx="3749918" cy="1021556"/>
          </a:xfrm>
          <a:prstGeom prst="roundRect">
            <a:avLst>
              <a:gd name="adj" fmla="val 11503"/>
            </a:avLst>
          </a:prstGeom>
          <a:solidFill>
            <a:sysClr val="window" lastClr="FFFFFF">
              <a:lumMod val="95000"/>
            </a:sysClr>
          </a:solidFill>
          <a:ln>
            <a:solidFill>
              <a:srgbClr val="44546A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b &amp; c == 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someFunction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64A95-AA49-8B0C-B031-440FB4F66994}"/>
              </a:ext>
            </a:extLst>
          </p:cNvPr>
          <p:cNvSpPr txBox="1"/>
          <p:nvPr/>
        </p:nvSpPr>
        <p:spPr>
          <a:xfrm>
            <a:off x="2138796" y="5010857"/>
            <a:ext cx="3440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executed only if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is equal to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is equal to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26752-1406-3CB5-17F9-E7B7A464DBD7}"/>
              </a:ext>
            </a:extLst>
          </p:cNvPr>
          <p:cNvSpPr txBox="1"/>
          <p:nvPr/>
        </p:nvSpPr>
        <p:spPr>
          <a:xfrm>
            <a:off x="5956720" y="5010857"/>
            <a:ext cx="3440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executed if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is equal to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 is equal to “</a:t>
            </a:r>
            <a:r>
              <a:rPr lang="en-GB" sz="2000" i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811812E6-A3FB-644A-220E-F1DB5450E368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05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CC1D-02A8-4EB3-2E56-71F6E71E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if statements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5F4B7-62E6-C165-FD06-5CBCFF7122B7}"/>
              </a:ext>
            </a:extLst>
          </p:cNvPr>
          <p:cNvSpPr txBox="1">
            <a:spLocks/>
          </p:cNvSpPr>
          <p:nvPr/>
        </p:nvSpPr>
        <p:spPr>
          <a:xfrm>
            <a:off x="597834" y="1709237"/>
            <a:ext cx="7886700" cy="55295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Which of the following functions will be executed by this code?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function1()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function2()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function3()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20D23-1CE7-38E0-6D27-E2C41C3D4288}"/>
              </a:ext>
            </a:extLst>
          </p:cNvPr>
          <p:cNvSpPr txBox="1"/>
          <p:nvPr/>
        </p:nvSpPr>
        <p:spPr>
          <a:xfrm>
            <a:off x="851654" y="4161051"/>
            <a:ext cx="6003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first if statement fails because “c” is not equal to “a”.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89144-AA7E-A13B-FD10-E3B87EB4EC4C}"/>
              </a:ext>
            </a:extLst>
          </p:cNvPr>
          <p:cNvSpPr txBox="1"/>
          <p:nvPr/>
        </p:nvSpPr>
        <p:spPr>
          <a:xfrm>
            <a:off x="7286030" y="2538946"/>
            <a:ext cx="3652726" cy="3135392"/>
          </a:xfrm>
          <a:prstGeom prst="roundRect">
            <a:avLst>
              <a:gd name="adj" fmla="val 5452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 10; b = 7; c = 20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0E00FF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 == b+3 &amp; c == 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function1();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elseif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a == b | c == a+10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function2();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function3();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03CCB4-4FB3-0EEE-349E-FFAB75C5EF7B}"/>
              </a:ext>
            </a:extLst>
          </p:cNvPr>
          <p:cNvSpPr txBox="1"/>
          <p:nvPr/>
        </p:nvSpPr>
        <p:spPr>
          <a:xfrm>
            <a:off x="851654" y="5148763"/>
            <a:ext cx="5756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second if statement succeeds as “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” is equal to “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+10”.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E67A289F-8D21-4CEF-2162-348385B819BB}"/>
              </a:ext>
            </a:extLst>
          </p:cNvPr>
          <p:cNvSpPr/>
          <p:nvPr/>
        </p:nvSpPr>
        <p:spPr>
          <a:xfrm>
            <a:off x="10216187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39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EC5F80-B770-4724-8D4B-5978BB5CBA53}">
  <ds:schemaRefs>
    <ds:schemaRef ds:uri="1cc9bed8-8410-44eb-bf25-ca1ea4636418"/>
    <ds:schemaRef ds:uri="dfc159fb-6789-415c-9027-b0bc58ba83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1cc9bed8-8410-44eb-bf25-ca1ea4636418"/>
    <ds:schemaRef ds:uri="dfc159fb-6789-415c-9027-b0bc58ba83c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638</Words>
  <Application>Microsoft Office PowerPoint</Application>
  <PresentationFormat>Widescreen</PresentationFormat>
  <Paragraphs>120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Menlo</vt:lpstr>
      <vt:lpstr>Times New Roman</vt:lpstr>
      <vt:lpstr>Office Theme</vt:lpstr>
      <vt:lpstr>Conditionals and Program Control in MATLAB Programming</vt:lpstr>
      <vt:lpstr>Conditional execution </vt:lpstr>
      <vt:lpstr>Example of if Statements</vt:lpstr>
      <vt:lpstr>Inline condition evaluation</vt:lpstr>
      <vt:lpstr>elseif statements </vt:lpstr>
      <vt:lpstr>else statements</vt:lpstr>
      <vt:lpstr>Multiple inline conditions</vt:lpstr>
      <vt:lpstr>Example if statements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11</cp:revision>
  <dcterms:created xsi:type="dcterms:W3CDTF">2021-01-06T14:22:07Z</dcterms:created>
  <dcterms:modified xsi:type="dcterms:W3CDTF">2024-06-25T10:10:48Z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