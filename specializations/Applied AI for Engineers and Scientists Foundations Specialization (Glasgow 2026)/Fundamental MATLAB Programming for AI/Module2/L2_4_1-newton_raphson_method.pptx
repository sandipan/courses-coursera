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4" r:id="rId6"/>
    <p:sldId id="495" r:id="rId7"/>
    <p:sldId id="496" r:id="rId8"/>
    <p:sldId id="497" r:id="rId9"/>
    <p:sldId id="498" r:id="rId10"/>
    <p:sldId id="499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EB0EE1-9F76-4634-9DB2-A7B65A943DBF}" v="6" dt="2024-06-14T18:46:42.446"/>
    <p1510:client id="{AA5CF548-7673-4CC8-865F-4252301A63E6}" v="6" dt="2024-06-14T18:44:42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hi Liu (PGR)" userId="S::2109741l@student.gla.ac.uk::0738f1d2-bd1d-4f8b-945a-b877be0bfefb" providerId="AD" clId="Web-{AA5CF548-7673-4CC8-865F-4252301A63E6}"/>
    <pc:docChg chg="modSld">
      <pc:chgData name="Yushi Liu (PGR)" userId="S::2109741l@student.gla.ac.uk::0738f1d2-bd1d-4f8b-945a-b877be0bfefb" providerId="AD" clId="Web-{AA5CF548-7673-4CC8-865F-4252301A63E6}" dt="2024-06-14T18:44:42.443" v="5"/>
      <pc:docMkLst>
        <pc:docMk/>
      </pc:docMkLst>
      <pc:sldChg chg="addSp delSp">
        <pc:chgData name="Yushi Liu (PGR)" userId="S::2109741l@student.gla.ac.uk::0738f1d2-bd1d-4f8b-945a-b877be0bfefb" providerId="AD" clId="Web-{AA5CF548-7673-4CC8-865F-4252301A63E6}" dt="2024-06-14T18:44:34.067" v="3"/>
        <pc:sldMkLst>
          <pc:docMk/>
          <pc:sldMk cId="676015318" sldId="494"/>
        </pc:sldMkLst>
        <pc:spChg chg="del">
          <ac:chgData name="Yushi Liu (PGR)" userId="S::2109741l@student.gla.ac.uk::0738f1d2-bd1d-4f8b-945a-b877be0bfefb" providerId="AD" clId="Web-{AA5CF548-7673-4CC8-865F-4252301A63E6}" dt="2024-06-14T18:44:33.786" v="2"/>
          <ac:spMkLst>
            <pc:docMk/>
            <pc:sldMk cId="676015318" sldId="494"/>
            <ac:spMk id="4" creationId="{A62C05AF-4D79-CD30-4D5B-99ADDE01D97B}"/>
          </ac:spMkLst>
        </pc:spChg>
        <pc:spChg chg="add">
          <ac:chgData name="Yushi Liu (PGR)" userId="S::2109741l@student.gla.ac.uk::0738f1d2-bd1d-4f8b-945a-b877be0bfefb" providerId="AD" clId="Web-{AA5CF548-7673-4CC8-865F-4252301A63E6}" dt="2024-06-14T18:44:34.067" v="3"/>
          <ac:spMkLst>
            <pc:docMk/>
            <pc:sldMk cId="676015318" sldId="494"/>
            <ac:spMk id="5" creationId="{F9EF5F1D-F54F-AE72-1E10-C20463646178}"/>
          </ac:spMkLst>
        </pc:spChg>
      </pc:sldChg>
      <pc:sldChg chg="addSp delSp">
        <pc:chgData name="Yushi Liu (PGR)" userId="S::2109741l@student.gla.ac.uk::0738f1d2-bd1d-4f8b-945a-b877be0bfefb" providerId="AD" clId="Web-{AA5CF548-7673-4CC8-865F-4252301A63E6}" dt="2024-06-14T18:44:27.974" v="1"/>
        <pc:sldMkLst>
          <pc:docMk/>
          <pc:sldMk cId="3448879585" sldId="498"/>
        </pc:sldMkLst>
        <pc:spChg chg="add">
          <ac:chgData name="Yushi Liu (PGR)" userId="S::2109741l@student.gla.ac.uk::0738f1d2-bd1d-4f8b-945a-b877be0bfefb" providerId="AD" clId="Web-{AA5CF548-7673-4CC8-865F-4252301A63E6}" dt="2024-06-14T18:44:27.974" v="1"/>
          <ac:spMkLst>
            <pc:docMk/>
            <pc:sldMk cId="3448879585" sldId="498"/>
            <ac:spMk id="5" creationId="{D276E209-FA7B-D95C-5EAE-D33C09D1708F}"/>
          </ac:spMkLst>
        </pc:spChg>
        <pc:spChg chg="del">
          <ac:chgData name="Yushi Liu (PGR)" userId="S::2109741l@student.gla.ac.uk::0738f1d2-bd1d-4f8b-945a-b877be0bfefb" providerId="AD" clId="Web-{AA5CF548-7673-4CC8-865F-4252301A63E6}" dt="2024-06-14T18:44:27.708" v="0"/>
          <ac:spMkLst>
            <pc:docMk/>
            <pc:sldMk cId="3448879585" sldId="498"/>
            <ac:spMk id="12" creationId="{E609A66D-A519-C021-59B3-4A46772B2F3F}"/>
          </ac:spMkLst>
        </pc:spChg>
      </pc:sldChg>
      <pc:sldChg chg="addSp delSp">
        <pc:chgData name="Yushi Liu (PGR)" userId="S::2109741l@student.gla.ac.uk::0738f1d2-bd1d-4f8b-945a-b877be0bfefb" providerId="AD" clId="Web-{AA5CF548-7673-4CC8-865F-4252301A63E6}" dt="2024-06-14T18:44:42.443" v="5"/>
        <pc:sldMkLst>
          <pc:docMk/>
          <pc:sldMk cId="3401789203" sldId="499"/>
        </pc:sldMkLst>
        <pc:spChg chg="add">
          <ac:chgData name="Yushi Liu (PGR)" userId="S::2109741l@student.gla.ac.uk::0738f1d2-bd1d-4f8b-945a-b877be0bfefb" providerId="AD" clId="Web-{AA5CF548-7673-4CC8-865F-4252301A63E6}" dt="2024-06-14T18:44:42.443" v="5"/>
          <ac:spMkLst>
            <pc:docMk/>
            <pc:sldMk cId="3401789203" sldId="499"/>
            <ac:spMk id="6" creationId="{292034ED-B707-BB83-ACB6-AB8DE8A8A262}"/>
          </ac:spMkLst>
        </pc:spChg>
        <pc:spChg chg="del">
          <ac:chgData name="Yushi Liu (PGR)" userId="S::2109741l@student.gla.ac.uk::0738f1d2-bd1d-4f8b-945a-b877be0bfefb" providerId="AD" clId="Web-{AA5CF548-7673-4CC8-865F-4252301A63E6}" dt="2024-06-14T18:44:42.208" v="4"/>
          <ac:spMkLst>
            <pc:docMk/>
            <pc:sldMk cId="3401789203" sldId="499"/>
            <ac:spMk id="13" creationId="{5F9CF24C-8FBF-78C3-190C-B4A6ED18B1C5}"/>
          </ac:spMkLst>
        </pc:spChg>
      </pc:sldChg>
    </pc:docChg>
  </pc:docChgLst>
  <pc:docChgLst>
    <pc:chgData name="Yushi Liu (PGR)" userId="S::2109741l@student.gla.ac.uk::0738f1d2-bd1d-4f8b-945a-b877be0bfefb" providerId="AD" clId="Web-{36EB0EE1-9F76-4634-9DB2-A7B65A943DBF}"/>
    <pc:docChg chg="modSld">
      <pc:chgData name="Yushi Liu (PGR)" userId="S::2109741l@student.gla.ac.uk::0738f1d2-bd1d-4f8b-945a-b877be0bfefb" providerId="AD" clId="Web-{36EB0EE1-9F76-4634-9DB2-A7B65A943DBF}" dt="2024-06-14T18:46:42.446" v="5"/>
      <pc:docMkLst>
        <pc:docMk/>
      </pc:docMkLst>
      <pc:sldChg chg="addAnim modAnim">
        <pc:chgData name="Yushi Liu (PGR)" userId="S::2109741l@student.gla.ac.uk::0738f1d2-bd1d-4f8b-945a-b877be0bfefb" providerId="AD" clId="Web-{36EB0EE1-9F76-4634-9DB2-A7B65A943DBF}" dt="2024-06-14T18:46:42.446" v="5"/>
        <pc:sldMkLst>
          <pc:docMk/>
          <pc:sldMk cId="3448879585" sldId="498"/>
        </pc:sldMkLst>
      </pc:sldChg>
      <pc:sldChg chg="addAnim modAnim">
        <pc:chgData name="Yushi Liu (PGR)" userId="S::2109741l@student.gla.ac.uk::0738f1d2-bd1d-4f8b-945a-b877be0bfefb" providerId="AD" clId="Web-{36EB0EE1-9F76-4634-9DB2-A7B65A943DBF}" dt="2024-06-14T18:46:33.727" v="3"/>
        <pc:sldMkLst>
          <pc:docMk/>
          <pc:sldMk cId="3401789203" sldId="4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Case Study: the Newton Raphson Method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Introduction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8DEE8-48E7-E6A0-76AC-4681FBD9A0F7}"/>
              </a:ext>
            </a:extLst>
          </p:cNvPr>
          <p:cNvSpPr txBox="1">
            <a:spLocks/>
          </p:cNvSpPr>
          <p:nvPr/>
        </p:nvSpPr>
        <p:spPr>
          <a:xfrm>
            <a:off x="597943" y="1833066"/>
            <a:ext cx="10693511" cy="502493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In this case study we will: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Use the Newton-Raphson method to find the roots of a polynomial.</a:t>
            </a:r>
          </a:p>
          <a:p>
            <a:pPr marL="342900" lvl="1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You will learn about: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Using MATLAB loops in an iterative method.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solidFill>
                  <a:schemeClr val="tx1"/>
                </a:solidFill>
              </a:rPr>
              <a:t>The Newton-Raphson method.</a:t>
            </a:r>
          </a:p>
          <a:p>
            <a:pPr lvl="1"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 lvl="1">
              <a:spcBef>
                <a:spcPts val="1200"/>
              </a:spcBef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F9EF5F1D-F54F-AE72-1E10-C20463646178}"/>
              </a:ext>
            </a:extLst>
          </p:cNvPr>
          <p:cNvSpPr/>
          <p:nvPr/>
        </p:nvSpPr>
        <p:spPr>
          <a:xfrm>
            <a:off x="10212049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88CA-FF80-0222-341F-36BB0321B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Roots of a Polynomial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CED0-BD1F-DFA0-4B9B-E0ABB5ACCA1D}"/>
              </a:ext>
            </a:extLst>
          </p:cNvPr>
          <p:cNvSpPr txBox="1">
            <a:spLocks/>
          </p:cNvSpPr>
          <p:nvPr/>
        </p:nvSpPr>
        <p:spPr>
          <a:xfrm>
            <a:off x="666767" y="1643718"/>
            <a:ext cx="9776114" cy="3245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roots of a polynomial (f(x)) are the values of x for which f(x) = 0</a:t>
            </a:r>
          </a:p>
        </p:txBody>
      </p:sp>
      <p:pic>
        <p:nvPicPr>
          <p:cNvPr id="4" name="Content Placeholder 7" descr="Chart, line chart&#10;&#10;Description automatically generated">
            <a:extLst>
              <a:ext uri="{FF2B5EF4-FFF2-40B4-BE49-F238E27FC236}">
                <a16:creationId xmlns:a16="http://schemas.microsoft.com/office/drawing/2014/main" id="{5DED245D-59F5-0340-65E0-35511AA88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332" y="2324386"/>
            <a:ext cx="5333333" cy="400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矩形 8">
            <a:extLst>
              <a:ext uri="{FF2B5EF4-FFF2-40B4-BE49-F238E27FC236}">
                <a16:creationId xmlns:a16="http://schemas.microsoft.com/office/drawing/2014/main" id="{9989C7CF-1D94-0AF2-AA9E-DD7F299E0CB3}"/>
              </a:ext>
            </a:extLst>
          </p:cNvPr>
          <p:cNvSpPr/>
          <p:nvPr/>
        </p:nvSpPr>
        <p:spPr>
          <a:xfrm>
            <a:off x="10212049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282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3715-1A74-4846-4603-A0024569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Newton-Raphson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D914D-9DDB-1EED-AFB1-2282329150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5294" y="1508450"/>
                <a:ext cx="9816836" cy="261541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The algorithm successively updates guesses for the root using the following formula:</a:t>
                </a:r>
              </a:p>
              <a:p>
                <a:pPr marL="342900" lvl="1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endParaRPr lang="en-GB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42900" lvl="1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endParaRPr lang="en-GB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the derivative of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evaluated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D914D-9DDB-1EED-AFB1-228232915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94" y="1508450"/>
                <a:ext cx="9816836" cy="2615418"/>
              </a:xfrm>
              <a:prstGeom prst="rect">
                <a:avLst/>
              </a:prstGeom>
              <a:blipFill>
                <a:blip r:embed="rId2"/>
                <a:stretch>
                  <a:fillRect l="-994" t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DBBF4E-BD92-9ABD-70F3-4908A8BF7103}"/>
                  </a:ext>
                </a:extLst>
              </p:cNvPr>
              <p:cNvSpPr txBox="1"/>
              <p:nvPr/>
            </p:nvSpPr>
            <p:spPr>
              <a:xfrm>
                <a:off x="4652239" y="2161062"/>
                <a:ext cx="2887522" cy="861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DBBF4E-BD92-9ABD-70F3-4908A8BF7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239" y="2161062"/>
                <a:ext cx="2887522" cy="861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50845D-3AD9-50F5-1E3F-76502411D493}"/>
                  </a:ext>
                </a:extLst>
              </p:cNvPr>
              <p:cNvSpPr txBox="1"/>
              <p:nvPr/>
            </p:nvSpPr>
            <p:spPr>
              <a:xfrm>
                <a:off x="4675972" y="4622376"/>
                <a:ext cx="3511520" cy="1419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while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GB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GB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/>
                  <a:t> </a:t>
                </a: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end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50845D-3AD9-50F5-1E3F-76502411D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972" y="4622376"/>
                <a:ext cx="3511520" cy="1419363"/>
              </a:xfrm>
              <a:prstGeom prst="rect">
                <a:avLst/>
              </a:prstGeom>
              <a:blipFill>
                <a:blip r:embed="rId4"/>
                <a:stretch>
                  <a:fillRect l="-2778" t="-3863" b="-94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F9B78D1-506E-D25B-A591-6EA7B928E3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5294" y="4129052"/>
                <a:ext cx="10785985" cy="27359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The first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a guess of what the root might be.</a:t>
                </a:r>
              </a:p>
              <a:p>
                <a:pPr marL="0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r>
                  <a:rPr lang="en-GB" dirty="0">
                    <a:solidFill>
                      <a:schemeClr val="tx1"/>
                    </a:solidFill>
                  </a:rPr>
                  <a:t>As an algorithm:</a:t>
                </a:r>
              </a:p>
              <a:p>
                <a:pPr marL="0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marL="342900" lvl="1" indent="0">
                  <a:spcBef>
                    <a:spcPts val="1200"/>
                  </a:spcBef>
                  <a:buFont typeface="Arial" panose="020B0604020202020204" pitchFamily="34" charset="0"/>
                  <a:buNone/>
                </a:pPr>
                <a:endParaRPr lang="en-GB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the error tolerance (a value that indicates sufficiently close to a root).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F9B78D1-506E-D25B-A591-6EA7B928E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94" y="4129052"/>
                <a:ext cx="10785985" cy="2735943"/>
              </a:xfrm>
              <a:prstGeom prst="rect">
                <a:avLst/>
              </a:prstGeom>
              <a:blipFill>
                <a:blip r:embed="rId5"/>
                <a:stretch>
                  <a:fillRect l="-904" t="-2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05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8C4E-FAB0-9717-9173-0CF9B928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Newton-Raphson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B19F8-4E05-5902-5952-10BF3B106B51}"/>
              </a:ext>
            </a:extLst>
          </p:cNvPr>
          <p:cNvSpPr txBox="1">
            <a:spLocks/>
          </p:cNvSpPr>
          <p:nvPr/>
        </p:nvSpPr>
        <p:spPr>
          <a:xfrm>
            <a:off x="431802" y="1422400"/>
            <a:ext cx="9701243" cy="55295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dirty="0">
                <a:solidFill>
                  <a:schemeClr val="tx1"/>
                </a:solidFill>
              </a:rPr>
              <a:t>The Newton-Raphson method is an algorithm for approximating the root (points where the function value is 0) of a differentiable function.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56B48FAD-11FB-0998-083D-3921105CD610}"/>
              </a:ext>
            </a:extLst>
          </p:cNvPr>
          <p:cNvSpPr/>
          <p:nvPr/>
        </p:nvSpPr>
        <p:spPr>
          <a:xfrm>
            <a:off x="10216186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8459AD12-4E3D-0742-7019-12B0D8880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214" y="2345217"/>
            <a:ext cx="4481569" cy="3361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49082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0A98A-D48E-7D32-F971-7805DE59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part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25CB1D-6AC1-C4F2-1C5B-ACB264F2745A}"/>
                  </a:ext>
                </a:extLst>
              </p:cNvPr>
              <p:cNvSpPr txBox="1"/>
              <p:nvPr/>
            </p:nvSpPr>
            <p:spPr>
              <a:xfrm>
                <a:off x="567571" y="1439429"/>
                <a:ext cx="5985628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Polynomial</a:t>
                </a:r>
                <a:endParaRPr lang="en-GB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400" b="0" dirty="0"/>
                  <a:t>      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+0.5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−0.1</m:t>
                    </m:r>
                  </m:oMath>
                </a14:m>
                <a:endParaRPr lang="en-GB" sz="2400" dirty="0"/>
              </a:p>
              <a:p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r>
                  <a:rPr lang="en-GB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Derivative </a:t>
                </a:r>
              </a:p>
              <a:p>
                <a:r>
                  <a:rPr lang="en-GB" sz="2400" dirty="0"/>
                  <a:t>      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+12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+0.5</m:t>
                    </m:r>
                  </m:oMath>
                </a14:m>
                <a:endParaRPr lang="en-GB" sz="2400" dirty="0"/>
              </a:p>
              <a:p>
                <a:endParaRPr lang="en-GB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 guess of root</a:t>
                </a:r>
                <a:r>
                  <a:rPr lang="en-GB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GB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25CB1D-6AC1-C4F2-1C5B-ACB264F27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71" y="1439429"/>
                <a:ext cx="5985628" cy="2677656"/>
              </a:xfrm>
              <a:prstGeom prst="rect">
                <a:avLst/>
              </a:prstGeom>
              <a:blipFill>
                <a:blip r:embed="rId2"/>
                <a:stretch>
                  <a:fillRect l="-1527" t="-1595" b="-4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2EE78510-BA39-BAB2-B272-A65B2E313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382" y="1061679"/>
            <a:ext cx="4239167" cy="317937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76FDC2-CADF-3A2B-0B76-1519F1350085}"/>
              </a:ext>
            </a:extLst>
          </p:cNvPr>
          <p:cNvSpPr txBox="1">
            <a:spLocks/>
          </p:cNvSpPr>
          <p:nvPr/>
        </p:nvSpPr>
        <p:spPr>
          <a:xfrm>
            <a:off x="582213" y="4365024"/>
            <a:ext cx="10045011" cy="289849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1" dirty="0">
                <a:solidFill>
                  <a:schemeClr val="tx1"/>
                </a:solidFill>
              </a:rPr>
              <a:t>Write the polynomial and derivative as a MATLAB function: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2243D0-6B9B-A4F1-8563-A62267BB24B9}"/>
              </a:ext>
            </a:extLst>
          </p:cNvPr>
          <p:cNvSpPr txBox="1"/>
          <p:nvPr/>
        </p:nvSpPr>
        <p:spPr>
          <a:xfrm>
            <a:off x="808759" y="4821256"/>
            <a:ext cx="7886702" cy="1736646"/>
          </a:xfrm>
          <a:prstGeom prst="roundRect">
            <a:avLst>
              <a:gd name="adj" fmla="val 9073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function </a:t>
            </a: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y = f(x)</a:t>
            </a:r>
          </a:p>
          <a:p>
            <a:pPr marL="0" marR="0" lvl="2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y = x^4 + 4*x^3 + 4*x^2 + 0.5*x - 0.1;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function </a:t>
            </a:r>
            <a:r>
              <a:rPr kumimoji="0" lang="es-E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dydx</a:t>
            </a: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= </a:t>
            </a:r>
            <a:r>
              <a:rPr kumimoji="0" lang="es-E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f_prime</a:t>
            </a: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(x)</a:t>
            </a:r>
          </a:p>
          <a:p>
            <a:pPr marL="0" marR="0" lvl="2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dydx = 4*x^3 + 12*x^2 +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pl-PL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8*x + 0.5;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s-E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D276E209-FA7B-D95C-5EAE-D33C09D1708F}"/>
              </a:ext>
            </a:extLst>
          </p:cNvPr>
          <p:cNvSpPr/>
          <p:nvPr/>
        </p:nvSpPr>
        <p:spPr>
          <a:xfrm>
            <a:off x="10216186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87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520D-74EA-3AA4-868B-9A895C15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Example part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1F3E1C-C9EF-3543-7231-6DC974036CE2}"/>
              </a:ext>
            </a:extLst>
          </p:cNvPr>
          <p:cNvSpPr txBox="1"/>
          <p:nvPr/>
        </p:nvSpPr>
        <p:spPr>
          <a:xfrm>
            <a:off x="339290" y="1513397"/>
            <a:ext cx="68154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Using the function: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ACA1E-1867-AC15-BDD4-404EA6233313}"/>
              </a:ext>
            </a:extLst>
          </p:cNvPr>
          <p:cNvSpPr txBox="1"/>
          <p:nvPr/>
        </p:nvSpPr>
        <p:spPr>
          <a:xfrm>
            <a:off x="548985" y="1935939"/>
            <a:ext cx="9434770" cy="919401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x0 = 0.2;          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initial guess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y0 = f(x0)         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f(x) at x0 0.1936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grad = </a:t>
            </a:r>
            <a:r>
              <a:rPr kumimoji="0" lang="en-GB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f_prime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(x0) 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derivative at x0 is 2.6120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5109D-7853-86CD-996C-90DB2B8F8088}"/>
              </a:ext>
            </a:extLst>
          </p:cNvPr>
          <p:cNvSpPr txBox="1"/>
          <p:nvPr/>
        </p:nvSpPr>
        <p:spPr>
          <a:xfrm>
            <a:off x="339290" y="2932822"/>
            <a:ext cx="754571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spcBef>
                <a:spcPts val="1200"/>
              </a:spcBef>
              <a:buNone/>
              <a:defRPr>
                <a:latin typeface="+mj-lt"/>
              </a:defRPr>
            </a:lvl1pPr>
          </a:lstStyle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Newton-Raphson method: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223BFF-F670-A2A5-B0E1-4BEA9F129FD5}"/>
              </a:ext>
            </a:extLst>
          </p:cNvPr>
          <p:cNvSpPr txBox="1"/>
          <p:nvPr/>
        </p:nvSpPr>
        <p:spPr>
          <a:xfrm>
            <a:off x="548985" y="3368879"/>
            <a:ext cx="10825595" cy="2121932"/>
          </a:xfrm>
          <a:prstGeom prst="roundRect">
            <a:avLst>
              <a:gd name="adj" fmla="val 6262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tol = 0.001;   	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target tolerance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rgbClr val="008013"/>
              </a:solidFill>
              <a:effectLst/>
              <a:uLnTx/>
              <a:uFillTx/>
              <a:latin typeface="Menlo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x = x0;        	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initialise x</a:t>
            </a:r>
            <a:b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</a:rPr>
            </a:b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while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(f(x)&gt;tol)</a:t>
            </a:r>
          </a:p>
          <a:p>
            <a:pPr marL="0" marR="0" lvl="2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y = f(x);         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current value of y</a:t>
            </a:r>
          </a:p>
          <a:p>
            <a:pPr marL="0" marR="0" lvl="2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grad = f_prime(x);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current gradient</a:t>
            </a:r>
          </a:p>
          <a:p>
            <a:pPr marL="0" marR="0" lvl="2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x = x – y/grad;    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update approximation of root</a:t>
            </a: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n-GB" sz="1600" b="0" i="0" u="none" strike="noStrike" kern="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9854AA-57CE-8F12-1318-218124D69AE9}"/>
                  </a:ext>
                </a:extLst>
              </p:cNvPr>
              <p:cNvSpPr txBox="1"/>
              <p:nvPr/>
            </p:nvSpPr>
            <p:spPr>
              <a:xfrm>
                <a:off x="548985" y="5675686"/>
                <a:ext cx="8511888" cy="98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 approximation: </a:t>
                </a:r>
                <a14:m>
                  <m:oMath xmlns:m="http://schemas.openxmlformats.org/officeDocument/2006/math">
                    <m:r>
                      <a:rPr lang="en-GB" sz="2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=0.10409,  </m:t>
                    </m:r>
                    <m:r>
                      <m:rPr>
                        <m:nor/>
                      </m:rPr>
                      <a:rPr lang="en-GB" sz="2400" dirty="0">
                        <a:solidFill>
                          <a:schemeClr val="tx1"/>
                        </a:solidFill>
                      </a:rPr>
                      <m:t>y</m:t>
                    </m:r>
                    <m:r>
                      <m:rPr>
                        <m:nor/>
                      </m:rPr>
                      <a:rPr lang="en-GB" sz="2400" dirty="0">
                        <a:solidFill>
                          <a:schemeClr val="tx1"/>
                        </a:solidFill>
                      </a:rPr>
                      <m:t> = 1.2414</m:t>
                    </m:r>
                    <m:r>
                      <a:rPr lang="en-GB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GB" sz="2400" i="0" dirty="0">
                  <a:solidFill>
                    <a:schemeClr val="tx1"/>
                  </a:solidFill>
                  <a:effectLst/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GB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GB" sz="2400" i="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rue value of root at: </a:t>
                </a:r>
                <a14:m>
                  <m:oMath xmlns:m="http://schemas.openxmlformats.org/officeDocument/2006/math">
                    <m:r>
                      <a:rPr lang="en-GB" sz="2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sz="2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0.10408</m:t>
                    </m:r>
                  </m:oMath>
                </a14:m>
                <a:endParaRPr lang="en-GB" sz="2400" i="0" dirty="0">
                  <a:solidFill>
                    <a:schemeClr val="tx1"/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9854AA-57CE-8F12-1318-218124D69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85" y="5675686"/>
                <a:ext cx="8511888" cy="984885"/>
              </a:xfrm>
              <a:prstGeom prst="rect">
                <a:avLst/>
              </a:prstGeom>
              <a:blipFill>
                <a:blip r:embed="rId2"/>
                <a:stretch>
                  <a:fillRect l="-1074" t="-5556" b="-123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8">
            <a:extLst>
              <a:ext uri="{FF2B5EF4-FFF2-40B4-BE49-F238E27FC236}">
                <a16:creationId xmlns:a16="http://schemas.microsoft.com/office/drawing/2014/main" id="{292034ED-B707-BB83-ACB6-AB8DE8A8A262}"/>
              </a:ext>
            </a:extLst>
          </p:cNvPr>
          <p:cNvSpPr/>
          <p:nvPr/>
        </p:nvSpPr>
        <p:spPr>
          <a:xfrm>
            <a:off x="10216186" y="6324386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78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EA0B66-0A62-4679-A055-2E5FA8D7743D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8C8F53E8-ADD5-47EE-80FA-75D7C8F26F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EC5F80-B770-4724-8D4B-5978BB5CBA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1881</TotalTime>
  <Words>454</Words>
  <Application>Microsoft Office PowerPoint</Application>
  <PresentationFormat>Widescreen</PresentationFormat>
  <Paragraphs>78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Consolas</vt:lpstr>
      <vt:lpstr>Menlo</vt:lpstr>
      <vt:lpstr>Times New Roman</vt:lpstr>
      <vt:lpstr>Office Theme</vt:lpstr>
      <vt:lpstr>Case Study: the Newton Raphson Method</vt:lpstr>
      <vt:lpstr>Introduction</vt:lpstr>
      <vt:lpstr>Roots of a Polynomial</vt:lpstr>
      <vt:lpstr>The Newton-Raphson method</vt:lpstr>
      <vt:lpstr>The Newton-Raphson method</vt:lpstr>
      <vt:lpstr>Example part 1</vt:lpstr>
      <vt:lpstr>Example part 2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82</cp:revision>
  <dcterms:created xsi:type="dcterms:W3CDTF">2021-01-06T14:22:07Z</dcterms:created>
  <dcterms:modified xsi:type="dcterms:W3CDTF">2024-06-25T11:39:50Z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