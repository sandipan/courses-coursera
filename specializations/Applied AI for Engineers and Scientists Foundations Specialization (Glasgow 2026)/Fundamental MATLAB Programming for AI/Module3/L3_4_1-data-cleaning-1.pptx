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502" r:id="rId7"/>
    <p:sldId id="496" r:id="rId8"/>
    <p:sldId id="497" r:id="rId9"/>
    <p:sldId id="498" r:id="rId10"/>
    <p:sldId id="499" r:id="rId11"/>
    <p:sldId id="500" r:id="rId12"/>
    <p:sldId id="50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18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8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59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69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74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88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https://uk.mathworks.com/help/matlab/ref/isnumeric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uk.mathworks.com/help/matlab/ref/ismissing.html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uk.mathworks.com/help/matlab/ref/rmmissing.html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uk.mathworks.com/help/matlab/ref/mean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sort.html" TargetMode="External"/><Relationship Id="rId5" Type="http://schemas.openxmlformats.org/officeDocument/2006/relationships/hyperlink" Target="https://uk.mathworks.com/help/matlab/ref/vecnorm.html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uk.mathworks.com/help/matlab/ref/unique.html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var.html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What is data cleaning?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4662A2-FCE6-56E8-9D45-51CDD7E5C515}"/>
              </a:ext>
            </a:extLst>
          </p:cNvPr>
          <p:cNvSpPr txBox="1"/>
          <p:nvPr/>
        </p:nvSpPr>
        <p:spPr>
          <a:xfrm>
            <a:off x="1073746" y="1674673"/>
            <a:ext cx="882804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a data set, some data can be: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Incorrect/incorrectly formatted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Missing/incomplete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Duplicated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row/column with the same value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cleaning is about to fix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/>
          <a:p>
            <a:r>
              <a:rPr lang="en-GB" dirty="0"/>
              <a:t>Benefits of data cleaning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C9D62C-B65D-FC01-753E-1A5DDB9475A0}"/>
              </a:ext>
            </a:extLst>
          </p:cNvPr>
          <p:cNvSpPr txBox="1"/>
          <p:nvPr/>
        </p:nvSpPr>
        <p:spPr>
          <a:xfrm>
            <a:off x="856052" y="1860769"/>
            <a:ext cx="103419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Improving data quality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Inconsistencies and inaccuracies removed.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Time saved as errors are identified beforehand.</a:t>
            </a:r>
          </a:p>
          <a:p>
            <a:pPr lvl="1"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Optimizing model training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Cleaned data is easier to analyze, and the results are more accurate.</a:t>
            </a:r>
          </a:p>
          <a:p>
            <a:pPr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89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5CAE91-9DEE-69AA-D70F-DAB57A24A91E}"/>
              </a:ext>
            </a:extLst>
          </p:cNvPr>
          <p:cNvSpPr/>
          <p:nvPr/>
        </p:nvSpPr>
        <p:spPr>
          <a:xfrm>
            <a:off x="993541" y="3555355"/>
            <a:ext cx="7886700" cy="1871666"/>
          </a:xfrm>
          <a:prstGeom prst="roundRect">
            <a:avLst>
              <a:gd name="adj" fmla="val 600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Sweeping through all elements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1:5</a:t>
            </a:r>
          </a:p>
          <a:p>
            <a:pPr marL="274320"/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j = 1:5</a:t>
            </a:r>
          </a:p>
          <a:p>
            <a:pPr marL="548640"/>
            <a:r>
              <a:rPr lang="en-US" sz="14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if the entry is not numeric, assign a 1 to the corresponding entry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pPr marL="548640"/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flags(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i,j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 = ~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isnumeric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data_incorrect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i,j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274320" lvl="1"/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212121"/>
                </a:solidFill>
                <a:latin typeface="Consolas" panose="020B0609020204030204" pitchFamily="49" charset="0"/>
              </a:rPr>
              <a:t>f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lags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Identify the incorrect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CC3F65-E616-6B55-6220-4D167E06F765}"/>
              </a:ext>
            </a:extLst>
          </p:cNvPr>
          <p:cNvSpPr txBox="1"/>
          <p:nvPr/>
        </p:nvSpPr>
        <p:spPr>
          <a:xfrm>
            <a:off x="938658" y="1418624"/>
            <a:ext cx="3857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Incorrect data (cell array)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EF310F-EADC-8C6B-C6E8-431E372E64C3}"/>
              </a:ext>
            </a:extLst>
          </p:cNvPr>
          <p:cNvGrpSpPr/>
          <p:nvPr/>
        </p:nvGrpSpPr>
        <p:grpSpPr>
          <a:xfrm>
            <a:off x="1121336" y="1903549"/>
            <a:ext cx="4033476" cy="1126022"/>
            <a:chOff x="756638" y="1522305"/>
            <a:chExt cx="4311308" cy="1347713"/>
          </a:xfrm>
        </p:grpSpPr>
        <p:pic>
          <p:nvPicPr>
            <p:cNvPr id="4" name="Picture 3" descr="Table&#10;&#10;Description automatically generated">
              <a:extLst>
                <a:ext uri="{FF2B5EF4-FFF2-40B4-BE49-F238E27FC236}">
                  <a16:creationId xmlns:a16="http://schemas.microsoft.com/office/drawing/2014/main" id="{5380582E-D660-0EA2-866B-986F91AF0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638" y="1522305"/>
              <a:ext cx="4311308" cy="134771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24850F4-AA27-AF6C-C7AB-FE6D27C93FBF}"/>
                </a:ext>
              </a:extLst>
            </p:cNvPr>
            <p:cNvSpPr/>
            <p:nvPr/>
          </p:nvSpPr>
          <p:spPr>
            <a:xfrm>
              <a:off x="2590410" y="1887509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5EDFB6C-31DD-819B-A75E-660DD620EF98}"/>
              </a:ext>
            </a:extLst>
          </p:cNvPr>
          <p:cNvSpPr txBox="1"/>
          <p:nvPr/>
        </p:nvSpPr>
        <p:spPr>
          <a:xfrm>
            <a:off x="7833972" y="1665338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>
                <a:hlinkClick r:id="rId4"/>
              </a:rPr>
              <a:t>isnumeric</a:t>
            </a:r>
            <a:r>
              <a:rPr lang="en-GB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556A5-EAA1-3BC7-6E76-BDAE6090DB13}"/>
              </a:ext>
            </a:extLst>
          </p:cNvPr>
          <p:cNvSpPr txBox="1"/>
          <p:nvPr/>
        </p:nvSpPr>
        <p:spPr>
          <a:xfrm>
            <a:off x="938658" y="3093690"/>
            <a:ext cx="942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weight column, entries that are not numeric should be identified</a:t>
            </a:r>
          </a:p>
        </p:txBody>
      </p:sp>
      <p:sp>
        <p:nvSpPr>
          <p:cNvPr id="13" name="矩形 8">
            <a:extLst>
              <a:ext uri="{FF2B5EF4-FFF2-40B4-BE49-F238E27FC236}">
                <a16:creationId xmlns:a16="http://schemas.microsoft.com/office/drawing/2014/main" id="{510BF413-9995-0D07-7418-D117E0D86984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37DB0-54E2-663D-550A-43759F7A9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314" y="5137541"/>
            <a:ext cx="2803498" cy="1605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332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  <p:bldP spid="6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Identify the missing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5BA51-E37F-400E-6CF7-9BE025A3EF6E}"/>
              </a:ext>
            </a:extLst>
          </p:cNvPr>
          <p:cNvSpPr txBox="1"/>
          <p:nvPr/>
        </p:nvSpPr>
        <p:spPr>
          <a:xfrm>
            <a:off x="694925" y="1508731"/>
            <a:ext cx="34900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Missing/incomplete data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C7F40F-96F4-C7B1-AE5C-210AB0583981}"/>
              </a:ext>
            </a:extLst>
          </p:cNvPr>
          <p:cNvGrpSpPr/>
          <p:nvPr/>
        </p:nvGrpSpPr>
        <p:grpSpPr>
          <a:xfrm>
            <a:off x="968382" y="2167478"/>
            <a:ext cx="4686706" cy="1379340"/>
            <a:chOff x="585827" y="1552069"/>
            <a:chExt cx="4686706" cy="13793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F6C5E2-B9B5-473E-E4DA-4D585F42C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827" y="1552069"/>
              <a:ext cx="4686706" cy="13793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CB86DA3-2990-7DEC-D6B5-622A9675B58A}"/>
                </a:ext>
              </a:extLst>
            </p:cNvPr>
            <p:cNvSpPr/>
            <p:nvPr/>
          </p:nvSpPr>
          <p:spPr>
            <a:xfrm>
              <a:off x="1593547" y="1831991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矩形 8">
            <a:extLst>
              <a:ext uri="{FF2B5EF4-FFF2-40B4-BE49-F238E27FC236}">
                <a16:creationId xmlns:a16="http://schemas.microsoft.com/office/drawing/2014/main" id="{BAF13D56-A3E4-3E33-33AF-CF2E78A97F8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B1BE1B-33A1-D0D3-D18F-AAB9197881AC}"/>
              </a:ext>
            </a:extLst>
          </p:cNvPr>
          <p:cNvGrpSpPr/>
          <p:nvPr/>
        </p:nvGrpSpPr>
        <p:grpSpPr>
          <a:xfrm>
            <a:off x="746273" y="3762162"/>
            <a:ext cx="7886700" cy="2562224"/>
            <a:chOff x="746273" y="3762162"/>
            <a:chExt cx="7886700" cy="25622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D0E88A0-9FD4-5060-BD6D-18B66B15281D}"/>
                </a:ext>
              </a:extLst>
            </p:cNvPr>
            <p:cNvGrpSpPr/>
            <p:nvPr/>
          </p:nvGrpSpPr>
          <p:grpSpPr>
            <a:xfrm>
              <a:off x="1908852" y="4743218"/>
              <a:ext cx="3800193" cy="1581168"/>
              <a:chOff x="585827" y="4090098"/>
              <a:chExt cx="3800193" cy="158116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A9B52A9-9BF5-6A70-119A-F71EB399E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827" y="4090098"/>
                <a:ext cx="3800193" cy="158116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02322AC-DDE2-36C8-4356-B022F07A4B3F}"/>
                  </a:ext>
                </a:extLst>
              </p:cNvPr>
              <p:cNvSpPr/>
              <p:nvPr/>
            </p:nvSpPr>
            <p:spPr>
              <a:xfrm>
                <a:off x="1411176" y="4452289"/>
                <a:ext cx="927705" cy="428393"/>
              </a:xfrm>
              <a:prstGeom prst="ellipse">
                <a:avLst/>
              </a:prstGeom>
              <a:solidFill>
                <a:srgbClr val="FFFF00">
                  <a:alpha val="1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7964CC-05A1-8DE9-2371-E9ECF2CAC984}"/>
                </a:ext>
              </a:extLst>
            </p:cNvPr>
            <p:cNvSpPr/>
            <p:nvPr/>
          </p:nvSpPr>
          <p:spPr>
            <a:xfrm>
              <a:off x="746273" y="3762162"/>
              <a:ext cx="7886700" cy="646331"/>
            </a:xfrm>
            <a:prstGeom prst="roundRect">
              <a:avLst>
                <a:gd name="adj" fmla="val 6002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Identifying missing data, missing data entry is indicated with a "1"</a:t>
              </a:r>
              <a:endPara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400" b="0" i="0" dirty="0" err="1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ismissing</a:t>
              </a:r>
              <a:r>
                <a:rPr lang="en-US" sz="14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(dat1)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281CC5-46E1-1486-8E44-04FE5253AF5B}"/>
              </a:ext>
            </a:extLst>
          </p:cNvPr>
          <p:cNvSpPr txBox="1"/>
          <p:nvPr/>
        </p:nvSpPr>
        <p:spPr>
          <a:xfrm>
            <a:off x="7833972" y="1665338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 err="1">
                <a:hlinkClick r:id="rId5"/>
              </a:rPr>
              <a:t>ismissing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511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Remove the missing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6624E-B6E1-B11B-D28E-F097CC4D1B1F}"/>
              </a:ext>
            </a:extLst>
          </p:cNvPr>
          <p:cNvSpPr txBox="1"/>
          <p:nvPr/>
        </p:nvSpPr>
        <p:spPr>
          <a:xfrm>
            <a:off x="694925" y="1508731"/>
            <a:ext cx="34900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Missing/incomplete data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9D6891-9D93-CDF6-95F8-D89659A71660}"/>
              </a:ext>
            </a:extLst>
          </p:cNvPr>
          <p:cNvGrpSpPr/>
          <p:nvPr/>
        </p:nvGrpSpPr>
        <p:grpSpPr>
          <a:xfrm>
            <a:off x="968382" y="2167478"/>
            <a:ext cx="4686706" cy="1379340"/>
            <a:chOff x="585827" y="1552069"/>
            <a:chExt cx="4686706" cy="13793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E0EF9E-0B8D-77AE-52E2-C4A6F596D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827" y="1552069"/>
              <a:ext cx="4686706" cy="13793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6B89EC9-B9EE-14EF-9889-E0B883000A41}"/>
                </a:ext>
              </a:extLst>
            </p:cNvPr>
            <p:cNvSpPr/>
            <p:nvPr/>
          </p:nvSpPr>
          <p:spPr>
            <a:xfrm>
              <a:off x="1593547" y="1831991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D6C5BB-E1BE-4127-A994-DC07FFD3B389}"/>
              </a:ext>
            </a:extLst>
          </p:cNvPr>
          <p:cNvSpPr/>
          <p:nvPr/>
        </p:nvSpPr>
        <p:spPr>
          <a:xfrm>
            <a:off x="746273" y="3762162"/>
            <a:ext cx="7886700" cy="646331"/>
          </a:xfrm>
          <a:prstGeom prst="roundRect">
            <a:avLst>
              <a:gd name="adj" fmla="val 16107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Removing data samples with missing entries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cleanedData_removal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 ~] =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rmmissing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(dat1)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CDA14-BDD8-AC84-42AC-CA256A09EF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500"/>
          <a:stretch/>
        </p:blipFill>
        <p:spPr>
          <a:xfrm>
            <a:off x="1591905" y="4703721"/>
            <a:ext cx="5186155" cy="1291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矩形 8">
            <a:extLst>
              <a:ext uri="{FF2B5EF4-FFF2-40B4-BE49-F238E27FC236}">
                <a16:creationId xmlns:a16="http://schemas.microsoft.com/office/drawing/2014/main" id="{4024F39C-293C-3C8A-1191-285D05761835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6A32B-B043-4512-46F4-97D9913B3CEC}"/>
              </a:ext>
            </a:extLst>
          </p:cNvPr>
          <p:cNvSpPr txBox="1"/>
          <p:nvPr/>
        </p:nvSpPr>
        <p:spPr>
          <a:xfrm>
            <a:off x="7833972" y="1665338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 err="1">
                <a:hlinkClick r:id="rId5"/>
              </a:rPr>
              <a:t>rmmissing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19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Fix the missing data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512ACB-0503-D6B3-50FB-3A787D425137}"/>
              </a:ext>
            </a:extLst>
          </p:cNvPr>
          <p:cNvGrpSpPr/>
          <p:nvPr/>
        </p:nvGrpSpPr>
        <p:grpSpPr>
          <a:xfrm>
            <a:off x="907266" y="5265410"/>
            <a:ext cx="5418290" cy="1364098"/>
            <a:chOff x="896964" y="4839953"/>
            <a:chExt cx="5418290" cy="136409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5B85787-42EE-13DD-B9D3-C5F7E1B91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964" y="4839953"/>
              <a:ext cx="5418290" cy="136409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80CCA6A-22B7-8467-B2B8-ABDE52C48C19}"/>
                </a:ext>
              </a:extLst>
            </p:cNvPr>
            <p:cNvSpPr/>
            <p:nvPr/>
          </p:nvSpPr>
          <p:spPr>
            <a:xfrm>
              <a:off x="2678404" y="5133104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0E71F7-EFA1-2FD1-3BFF-92A688B61CDC}"/>
              </a:ext>
            </a:extLst>
          </p:cNvPr>
          <p:cNvGrpSpPr/>
          <p:nvPr/>
        </p:nvGrpSpPr>
        <p:grpSpPr>
          <a:xfrm>
            <a:off x="614990" y="1440083"/>
            <a:ext cx="6550145" cy="2328887"/>
            <a:chOff x="1306110" y="1564065"/>
            <a:chExt cx="6550145" cy="232888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060A251-2500-E2DE-2BB7-1E9AE02082B8}"/>
                </a:ext>
              </a:extLst>
            </p:cNvPr>
            <p:cNvSpPr txBox="1"/>
            <p:nvPr/>
          </p:nvSpPr>
          <p:spPr>
            <a:xfrm>
              <a:off x="1306110" y="1564065"/>
              <a:ext cx="34900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Missing/incomplete data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FCF05C-0C14-DE95-BA7F-F87B8F56E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8219" y="2102575"/>
              <a:ext cx="4686706" cy="137934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E67683-2D4F-E947-4049-49C0BBCD5932}"/>
                </a:ext>
              </a:extLst>
            </p:cNvPr>
            <p:cNvSpPr/>
            <p:nvPr/>
          </p:nvSpPr>
          <p:spPr>
            <a:xfrm>
              <a:off x="3332104" y="2715323"/>
              <a:ext cx="2825468" cy="707886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02C5B-63A0-CFC4-5AC7-3F984E03D916}"/>
                </a:ext>
              </a:extLst>
            </p:cNvPr>
            <p:cNvSpPr/>
            <p:nvPr/>
          </p:nvSpPr>
          <p:spPr>
            <a:xfrm>
              <a:off x="3314736" y="2307137"/>
              <a:ext cx="2825468" cy="224725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FD3B07-991F-5DE3-187E-65503E04F436}"/>
                </a:ext>
              </a:extLst>
            </p:cNvPr>
            <p:cNvSpPr/>
            <p:nvPr/>
          </p:nvSpPr>
          <p:spPr>
            <a:xfrm>
              <a:off x="2005400" y="2723305"/>
              <a:ext cx="812287" cy="707886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B3C311-9848-0B87-1277-CD64EBF81D49}"/>
                </a:ext>
              </a:extLst>
            </p:cNvPr>
            <p:cNvSpPr/>
            <p:nvPr/>
          </p:nvSpPr>
          <p:spPr>
            <a:xfrm>
              <a:off x="2002619" y="2309573"/>
              <a:ext cx="812287" cy="222289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003D8B-2D13-568C-CCC1-7EAD7AC96CDF}"/>
                </a:ext>
              </a:extLst>
            </p:cNvPr>
            <p:cNvSpPr/>
            <p:nvPr/>
          </p:nvSpPr>
          <p:spPr>
            <a:xfrm>
              <a:off x="2891977" y="2304234"/>
              <a:ext cx="401666" cy="222290"/>
            </a:xfrm>
            <a:prstGeom prst="rect">
              <a:avLst/>
            </a:prstGeom>
            <a:solidFill>
              <a:srgbClr val="7030A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670D9C-7B5C-331F-F3F8-03E56BB68D38}"/>
                </a:ext>
              </a:extLst>
            </p:cNvPr>
            <p:cNvSpPr/>
            <p:nvPr/>
          </p:nvSpPr>
          <p:spPr>
            <a:xfrm>
              <a:off x="2891977" y="2695963"/>
              <a:ext cx="401666" cy="735227"/>
            </a:xfrm>
            <a:prstGeom prst="rect">
              <a:avLst/>
            </a:prstGeom>
            <a:solidFill>
              <a:srgbClr val="7030A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4573A1-9EDA-C03A-6450-E46A511BDB04}"/>
                </a:ext>
              </a:extLst>
            </p:cNvPr>
            <p:cNvSpPr/>
            <p:nvPr/>
          </p:nvSpPr>
          <p:spPr>
            <a:xfrm>
              <a:off x="3314736" y="2511230"/>
              <a:ext cx="2825468" cy="224725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B2E4C0-FEAF-1977-353C-9D46541BE35E}"/>
                </a:ext>
              </a:extLst>
            </p:cNvPr>
            <p:cNvSpPr/>
            <p:nvPr/>
          </p:nvSpPr>
          <p:spPr>
            <a:xfrm>
              <a:off x="2013868" y="2515850"/>
              <a:ext cx="801038" cy="207455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32D539-87C6-9A22-17BF-6D738642ABB6}"/>
                </a:ext>
              </a:extLst>
            </p:cNvPr>
            <p:cNvSpPr txBox="1"/>
            <p:nvPr/>
          </p:nvSpPr>
          <p:spPr>
            <a:xfrm>
              <a:off x="6289215" y="2810890"/>
              <a:ext cx="156704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samples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54757D-7D3A-250C-FE96-6E5C8C17C4DA}"/>
                </a:ext>
              </a:extLst>
            </p:cNvPr>
            <p:cNvSpPr txBox="1"/>
            <p:nvPr/>
          </p:nvSpPr>
          <p:spPr>
            <a:xfrm>
              <a:off x="6233156" y="2474265"/>
              <a:ext cx="15670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Query sample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B600B3-967B-52F7-77C0-EC63998D1785}"/>
                </a:ext>
              </a:extLst>
            </p:cNvPr>
            <p:cNvSpPr/>
            <p:nvPr/>
          </p:nvSpPr>
          <p:spPr>
            <a:xfrm rot="21373461" flipV="1">
              <a:off x="6293335" y="3183498"/>
              <a:ext cx="765605" cy="150381"/>
            </a:xfrm>
            <a:custGeom>
              <a:avLst/>
              <a:gdLst>
                <a:gd name="connsiteX0" fmla="*/ 2216257 w 2216257"/>
                <a:gd name="connsiteY0" fmla="*/ 123987 h 123987"/>
                <a:gd name="connsiteX1" fmla="*/ 643179 w 2216257"/>
                <a:gd name="connsiteY1" fmla="*/ 0 h 123987"/>
                <a:gd name="connsiteX2" fmla="*/ 0 w 2216257"/>
                <a:gd name="connsiteY2" fmla="*/ 30997 h 12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6257" h="123987">
                  <a:moveTo>
                    <a:pt x="2216257" y="123987"/>
                  </a:moveTo>
                  <a:cubicBezTo>
                    <a:pt x="1614406" y="69742"/>
                    <a:pt x="1012555" y="15498"/>
                    <a:pt x="643179" y="0"/>
                  </a:cubicBezTo>
                  <a:lnTo>
                    <a:pt x="0" y="30997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6EA546-4ECD-47B3-2788-B0FFDBFE4F7C}"/>
                </a:ext>
              </a:extLst>
            </p:cNvPr>
            <p:cNvSpPr txBox="1"/>
            <p:nvPr/>
          </p:nvSpPr>
          <p:spPr>
            <a:xfrm>
              <a:off x="2435711" y="3492842"/>
              <a:ext cx="236045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Target value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0BD79AE-F7FC-475E-E6E8-C9443D6C61F0}"/>
                </a:ext>
              </a:extLst>
            </p:cNvPr>
            <p:cNvSpPr/>
            <p:nvPr/>
          </p:nvSpPr>
          <p:spPr>
            <a:xfrm>
              <a:off x="2535939" y="2382497"/>
              <a:ext cx="927705" cy="428393"/>
            </a:xfrm>
            <a:prstGeom prst="ellipse">
              <a:avLst/>
            </a:prstGeom>
            <a:solidFill>
              <a:srgbClr val="FFFF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7E2C3EE-31B1-3847-0239-CE706F6D2A65}"/>
                </a:ext>
              </a:extLst>
            </p:cNvPr>
            <p:cNvSpPr/>
            <p:nvPr/>
          </p:nvSpPr>
          <p:spPr>
            <a:xfrm>
              <a:off x="6281561" y="2271951"/>
              <a:ext cx="1408393" cy="618799"/>
            </a:xfrm>
            <a:custGeom>
              <a:avLst/>
              <a:gdLst>
                <a:gd name="connsiteX0" fmla="*/ 1108129 w 1270619"/>
                <a:gd name="connsiteY0" fmla="*/ 704881 h 704881"/>
                <a:gd name="connsiteX1" fmla="*/ 1177871 w 1270619"/>
                <a:gd name="connsiteY1" fmla="*/ 22956 h 704881"/>
                <a:gd name="connsiteX2" fmla="*/ 0 w 1270619"/>
                <a:gd name="connsiteY2" fmla="*/ 170190 h 70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619" h="704881">
                  <a:moveTo>
                    <a:pt x="1108129" y="704881"/>
                  </a:moveTo>
                  <a:cubicBezTo>
                    <a:pt x="1235344" y="408476"/>
                    <a:pt x="1362559" y="112071"/>
                    <a:pt x="1177871" y="22956"/>
                  </a:cubicBezTo>
                  <a:cubicBezTo>
                    <a:pt x="993183" y="-66159"/>
                    <a:pt x="299634" y="130153"/>
                    <a:pt x="0" y="17019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E69E50-331F-D274-3954-CCC25E50FF42}"/>
              </a:ext>
            </a:extLst>
          </p:cNvPr>
          <p:cNvSpPr/>
          <p:nvPr/>
        </p:nvSpPr>
        <p:spPr>
          <a:xfrm>
            <a:off x="837099" y="3774316"/>
            <a:ext cx="9016028" cy="1264508"/>
          </a:xfrm>
          <a:prstGeom prst="roundRect">
            <a:avLst>
              <a:gd name="adj" fmla="val 8829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Finding the k nearest neighbors from the incomplete data point by Euclidean distance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distance =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vecnorm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(dat1([1,3:end],[1:2,4:end]) - dat1(2,[1:2,4:end])', 2);</a:t>
            </a:r>
          </a:p>
          <a:p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[~, 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] = sort(distance);</a:t>
            </a:r>
          </a:p>
          <a:p>
            <a:r>
              <a:rPr lang="en-US" sz="14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Assigning the average to the missing value</a:t>
            </a:r>
            <a:endParaRPr lang="en-US" sz="14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dat1(2,3) = mean(dat1(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ind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(1:5),3), 1);</a:t>
            </a:r>
          </a:p>
        </p:txBody>
      </p:sp>
      <p:sp>
        <p:nvSpPr>
          <p:cNvPr id="25" name="矩形 8">
            <a:extLst>
              <a:ext uri="{FF2B5EF4-FFF2-40B4-BE49-F238E27FC236}">
                <a16:creationId xmlns:a16="http://schemas.microsoft.com/office/drawing/2014/main" id="{62EC00A4-B585-7BCA-593B-61753AD26E64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A3155-8270-1C8A-0BF3-B8479C3AFA23}"/>
              </a:ext>
            </a:extLst>
          </p:cNvPr>
          <p:cNvSpPr txBox="1"/>
          <p:nvPr/>
        </p:nvSpPr>
        <p:spPr>
          <a:xfrm>
            <a:off x="7833972" y="1665338"/>
            <a:ext cx="1986226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 err="1">
                <a:hlinkClick r:id="rId5"/>
              </a:rPr>
              <a:t>vecnorm</a:t>
            </a:r>
            <a:r>
              <a:rPr lang="en-GB" dirty="0"/>
              <a:t> </a:t>
            </a:r>
          </a:p>
          <a:p>
            <a:pPr algn="r"/>
            <a:r>
              <a:rPr lang="en-GB" dirty="0">
                <a:hlinkClick r:id="rId6"/>
              </a:rPr>
              <a:t>sort</a:t>
            </a:r>
            <a:endParaRPr lang="en-GB" dirty="0"/>
          </a:p>
          <a:p>
            <a:pPr algn="r"/>
            <a:r>
              <a:rPr lang="en-GB" dirty="0">
                <a:hlinkClick r:id="rId7"/>
              </a:rPr>
              <a:t>mean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232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Clear duplicated rows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5A127E-DB59-2AF4-985E-326C08DF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68" y="2132368"/>
            <a:ext cx="5441152" cy="1546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3600DB-4080-A4EF-7E9B-9463704383D8}"/>
              </a:ext>
            </a:extLst>
          </p:cNvPr>
          <p:cNvSpPr txBox="1"/>
          <p:nvPr/>
        </p:nvSpPr>
        <p:spPr>
          <a:xfrm>
            <a:off x="1152822" y="1490427"/>
            <a:ext cx="2326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Duplicated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990C1-6C23-92CE-57D8-26A9F0CAF9D6}"/>
              </a:ext>
            </a:extLst>
          </p:cNvPr>
          <p:cNvSpPr/>
          <p:nvPr/>
        </p:nvSpPr>
        <p:spPr>
          <a:xfrm>
            <a:off x="2088736" y="3108588"/>
            <a:ext cx="4791719" cy="587679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A18FD3-4D70-4CE5-21F6-5AD228E174C6}"/>
              </a:ext>
            </a:extLst>
          </p:cNvPr>
          <p:cNvGrpSpPr/>
          <p:nvPr/>
        </p:nvGrpSpPr>
        <p:grpSpPr>
          <a:xfrm>
            <a:off x="1500268" y="4822144"/>
            <a:ext cx="5380186" cy="1569856"/>
            <a:chOff x="860237" y="4219165"/>
            <a:chExt cx="5380186" cy="15698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3B05031-CF36-91D1-28CB-B7612A470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237" y="4219165"/>
              <a:ext cx="5380186" cy="156985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D7332C-42E8-E43B-3000-A349F241675F}"/>
                </a:ext>
              </a:extLst>
            </p:cNvPr>
            <p:cNvSpPr/>
            <p:nvPr/>
          </p:nvSpPr>
          <p:spPr>
            <a:xfrm>
              <a:off x="1407601" y="5201343"/>
              <a:ext cx="4791719" cy="176570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矩形 8">
            <a:extLst>
              <a:ext uri="{FF2B5EF4-FFF2-40B4-BE49-F238E27FC236}">
                <a16:creationId xmlns:a16="http://schemas.microsoft.com/office/drawing/2014/main" id="{DBE71ACF-0B56-1217-5365-9FF66AF4EDF3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7E9F5D-3FEB-A749-7216-DC4A99408717}"/>
              </a:ext>
            </a:extLst>
          </p:cNvPr>
          <p:cNvSpPr/>
          <p:nvPr/>
        </p:nvSpPr>
        <p:spPr>
          <a:xfrm>
            <a:off x="1390085" y="3936535"/>
            <a:ext cx="7886700" cy="663679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i="0" u="none" strike="noStrike" dirty="0">
                <a:solidFill>
                  <a:srgbClr val="008013"/>
                </a:solidFill>
                <a:effectLst/>
                <a:latin typeface="Consolas" panose="020B0609020204030204" pitchFamily="49" charset="0"/>
              </a:rPr>
              <a:t>% Finding unique data points</a:t>
            </a:r>
            <a:endParaRPr lang="en-US" sz="1600" b="0" i="0" dirty="0">
              <a:solidFill>
                <a:srgbClr val="21212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dat1 = unique(dat1,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'rows'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u="none" strike="noStrike" dirty="0">
                <a:solidFill>
                  <a:srgbClr val="A709F5"/>
                </a:solidFill>
                <a:effectLst/>
                <a:latin typeface="Consolas" panose="020B0609020204030204" pitchFamily="49" charset="0"/>
              </a:rPr>
              <a:t>'stable'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690FC-BC9C-E3D2-C38A-C60177684149}"/>
              </a:ext>
            </a:extLst>
          </p:cNvPr>
          <p:cNvSpPr txBox="1"/>
          <p:nvPr/>
        </p:nvSpPr>
        <p:spPr>
          <a:xfrm>
            <a:off x="9918441" y="2239629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>
                <a:hlinkClick r:id="rId5"/>
              </a:rPr>
              <a:t>unique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19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Clear a column with the same value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90FACC-055F-B88D-740B-7689D49A7956}"/>
              </a:ext>
            </a:extLst>
          </p:cNvPr>
          <p:cNvGrpSpPr/>
          <p:nvPr/>
        </p:nvGrpSpPr>
        <p:grpSpPr>
          <a:xfrm>
            <a:off x="4662148" y="1555645"/>
            <a:ext cx="4871560" cy="1383090"/>
            <a:chOff x="792152" y="1478997"/>
            <a:chExt cx="5104953" cy="14781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CBA1F8-5BBF-FA90-298E-F878657AE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152" y="1478997"/>
              <a:ext cx="5104953" cy="147812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889532-C2A7-B189-D5EB-E7D716BA473F}"/>
                </a:ext>
              </a:extLst>
            </p:cNvPr>
            <p:cNvSpPr/>
            <p:nvPr/>
          </p:nvSpPr>
          <p:spPr>
            <a:xfrm>
              <a:off x="3913322" y="1704489"/>
              <a:ext cx="658678" cy="1252637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E10752E-8059-FE71-EA58-5D0F9DA75D40}"/>
              </a:ext>
            </a:extLst>
          </p:cNvPr>
          <p:cNvGrpSpPr/>
          <p:nvPr/>
        </p:nvGrpSpPr>
        <p:grpSpPr>
          <a:xfrm>
            <a:off x="311563" y="3155644"/>
            <a:ext cx="10296797" cy="663679"/>
            <a:chOff x="311563" y="3155644"/>
            <a:chExt cx="10296797" cy="6636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4FA488-769E-2B40-44F7-50F97B7568C7}"/>
                </a:ext>
              </a:extLst>
            </p:cNvPr>
            <p:cNvGrpSpPr/>
            <p:nvPr/>
          </p:nvGrpSpPr>
          <p:grpSpPr>
            <a:xfrm>
              <a:off x="5503407" y="3208756"/>
              <a:ext cx="5104953" cy="534737"/>
              <a:chOff x="792151" y="3590815"/>
              <a:chExt cx="5104953" cy="53473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1890CBC-E95F-DA72-5BC9-F0AF77CDB7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151" y="3590815"/>
                <a:ext cx="5104953" cy="53473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172142-9143-A31C-AFEA-921428E2C085}"/>
                  </a:ext>
                </a:extLst>
              </p:cNvPr>
              <p:cNvSpPr/>
              <p:nvPr/>
            </p:nvSpPr>
            <p:spPr>
              <a:xfrm>
                <a:off x="3913322" y="3959818"/>
                <a:ext cx="658678" cy="152619"/>
              </a:xfrm>
              <a:prstGeom prst="rect">
                <a:avLst/>
              </a:prstGeom>
              <a:solidFill>
                <a:srgbClr val="FFC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CB5B3AF-8994-BC81-0F90-2C080D10352C}"/>
                </a:ext>
              </a:extLst>
            </p:cNvPr>
            <p:cNvSpPr/>
            <p:nvPr/>
          </p:nvSpPr>
          <p:spPr>
            <a:xfrm>
              <a:off x="311563" y="3155644"/>
              <a:ext cx="4957842" cy="663679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Finding the variances of each column</a:t>
              </a:r>
              <a:endPara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dat1_var = var(dat1, 1)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A7A4A3-93C2-3BE0-1426-C418DF985728}"/>
              </a:ext>
            </a:extLst>
          </p:cNvPr>
          <p:cNvGrpSpPr/>
          <p:nvPr/>
        </p:nvGrpSpPr>
        <p:grpSpPr>
          <a:xfrm>
            <a:off x="311563" y="4010100"/>
            <a:ext cx="11321016" cy="1687493"/>
            <a:chOff x="311563" y="4010100"/>
            <a:chExt cx="11321016" cy="16874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2C440A-A3A4-96D8-5BB7-F43B570E4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5255" y="4112496"/>
              <a:ext cx="5357324" cy="158509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B517720-26CE-A5ED-0295-2DE19E3DF5D7}"/>
                </a:ext>
              </a:extLst>
            </p:cNvPr>
            <p:cNvSpPr/>
            <p:nvPr/>
          </p:nvSpPr>
          <p:spPr>
            <a:xfrm>
              <a:off x="311563" y="4010100"/>
              <a:ext cx="5692422" cy="663679"/>
            </a:xfrm>
            <a:prstGeom prst="roundRect">
              <a:avLst/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0" i="0" u="none" strike="noStrike" dirty="0">
                  <a:solidFill>
                    <a:srgbClr val="008013"/>
                  </a:solidFill>
                  <a:effectLst/>
                  <a:latin typeface="Consolas" panose="020B0609020204030204" pitchFamily="49" charset="0"/>
                </a:rPr>
                <a:t>% Removing abundant columns with 0 variance</a:t>
              </a:r>
              <a:endParaRPr lang="en-US" sz="1600" b="0" i="0" dirty="0">
                <a:solidFill>
                  <a:srgbClr val="212121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sz="1600" b="0" i="0" dirty="0">
                  <a:solidFill>
                    <a:srgbClr val="212121"/>
                  </a:solidFill>
                  <a:effectLst/>
                  <a:latin typeface="Consolas" panose="020B0609020204030204" pitchFamily="49" charset="0"/>
                </a:rPr>
                <a:t>dat1(:,dat1_var ==0) = []</a:t>
              </a:r>
            </a:p>
          </p:txBody>
        </p:sp>
      </p:grpSp>
      <p:sp>
        <p:nvSpPr>
          <p:cNvPr id="15" name="矩形 8">
            <a:extLst>
              <a:ext uri="{FF2B5EF4-FFF2-40B4-BE49-F238E27FC236}">
                <a16:creationId xmlns:a16="http://schemas.microsoft.com/office/drawing/2014/main" id="{06EF3423-2F8C-92DF-B19C-F88D4179BD9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448B1-070B-FF70-F9E9-7D9FA0459135}"/>
              </a:ext>
            </a:extLst>
          </p:cNvPr>
          <p:cNvSpPr txBox="1"/>
          <p:nvPr/>
        </p:nvSpPr>
        <p:spPr>
          <a:xfrm>
            <a:off x="9918441" y="2239629"/>
            <a:ext cx="198622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Related functions:</a:t>
            </a:r>
          </a:p>
          <a:p>
            <a:pPr algn="r"/>
            <a:r>
              <a:rPr lang="en-GB" dirty="0">
                <a:hlinkClick r:id="rId6"/>
              </a:rPr>
              <a:t>var</a:t>
            </a:r>
            <a:r>
              <a:rPr lang="en-GB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01758-26E5-98FD-EB13-FB7201C185C4}"/>
              </a:ext>
            </a:extLst>
          </p:cNvPr>
          <p:cNvSpPr txBox="1"/>
          <p:nvPr/>
        </p:nvSpPr>
        <p:spPr>
          <a:xfrm>
            <a:off x="311563" y="1531164"/>
            <a:ext cx="4258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column with the same value</a:t>
            </a:r>
          </a:p>
        </p:txBody>
      </p:sp>
    </p:spTree>
    <p:extLst>
      <p:ext uri="{BB962C8B-B14F-4D97-AF65-F5344CB8AC3E}">
        <p14:creationId xmlns:p14="http://schemas.microsoft.com/office/powerpoint/2010/main" val="303320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B22A72-32CF-469B-BC71-D41821B80F6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E43C32C3-0979-436A-ACED-6E757B5403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473955-3893-440E-8F1C-7F476763A7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1862</TotalTime>
  <Words>419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Data Cleaning</vt:lpstr>
      <vt:lpstr>What is data cleaning?</vt:lpstr>
      <vt:lpstr>Benefits of data cleaning</vt:lpstr>
      <vt:lpstr>Identify the incorrect data</vt:lpstr>
      <vt:lpstr>Identify the missing data</vt:lpstr>
      <vt:lpstr>Remove the missing data</vt:lpstr>
      <vt:lpstr>Fix the missing data</vt:lpstr>
      <vt:lpstr>Clear duplicated rows </vt:lpstr>
      <vt:lpstr>Clear a column with the same value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74</cp:revision>
  <dcterms:created xsi:type="dcterms:W3CDTF">2021-01-06T14:22:07Z</dcterms:created>
  <dcterms:modified xsi:type="dcterms:W3CDTF">2024-06-26T16:04:17Z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