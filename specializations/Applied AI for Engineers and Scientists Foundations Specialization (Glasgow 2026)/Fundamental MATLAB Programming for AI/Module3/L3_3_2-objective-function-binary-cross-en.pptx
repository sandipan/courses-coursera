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497" r:id="rId6"/>
    <p:sldId id="496" r:id="rId7"/>
    <p:sldId id="498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EFB66-1ADD-4AEE-839A-AEE35C6CBFF0}" v="20" dt="2024-06-14T12:32:47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1727" autoAdjust="0"/>
  </p:normalViewPr>
  <p:slideViewPr>
    <p:cSldViewPr snapToGrid="0">
      <p:cViewPr varScale="1">
        <p:scale>
          <a:sx n="136" d="100"/>
          <a:sy n="136" d="100"/>
        </p:scale>
        <p:origin x="96" y="368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jia Hao (PGR)" userId="S::2357677h@student.gla.ac.uk::1d38b7b8-6fde-4ddd-9775-af09669ddf4c" providerId="AD" clId="Web-{A4FEFB66-1ADD-4AEE-839A-AEE35C6CBFF0}"/>
    <pc:docChg chg="modSld">
      <pc:chgData name="Yijia Hao (PGR)" userId="S::2357677h@student.gla.ac.uk::1d38b7b8-6fde-4ddd-9775-af09669ddf4c" providerId="AD" clId="Web-{A4FEFB66-1ADD-4AEE-839A-AEE35C6CBFF0}" dt="2024-06-14T12:32:47.505" v="19" actId="1076"/>
      <pc:docMkLst>
        <pc:docMk/>
      </pc:docMkLst>
      <pc:sldChg chg="modSp">
        <pc:chgData name="Yijia Hao (PGR)" userId="S::2357677h@student.gla.ac.uk::1d38b7b8-6fde-4ddd-9775-af09669ddf4c" providerId="AD" clId="Web-{A4FEFB66-1ADD-4AEE-839A-AEE35C6CBFF0}" dt="2024-06-14T12:32:47.505" v="19" actId="1076"/>
        <pc:sldMkLst>
          <pc:docMk/>
          <pc:sldMk cId="2008973965" sldId="498"/>
        </pc:sldMkLst>
        <pc:spChg chg="mod">
          <ac:chgData name="Yijia Hao (PGR)" userId="S::2357677h@student.gla.ac.uk::1d38b7b8-6fde-4ddd-9775-af09669ddf4c" providerId="AD" clId="Web-{A4FEFB66-1ADD-4AEE-839A-AEE35C6CBFF0}" dt="2024-06-14T12:32:32.504" v="11" actId="1076"/>
          <ac:spMkLst>
            <pc:docMk/>
            <pc:sldMk cId="2008973965" sldId="498"/>
            <ac:spMk id="2" creationId="{CB4A1AD0-0980-F1AC-2B88-39D85CEF0A36}"/>
          </ac:spMkLst>
        </pc:spChg>
        <pc:spChg chg="mod">
          <ac:chgData name="Yijia Hao (PGR)" userId="S::2357677h@student.gla.ac.uk::1d38b7b8-6fde-4ddd-9775-af09669ddf4c" providerId="AD" clId="Web-{A4FEFB66-1ADD-4AEE-839A-AEE35C6CBFF0}" dt="2024-06-14T12:32:20.332" v="3" actId="1076"/>
          <ac:spMkLst>
            <pc:docMk/>
            <pc:sldMk cId="2008973965" sldId="498"/>
            <ac:spMk id="3" creationId="{2B6DD249-7DC5-41B8-B2E7-96DC86C56FAD}"/>
          </ac:spMkLst>
        </pc:spChg>
        <pc:spChg chg="mod">
          <ac:chgData name="Yijia Hao (PGR)" userId="S::2357677h@student.gla.ac.uk::1d38b7b8-6fde-4ddd-9775-af09669ddf4c" providerId="AD" clId="Web-{A4FEFB66-1ADD-4AEE-839A-AEE35C6CBFF0}" dt="2024-06-14T12:32:32.504" v="10" actId="1076"/>
          <ac:spMkLst>
            <pc:docMk/>
            <pc:sldMk cId="2008973965" sldId="498"/>
            <ac:spMk id="4" creationId="{FB35586C-6CDB-31F9-D911-528BA1652410}"/>
          </ac:spMkLst>
        </pc:spChg>
        <pc:spChg chg="mod">
          <ac:chgData name="Yijia Hao (PGR)" userId="S::2357677h@student.gla.ac.uk::1d38b7b8-6fde-4ddd-9775-af09669ddf4c" providerId="AD" clId="Web-{A4FEFB66-1ADD-4AEE-839A-AEE35C6CBFF0}" dt="2024-06-14T12:32:45.317" v="18" actId="1076"/>
          <ac:spMkLst>
            <pc:docMk/>
            <pc:sldMk cId="2008973965" sldId="498"/>
            <ac:spMk id="9" creationId="{981280E8-5DCE-512C-0FB7-635401267774}"/>
          </ac:spMkLst>
        </pc:spChg>
        <pc:picChg chg="mod">
          <ac:chgData name="Yijia Hao (PGR)" userId="S::2357677h@student.gla.ac.uk::1d38b7b8-6fde-4ddd-9775-af09669ddf4c" providerId="AD" clId="Web-{A4FEFB66-1ADD-4AEE-839A-AEE35C6CBFF0}" dt="2024-06-14T12:32:41.645" v="16" actId="1076"/>
          <ac:picMkLst>
            <pc:docMk/>
            <pc:sldMk cId="2008973965" sldId="498"/>
            <ac:picMk id="5" creationId="{05EFD0AF-C5B2-983D-BE01-489D697656C4}"/>
          </ac:picMkLst>
        </pc:picChg>
        <pc:picChg chg="mod">
          <ac:chgData name="Yijia Hao (PGR)" userId="S::2357677h@student.gla.ac.uk::1d38b7b8-6fde-4ddd-9775-af09669ddf4c" providerId="AD" clId="Web-{A4FEFB66-1ADD-4AEE-839A-AEE35C6CBFF0}" dt="2024-06-14T12:32:41.676" v="17" actId="1076"/>
          <ac:picMkLst>
            <pc:docMk/>
            <pc:sldMk cId="2008973965" sldId="498"/>
            <ac:picMk id="6" creationId="{68F65D32-C958-4A7D-F487-058418DFAF6C}"/>
          </ac:picMkLst>
        </pc:picChg>
        <pc:cxnChg chg="mod">
          <ac:chgData name="Yijia Hao (PGR)" userId="S::2357677h@student.gla.ac.uk::1d38b7b8-6fde-4ddd-9775-af09669ddf4c" providerId="AD" clId="Web-{A4FEFB66-1ADD-4AEE-839A-AEE35C6CBFF0}" dt="2024-06-14T12:32:47.505" v="19" actId="1076"/>
          <ac:cxnSpMkLst>
            <pc:docMk/>
            <pc:sldMk cId="2008973965" sldId="498"/>
            <ac:cxnSpMk id="7" creationId="{8409300A-89BB-1F48-F081-30BA6AB0F4D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9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98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57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Write An Objective Function (2)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Binary cross entropy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76C9BBB-CB22-049F-8B31-5A739B2D3FF0}"/>
              </a:ext>
            </a:extLst>
          </p:cNvPr>
          <p:cNvSpPr txBox="1">
            <a:spLocks/>
          </p:cNvSpPr>
          <p:nvPr/>
        </p:nvSpPr>
        <p:spPr>
          <a:xfrm>
            <a:off x="565564" y="1603842"/>
            <a:ext cx="10201910" cy="17382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The binary cross entropy function can be used to calculate the error between a predicted probability and the true probability.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7BA865-6157-C914-B7AC-17B716074A91}"/>
                  </a:ext>
                </a:extLst>
              </p:cNvPr>
              <p:cNvSpPr txBox="1"/>
              <p:nvPr/>
            </p:nvSpPr>
            <p:spPr>
              <a:xfrm>
                <a:off x="2549236" y="4860133"/>
                <a:ext cx="6397148" cy="1963999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GB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)∙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GB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en-GB" dirty="0">
                  <a:solidFill>
                    <a:schemeClr val="tx2"/>
                  </a:solidFill>
                </a:endParaRPr>
              </a:p>
              <a:p>
                <a:r>
                  <a:rPr lang="en-GB" dirty="0">
                    <a:solidFill>
                      <a:schemeClr val="tx2"/>
                    </a:solidFill>
                  </a:rPr>
                  <a:t>where:</a:t>
                </a:r>
              </a:p>
              <a:p>
                <a:r>
                  <a:rPr lang="en-GB" i="1" dirty="0">
                    <a:solidFill>
                      <a:schemeClr val="tx2"/>
                    </a:solidFill>
                  </a:rPr>
                  <a:t>    n  </a:t>
                </a:r>
                <a:r>
                  <a:rPr lang="en-GB" dirty="0">
                    <a:solidFill>
                      <a:schemeClr val="tx2"/>
                    </a:solidFill>
                  </a:rPr>
                  <a:t>:</a:t>
                </a:r>
                <a:r>
                  <a:rPr lang="en-GB" i="1" dirty="0">
                    <a:solidFill>
                      <a:schemeClr val="tx2"/>
                    </a:solidFill>
                  </a:rPr>
                  <a:t> </a:t>
                </a:r>
                <a:r>
                  <a:rPr lang="en-GB" dirty="0">
                    <a:solidFill>
                      <a:schemeClr val="tx2"/>
                    </a:solidFill>
                  </a:rPr>
                  <a:t>number of samples</a:t>
                </a:r>
              </a:p>
              <a:p>
                <a:r>
                  <a:rPr lang="en-GB" dirty="0">
                    <a:solidFill>
                      <a:schemeClr val="tx2"/>
                    </a:solidFill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2"/>
                    </a:solidFill>
                  </a:rPr>
                  <a:t> : i</a:t>
                </a:r>
                <a:r>
                  <a:rPr lang="en-GB" baseline="30000" dirty="0">
                    <a:solidFill>
                      <a:schemeClr val="tx2"/>
                    </a:solidFill>
                  </a:rPr>
                  <a:t>th</a:t>
                </a:r>
                <a:r>
                  <a:rPr lang="en-GB" dirty="0">
                    <a:solidFill>
                      <a:schemeClr val="tx2"/>
                    </a:solidFill>
                  </a:rPr>
                  <a:t> true identify of </a:t>
                </a:r>
                <a:r>
                  <a:rPr lang="en-GB" i="1" dirty="0">
                    <a:solidFill>
                      <a:schemeClr val="tx2"/>
                    </a:solidFill>
                  </a:rPr>
                  <a:t>Y</a:t>
                </a:r>
                <a:r>
                  <a:rPr lang="en-GB" dirty="0">
                    <a:solidFill>
                      <a:schemeClr val="tx2"/>
                    </a:solidFill>
                  </a:rPr>
                  <a:t> (called “Label”), either 0 or 1</a:t>
                </a:r>
              </a:p>
              <a:p>
                <a:r>
                  <a:rPr lang="en-GB" dirty="0">
                    <a:solidFill>
                      <a:schemeClr val="tx2"/>
                    </a:solidFill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2"/>
                    </a:solidFill>
                  </a:rPr>
                  <a:t> : </a:t>
                </a:r>
                <a:r>
                  <a:rPr lang="en-GB" dirty="0" err="1">
                    <a:solidFill>
                      <a:schemeClr val="tx2"/>
                    </a:solidFill>
                  </a:rPr>
                  <a:t>i</a:t>
                </a:r>
                <a:r>
                  <a:rPr lang="en-GB" baseline="30000" dirty="0" err="1">
                    <a:solidFill>
                      <a:schemeClr val="tx2"/>
                    </a:solidFill>
                  </a:rPr>
                  <a:t>th</a:t>
                </a:r>
                <a:r>
                  <a:rPr lang="en-GB" dirty="0">
                    <a:solidFill>
                      <a:schemeClr val="tx2"/>
                    </a:solidFill>
                  </a:rPr>
                  <a:t> prediction of the probability that </a:t>
                </a:r>
                <a:r>
                  <a:rPr lang="en-GB" i="1" dirty="0">
                    <a:solidFill>
                      <a:schemeClr val="tx2"/>
                    </a:solidFill>
                  </a:rPr>
                  <a:t>Y</a:t>
                </a:r>
                <a:r>
                  <a:rPr lang="en-GB" dirty="0">
                    <a:solidFill>
                      <a:schemeClr val="tx2"/>
                    </a:solidFill>
                  </a:rPr>
                  <a:t> is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7BA865-6157-C914-B7AC-17B71607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236" y="4860133"/>
                <a:ext cx="6397148" cy="1963999"/>
              </a:xfrm>
              <a:prstGeom prst="rect">
                <a:avLst/>
              </a:prstGeom>
              <a:blipFill>
                <a:blip r:embed="rId3"/>
                <a:stretch>
                  <a:fillRect l="-665" b="-3704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97B420C-7101-7CB6-9151-7AA621624C46}"/>
              </a:ext>
            </a:extLst>
          </p:cNvPr>
          <p:cNvSpPr txBox="1">
            <a:spLocks/>
          </p:cNvSpPr>
          <p:nvPr/>
        </p:nvSpPr>
        <p:spPr>
          <a:xfrm>
            <a:off x="565564" y="2255425"/>
            <a:ext cx="11463038" cy="33158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sz="2100" dirty="0"/>
              <a:t>The “binary” refers to the fact that the true identity of the data item is one of two discrete types.</a:t>
            </a:r>
            <a:endParaRPr lang="en-GB" sz="2100" dirty="0"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sz="2100" dirty="0"/>
              <a:t>When the data item can belong to more than two discrete types, then we must use Categorical Cross Entropy.</a:t>
            </a:r>
          </a:p>
          <a:p>
            <a:pPr marL="457200" lvl="1" indent="0">
              <a:lnSpc>
                <a:spcPct val="100000"/>
              </a:lnSpc>
              <a:spcBef>
                <a:spcPts val="300"/>
              </a:spcBef>
              <a:buNone/>
            </a:pPr>
            <a:endParaRPr lang="en-GB" sz="2100" dirty="0"/>
          </a:p>
          <a:p>
            <a: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GB" dirty="0"/>
              <a:t>Frequently used as a loss function when predicting probabilities that an item belongs to one of two categories:</a:t>
            </a:r>
            <a:endParaRPr lang="en-GB" dirty="0"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GB" dirty="0"/>
              <a:t>Formula:</a:t>
            </a:r>
          </a:p>
        </p:txBody>
      </p:sp>
    </p:spTree>
    <p:extLst>
      <p:ext uri="{BB962C8B-B14F-4D97-AF65-F5344CB8AC3E}">
        <p14:creationId xmlns:p14="http://schemas.microsoft.com/office/powerpoint/2010/main" val="419618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Binary cross entropy visualization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835EA6-0F07-F198-4993-55CD4212AFBB}"/>
              </a:ext>
            </a:extLst>
          </p:cNvPr>
          <p:cNvSpPr txBox="1">
            <a:spLocks/>
          </p:cNvSpPr>
          <p:nvPr/>
        </p:nvSpPr>
        <p:spPr>
          <a:xfrm>
            <a:off x="939042" y="1497600"/>
            <a:ext cx="9210963" cy="51632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We can plot the value of the binary cross entropy function against the prediction for the case when the true label is 0 and 1: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2800" dirty="0"/>
          </a:p>
          <a:p>
            <a:endParaRPr lang="en-GB" dirty="0"/>
          </a:p>
          <a:p>
            <a:r>
              <a:rPr lang="en-GB" dirty="0"/>
              <a:t>Note, asymptotic at P = 0 and P = 1</a:t>
            </a:r>
          </a:p>
        </p:txBody>
      </p:sp>
      <p:pic>
        <p:nvPicPr>
          <p:cNvPr id="3" name="Picture 2" descr="Chart&#10;&#10;Description automatically generated with low confidence">
            <a:extLst>
              <a:ext uri="{FF2B5EF4-FFF2-40B4-BE49-F238E27FC236}">
                <a16:creationId xmlns:a16="http://schemas.microsoft.com/office/drawing/2014/main" id="{B1E2B956-1632-965E-E9A5-90F79CE65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869" y="2273416"/>
            <a:ext cx="4752544" cy="3564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082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Binary cross entropy in MATLAB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B4A1AD0-0980-F1AC-2B88-39D85CEF0A36}"/>
              </a:ext>
            </a:extLst>
          </p:cNvPr>
          <p:cNvSpPr txBox="1">
            <a:spLocks/>
          </p:cNvSpPr>
          <p:nvPr/>
        </p:nvSpPr>
        <p:spPr>
          <a:xfrm>
            <a:off x="974090" y="1436000"/>
            <a:ext cx="10108669" cy="55777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cs typeface="Times New Roman"/>
              </a:rPr>
              <a:t>Binary cross entropy function as MATLAB code:</a:t>
            </a:r>
          </a:p>
          <a:p>
            <a:pPr>
              <a:spcBef>
                <a:spcPts val="1200"/>
              </a:spcBef>
            </a:pPr>
            <a:endParaRPr lang="en-GB" dirty="0">
              <a:cs typeface="Times New Roman"/>
            </a:endParaRPr>
          </a:p>
          <a:p>
            <a:pPr>
              <a:spcBef>
                <a:spcPts val="1200"/>
              </a:spcBef>
            </a:pPr>
            <a:endParaRPr lang="en-GB" dirty="0">
              <a:cs typeface="Times New Roman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sz="700" dirty="0">
              <a:cs typeface="Times New Roman"/>
            </a:endParaRP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>
                <a:cs typeface="Times New Roman"/>
              </a:rPr>
              <a:t>Example: classifying animals in images. An image can contain a horse (label = 0), or a dog (label = 1).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latin typeface="Arial"/>
                <a:cs typeface="Times New Roman"/>
              </a:rPr>
              <a:t>Two models are shown a picture of a dog and predict probabilities of the image containing a dog of 0.5 and 0.95. Quantify the accuracy of each prediction using the binary cross entropy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DD249-7DC5-41B8-B2E7-96DC86C56FAD}"/>
              </a:ext>
            </a:extLst>
          </p:cNvPr>
          <p:cNvSpPr txBox="1"/>
          <p:nvPr/>
        </p:nvSpPr>
        <p:spPr>
          <a:xfrm>
            <a:off x="1121088" y="1942556"/>
            <a:ext cx="8843044" cy="919401"/>
          </a:xfrm>
          <a:prstGeom prst="roundRect">
            <a:avLst>
              <a:gd name="adj" fmla="val 12649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function </a:t>
            </a:r>
            <a:r>
              <a:rPr lang="en-GB" sz="1600" dirty="0">
                <a:solidFill>
                  <a:schemeClr val="tx2"/>
                </a:solidFill>
                <a:latin typeface="Consolas"/>
              </a:rPr>
              <a:t>loss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= </a:t>
            </a:r>
            <a:r>
              <a:rPr lang="en-GB" sz="1600" dirty="0" err="1">
                <a:solidFill>
                  <a:schemeClr val="tx2"/>
                </a:solidFill>
                <a:latin typeface="Consolas"/>
              </a:rPr>
              <a:t>binaryCrossEntropy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</a:rPr>
              <a:t>(preds, labels)</a:t>
            </a:r>
            <a:endParaRPr lang="en-GB" sz="1600" b="0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    loss 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  <a:ea typeface="+mn-lt"/>
                <a:cs typeface="+mn-lt"/>
              </a:rPr>
              <a:t>= </a:t>
            </a:r>
            <a:r>
              <a:rPr lang="en-GB" sz="1600" dirty="0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-</a:t>
            </a:r>
            <a:r>
              <a:rPr lang="en-GB" sz="1600" b="0" i="0" dirty="0">
                <a:solidFill>
                  <a:schemeClr val="tx2"/>
                </a:solidFill>
                <a:effectLst/>
                <a:latin typeface="Consolas"/>
                <a:ea typeface="+mn-lt"/>
                <a:cs typeface="+mn-lt"/>
              </a:rPr>
              <a:t>mean</a:t>
            </a:r>
            <a:r>
              <a:rPr lang="en-GB" sz="1600" dirty="0">
                <a:solidFill>
                  <a:schemeClr val="tx2"/>
                </a:solidFill>
                <a:latin typeface="Consolas"/>
                <a:ea typeface="+mn-lt"/>
                <a:cs typeface="+mn-lt"/>
              </a:rPr>
              <a:t>(labels.*log(preds) + (1-labels).*log(1-preds));</a:t>
            </a:r>
            <a:endParaRPr lang="en-GB" sz="1600" b="0" i="0" dirty="0">
              <a:solidFill>
                <a:schemeClr val="tx2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E00FF"/>
                </a:solidFill>
                <a:effectLst/>
                <a:latin typeface="Consolas"/>
              </a:rPr>
              <a:t>end</a:t>
            </a:r>
            <a:endParaRPr lang="en-GB" sz="1600" b="0" i="0" dirty="0">
              <a:effectLst/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5586C-6CDB-31F9-D911-528BA1652410}"/>
              </a:ext>
            </a:extLst>
          </p:cNvPr>
          <p:cNvSpPr txBox="1"/>
          <p:nvPr/>
        </p:nvSpPr>
        <p:spPr>
          <a:xfrm>
            <a:off x="3972253" y="4992903"/>
            <a:ext cx="3245428" cy="374571"/>
          </a:xfrm>
          <a:prstGeom prst="roundRect">
            <a:avLst/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600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l = 1; p1 = 0.5; p2 = 0.95;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FD0AF-C5B2-983D-BE01-489D69765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17" y="5599215"/>
            <a:ext cx="2495898" cy="10574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F65D32-C958-4A7D-F487-058418DFAF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6061" b="-6061"/>
          <a:stretch/>
        </p:blipFill>
        <p:spPr>
          <a:xfrm>
            <a:off x="6399821" y="5599215"/>
            <a:ext cx="2467319" cy="10574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09300A-89BB-1F48-F081-30BA6AB0F4D9}"/>
              </a:ext>
            </a:extLst>
          </p:cNvPr>
          <p:cNvCxnSpPr/>
          <p:nvPr/>
        </p:nvCxnSpPr>
        <p:spPr>
          <a:xfrm>
            <a:off x="6008086" y="6491839"/>
            <a:ext cx="46031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1280E8-5DCE-512C-0FB7-635401267774}"/>
              </a:ext>
            </a:extLst>
          </p:cNvPr>
          <p:cNvSpPr txBox="1"/>
          <p:nvPr/>
        </p:nvSpPr>
        <p:spPr>
          <a:xfrm>
            <a:off x="4615954" y="630997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Loss is lower</a:t>
            </a:r>
          </a:p>
        </p:txBody>
      </p:sp>
      <p:sp>
        <p:nvSpPr>
          <p:cNvPr id="13" name="矩形 8">
            <a:extLst>
              <a:ext uri="{FF2B5EF4-FFF2-40B4-BE49-F238E27FC236}">
                <a16:creationId xmlns:a16="http://schemas.microsoft.com/office/drawing/2014/main" id="{C4C9BFB9-C36D-66AD-D0EE-DAFE439DA608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897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B59F1900-C5AA-4438-8BF9-3804B19200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1865</TotalTime>
  <Words>323</Words>
  <Application>Microsoft Office PowerPoint</Application>
  <PresentationFormat>Widescreen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 Math</vt:lpstr>
      <vt:lpstr>Consolas</vt:lpstr>
      <vt:lpstr>Times New Roman</vt:lpstr>
      <vt:lpstr>Office Theme</vt:lpstr>
      <vt:lpstr>Write An Objective Function (2)  </vt:lpstr>
      <vt:lpstr>Binary cross entropy</vt:lpstr>
      <vt:lpstr>Binary cross entropy visualization</vt:lpstr>
      <vt:lpstr>Binary cross entropy in MATLAB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74</cp:revision>
  <dcterms:created xsi:type="dcterms:W3CDTF">2021-01-06T14:22:07Z</dcterms:created>
  <dcterms:modified xsi:type="dcterms:W3CDTF">2024-06-26T15:31:34Z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