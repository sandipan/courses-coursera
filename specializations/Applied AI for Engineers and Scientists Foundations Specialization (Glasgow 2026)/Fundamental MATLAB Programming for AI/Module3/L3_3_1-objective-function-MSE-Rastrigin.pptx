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4" r:id="rId6"/>
    <p:sldId id="499" r:id="rId7"/>
    <p:sldId id="498" r:id="rId8"/>
    <p:sldId id="497" r:id="rId9"/>
    <p:sldId id="496" r:id="rId10"/>
    <p:sldId id="50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93F1AC-4989-46BD-AED3-2E23B874D765}" v="3" dt="2024-06-14T19:09:42.753"/>
    <p1510:client id="{F8D912C9-7613-41F2-A0FE-A5CF5F21A354}" v="4" dt="2024-06-14T12:31:39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jia Hao (PGR)" userId="S::2357677h@student.gla.ac.uk::1d38b7b8-6fde-4ddd-9775-af09669ddf4c" providerId="AD" clId="Web-{F8D912C9-7613-41F2-A0FE-A5CF5F21A354}"/>
    <pc:docChg chg="modSld">
      <pc:chgData name="Yijia Hao (PGR)" userId="S::2357677h@student.gla.ac.uk::1d38b7b8-6fde-4ddd-9775-af09669ddf4c" providerId="AD" clId="Web-{F8D912C9-7613-41F2-A0FE-A5CF5F21A354}" dt="2024-06-14T12:31:39.976" v="3" actId="14100"/>
      <pc:docMkLst>
        <pc:docMk/>
      </pc:docMkLst>
      <pc:sldChg chg="modSp">
        <pc:chgData name="Yijia Hao (PGR)" userId="S::2357677h@student.gla.ac.uk::1d38b7b8-6fde-4ddd-9775-af09669ddf4c" providerId="AD" clId="Web-{F8D912C9-7613-41F2-A0FE-A5CF5F21A354}" dt="2024-06-14T12:31:04.210" v="0" actId="20577"/>
        <pc:sldMkLst>
          <pc:docMk/>
          <pc:sldMk cId="676015318" sldId="494"/>
        </pc:sldMkLst>
        <pc:spChg chg="mod">
          <ac:chgData name="Yijia Hao (PGR)" userId="S::2357677h@student.gla.ac.uk::1d38b7b8-6fde-4ddd-9775-af09669ddf4c" providerId="AD" clId="Web-{F8D912C9-7613-41F2-A0FE-A5CF5F21A354}" dt="2024-06-14T12:31:04.210" v="0" actId="20577"/>
          <ac:spMkLst>
            <pc:docMk/>
            <pc:sldMk cId="676015318" sldId="494"/>
            <ac:spMk id="2" creationId="{90711493-4967-884D-3DDD-CC226A3D623C}"/>
          </ac:spMkLst>
        </pc:spChg>
      </pc:sldChg>
      <pc:sldChg chg="modSp">
        <pc:chgData name="Yijia Hao (PGR)" userId="S::2357677h@student.gla.ac.uk::1d38b7b8-6fde-4ddd-9775-af09669ddf4c" providerId="AD" clId="Web-{F8D912C9-7613-41F2-A0FE-A5CF5F21A354}" dt="2024-06-14T12:31:39.976" v="3" actId="14100"/>
        <pc:sldMkLst>
          <pc:docMk/>
          <pc:sldMk cId="2316898517" sldId="500"/>
        </pc:sldMkLst>
        <pc:spChg chg="mod">
          <ac:chgData name="Yijia Hao (PGR)" userId="S::2357677h@student.gla.ac.uk::1d38b7b8-6fde-4ddd-9775-af09669ddf4c" providerId="AD" clId="Web-{F8D912C9-7613-41F2-A0FE-A5CF5F21A354}" dt="2024-06-14T12:31:39.976" v="3" actId="14100"/>
          <ac:spMkLst>
            <pc:docMk/>
            <pc:sldMk cId="2316898517" sldId="500"/>
            <ac:spMk id="5" creationId="{6E9C8176-2799-8612-6BAE-7200DAA0B7B2}"/>
          </ac:spMkLst>
        </pc:spChg>
      </pc:sldChg>
    </pc:docChg>
  </pc:docChgLst>
  <pc:docChgLst>
    <pc:chgData name="Yushi Liu (PGR)" userId="S::2109741l@student.gla.ac.uk::0738f1d2-bd1d-4f8b-945a-b877be0bfefb" providerId="AD" clId="Web-{B393F1AC-4989-46BD-AED3-2E23B874D765}"/>
    <pc:docChg chg="modSld">
      <pc:chgData name="Yushi Liu (PGR)" userId="S::2109741l@student.gla.ac.uk::0738f1d2-bd1d-4f8b-945a-b877be0bfefb" providerId="AD" clId="Web-{B393F1AC-4989-46BD-AED3-2E23B874D765}" dt="2024-06-14T19:09:42.753" v="2"/>
      <pc:docMkLst>
        <pc:docMk/>
      </pc:docMkLst>
      <pc:sldChg chg="delAnim modAnim">
        <pc:chgData name="Yushi Liu (PGR)" userId="S::2109741l@student.gla.ac.uk::0738f1d2-bd1d-4f8b-945a-b877be0bfefb" providerId="AD" clId="Web-{B393F1AC-4989-46BD-AED3-2E23B874D765}" dt="2024-06-14T19:09:35.987" v="1"/>
        <pc:sldMkLst>
          <pc:docMk/>
          <pc:sldMk cId="74760755" sldId="498"/>
        </pc:sldMkLst>
      </pc:sldChg>
      <pc:sldChg chg="delAnim">
        <pc:chgData name="Yushi Liu (PGR)" userId="S::2109741l@student.gla.ac.uk::0738f1d2-bd1d-4f8b-945a-b877be0bfefb" providerId="AD" clId="Web-{B393F1AC-4989-46BD-AED3-2E23B874D765}" dt="2024-06-14T19:09:42.753" v="2"/>
        <pc:sldMkLst>
          <pc:docMk/>
          <pc:sldMk cId="2316898517" sldId="5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26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93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88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4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86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26/06/2024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Write An Objective Function (1)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Objective functions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0711493-4967-884D-3DDD-CC226A3D623C}"/>
              </a:ext>
            </a:extLst>
          </p:cNvPr>
          <p:cNvSpPr txBox="1">
            <a:spLocks/>
          </p:cNvSpPr>
          <p:nvPr/>
        </p:nvSpPr>
        <p:spPr>
          <a:xfrm>
            <a:off x="694613" y="1565840"/>
            <a:ext cx="9485087" cy="1671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dirty="0">
                <a:latin typeface="Arial"/>
                <a:cs typeface="Arial"/>
              </a:rPr>
              <a:t>It is often necessary to write a function for evaluation purpose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Arial"/>
                <a:cs typeface="Arial"/>
              </a:rPr>
              <a:t>Cost functions (used everywhere): evaluate the cost of a given problem solution.</a:t>
            </a:r>
            <a:endParaRPr lang="en-GB" sz="21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A57C91-8FB7-27A8-6A76-9F35F66EEBA3}"/>
              </a:ext>
            </a:extLst>
          </p:cNvPr>
          <p:cNvSpPr txBox="1">
            <a:spLocks/>
          </p:cNvSpPr>
          <p:nvPr/>
        </p:nvSpPr>
        <p:spPr>
          <a:xfrm>
            <a:off x="694613" y="2857620"/>
            <a:ext cx="11295224" cy="3865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GB" dirty="0">
                <a:latin typeface="Arial"/>
                <a:cs typeface="Arial"/>
              </a:rPr>
              <a:t>Loss functions (used in machine learning): evaluate how wrong an answer is.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Arial"/>
                <a:cs typeface="Arial"/>
              </a:rPr>
              <a:t>Fitness functions (used by genetic algorithms): opposite to loss functions.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dirty="0">
                <a:latin typeface="Arial"/>
                <a:cs typeface="Arial"/>
              </a:rPr>
              <a:t>These types of functions have the same purpose: they evaluate the performance of a provided input.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dirty="0">
                <a:latin typeface="Arial"/>
                <a:cs typeface="Arial"/>
              </a:rPr>
              <a:t>In this session we will write the following functions in MATLAB: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Arial"/>
                <a:cs typeface="Arial"/>
              </a:rPr>
              <a:t>Mean squared error.</a:t>
            </a:r>
          </a:p>
          <a:p>
            <a:pPr lvl="1">
              <a:lnSpc>
                <a:spcPct val="100000"/>
              </a:lnSpc>
            </a:pPr>
            <a:r>
              <a:rPr lang="en-GB" dirty="0" err="1">
                <a:latin typeface="Arial"/>
                <a:cs typeface="Arial"/>
              </a:rPr>
              <a:t>Rastrigin</a:t>
            </a:r>
            <a:r>
              <a:rPr lang="en-GB" dirty="0">
                <a:latin typeface="Arial"/>
                <a:cs typeface="Arial"/>
              </a:rPr>
              <a:t> benchmark function.</a:t>
            </a:r>
          </a:p>
          <a:p>
            <a:pPr lvl="1">
              <a:lnSpc>
                <a:spcPct val="100000"/>
              </a:lnSpc>
            </a:pPr>
            <a:r>
              <a:rPr lang="en-GB">
                <a:latin typeface="Arial"/>
                <a:cs typeface="Arial"/>
              </a:rPr>
              <a:t>Binary cross </a:t>
            </a:r>
            <a:r>
              <a:rPr lang="en-GB" dirty="0">
                <a:latin typeface="Arial"/>
                <a:cs typeface="Arial"/>
              </a:rPr>
              <a:t>e</a:t>
            </a:r>
            <a:r>
              <a:rPr lang="en-GB">
                <a:latin typeface="Arial"/>
                <a:cs typeface="Arial"/>
              </a:rPr>
              <a:t>ntropy </a:t>
            </a:r>
            <a:r>
              <a:rPr lang="en-GB" dirty="0">
                <a:latin typeface="Arial"/>
                <a:cs typeface="Arial"/>
              </a:rPr>
              <a:t>function (next session).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Mean Squared Error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0137DD5-5C27-822B-2897-5A183B13EE68}"/>
              </a:ext>
            </a:extLst>
          </p:cNvPr>
          <p:cNvSpPr txBox="1">
            <a:spLocks/>
          </p:cNvSpPr>
          <p:nvPr/>
        </p:nvSpPr>
        <p:spPr>
          <a:xfrm>
            <a:off x="565767" y="1577916"/>
            <a:ext cx="9651254" cy="139854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The mean squared error is frequently used as a loss function in machine learning. Formula:</a:t>
            </a:r>
          </a:p>
          <a:p>
            <a:pPr>
              <a:spcBef>
                <a:spcPts val="1200"/>
              </a:spcBef>
            </a:pPr>
            <a:endParaRPr lang="en-GB" dirty="0"/>
          </a:p>
          <a:p>
            <a:pPr>
              <a:spcBef>
                <a:spcPts val="1200"/>
              </a:spcBef>
            </a:pPr>
            <a:endParaRPr lang="en-GB" dirty="0"/>
          </a:p>
          <a:p>
            <a:pPr marL="0" indent="0">
              <a:spcBef>
                <a:spcPts val="1200"/>
              </a:spcBef>
              <a:buNone/>
            </a:pPr>
            <a:endParaRPr lang="en-GB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43C2CD-A7AC-7FF6-D63C-74C3169C2333}"/>
                  </a:ext>
                </a:extLst>
              </p:cNvPr>
              <p:cNvSpPr txBox="1"/>
              <p:nvPr/>
            </p:nvSpPr>
            <p:spPr>
              <a:xfrm>
                <a:off x="3282481" y="2308501"/>
                <a:ext cx="4584745" cy="22409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Where:</a:t>
                </a:r>
              </a:p>
              <a:p>
                <a:r>
                  <a:rPr lang="en-GB" i="1" dirty="0"/>
                  <a:t>    n       </a:t>
                </a:r>
                <a:r>
                  <a:rPr lang="en-GB" dirty="0"/>
                  <a:t>:</a:t>
                </a:r>
                <a:r>
                  <a:rPr lang="en-GB" i="1" dirty="0"/>
                  <a:t> </a:t>
                </a:r>
                <a:r>
                  <a:rPr lang="en-GB" dirty="0"/>
                  <a:t>number of samples</a:t>
                </a:r>
              </a:p>
              <a:p>
                <a:r>
                  <a:rPr lang="en-GB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     : </a:t>
                </a:r>
                <a:r>
                  <a:rPr lang="en-GB" dirty="0" err="1"/>
                  <a:t>ith</a:t>
                </a:r>
                <a:r>
                  <a:rPr lang="en-GB" dirty="0"/>
                  <a:t> true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GB" dirty="0"/>
              </a:p>
              <a:p>
                <a:r>
                  <a:rPr lang="en-GB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     : </a:t>
                </a:r>
                <a:r>
                  <a:rPr lang="en-GB" dirty="0" err="1"/>
                  <a:t>ith</a:t>
                </a:r>
                <a:r>
                  <a:rPr lang="en-GB" dirty="0"/>
                  <a:t> predicted value of </a:t>
                </a:r>
                <a:r>
                  <a:rPr lang="en-GB" i="1" dirty="0"/>
                  <a:t>Y</a:t>
                </a:r>
              </a:p>
              <a:p>
                <a:r>
                  <a:rPr lang="en-GB" i="1" dirty="0"/>
                  <a:t>    MSE</a:t>
                </a:r>
                <a:r>
                  <a:rPr lang="en-GB" dirty="0"/>
                  <a:t> : mean squared error</a:t>
                </a:r>
                <a:endParaRPr lang="en-GB" i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43C2CD-A7AC-7FF6-D63C-74C3169C2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81" y="2308501"/>
                <a:ext cx="4584745" cy="2240998"/>
              </a:xfrm>
              <a:prstGeom prst="rect">
                <a:avLst/>
              </a:prstGeom>
              <a:blipFill>
                <a:blip r:embed="rId3"/>
                <a:stretch>
                  <a:fillRect l="-927" b="-32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1C47362-203F-7F80-CBD4-83170EF061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5766" y="4549499"/>
                <a:ext cx="10727903" cy="552954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r>
                  <a:rPr lang="en-GB" dirty="0"/>
                  <a:t>Example: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GB" sz="2100" dirty="0"/>
                  <a:t>The true values for a variable </a:t>
                </a:r>
                <a:r>
                  <a:rPr lang="en-GB" sz="2100" i="1" dirty="0"/>
                  <a:t>Y</a:t>
                </a:r>
                <a:r>
                  <a:rPr lang="en-GB" sz="2100" dirty="0"/>
                  <a:t> at two instances are 0.8 and 0.9, while at those instances, predictions of 0.75 and 0.85 are made.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GB" sz="2100" dirty="0"/>
                  <a:t>Then: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100" smtClean="0">
                        <a:latin typeface="Cambria Math" panose="02040503050406030204" pitchFamily="18" charset="0"/>
                      </a:rPr>
                      <m:t>MSE</m:t>
                    </m:r>
                    <m:r>
                      <a:rPr lang="en-GB" sz="210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10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1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210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GB" sz="2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100" i="1" smtClean="0"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ctrlPr>
                              <a:rPr lang="en-GB" sz="21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100" i="1" smtClean="0">
                                <a:latin typeface="Cambria Math" panose="02040503050406030204" pitchFamily="18" charset="0"/>
                              </a:rPr>
                              <m:t>0.8</m:t>
                            </m:r>
                            <m:r>
                              <a:rPr lang="en-GB" sz="2100" b="0" i="1" smtClean="0">
                                <a:latin typeface="Cambria Math" panose="02040503050406030204" pitchFamily="18" charset="0"/>
                              </a:rPr>
                              <m:t>−0.75</m:t>
                            </m:r>
                          </m:e>
                        </m:d>
                      </m:e>
                      <m:sup>
                        <m:r>
                          <a:rPr lang="en-GB" sz="21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10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100" i="1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GB" sz="210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GB" sz="2100" b="0" i="1" smtClean="0">
                                <a:latin typeface="Cambria Math" panose="02040503050406030204" pitchFamily="18" charset="0"/>
                              </a:rPr>
                              <m:t>−0.85</m:t>
                            </m:r>
                          </m:e>
                        </m:d>
                      </m:e>
                      <m:sup>
                        <m:r>
                          <a:rPr lang="en-GB" sz="2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100" i="1" smtClean="0">
                        <a:latin typeface="Cambria Math" panose="02040503050406030204" pitchFamily="18" charset="0"/>
                      </a:rPr>
                      <m:t>)=2.5</m:t>
                    </m:r>
                    <m:r>
                      <a:rPr lang="en-GB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2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GB" sz="21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2100" dirty="0"/>
              </a:p>
              <a:p>
                <a:pPr lvl="1">
                  <a:spcBef>
                    <a:spcPts val="1200"/>
                  </a:spcBef>
                </a:pPr>
                <a:r>
                  <a:rPr lang="en-GB" sz="2100" dirty="0"/>
                  <a:t>If the predictions are 0.8 and 0.9 (true values), then the error is 0.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1C47362-203F-7F80-CBD4-83170EF06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66" y="4549499"/>
                <a:ext cx="10727903" cy="5529545"/>
              </a:xfrm>
              <a:prstGeom prst="rect">
                <a:avLst/>
              </a:prstGeom>
              <a:blipFill>
                <a:blip r:embed="rId4"/>
                <a:stretch>
                  <a:fillRect l="-909" t="-1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22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Mean Squared Error as MATLAB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87DB0C-6A10-AF11-9BD6-E2D4268EC6DD}"/>
              </a:ext>
            </a:extLst>
          </p:cNvPr>
          <p:cNvSpPr txBox="1">
            <a:spLocks/>
          </p:cNvSpPr>
          <p:nvPr/>
        </p:nvSpPr>
        <p:spPr>
          <a:xfrm>
            <a:off x="1028022" y="1596577"/>
            <a:ext cx="9538378" cy="50277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The mean squared error function can be written in MATLAB as:</a:t>
            </a:r>
          </a:p>
          <a:p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spcBef>
                <a:spcPts val="2400"/>
              </a:spcBef>
              <a:buFont typeface="Arial" panose="020B0604020202020204" pitchFamily="34" charset="0"/>
              <a:buNone/>
            </a:pPr>
            <a:r>
              <a:rPr lang="en-GB" dirty="0"/>
              <a:t>Since this is a simple one-line function, it could also be written as a MATLAB anonymous function: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3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For the test case, this function provides the following answer: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F456C-50B6-4ADE-1295-20607AD64F7A}"/>
              </a:ext>
            </a:extLst>
          </p:cNvPr>
          <p:cNvSpPr txBox="1"/>
          <p:nvPr/>
        </p:nvSpPr>
        <p:spPr>
          <a:xfrm>
            <a:off x="1313010" y="2089443"/>
            <a:ext cx="6634882" cy="1021556"/>
          </a:xfrm>
          <a:prstGeom prst="roundRect">
            <a:avLst>
              <a:gd name="adj" fmla="val 13955"/>
            </a:avLst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1800" b="0" i="0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GB" sz="1800" b="0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MSE = </a:t>
            </a:r>
            <a:r>
              <a:rPr lang="en-GB" sz="1800" b="0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meanSquaredError</a:t>
            </a:r>
            <a:r>
              <a:rPr lang="en-GB" sz="1800" b="0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(preds, trues)</a:t>
            </a:r>
          </a:p>
          <a:p>
            <a:r>
              <a:rPr lang="en-GB" sz="1800" b="0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   MSE = mean((preds-trues).^2);</a:t>
            </a:r>
          </a:p>
          <a:p>
            <a:r>
              <a:rPr lang="en-GB" sz="1800" b="0" i="0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GB" sz="1800" b="0" i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283DEB-9E05-6F53-062D-0A847046025A}"/>
              </a:ext>
            </a:extLst>
          </p:cNvPr>
          <p:cNvSpPr txBox="1"/>
          <p:nvPr/>
        </p:nvSpPr>
        <p:spPr>
          <a:xfrm>
            <a:off x="1313010" y="3963423"/>
            <a:ext cx="7782900" cy="408623"/>
          </a:xfrm>
          <a:prstGeom prst="roundRect">
            <a:avLst/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chemeClr val="tx2"/>
                </a:solidFill>
                <a:latin typeface="Consolas" panose="020B0609020204030204" pitchFamily="49" charset="0"/>
              </a:rPr>
              <a:t>m</a:t>
            </a:r>
            <a:r>
              <a:rPr lang="en-GB" sz="1800" b="0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eanSquaredError</a:t>
            </a:r>
            <a:r>
              <a:rPr lang="en-GB" sz="1800" b="0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@(preds, labels) mean((preds-labels).^2);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770BFA-FCED-F61B-6CBF-7FC07013163E}"/>
              </a:ext>
            </a:extLst>
          </p:cNvPr>
          <p:cNvSpPr txBox="1"/>
          <p:nvPr/>
        </p:nvSpPr>
        <p:spPr>
          <a:xfrm>
            <a:off x="1313010" y="5212273"/>
            <a:ext cx="3263411" cy="985838"/>
          </a:xfrm>
          <a:prstGeom prst="roundRect">
            <a:avLst>
              <a:gd name="adj" fmla="val 11242"/>
            </a:avLst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" sz="1800" b="0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x = [0.75, 0.85];</a:t>
            </a:r>
          </a:p>
          <a:p>
            <a:r>
              <a:rPr lang="es-ES" sz="1800" b="0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y = [0.8, 0.9];</a:t>
            </a:r>
          </a:p>
          <a:p>
            <a:r>
              <a:rPr lang="en-GB" dirty="0" err="1">
                <a:solidFill>
                  <a:schemeClr val="tx2"/>
                </a:solidFill>
                <a:latin typeface="Consolas" panose="020B0609020204030204" pitchFamily="49" charset="0"/>
              </a:rPr>
              <a:t>m</a:t>
            </a:r>
            <a:r>
              <a:rPr lang="en-GB" sz="1800" b="0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eanSquaredError</a:t>
            </a:r>
            <a:r>
              <a:rPr lang="en-GB" sz="1800" b="0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(x, y)</a:t>
            </a:r>
            <a:endParaRPr lang="es-ES" sz="1800" b="0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64F8CD-2CAC-8FAC-76A5-1650A0CFF9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2" r="1"/>
          <a:stretch/>
        </p:blipFill>
        <p:spPr>
          <a:xfrm>
            <a:off x="6981739" y="5350528"/>
            <a:ext cx="1106628" cy="7335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EC1A6E-755A-F073-CB4A-2CA608A86351}"/>
              </a:ext>
            </a:extLst>
          </p:cNvPr>
          <p:cNvCxnSpPr/>
          <p:nvPr/>
        </p:nvCxnSpPr>
        <p:spPr>
          <a:xfrm>
            <a:off x="4678021" y="5705192"/>
            <a:ext cx="21049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8">
            <a:extLst>
              <a:ext uri="{FF2B5EF4-FFF2-40B4-BE49-F238E27FC236}">
                <a16:creationId xmlns:a16="http://schemas.microsoft.com/office/drawing/2014/main" id="{5FC14401-04E7-5240-A570-BA3593443E73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76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 err="1"/>
              <a:t>Rastrigin</a:t>
            </a:r>
            <a:r>
              <a:rPr lang="en-GB" dirty="0"/>
              <a:t> 1 dimension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E56B6F-C6ED-A8EB-24DF-E81153243D6F}"/>
                  </a:ext>
                </a:extLst>
              </p:cNvPr>
              <p:cNvSpPr txBox="1"/>
              <p:nvPr/>
            </p:nvSpPr>
            <p:spPr>
              <a:xfrm>
                <a:off x="2863541" y="1900517"/>
                <a:ext cx="6058513" cy="923330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=20+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−10</m:t>
                          </m:r>
                          <m:func>
                            <m:funcPr>
                              <m:ctrlP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GB" dirty="0">
                  <a:solidFill>
                    <a:schemeClr val="tx2"/>
                  </a:solidFill>
                </a:endParaRPr>
              </a:p>
              <a:p>
                <a:r>
                  <a:rPr lang="en-GB" dirty="0">
                    <a:solidFill>
                      <a:schemeClr val="tx2"/>
                    </a:solidFill>
                  </a:rPr>
                  <a:t>Where:</a:t>
                </a:r>
              </a:p>
              <a:p>
                <a:r>
                  <a:rPr lang="en-GB" i="1" dirty="0">
                    <a:solidFill>
                      <a:schemeClr val="tx2"/>
                    </a:solidFill>
                  </a:rPr>
                  <a:t>    x </a:t>
                </a:r>
                <a:r>
                  <a:rPr lang="en-GB" dirty="0">
                    <a:solidFill>
                      <a:schemeClr val="tx2"/>
                    </a:solidFill>
                  </a:rPr>
                  <a:t>: point at which to evaluate the function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DE56B6F-C6ED-A8EB-24DF-E81153243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541" y="1900517"/>
                <a:ext cx="6058513" cy="923330"/>
              </a:xfrm>
              <a:prstGeom prst="rect">
                <a:avLst/>
              </a:prstGeom>
              <a:blipFill>
                <a:blip r:embed="rId3"/>
                <a:stretch>
                  <a:fillRect l="-803" b="-9150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60C3F-19C6-2127-3EAB-80BC63B872A5}"/>
              </a:ext>
            </a:extLst>
          </p:cNvPr>
          <p:cNvSpPr txBox="1">
            <a:spLocks/>
          </p:cNvSpPr>
          <p:nvPr/>
        </p:nvSpPr>
        <p:spPr>
          <a:xfrm>
            <a:off x="967317" y="1535755"/>
            <a:ext cx="7886700" cy="55295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1D formula: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 descr="Graphical user interface, chart, histogram&#10;&#10;Description automatically generated">
            <a:extLst>
              <a:ext uri="{FF2B5EF4-FFF2-40B4-BE49-F238E27FC236}">
                <a16:creationId xmlns:a16="http://schemas.microsoft.com/office/drawing/2014/main" id="{A835BA81-A894-ABEA-F91E-05F7B50A943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060"/>
          <a:stretch/>
        </p:blipFill>
        <p:spPr>
          <a:xfrm>
            <a:off x="3485318" y="3046025"/>
            <a:ext cx="4814958" cy="36494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5350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 err="1"/>
              <a:t>Rastrigin</a:t>
            </a:r>
            <a:r>
              <a:rPr lang="en-GB" dirty="0"/>
              <a:t> 2 dimensional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Content Placeholder 9" descr="Chart&#10;&#10;Description automatically generated">
            <a:extLst>
              <a:ext uri="{FF2B5EF4-FFF2-40B4-BE49-F238E27FC236}">
                <a16:creationId xmlns:a16="http://schemas.microsoft.com/office/drawing/2014/main" id="{CE726BA1-7BA3-FA4D-3BB7-6632A4ECA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687" y="2932015"/>
            <a:ext cx="5027878" cy="37529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4CD5C3-B820-F609-6065-DF0158132442}"/>
                  </a:ext>
                </a:extLst>
              </p:cNvPr>
              <p:cNvSpPr txBox="1"/>
              <p:nvPr/>
            </p:nvSpPr>
            <p:spPr>
              <a:xfrm>
                <a:off x="2788369" y="1838798"/>
                <a:ext cx="6058513" cy="923330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=20+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−10</m:t>
                          </m:r>
                          <m:func>
                            <m:funcPr>
                              <m:ctrlP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−10</m:t>
                          </m:r>
                          <m:func>
                            <m:funcPr>
                              <m:ctrl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GB" dirty="0">
                  <a:solidFill>
                    <a:schemeClr val="tx2"/>
                  </a:solidFill>
                </a:endParaRPr>
              </a:p>
              <a:p>
                <a:r>
                  <a:rPr lang="en-GB" dirty="0">
                    <a:solidFill>
                      <a:schemeClr val="tx2"/>
                    </a:solidFill>
                  </a:rPr>
                  <a:t>Where:</a:t>
                </a:r>
              </a:p>
              <a:p>
                <a:r>
                  <a:rPr lang="en-GB" i="1" dirty="0">
                    <a:solidFill>
                      <a:schemeClr val="tx2"/>
                    </a:solidFill>
                  </a:rPr>
                  <a:t>    x, y  </a:t>
                </a:r>
                <a:r>
                  <a:rPr lang="en-GB" dirty="0">
                    <a:solidFill>
                      <a:schemeClr val="tx2"/>
                    </a:solidFill>
                  </a:rPr>
                  <a:t>: points at which to evaluate the function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4CD5C3-B820-F609-6065-DF0158132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369" y="1838798"/>
                <a:ext cx="6058513" cy="923330"/>
              </a:xfrm>
              <a:prstGeom prst="rect">
                <a:avLst/>
              </a:prstGeom>
              <a:blipFill>
                <a:blip r:embed="rId4"/>
                <a:stretch>
                  <a:fillRect l="-703" b="-9150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31F024-9CEE-9643-C730-DC62B7A3F0C7}"/>
              </a:ext>
            </a:extLst>
          </p:cNvPr>
          <p:cNvSpPr txBox="1">
            <a:spLocks/>
          </p:cNvSpPr>
          <p:nvPr/>
        </p:nvSpPr>
        <p:spPr>
          <a:xfrm>
            <a:off x="1001183" y="1474795"/>
            <a:ext cx="7886700" cy="5529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2D formula:</a:t>
            </a:r>
          </a:p>
        </p:txBody>
      </p:sp>
    </p:spTree>
    <p:extLst>
      <p:ext uri="{BB962C8B-B14F-4D97-AF65-F5344CB8AC3E}">
        <p14:creationId xmlns:p14="http://schemas.microsoft.com/office/powerpoint/2010/main" val="429426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9C8176-2799-8612-6BAE-7200DAA0B7B2}"/>
              </a:ext>
            </a:extLst>
          </p:cNvPr>
          <p:cNvSpPr txBox="1">
            <a:spLocks/>
          </p:cNvSpPr>
          <p:nvPr/>
        </p:nvSpPr>
        <p:spPr>
          <a:xfrm>
            <a:off x="974089" y="1568135"/>
            <a:ext cx="10357869" cy="52898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The 2D </a:t>
            </a:r>
            <a:r>
              <a:rPr lang="en-GB" dirty="0" err="1"/>
              <a:t>Rastrigin</a:t>
            </a:r>
            <a:r>
              <a:rPr lang="en-GB" dirty="0"/>
              <a:t> function as a MATLAB anonymous function:</a:t>
            </a:r>
          </a:p>
          <a:p>
            <a:pPr>
              <a:spcBef>
                <a:spcPts val="1200"/>
              </a:spcBef>
            </a:pPr>
            <a:endParaRPr lang="en-GB" dirty="0"/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This function can also be used as the one-dimensional version by passing 0 as the y argument.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The </a:t>
            </a:r>
            <a:r>
              <a:rPr lang="en-GB" dirty="0" err="1"/>
              <a:t>Rastrigin</a:t>
            </a:r>
            <a:r>
              <a:rPr lang="en-GB" dirty="0"/>
              <a:t> function is often used to test the performance of optimization algorithms.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A good benchmark test problem due to many local minima.</a:t>
            </a:r>
          </a:p>
          <a:p>
            <a:pPr lvl="1">
              <a:spcBef>
                <a:spcPts val="1200"/>
              </a:spcBef>
            </a:pPr>
            <a:endParaRPr lang="en-GB" dirty="0">
              <a:latin typeface="Arial"/>
              <a:cs typeface="Arial"/>
            </a:endParaRPr>
          </a:p>
          <a:p>
            <a:pPr>
              <a:spcBef>
                <a:spcPts val="1200"/>
              </a:spcBef>
            </a:pPr>
            <a:r>
              <a:rPr lang="en-GB" dirty="0">
                <a:latin typeface="Arial"/>
                <a:cs typeface="Arial"/>
              </a:rPr>
              <a:t>A vector x, which can be of any dimensionality (e.g., 10D), is used. How should I write the code? 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BCCA3B-26C9-1389-1833-3388F8BE8EEF}"/>
              </a:ext>
            </a:extLst>
          </p:cNvPr>
          <p:cNvSpPr txBox="1"/>
          <p:nvPr/>
        </p:nvSpPr>
        <p:spPr>
          <a:xfrm>
            <a:off x="1110827" y="2179090"/>
            <a:ext cx="8378498" cy="340519"/>
          </a:xfrm>
          <a:prstGeom prst="roundRect">
            <a:avLst/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b="0" i="0" dirty="0" err="1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rastrigin</a:t>
            </a:r>
            <a:r>
              <a:rPr lang="es-ES" sz="1400" b="0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 = @(x, y) 20 + (x.^2 - 10.*cos(2*pi.*x)) + (y.^2 - 10.*cos(2*pi.*y));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865F49-37F2-EBB2-61B3-5E19C992A9DC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689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278ED6FC-C7E4-4908-913B-CAB0979D1D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EA0B66-0A62-4679-A055-2E5FA8D7743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1869</TotalTime>
  <Words>534</Words>
  <Application>Microsoft Office PowerPoint</Application>
  <PresentationFormat>Widescreen</PresentationFormat>
  <Paragraphs>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Consolas</vt:lpstr>
      <vt:lpstr>Times New Roman</vt:lpstr>
      <vt:lpstr>Office Theme</vt:lpstr>
      <vt:lpstr>Write An Objective Function (1)  </vt:lpstr>
      <vt:lpstr>Objective functions</vt:lpstr>
      <vt:lpstr>Mean Squared Error</vt:lpstr>
      <vt:lpstr>Mean Squared Error as MATLAB code</vt:lpstr>
      <vt:lpstr>Rastrigin 1 dimension</vt:lpstr>
      <vt:lpstr>Rastrigin 2 dimensional</vt:lpstr>
      <vt:lpstr>MATLAB code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77</cp:revision>
  <dcterms:created xsi:type="dcterms:W3CDTF">2021-01-06T14:22:07Z</dcterms:created>
  <dcterms:modified xsi:type="dcterms:W3CDTF">2024-06-26T11:58:31Z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