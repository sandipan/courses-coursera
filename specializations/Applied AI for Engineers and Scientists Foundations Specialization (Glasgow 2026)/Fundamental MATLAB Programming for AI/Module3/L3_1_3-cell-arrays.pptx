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8" r:id="rId7"/>
    <p:sldId id="497" r:id="rId8"/>
    <p:sldId id="496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05E1F-164B-4BB4-B633-F8BA1A27AE7E}" v="57" dt="2024-06-14T12:25:30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6" autoAdjust="0"/>
    <p:restoredTop sz="96300" autoAdjust="0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99F05E1F-164B-4BB4-B633-F8BA1A27AE7E}"/>
    <pc:docChg chg="modSld">
      <pc:chgData name="Yijia Hao (PGR)" userId="S::2357677h@student.gla.ac.uk::1d38b7b8-6fde-4ddd-9775-af09669ddf4c" providerId="AD" clId="Web-{99F05E1F-164B-4BB4-B633-F8BA1A27AE7E}" dt="2024-06-14T12:25:29.198" v="62" actId="20577"/>
      <pc:docMkLst>
        <pc:docMk/>
      </pc:docMkLst>
      <pc:sldChg chg="modSp">
        <pc:chgData name="Yijia Hao (PGR)" userId="S::2357677h@student.gla.ac.uk::1d38b7b8-6fde-4ddd-9775-af09669ddf4c" providerId="AD" clId="Web-{99F05E1F-164B-4BB4-B633-F8BA1A27AE7E}" dt="2024-06-14T12:22:28.018" v="5" actId="1076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99F05E1F-164B-4BB4-B633-F8BA1A27AE7E}" dt="2024-06-14T12:22:27.987" v="4" actId="1076"/>
          <ac:spMkLst>
            <pc:docMk/>
            <pc:sldMk cId="676015318" sldId="494"/>
            <ac:spMk id="9" creationId="{D2418495-A978-5E11-7B1C-D7186E54D0A9}"/>
          </ac:spMkLst>
        </pc:spChg>
        <pc:grpChg chg="mod">
          <ac:chgData name="Yijia Hao (PGR)" userId="S::2357677h@student.gla.ac.uk::1d38b7b8-6fde-4ddd-9775-af09669ddf4c" providerId="AD" clId="Web-{99F05E1F-164B-4BB4-B633-F8BA1A27AE7E}" dt="2024-06-14T12:22:28.018" v="5" actId="1076"/>
          <ac:grpSpMkLst>
            <pc:docMk/>
            <pc:sldMk cId="676015318" sldId="494"/>
            <ac:grpSpMk id="10" creationId="{0786708C-C444-4BA0-F426-F09206A53972}"/>
          </ac:grpSpMkLst>
        </pc:grpChg>
      </pc:sldChg>
      <pc:sldChg chg="modSp">
        <pc:chgData name="Yijia Hao (PGR)" userId="S::2357677h@student.gla.ac.uk::1d38b7b8-6fde-4ddd-9775-af09669ddf4c" providerId="AD" clId="Web-{99F05E1F-164B-4BB4-B633-F8BA1A27AE7E}" dt="2024-06-14T12:25:29.198" v="62" actId="20577"/>
        <pc:sldMkLst>
          <pc:docMk/>
          <pc:sldMk cId="2948151506" sldId="497"/>
        </pc:sldMkLst>
        <pc:spChg chg="mod">
          <ac:chgData name="Yijia Hao (PGR)" userId="S::2357677h@student.gla.ac.uk::1d38b7b8-6fde-4ddd-9775-af09669ddf4c" providerId="AD" clId="Web-{99F05E1F-164B-4BB4-B633-F8BA1A27AE7E}" dt="2024-06-14T12:25:29.198" v="62" actId="20577"/>
          <ac:spMkLst>
            <pc:docMk/>
            <pc:sldMk cId="2948151506" sldId="497"/>
            <ac:spMk id="7" creationId="{A2D5F22A-5BF5-0EA1-6B19-AC68641E6007}"/>
          </ac:spMkLst>
        </pc:spChg>
      </pc:sldChg>
      <pc:sldChg chg="modSp addAnim delAnim">
        <pc:chgData name="Yijia Hao (PGR)" userId="S::2357677h@student.gla.ac.uk::1d38b7b8-6fde-4ddd-9775-af09669ddf4c" providerId="AD" clId="Web-{99F05E1F-164B-4BB4-B633-F8BA1A27AE7E}" dt="2024-06-14T12:25:19.479" v="60" actId="20577"/>
        <pc:sldMkLst>
          <pc:docMk/>
          <pc:sldMk cId="1707539177" sldId="498"/>
        </pc:sldMkLst>
        <pc:spChg chg="mod">
          <ac:chgData name="Yijia Hao (PGR)" userId="S::2357677h@student.gla.ac.uk::1d38b7b8-6fde-4ddd-9775-af09669ddf4c" providerId="AD" clId="Web-{99F05E1F-164B-4BB4-B633-F8BA1A27AE7E}" dt="2024-06-14T12:25:19.479" v="60" actId="20577"/>
          <ac:spMkLst>
            <pc:docMk/>
            <pc:sldMk cId="1707539177" sldId="498"/>
            <ac:spMk id="3" creationId="{1F53DD67-658A-A077-029F-2526F35C7551}"/>
          </ac:spMkLst>
        </pc:spChg>
        <pc:grpChg chg="mod">
          <ac:chgData name="Yijia Hao (PGR)" userId="S::2357677h@student.gla.ac.uk::1d38b7b8-6fde-4ddd-9775-af09669ddf4c" providerId="AD" clId="Web-{99F05E1F-164B-4BB4-B633-F8BA1A27AE7E}" dt="2024-06-14T12:25:08.947" v="40" actId="14100"/>
          <ac:grpSpMkLst>
            <pc:docMk/>
            <pc:sldMk cId="1707539177" sldId="498"/>
            <ac:grpSpMk id="4" creationId="{43197E0C-B90F-BA92-0CCA-2A6D49FF8A69}"/>
          </ac:grpSpMkLst>
        </pc:grpChg>
      </pc:sldChg>
      <pc:sldChg chg="modSp">
        <pc:chgData name="Yijia Hao (PGR)" userId="S::2357677h@student.gla.ac.uk::1d38b7b8-6fde-4ddd-9775-af09669ddf4c" providerId="AD" clId="Web-{99F05E1F-164B-4BB4-B633-F8BA1A27AE7E}" dt="2024-06-14T12:23:48.662" v="18" actId="20577"/>
        <pc:sldMkLst>
          <pc:docMk/>
          <pc:sldMk cId="3647111229" sldId="499"/>
        </pc:sldMkLst>
        <pc:spChg chg="mod">
          <ac:chgData name="Yijia Hao (PGR)" userId="S::2357677h@student.gla.ac.uk::1d38b7b8-6fde-4ddd-9775-af09669ddf4c" providerId="AD" clId="Web-{99F05E1F-164B-4BB4-B633-F8BA1A27AE7E}" dt="2024-06-14T12:23:48.662" v="18" actId="20577"/>
          <ac:spMkLst>
            <pc:docMk/>
            <pc:sldMk cId="3647111229" sldId="499"/>
            <ac:spMk id="2" creationId="{F44489BB-C854-7F90-8C72-0C0AFA77F0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51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4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34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9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Cell Arrays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cell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418495-A978-5E11-7B1C-D7186E54D0A9}"/>
              </a:ext>
            </a:extLst>
          </p:cNvPr>
          <p:cNvSpPr txBox="1">
            <a:spLocks/>
          </p:cNvSpPr>
          <p:nvPr/>
        </p:nvSpPr>
        <p:spPr>
          <a:xfrm>
            <a:off x="982132" y="1525535"/>
            <a:ext cx="8820236" cy="97986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MATLAB cell arrays are useful when you want to store data of different data types in the same variable.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86708C-C444-4BA0-F426-F09206A53972}"/>
              </a:ext>
            </a:extLst>
          </p:cNvPr>
          <p:cNvGrpSpPr/>
          <p:nvPr/>
        </p:nvGrpSpPr>
        <p:grpSpPr>
          <a:xfrm>
            <a:off x="1014734" y="5461622"/>
            <a:ext cx="10923248" cy="1261033"/>
            <a:chOff x="628650" y="4704812"/>
            <a:chExt cx="10923248" cy="126103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C8CE0A-1AAB-E148-29D5-95A8B9F84464}"/>
                </a:ext>
              </a:extLst>
            </p:cNvPr>
            <p:cNvGrpSpPr/>
            <p:nvPr/>
          </p:nvGrpSpPr>
          <p:grpSpPr>
            <a:xfrm>
              <a:off x="628650" y="5179120"/>
              <a:ext cx="10923248" cy="786725"/>
              <a:chOff x="628650" y="5179120"/>
              <a:chExt cx="10923248" cy="78672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5312DC-4312-21B1-07EA-399165AD0B2E}"/>
                  </a:ext>
                </a:extLst>
              </p:cNvPr>
              <p:cNvSpPr txBox="1"/>
              <p:nvPr/>
            </p:nvSpPr>
            <p:spPr>
              <a:xfrm>
                <a:off x="628650" y="5179120"/>
                <a:ext cx="7770159" cy="374571"/>
              </a:xfrm>
              <a:prstGeom prst="round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solidFill>
                  <a:sysClr val="windowText" lastClr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cell_array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 = {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"five"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,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709F5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 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5, 5.0, [5, 5, 5]} </a:t>
                </a:r>
                <a:r>
                  <a:rPr kumimoji="0" lang="en-GB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onsolas" panose="020B0609020204030204" pitchFamily="49" charset="0"/>
                  </a:rPr>
                  <a:t>% last element is a matrix</a:t>
                </a:r>
              </a:p>
            </p:txBody>
          </p:sp>
          <p:sp>
            <p:nvSpPr>
              <p:cNvPr id="14" name="矩形 8">
                <a:extLst>
                  <a:ext uri="{FF2B5EF4-FFF2-40B4-BE49-F238E27FC236}">
                    <a16:creationId xmlns:a16="http://schemas.microsoft.com/office/drawing/2014/main" id="{9A56B817-D666-6BD7-4B3D-318BDD1A3C95}"/>
                  </a:ext>
                </a:extLst>
              </p:cNvPr>
              <p:cNvSpPr/>
              <p:nvPr/>
            </p:nvSpPr>
            <p:spPr>
              <a:xfrm>
                <a:off x="7945141" y="5596513"/>
                <a:ext cx="3606757" cy="369332"/>
              </a:xfrm>
              <a:prstGeom prst="rect">
                <a:avLst/>
              </a:prstGeom>
              <a:solidFill>
                <a:srgbClr val="E7E6E6"/>
              </a:solidFill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See live script for similar examples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20E7AE-3CF4-D0DD-1914-21C639DC485A}"/>
                </a:ext>
              </a:extLst>
            </p:cNvPr>
            <p:cNvSpPr txBox="1"/>
            <p:nvPr/>
          </p:nvSpPr>
          <p:spPr>
            <a:xfrm>
              <a:off x="628650" y="4704812"/>
              <a:ext cx="460785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Example creating a cell array:</a:t>
              </a:r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4C0CED-D5A1-9CE8-C101-D4668D68D8B0}"/>
              </a:ext>
            </a:extLst>
          </p:cNvPr>
          <p:cNvSpPr txBox="1">
            <a:spLocks/>
          </p:cNvSpPr>
          <p:nvPr/>
        </p:nvSpPr>
        <p:spPr>
          <a:xfrm>
            <a:off x="982132" y="2342802"/>
            <a:ext cx="10658180" cy="384792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Different from tables in that they are not intended to be used for tabular (spreadsheet) data.</a:t>
            </a:r>
          </a:p>
          <a:p>
            <a:r>
              <a:rPr lang="en-GB" dirty="0"/>
              <a:t>Each element in a cell array is a container (cell) that can contain any other datatype</a:t>
            </a:r>
          </a:p>
          <a:p>
            <a:pPr lvl="1"/>
            <a:r>
              <a:rPr lang="en-GB" dirty="0"/>
              <a:t>Even complex data structures like matrices.</a:t>
            </a:r>
          </a:p>
          <a:p>
            <a:r>
              <a:rPr lang="en-GB" dirty="0"/>
              <a:t>Cell arrays can be created like matrices but using curly braces instead of square brackets.</a:t>
            </a:r>
          </a:p>
          <a:p>
            <a:pPr lvl="1"/>
            <a:r>
              <a:rPr lang="en-GB" dirty="0"/>
              <a:t>Or using the </a:t>
            </a:r>
            <a:r>
              <a:rPr lang="en-GB" dirty="0">
                <a:latin typeface="Consolas" panose="020B0609020204030204" pitchFamily="49" charset="0"/>
              </a:rPr>
              <a:t>cell()</a:t>
            </a:r>
            <a:r>
              <a:rPr lang="en-GB" dirty="0"/>
              <a:t> function to create an empty cell array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Indexing into cell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DD67-658A-A077-029F-2526F35C7551}"/>
              </a:ext>
            </a:extLst>
          </p:cNvPr>
          <p:cNvSpPr txBox="1">
            <a:spLocks/>
          </p:cNvSpPr>
          <p:nvPr/>
        </p:nvSpPr>
        <p:spPr>
          <a:xfrm>
            <a:off x="967317" y="1523805"/>
            <a:ext cx="9210963" cy="190519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/>
              <a:t>Indexing into a cell array using </a:t>
            </a:r>
            <a:r>
              <a:rPr lang="en-GB" u="sng" dirty="0"/>
              <a:t>parentheses</a:t>
            </a:r>
            <a:r>
              <a:rPr lang="en-GB" dirty="0"/>
              <a:t> provides access to the specified cells and returns a cell array.</a:t>
            </a:r>
          </a:p>
          <a:p>
            <a:pPr>
              <a:spcBef>
                <a:spcPts val="1200"/>
              </a:spcBef>
            </a:pPr>
            <a:r>
              <a:rPr lang="en-GB" dirty="0"/>
              <a:t>Indexing into a cell array using </a:t>
            </a:r>
            <a:r>
              <a:rPr lang="en-GB" u="sng" dirty="0"/>
              <a:t>curly brackets</a:t>
            </a:r>
            <a:r>
              <a:rPr lang="en-GB" dirty="0"/>
              <a:t> provides access to the specified cells and returns the contents of the cell. </a:t>
            </a:r>
          </a:p>
          <a:p>
            <a:pPr>
              <a:spcBef>
                <a:spcPts val="1200"/>
              </a:spcBef>
            </a:pPr>
            <a:endParaRPr lang="en-GB" dirty="0"/>
          </a:p>
          <a:p>
            <a:pPr>
              <a:spcBef>
                <a:spcPts val="1200"/>
              </a:spcBef>
            </a:pPr>
            <a:endParaRPr lang="en-GB" dirty="0"/>
          </a:p>
          <a:p>
            <a:pPr>
              <a:spcBef>
                <a:spcPts val="1200"/>
              </a:spcBef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E1989-45A8-92F5-E3E1-FB4D3C38C596}"/>
              </a:ext>
            </a:extLst>
          </p:cNvPr>
          <p:cNvSpPr txBox="1"/>
          <p:nvPr/>
        </p:nvSpPr>
        <p:spPr>
          <a:xfrm>
            <a:off x="6412843" y="3148755"/>
            <a:ext cx="2065454" cy="40862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cell_array(2)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DC9B8-7E87-D137-3173-439645E775AF}"/>
              </a:ext>
            </a:extLst>
          </p:cNvPr>
          <p:cNvSpPr txBox="1"/>
          <p:nvPr/>
        </p:nvSpPr>
        <p:spPr>
          <a:xfrm>
            <a:off x="2955487" y="3148755"/>
            <a:ext cx="2065454" cy="40862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cell_array{2}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0B8D0-5575-F938-9DA9-10675646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517" y="3770147"/>
            <a:ext cx="1952207" cy="15640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F284F-D89A-1A6B-D391-D07D21F7B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060" y="3858747"/>
            <a:ext cx="2050881" cy="13051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矩形 8">
            <a:extLst>
              <a:ext uri="{FF2B5EF4-FFF2-40B4-BE49-F238E27FC236}">
                <a16:creationId xmlns:a16="http://schemas.microsoft.com/office/drawing/2014/main" id="{6849857F-6B98-2D0A-BB9D-C0801BE72BA5}"/>
              </a:ext>
            </a:extLst>
          </p:cNvPr>
          <p:cNvSpPr/>
          <p:nvPr/>
        </p:nvSpPr>
        <p:spPr>
          <a:xfrm>
            <a:off x="8331225" y="6324386"/>
            <a:ext cx="360675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 for similar examples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E4148-01BC-85F7-DA64-C0923B337A58}"/>
              </a:ext>
            </a:extLst>
          </p:cNvPr>
          <p:cNvSpPr txBox="1"/>
          <p:nvPr/>
        </p:nvSpPr>
        <p:spPr>
          <a:xfrm>
            <a:off x="203498" y="6134481"/>
            <a:ext cx="7770159" cy="374571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cell_array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= {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"five"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5, 5.0, [5, 5, 5]}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% last element is a matrix</a:t>
            </a:r>
          </a:p>
        </p:txBody>
      </p:sp>
    </p:spTree>
    <p:extLst>
      <p:ext uri="{BB962C8B-B14F-4D97-AF65-F5344CB8AC3E}">
        <p14:creationId xmlns:p14="http://schemas.microsoft.com/office/powerpoint/2010/main" val="170753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Manipulating cell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D5F22A-5BF5-0EA1-6B19-AC68641E6007}"/>
              </a:ext>
            </a:extLst>
          </p:cNvPr>
          <p:cNvSpPr txBox="1">
            <a:spLocks/>
          </p:cNvSpPr>
          <p:nvPr/>
        </p:nvSpPr>
        <p:spPr>
          <a:xfrm>
            <a:off x="960544" y="1534997"/>
            <a:ext cx="9930976" cy="32273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Cell arrays can be manipulated in the same way as matrices</a:t>
            </a:r>
          </a:p>
          <a:p>
            <a:pPr lvl="1"/>
            <a:r>
              <a:rPr lang="en-GB" sz="2100" dirty="0"/>
              <a:t>But consider whether you want to modify the </a:t>
            </a:r>
            <a:r>
              <a:rPr lang="en-GB" sz="2100" b="1" dirty="0"/>
              <a:t>cell</a:t>
            </a:r>
            <a:r>
              <a:rPr lang="en-GB" sz="2100" dirty="0"/>
              <a:t> or its </a:t>
            </a:r>
            <a:r>
              <a:rPr lang="en-GB" sz="2100" b="1" dirty="0"/>
              <a:t>contents</a:t>
            </a:r>
          </a:p>
          <a:p>
            <a:pPr lvl="1"/>
            <a:endParaRPr lang="en-GB" sz="2100" dirty="0"/>
          </a:p>
          <a:p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C9A187-95FF-2A85-5794-5D5C51CCB9F9}"/>
              </a:ext>
            </a:extLst>
          </p:cNvPr>
          <p:cNvGrpSpPr/>
          <p:nvPr/>
        </p:nvGrpSpPr>
        <p:grpSpPr>
          <a:xfrm>
            <a:off x="754127" y="2813674"/>
            <a:ext cx="4424720" cy="4014776"/>
            <a:chOff x="203990" y="1959484"/>
            <a:chExt cx="4424720" cy="401477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2257F9-F006-5D3B-E1AE-836C0486BB7F}"/>
                </a:ext>
              </a:extLst>
            </p:cNvPr>
            <p:cNvSpPr txBox="1"/>
            <p:nvPr/>
          </p:nvSpPr>
          <p:spPr>
            <a:xfrm>
              <a:off x="1140033" y="1959484"/>
              <a:ext cx="2362506" cy="408623"/>
            </a:xfrm>
            <a:prstGeom prst="round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cell_array{2} = 7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E078BA-C88F-2D4E-8E50-FD2E01986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469" y="2498777"/>
              <a:ext cx="4285241" cy="15280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09507D93-ED3B-5D64-4574-0E0DDC0F9513}"/>
                </a:ext>
              </a:extLst>
            </p:cNvPr>
            <p:cNvSpPr/>
            <p:nvPr/>
          </p:nvSpPr>
          <p:spPr>
            <a:xfrm>
              <a:off x="203990" y="5604928"/>
              <a:ext cx="3606757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See live script for similar examples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07399F7-C8C2-D534-3CD4-83E21F799D8E}"/>
              </a:ext>
            </a:extLst>
          </p:cNvPr>
          <p:cNvSpPr txBox="1"/>
          <p:nvPr/>
        </p:nvSpPr>
        <p:spPr>
          <a:xfrm>
            <a:off x="6424647" y="2716136"/>
            <a:ext cx="2409327" cy="408623"/>
          </a:xfrm>
          <a:prstGeom prst="round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cell_array(2) = 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C35F4E-79D5-3656-9AB7-D92885113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939" y="3274088"/>
            <a:ext cx="4088797" cy="4792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01B22B-A4D9-FE44-542B-78AC21586B1D}"/>
              </a:ext>
            </a:extLst>
          </p:cNvPr>
          <p:cNvSpPr txBox="1"/>
          <p:nvPr/>
        </p:nvSpPr>
        <p:spPr>
          <a:xfrm>
            <a:off x="5636980" y="3872046"/>
            <a:ext cx="4152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This gives an </a:t>
            </a:r>
            <a:r>
              <a:rPr lang="en-GB" b="1" dirty="0"/>
              <a:t>error</a:t>
            </a:r>
            <a:r>
              <a:rPr lang="en-GB" dirty="0"/>
              <a:t> because we are accessing a cell and trying to replace it with a number, fix using curly brackets: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98A77-C5A1-97E7-F95F-7C2B2FDFB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021" y="5323003"/>
            <a:ext cx="4225723" cy="1453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A5A5F8-6047-914F-E7B3-D051E93C4C61}"/>
              </a:ext>
            </a:extLst>
          </p:cNvPr>
          <p:cNvSpPr txBox="1"/>
          <p:nvPr/>
        </p:nvSpPr>
        <p:spPr>
          <a:xfrm>
            <a:off x="6232922" y="4777982"/>
            <a:ext cx="2653687" cy="408623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cell_array(2) = {7}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34C11C-3CE3-D4C2-B4A8-DEA362059C4D}"/>
              </a:ext>
            </a:extLst>
          </p:cNvPr>
          <p:cNvSpPr txBox="1"/>
          <p:nvPr/>
        </p:nvSpPr>
        <p:spPr>
          <a:xfrm>
            <a:off x="1690170" y="2273366"/>
            <a:ext cx="7770159" cy="374571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cell_array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= {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"five"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5, 5.0, [5, 5, 5]}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% last element is a matrix</a:t>
            </a:r>
          </a:p>
        </p:txBody>
      </p:sp>
    </p:spTree>
    <p:extLst>
      <p:ext uri="{BB962C8B-B14F-4D97-AF65-F5344CB8AC3E}">
        <p14:creationId xmlns:p14="http://schemas.microsoft.com/office/powerpoint/2010/main" val="294815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Manipulating multidimensional cell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FEB950-A547-CD38-80F8-868C111655C0}"/>
              </a:ext>
            </a:extLst>
          </p:cNvPr>
          <p:cNvSpPr txBox="1">
            <a:spLocks/>
          </p:cNvSpPr>
          <p:nvPr/>
        </p:nvSpPr>
        <p:spPr>
          <a:xfrm>
            <a:off x="906521" y="1492307"/>
            <a:ext cx="9326540" cy="30899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Creating a cell array of dimensions 4, 3, 2 and changing the central cells to </a:t>
            </a:r>
            <a:r>
              <a:rPr lang="en-GB" dirty="0">
                <a:latin typeface="Consolas" panose="020B0609020204030204" pitchFamily="49" charset="0"/>
              </a:rPr>
              <a:t>1,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"2"</a:t>
            </a:r>
            <a:r>
              <a:rPr lang="en-GB" dirty="0">
                <a:latin typeface="Consolas" panose="020B0609020204030204" pitchFamily="49" charset="0"/>
              </a:rPr>
              <a:t>, 3,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"four"</a:t>
            </a:r>
            <a:r>
              <a:rPr lang="en-GB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BD7F7-F438-6EEF-4C51-D7B340C35562}"/>
              </a:ext>
            </a:extLst>
          </p:cNvPr>
          <p:cNvSpPr txBox="1"/>
          <p:nvPr/>
        </p:nvSpPr>
        <p:spPr>
          <a:xfrm>
            <a:off x="1117723" y="2285861"/>
            <a:ext cx="6970329" cy="646986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my_cells = cell(4, 3, 2);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my_cells(2:3,2,:) = [[{1}; {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"2"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}], [{3}; {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“four"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}]]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8C343-932F-7C90-7B14-5AA9BF701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23" y="3083466"/>
            <a:ext cx="4588520" cy="3599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矩形 8">
            <a:extLst>
              <a:ext uri="{FF2B5EF4-FFF2-40B4-BE49-F238E27FC236}">
                <a16:creationId xmlns:a16="http://schemas.microsoft.com/office/drawing/2014/main" id="{66B5C3BD-660E-2D4C-4DC5-FFEB9426FF77}"/>
              </a:ext>
            </a:extLst>
          </p:cNvPr>
          <p:cNvSpPr/>
          <p:nvPr/>
        </p:nvSpPr>
        <p:spPr>
          <a:xfrm>
            <a:off x="8331225" y="6324386"/>
            <a:ext cx="360675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 for similar examples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64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Matrices, tables, cell arrays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44489BB-C854-7F90-8C72-0C0AFA77F0B4}"/>
              </a:ext>
            </a:extLst>
          </p:cNvPr>
          <p:cNvSpPr txBox="1">
            <a:spLocks/>
          </p:cNvSpPr>
          <p:nvPr/>
        </p:nvSpPr>
        <p:spPr>
          <a:xfrm>
            <a:off x="965006" y="1606797"/>
            <a:ext cx="8953435" cy="12596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MATLAB matrices, tables and cell arrays are similar concepts, but each have their own intended purpose: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FCB8C2-F375-23B8-1D3B-95A4974EF729}"/>
              </a:ext>
            </a:extLst>
          </p:cNvPr>
          <p:cNvSpPr txBox="1">
            <a:spLocks/>
          </p:cNvSpPr>
          <p:nvPr/>
        </p:nvSpPr>
        <p:spPr>
          <a:xfrm>
            <a:off x="965006" y="2442405"/>
            <a:ext cx="10488701" cy="42623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</a:pPr>
            <a:r>
              <a:rPr lang="en-GB" sz="2100" dirty="0"/>
              <a:t>Matrices are used for computation to represent vectors, matrices, or tensors.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All elements in a matrix should be of the same type.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Cell arrays are used to group data of different types together.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Commonly used to store objects, or mixed data types in a single variable.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Do not support numeric operations such as addition and multiplication.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Tables are used as spreadsheets for data.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Used to represent columns of data.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Do not support numerical operations such as addition or multiplication.</a:t>
            </a:r>
          </a:p>
          <a:p>
            <a:pPr lvl="2">
              <a:spcBef>
                <a:spcPts val="1200"/>
              </a:spcBef>
            </a:pPr>
            <a:r>
              <a:rPr lang="en-GB" sz="2100" dirty="0"/>
              <a:t>Allow access to columns and rows via column and row name indexing.</a:t>
            </a:r>
          </a:p>
        </p:txBody>
      </p:sp>
    </p:spTree>
    <p:extLst>
      <p:ext uri="{BB962C8B-B14F-4D97-AF65-F5344CB8AC3E}">
        <p14:creationId xmlns:p14="http://schemas.microsoft.com/office/powerpoint/2010/main" val="364711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57E1446-4CE0-4F1F-BB76-616E401825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1873</TotalTime>
  <Words>546</Words>
  <Application>Microsoft Office PowerPoint</Application>
  <PresentationFormat>Widescreen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Times New Roman</vt:lpstr>
      <vt:lpstr>Office Theme</vt:lpstr>
      <vt:lpstr>MATLAB Cell Arrays  </vt:lpstr>
      <vt:lpstr>MATLAB cell arrays</vt:lpstr>
      <vt:lpstr>Indexing into cell arrays</vt:lpstr>
      <vt:lpstr>Manipulating cell arrays</vt:lpstr>
      <vt:lpstr>Manipulating multidimensional cell arrays</vt:lpstr>
      <vt:lpstr>Matrices, tables, cell arrays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90</cp:revision>
  <dcterms:created xsi:type="dcterms:W3CDTF">2021-01-06T14:22:07Z</dcterms:created>
  <dcterms:modified xsi:type="dcterms:W3CDTF">2024-06-26T09:37:22Z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